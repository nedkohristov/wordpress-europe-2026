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17.xml" ContentType="application/vnd.openxmlformats-officedocument.presentationml.slide+xml"/>
  <Override PartName="/ppt/slides/slide9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_rels/slide11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18.xml.rels" ContentType="application/vnd.openxmlformats-package.relationships+xml"/>
  <Override PartName="/ppt/slides/_rels/slide12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19.xml.rels" ContentType="application/vnd.openxmlformats-package.relationships+xml"/>
  <Override PartName="/ppt/slides/_rels/slide13.xml.rels" ContentType="application/vnd.openxmlformats-package.relationships+xml"/>
  <Override PartName="/ppt/slides/_rels/slide22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33.xml.rels" ContentType="application/vnd.openxmlformats-package.relationships+xml"/>
  <Override PartName="/ppt/slides/_rels/slide10.xml.rels" ContentType="application/vnd.openxmlformats-package.relationships+xml"/>
  <Override PartName="/ppt/slides/_rels/slide9.xml.rels" ContentType="application/vnd.openxmlformats-package.relationships+xml"/>
  <Override PartName="/ppt/slides/_rels/slide26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27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36.xml.rels" ContentType="application/vnd.openxmlformats-package.relationships+xml"/>
  <Override PartName="/ppt/slides/_rels/slide28.xml.rels" ContentType="application/vnd.openxmlformats-package.relationships+xml"/>
  <Override PartName="/ppt/slides/_rels/slide30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37.xml.rels" ContentType="application/vnd.openxmlformats-package.relationships+xml"/>
  <Override PartName="/ppt/slides/_rels/slide29.xml.rels" ContentType="application/vnd.openxmlformats-package.relationships+xml"/>
  <Override PartName="/ppt/slides/_rels/slide31.xml.rels" ContentType="application/vnd.openxmlformats-package.relationships+xml"/>
  <Override PartName="/ppt/slides/_rels/slide34.xml.rels" ContentType="application/vnd.openxmlformats-package.relationships+xml"/>
  <Override PartName="/ppt/slides/_rels/slide35.xml.rels" ContentType="application/vnd.openxmlformats-package.relationships+xml"/>
  <Override PartName="/ppt/slides/_rels/slide38.xml.rels" ContentType="application/vnd.openxmlformats-package.relationships+xml"/>
  <Override PartName="/ppt/slides/_rels/slide40.xml.rels" ContentType="application/vnd.openxmlformats-package.relationships+xml"/>
  <Override PartName="/ppt/slides/_rels/slide39.xml.rels" ContentType="application/vnd.openxmlformats-package.relationships+xml"/>
  <Override PartName="/ppt/slides/_rels/slide41.xml.rels" ContentType="application/vnd.openxmlformats-package.relationships+xml"/>
  <Override PartName="/ppt/slides/_rels/slide42.xml.rels" ContentType="application/vnd.openxmlformats-package.relationships+xml"/>
  <Override PartName="/ppt/slides/_rels/slide43.xml.rels" ContentType="application/vnd.openxmlformats-package.relationships+xml"/>
  <Override PartName="/ppt/slides/_rels/slide32.xml.rels" ContentType="application/vnd.openxmlformats-package.relationships+xml"/>
  <Override PartName="/ppt/slides/_rels/slide44.xml.rels" ContentType="application/vnd.openxmlformats-package.relationships+xml"/>
  <Override PartName="/ppt/slides/_rels/slide8.xml.rels" ContentType="application/vnd.openxmlformats-package.relationships+xml"/>
  <Override PartName="/ppt/slides/_rels/slide25.xml.rels" ContentType="application/vnd.openxmlformats-package.relationships+xml"/>
  <Override PartName="/ppt/slides/slide38.xml" ContentType="application/vnd.openxmlformats-officedocument.presentationml.slide+xml"/>
  <Override PartName="/ppt/slides/slide40.xml" ContentType="application/vnd.openxmlformats-officedocument.presentationml.slide+xml"/>
  <Override PartName="/ppt/slides/slide39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32.xml" ContentType="application/vnd.openxmlformats-officedocument.presentationml.slide+xml"/>
  <Override PartName="/ppt/slides/slide44.xml" ContentType="application/vnd.openxmlformats-officedocument.presentationml.slide+xml"/>
  <Override PartName="/ppt/slides/slide31.xml" ContentType="application/vnd.openxmlformats-officedocument.presentationml.slide+xml"/>
  <Override PartName="/ppt/slides/slide30.xml" ContentType="application/vnd.openxmlformats-officedocument.presentationml.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13.xml" ContentType="application/vnd.openxmlformats-officedocument.presentationml.slide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slides/slide12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11.xml" ContentType="application/vnd.openxmlformats-officedocument.presentationml.slide+xml"/>
  <Override PartName="/ppt/slides/slide3.xml" ContentType="application/vnd.openxmlformats-officedocument.presentationml.slide+xml"/>
  <Override PartName="/ppt/_rels/presentation.xml.rels" ContentType="application/vnd.openxmlformats-package.relationships+xml"/>
  <Override PartName="/ppt/media/image13.png" ContentType="image/png"/>
  <Override PartName="/ppt/media/image4.png" ContentType="image/png"/>
  <Override PartName="/ppt/media/image14.png" ContentType="image/png"/>
  <Override PartName="/ppt/media/image5.png" ContentType="image/png"/>
  <Override PartName="/ppt/media/image15.png" ContentType="image/png"/>
  <Override PartName="/ppt/media/image6.png" ContentType="image/png"/>
  <Override PartName="/ppt/media/image10.png" ContentType="image/png"/>
  <Override PartName="/ppt/media/image1.png" ContentType="image/png"/>
  <Override PartName="/ppt/media/image7.png" ContentType="image/png"/>
  <Override PartName="/ppt/media/image11.png" ContentType="image/png"/>
  <Override PartName="/ppt/media/image2.png" ContentType="image/png"/>
  <Override PartName="/ppt/media/image8.png" ContentType="image/png"/>
  <Override PartName="/ppt/media/image12.png" ContentType="image/png"/>
  <Override PartName="/ppt/media/image3.png" ContentType="image/png"/>
  <Override PartName="/ppt/media/image9.png" ContentType="image/png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0.xml"/><Relationship Id="rId43" Type="http://schemas.openxmlformats.org/officeDocument/2006/relationships/slide" Target="slides/slide41.xml"/><Relationship Id="rId44" Type="http://schemas.openxmlformats.org/officeDocument/2006/relationships/slide" Target="slides/slide42.xml"/><Relationship Id="rId45" Type="http://schemas.openxmlformats.org/officeDocument/2006/relationships/slide" Target="slides/slide43.xml"/><Relationship Id="rId46" Type="http://schemas.openxmlformats.org/officeDocument/2006/relationships/slide" Target="slides/slide44.xml"/><Relationship Id="rId4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747720" y="797760"/>
            <a:ext cx="1256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marp: true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747720" y="1207440"/>
            <a:ext cx="1748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theme: default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747720" y="1626480"/>
            <a:ext cx="1686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paginate: true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747720" y="2036160"/>
            <a:ext cx="791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style: |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747720" y="2455200"/>
            <a:ext cx="2085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/* ── Base ── */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747720" y="2864520"/>
            <a:ext cx="5804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@import url('</a:t>
            </a:r>
            <a:r>
              <a:rPr b="0" lang="en-US" sz="2170" spc="-1" strike="noStrike">
                <a:solidFill>
                  <a:srgbClr val="0969da"/>
                </a:solidFill>
                <a:latin typeface="Arial"/>
                <a:ea typeface="Arial"/>
              </a:rPr>
              <a:t>https://fonts.googleapis.com/css2?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747720" y="3283920"/>
            <a:ext cx="10650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0969da"/>
                </a:solidFill>
                <a:latin typeface="Arial"/>
                <a:ea typeface="Arial"/>
              </a:rPr>
              <a:t>family=Inter:wght@400;600;700;900&amp;family=JetBrains+Mono:wght@400;700&amp;display=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747720" y="3693240"/>
            <a:ext cx="864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0969da"/>
                </a:solidFill>
                <a:latin typeface="Arial"/>
                <a:ea typeface="Arial"/>
              </a:rPr>
              <a:t>swap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');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747720" y="4264920"/>
            <a:ext cx="1043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section {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747720" y="4674600"/>
            <a:ext cx="4917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font-family: 'Inter', 'Segoe UI', sans-serif;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747720" y="5093640"/>
            <a:ext cx="1870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font-size: 20px;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747720" y="5502960"/>
            <a:ext cx="2745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background: #0d1117;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747720" y="5922360"/>
            <a:ext cx="1824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color: #e6edf3;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747720" y="6331680"/>
            <a:ext cx="2484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padding: 48px 64px;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747720" y="67507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}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747720" y="770400"/>
            <a:ext cx="169848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The setup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" name=""/>
          <p:cNvSpPr/>
          <p:nvPr/>
        </p:nvSpPr>
        <p:spPr>
          <a:xfrm>
            <a:off x="771480" y="2112840"/>
            <a:ext cx="276480" cy="230400"/>
          </a:xfrm>
          <a:custGeom>
            <a:avLst/>
            <a:gdLst/>
            <a:ahLst/>
            <a:rect l="0" t="0" r="r" b="b"/>
            <a:pathLst>
              <a:path w="768" h="640">
                <a:moveTo>
                  <a:pt x="725" y="493"/>
                </a:moveTo>
                <a:cubicBezTo>
                  <a:pt x="716" y="473"/>
                  <a:pt x="706" y="450"/>
                  <a:pt x="683" y="450"/>
                </a:cubicBezTo>
                <a:lnTo>
                  <a:pt x="661" y="450"/>
                </a:lnTo>
                <a:cubicBezTo>
                  <a:pt x="685" y="450"/>
                  <a:pt x="704" y="431"/>
                  <a:pt x="704" y="408"/>
                </a:cubicBezTo>
                <a:lnTo>
                  <a:pt x="704" y="43"/>
                </a:lnTo>
                <a:cubicBezTo>
                  <a:pt x="704" y="19"/>
                  <a:pt x="685" y="0"/>
                  <a:pt x="661" y="0"/>
                </a:cubicBezTo>
                <a:lnTo>
                  <a:pt x="106" y="0"/>
                </a:lnTo>
                <a:cubicBezTo>
                  <a:pt x="83" y="0"/>
                  <a:pt x="64" y="19"/>
                  <a:pt x="64" y="43"/>
                </a:cubicBezTo>
                <a:lnTo>
                  <a:pt x="64" y="408"/>
                </a:lnTo>
                <a:cubicBezTo>
                  <a:pt x="64" y="431"/>
                  <a:pt x="83" y="450"/>
                  <a:pt x="106" y="450"/>
                </a:cubicBezTo>
                <a:lnTo>
                  <a:pt x="85" y="450"/>
                </a:lnTo>
                <a:cubicBezTo>
                  <a:pt x="61" y="450"/>
                  <a:pt x="49" y="472"/>
                  <a:pt x="42" y="493"/>
                </a:cubicBezTo>
                <a:lnTo>
                  <a:pt x="0" y="597"/>
                </a:lnTo>
                <a:cubicBezTo>
                  <a:pt x="0" y="621"/>
                  <a:pt x="19" y="640"/>
                  <a:pt x="42" y="640"/>
                </a:cubicBezTo>
                <a:lnTo>
                  <a:pt x="725" y="640"/>
                </a:lnTo>
                <a:cubicBezTo>
                  <a:pt x="749" y="640"/>
                  <a:pt x="768" y="621"/>
                  <a:pt x="768" y="597"/>
                </a:cubicBezTo>
                <a:lnTo>
                  <a:pt x="725" y="493"/>
                </a:ln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" name=""/>
          <p:cNvSpPr/>
          <p:nvPr/>
        </p:nvSpPr>
        <p:spPr>
          <a:xfrm>
            <a:off x="771480" y="2328120"/>
            <a:ext cx="276480" cy="15120"/>
          </a:xfrm>
          <a:custGeom>
            <a:avLst/>
            <a:gdLst/>
            <a:ahLst/>
            <a:rect l="0" t="0" r="r" b="b"/>
            <a:pathLst>
              <a:path w="768" h="42">
                <a:moveTo>
                  <a:pt x="0" y="0"/>
                </a:moveTo>
                <a:lnTo>
                  <a:pt x="0" y="1"/>
                </a:lnTo>
                <a:lnTo>
                  <a:pt x="4" y="16"/>
                </a:lnTo>
                <a:cubicBezTo>
                  <a:pt x="10" y="31"/>
                  <a:pt x="25" y="42"/>
                  <a:pt x="42" y="42"/>
                </a:cubicBezTo>
                <a:lnTo>
                  <a:pt x="725" y="42"/>
                </a:lnTo>
                <a:cubicBezTo>
                  <a:pt x="748" y="42"/>
                  <a:pt x="767" y="23"/>
                  <a:pt x="768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9aaa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"/>
          <p:cNvSpPr/>
          <p:nvPr/>
        </p:nvSpPr>
        <p:spPr>
          <a:xfrm>
            <a:off x="809640" y="2128320"/>
            <a:ext cx="199800" cy="131040"/>
          </a:xfrm>
          <a:custGeom>
            <a:avLst/>
            <a:gdLst/>
            <a:ahLst/>
            <a:rect l="0" t="0" r="r" b="b"/>
            <a:pathLst>
              <a:path w="555" h="364">
                <a:moveTo>
                  <a:pt x="555" y="343"/>
                </a:moveTo>
                <a:cubicBezTo>
                  <a:pt x="555" y="355"/>
                  <a:pt x="546" y="364"/>
                  <a:pt x="534" y="364"/>
                </a:cubicBezTo>
                <a:lnTo>
                  <a:pt x="22" y="364"/>
                </a:lnTo>
                <a:cubicBezTo>
                  <a:pt x="10" y="364"/>
                  <a:pt x="0" y="355"/>
                  <a:pt x="0" y="343"/>
                </a:cubicBezTo>
                <a:lnTo>
                  <a:pt x="0" y="21"/>
                </a:lnTo>
                <a:cubicBezTo>
                  <a:pt x="0" y="9"/>
                  <a:pt x="10" y="0"/>
                  <a:pt x="22" y="0"/>
                </a:cubicBezTo>
                <a:lnTo>
                  <a:pt x="534" y="0"/>
                </a:lnTo>
                <a:cubicBezTo>
                  <a:pt x="546" y="0"/>
                  <a:pt x="555" y="9"/>
                  <a:pt x="555" y="21"/>
                </a:cubicBezTo>
                <a:lnTo>
                  <a:pt x="555" y="343"/>
                </a:lnTo>
                <a:close/>
              </a:path>
            </a:pathLst>
          </a:custGeom>
          <a:solidFill>
            <a:srgbClr val="5dad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" name=""/>
          <p:cNvSpPr/>
          <p:nvPr/>
        </p:nvSpPr>
        <p:spPr>
          <a:xfrm>
            <a:off x="795960" y="2281680"/>
            <a:ext cx="228600" cy="31320"/>
          </a:xfrm>
          <a:custGeom>
            <a:avLst/>
            <a:gdLst/>
            <a:ahLst/>
            <a:rect l="0" t="0" r="r" b="b"/>
            <a:pathLst>
              <a:path w="635" h="87">
                <a:moveTo>
                  <a:pt x="634" y="65"/>
                </a:moveTo>
                <a:lnTo>
                  <a:pt x="618" y="18"/>
                </a:lnTo>
                <a:cubicBezTo>
                  <a:pt x="613" y="8"/>
                  <a:pt x="604" y="0"/>
                  <a:pt x="592" y="0"/>
                </a:cubicBezTo>
                <a:lnTo>
                  <a:pt x="42" y="0"/>
                </a:lnTo>
                <a:cubicBezTo>
                  <a:pt x="30" y="0"/>
                  <a:pt x="22" y="9"/>
                  <a:pt x="17" y="22"/>
                </a:cubicBezTo>
                <a:lnTo>
                  <a:pt x="1" y="65"/>
                </a:lnTo>
                <a:cubicBezTo>
                  <a:pt x="-3" y="77"/>
                  <a:pt x="12" y="87"/>
                  <a:pt x="24" y="87"/>
                </a:cubicBezTo>
                <a:lnTo>
                  <a:pt x="185" y="87"/>
                </a:lnTo>
                <a:cubicBezTo>
                  <a:pt x="185" y="87"/>
                  <a:pt x="205" y="86"/>
                  <a:pt x="209" y="73"/>
                </a:cubicBezTo>
                <a:cubicBezTo>
                  <a:pt x="213" y="59"/>
                  <a:pt x="217" y="38"/>
                  <a:pt x="218" y="35"/>
                </a:cubicBezTo>
                <a:cubicBezTo>
                  <a:pt x="220" y="29"/>
                  <a:pt x="227" y="23"/>
                  <a:pt x="237" y="23"/>
                </a:cubicBezTo>
                <a:lnTo>
                  <a:pt x="420" y="23"/>
                </a:lnTo>
                <a:cubicBezTo>
                  <a:pt x="430" y="23"/>
                  <a:pt x="435" y="29"/>
                  <a:pt x="437" y="36"/>
                </a:cubicBezTo>
                <a:cubicBezTo>
                  <a:pt x="438" y="40"/>
                  <a:pt x="443" y="60"/>
                  <a:pt x="446" y="73"/>
                </a:cubicBezTo>
                <a:cubicBezTo>
                  <a:pt x="449" y="87"/>
                  <a:pt x="472" y="87"/>
                  <a:pt x="472" y="87"/>
                </a:cubicBezTo>
                <a:lnTo>
                  <a:pt x="613" y="87"/>
                </a:lnTo>
                <a:cubicBezTo>
                  <a:pt x="624" y="87"/>
                  <a:pt x="640" y="76"/>
                  <a:pt x="634" y="65"/>
                </a:cubicBezTo>
                <a:close/>
              </a:path>
            </a:pathLst>
          </a:custGeom>
          <a:solidFill>
            <a:srgbClr val="aebb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>
            <a:off x="879480" y="2297520"/>
            <a:ext cx="68040" cy="23760"/>
          </a:xfrm>
          <a:custGeom>
            <a:avLst/>
            <a:gdLst/>
            <a:ahLst/>
            <a:rect l="0" t="0" r="r" b="b"/>
            <a:pathLst>
              <a:path w="189" h="66">
                <a:moveTo>
                  <a:pt x="178" y="66"/>
                </a:moveTo>
                <a:lnTo>
                  <a:pt x="11" y="66"/>
                </a:lnTo>
                <a:cubicBezTo>
                  <a:pt x="3" y="66"/>
                  <a:pt x="-1" y="58"/>
                  <a:pt x="0" y="51"/>
                </a:cubicBezTo>
                <a:cubicBezTo>
                  <a:pt x="2" y="43"/>
                  <a:pt x="8" y="12"/>
                  <a:pt x="9" y="8"/>
                </a:cubicBezTo>
                <a:cubicBezTo>
                  <a:pt x="9" y="5"/>
                  <a:pt x="14" y="0"/>
                  <a:pt x="20" y="0"/>
                </a:cubicBezTo>
                <a:lnTo>
                  <a:pt x="170" y="0"/>
                </a:lnTo>
                <a:cubicBezTo>
                  <a:pt x="177" y="0"/>
                  <a:pt x="181" y="4"/>
                  <a:pt x="182" y="11"/>
                </a:cubicBezTo>
                <a:cubicBezTo>
                  <a:pt x="183" y="18"/>
                  <a:pt x="188" y="46"/>
                  <a:pt x="189" y="53"/>
                </a:cubicBezTo>
                <a:cubicBezTo>
                  <a:pt x="189" y="60"/>
                  <a:pt x="185" y="66"/>
                  <a:pt x="178" y="66"/>
                </a:cubicBezTo>
                <a:close/>
              </a:path>
            </a:pathLst>
          </a:custGeom>
          <a:solidFill>
            <a:srgbClr val="9aaa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747720" y="1502640"/>
            <a:ext cx="1792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The hardware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" name=""/>
          <p:cNvSpPr/>
          <p:nvPr/>
        </p:nvSpPr>
        <p:spPr>
          <a:xfrm>
            <a:off x="786600" y="2485800"/>
            <a:ext cx="245880" cy="276480"/>
          </a:xfrm>
          <a:custGeom>
            <a:avLst/>
            <a:gdLst/>
            <a:ahLst/>
            <a:rect l="0" t="0" r="r" b="b"/>
            <a:pathLst>
              <a:path w="683" h="768">
                <a:moveTo>
                  <a:pt x="638" y="511"/>
                </a:moveTo>
                <a:cubicBezTo>
                  <a:pt x="626" y="369"/>
                  <a:pt x="555" y="299"/>
                  <a:pt x="555" y="299"/>
                </a:cubicBezTo>
                <a:lnTo>
                  <a:pt x="428" y="128"/>
                </a:lnTo>
                <a:lnTo>
                  <a:pt x="257" y="128"/>
                </a:lnTo>
                <a:lnTo>
                  <a:pt x="128" y="299"/>
                </a:lnTo>
                <a:cubicBezTo>
                  <a:pt x="128" y="299"/>
                  <a:pt x="98" y="329"/>
                  <a:pt x="73" y="391"/>
                </a:cubicBezTo>
                <a:cubicBezTo>
                  <a:pt x="31" y="405"/>
                  <a:pt x="0" y="444"/>
                  <a:pt x="0" y="491"/>
                </a:cubicBezTo>
                <a:cubicBezTo>
                  <a:pt x="0" y="522"/>
                  <a:pt x="14" y="550"/>
                  <a:pt x="35" y="569"/>
                </a:cubicBezTo>
                <a:cubicBezTo>
                  <a:pt x="27" y="584"/>
                  <a:pt x="22" y="601"/>
                  <a:pt x="22" y="619"/>
                </a:cubicBezTo>
                <a:cubicBezTo>
                  <a:pt x="22" y="661"/>
                  <a:pt x="46" y="697"/>
                  <a:pt x="81" y="714"/>
                </a:cubicBezTo>
                <a:cubicBezTo>
                  <a:pt x="108" y="755"/>
                  <a:pt x="145" y="768"/>
                  <a:pt x="171" y="768"/>
                </a:cubicBezTo>
                <a:lnTo>
                  <a:pt x="513" y="768"/>
                </a:lnTo>
                <a:cubicBezTo>
                  <a:pt x="542" y="768"/>
                  <a:pt x="585" y="752"/>
                  <a:pt x="612" y="698"/>
                </a:cubicBezTo>
                <a:cubicBezTo>
                  <a:pt x="654" y="683"/>
                  <a:pt x="683" y="644"/>
                  <a:pt x="683" y="598"/>
                </a:cubicBezTo>
                <a:cubicBezTo>
                  <a:pt x="683" y="562"/>
                  <a:pt x="666" y="531"/>
                  <a:pt x="638" y="511"/>
                </a:cubicBezTo>
                <a:moveTo>
                  <a:pt x="342" y="128"/>
                </a:moveTo>
                <a:cubicBezTo>
                  <a:pt x="354" y="128"/>
                  <a:pt x="365" y="125"/>
                  <a:pt x="374" y="119"/>
                </a:cubicBezTo>
                <a:cubicBezTo>
                  <a:pt x="384" y="125"/>
                  <a:pt x="395" y="128"/>
                  <a:pt x="406" y="128"/>
                </a:cubicBezTo>
                <a:cubicBezTo>
                  <a:pt x="442" y="128"/>
                  <a:pt x="491" y="78"/>
                  <a:pt x="491" y="43"/>
                </a:cubicBezTo>
                <a:cubicBezTo>
                  <a:pt x="491" y="43"/>
                  <a:pt x="491" y="0"/>
                  <a:pt x="449" y="0"/>
                </a:cubicBezTo>
                <a:cubicBezTo>
                  <a:pt x="432" y="0"/>
                  <a:pt x="428" y="21"/>
                  <a:pt x="406" y="21"/>
                </a:cubicBezTo>
                <a:cubicBezTo>
                  <a:pt x="385" y="21"/>
                  <a:pt x="385" y="0"/>
                  <a:pt x="342" y="0"/>
                </a:cubicBezTo>
                <a:cubicBezTo>
                  <a:pt x="300" y="0"/>
                  <a:pt x="300" y="21"/>
                  <a:pt x="278" y="21"/>
                </a:cubicBezTo>
                <a:cubicBezTo>
                  <a:pt x="257" y="21"/>
                  <a:pt x="253" y="0"/>
                  <a:pt x="236" y="0"/>
                </a:cubicBezTo>
                <a:cubicBezTo>
                  <a:pt x="192" y="0"/>
                  <a:pt x="192" y="43"/>
                  <a:pt x="192" y="43"/>
                </a:cubicBezTo>
                <a:cubicBezTo>
                  <a:pt x="192" y="78"/>
                  <a:pt x="243" y="128"/>
                  <a:pt x="278" y="128"/>
                </a:cubicBezTo>
                <a:cubicBezTo>
                  <a:pt x="290" y="128"/>
                  <a:pt x="301" y="125"/>
                  <a:pt x="310" y="119"/>
                </a:cubicBezTo>
                <a:cubicBezTo>
                  <a:pt x="320" y="125"/>
                  <a:pt x="331" y="128"/>
                  <a:pt x="342" y="128"/>
                </a:cubicBezTo>
                <a:close/>
              </a:path>
            </a:pathLst>
          </a:custGeom>
          <a:solidFill>
            <a:srgbClr val="fdd88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" name=""/>
          <p:cNvSpPr/>
          <p:nvPr/>
        </p:nvSpPr>
        <p:spPr>
          <a:xfrm>
            <a:off x="863280" y="2524320"/>
            <a:ext cx="92520" cy="15480"/>
          </a:xfrm>
          <a:custGeom>
            <a:avLst/>
            <a:gdLst/>
            <a:ahLst/>
            <a:rect l="0" t="0" r="r" b="b"/>
            <a:pathLst>
              <a:path w="257" h="43">
                <a:moveTo>
                  <a:pt x="257" y="21"/>
                </a:moveTo>
                <a:cubicBezTo>
                  <a:pt x="257" y="34"/>
                  <a:pt x="248" y="43"/>
                  <a:pt x="236" y="43"/>
                </a:cubicBezTo>
                <a:lnTo>
                  <a:pt x="22" y="43"/>
                </a:lnTo>
                <a:cubicBezTo>
                  <a:pt x="10" y="43"/>
                  <a:pt x="0" y="34"/>
                  <a:pt x="0" y="21"/>
                </a:cubicBezTo>
                <a:cubicBezTo>
                  <a:pt x="0" y="9"/>
                  <a:pt x="10" y="0"/>
                  <a:pt x="22" y="0"/>
                </a:cubicBezTo>
                <a:lnTo>
                  <a:pt x="236" y="0"/>
                </a:lnTo>
                <a:cubicBezTo>
                  <a:pt x="248" y="0"/>
                  <a:pt x="257" y="9"/>
                  <a:pt x="257" y="21"/>
                </a:cubicBezTo>
                <a:close/>
              </a:path>
            </a:pathLst>
          </a:custGeom>
          <a:solidFill>
            <a:srgbClr val="bf695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" name=""/>
          <p:cNvSpPr/>
          <p:nvPr/>
        </p:nvSpPr>
        <p:spPr>
          <a:xfrm>
            <a:off x="863280" y="2570400"/>
            <a:ext cx="91800" cy="161280"/>
          </a:xfrm>
          <a:custGeom>
            <a:avLst/>
            <a:gdLst/>
            <a:ahLst/>
            <a:rect l="0" t="0" r="r" b="b"/>
            <a:pathLst>
              <a:path w="255" h="448">
                <a:moveTo>
                  <a:pt x="255" y="289"/>
                </a:moveTo>
                <a:cubicBezTo>
                  <a:pt x="255" y="193"/>
                  <a:pt x="72" y="199"/>
                  <a:pt x="72" y="141"/>
                </a:cubicBezTo>
                <a:cubicBezTo>
                  <a:pt x="72" y="114"/>
                  <a:pt x="100" y="100"/>
                  <a:pt x="132" y="100"/>
                </a:cubicBezTo>
                <a:cubicBezTo>
                  <a:pt x="186" y="100"/>
                  <a:pt x="196" y="133"/>
                  <a:pt x="220" y="133"/>
                </a:cubicBezTo>
                <a:cubicBezTo>
                  <a:pt x="238" y="133"/>
                  <a:pt x="246" y="123"/>
                  <a:pt x="246" y="111"/>
                </a:cubicBezTo>
                <a:cubicBezTo>
                  <a:pt x="246" y="84"/>
                  <a:pt x="203" y="63"/>
                  <a:pt x="161" y="56"/>
                </a:cubicBezTo>
                <a:lnTo>
                  <a:pt x="161" y="29"/>
                </a:lnTo>
                <a:cubicBezTo>
                  <a:pt x="161" y="13"/>
                  <a:pt x="148" y="0"/>
                  <a:pt x="130" y="0"/>
                </a:cubicBezTo>
                <a:cubicBezTo>
                  <a:pt x="113" y="0"/>
                  <a:pt x="99" y="13"/>
                  <a:pt x="99" y="29"/>
                </a:cubicBezTo>
                <a:lnTo>
                  <a:pt x="99" y="57"/>
                </a:lnTo>
                <a:cubicBezTo>
                  <a:pt x="54" y="67"/>
                  <a:pt x="16" y="97"/>
                  <a:pt x="16" y="146"/>
                </a:cubicBezTo>
                <a:cubicBezTo>
                  <a:pt x="16" y="238"/>
                  <a:pt x="198" y="234"/>
                  <a:pt x="198" y="299"/>
                </a:cubicBezTo>
                <a:cubicBezTo>
                  <a:pt x="198" y="321"/>
                  <a:pt x="173" y="344"/>
                  <a:pt x="132" y="344"/>
                </a:cubicBezTo>
                <a:cubicBezTo>
                  <a:pt x="70" y="344"/>
                  <a:pt x="50" y="303"/>
                  <a:pt x="25" y="303"/>
                </a:cubicBezTo>
                <a:cubicBezTo>
                  <a:pt x="12" y="303"/>
                  <a:pt x="0" y="313"/>
                  <a:pt x="0" y="328"/>
                </a:cubicBezTo>
                <a:cubicBezTo>
                  <a:pt x="0" y="352"/>
                  <a:pt x="43" y="380"/>
                  <a:pt x="99" y="388"/>
                </a:cubicBezTo>
                <a:lnTo>
                  <a:pt x="99" y="389"/>
                </a:lnTo>
                <a:lnTo>
                  <a:pt x="99" y="418"/>
                </a:lnTo>
                <a:cubicBezTo>
                  <a:pt x="99" y="435"/>
                  <a:pt x="113" y="448"/>
                  <a:pt x="130" y="448"/>
                </a:cubicBezTo>
                <a:cubicBezTo>
                  <a:pt x="148" y="448"/>
                  <a:pt x="161" y="435"/>
                  <a:pt x="161" y="418"/>
                </a:cubicBezTo>
                <a:lnTo>
                  <a:pt x="161" y="389"/>
                </a:lnTo>
                <a:cubicBezTo>
                  <a:pt x="161" y="388"/>
                  <a:pt x="161" y="388"/>
                  <a:pt x="161" y="388"/>
                </a:cubicBezTo>
                <a:cubicBezTo>
                  <a:pt x="212" y="378"/>
                  <a:pt x="255" y="346"/>
                  <a:pt x="255" y="289"/>
                </a:cubicBezTo>
                <a:close/>
              </a:path>
            </a:pathLst>
          </a:custGeom>
          <a:solidFill>
            <a:srgbClr val="6775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1065240" y="2064600"/>
            <a:ext cx="4260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 vCPU · 2 GB RAM · 20 GB SSD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" name=""/>
          <p:cNvSpPr/>
          <p:nvPr/>
        </p:nvSpPr>
        <p:spPr>
          <a:xfrm>
            <a:off x="771480" y="2986200"/>
            <a:ext cx="263520" cy="185760"/>
          </a:xfrm>
          <a:custGeom>
            <a:avLst/>
            <a:gdLst/>
            <a:ahLst/>
            <a:rect l="0" t="0" r="r" b="b"/>
            <a:pathLst>
              <a:path w="732" h="516">
                <a:moveTo>
                  <a:pt x="683" y="4"/>
                </a:moveTo>
                <a:cubicBezTo>
                  <a:pt x="728" y="-42"/>
                  <a:pt x="789" y="310"/>
                  <a:pt x="619" y="452"/>
                </a:cubicBezTo>
                <a:cubicBezTo>
                  <a:pt x="560" y="501"/>
                  <a:pt x="491" y="515"/>
                  <a:pt x="448" y="515"/>
                </a:cubicBezTo>
                <a:cubicBezTo>
                  <a:pt x="397" y="515"/>
                  <a:pt x="233" y="516"/>
                  <a:pt x="170" y="516"/>
                </a:cubicBezTo>
                <a:cubicBezTo>
                  <a:pt x="17" y="516"/>
                  <a:pt x="0" y="411"/>
                  <a:pt x="0" y="282"/>
                </a:cubicBezTo>
                <a:cubicBezTo>
                  <a:pt x="0" y="151"/>
                  <a:pt x="17" y="46"/>
                  <a:pt x="170" y="46"/>
                </a:cubicBezTo>
                <a:cubicBezTo>
                  <a:pt x="298" y="46"/>
                  <a:pt x="383" y="89"/>
                  <a:pt x="448" y="131"/>
                </a:cubicBezTo>
                <a:cubicBezTo>
                  <a:pt x="554" y="202"/>
                  <a:pt x="576" y="215"/>
                  <a:pt x="619" y="174"/>
                </a:cubicBezTo>
                <a:cubicBezTo>
                  <a:pt x="687" y="111"/>
                  <a:pt x="640" y="46"/>
                  <a:pt x="683" y="4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" name=""/>
          <p:cNvSpPr/>
          <p:nvPr/>
        </p:nvSpPr>
        <p:spPr>
          <a:xfrm>
            <a:off x="777960" y="3071880"/>
            <a:ext cx="254520" cy="100080"/>
          </a:xfrm>
          <a:custGeom>
            <a:avLst/>
            <a:gdLst/>
            <a:ahLst/>
            <a:rect l="0" t="0" r="r" b="b"/>
            <a:pathLst>
              <a:path w="707" h="278">
                <a:moveTo>
                  <a:pt x="707" y="0"/>
                </a:moveTo>
                <a:cubicBezTo>
                  <a:pt x="697" y="79"/>
                  <a:pt x="664" y="160"/>
                  <a:pt x="601" y="214"/>
                </a:cubicBezTo>
                <a:cubicBezTo>
                  <a:pt x="542" y="263"/>
                  <a:pt x="473" y="277"/>
                  <a:pt x="430" y="277"/>
                </a:cubicBezTo>
                <a:cubicBezTo>
                  <a:pt x="380" y="277"/>
                  <a:pt x="215" y="278"/>
                  <a:pt x="152" y="278"/>
                </a:cubicBezTo>
                <a:cubicBezTo>
                  <a:pt x="66" y="278"/>
                  <a:pt x="23" y="245"/>
                  <a:pt x="2" y="192"/>
                </a:cubicBezTo>
                <a:cubicBezTo>
                  <a:pt x="-15" y="151"/>
                  <a:pt x="67" y="214"/>
                  <a:pt x="301" y="214"/>
                </a:cubicBezTo>
                <a:cubicBezTo>
                  <a:pt x="601" y="214"/>
                  <a:pt x="665" y="107"/>
                  <a:pt x="707" y="0"/>
                </a:cubicBezTo>
                <a:close/>
              </a:path>
            </a:pathLst>
          </a:custGeom>
          <a:solidFill>
            <a:srgbClr val="55ac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" name=""/>
          <p:cNvSpPr/>
          <p:nvPr/>
        </p:nvSpPr>
        <p:spPr>
          <a:xfrm>
            <a:off x="961920" y="2944080"/>
            <a:ext cx="86040" cy="59400"/>
          </a:xfrm>
          <a:custGeom>
            <a:avLst/>
            <a:gdLst/>
            <a:ahLst/>
            <a:rect l="0" t="0" r="r" b="b"/>
            <a:pathLst>
              <a:path w="239" h="165">
                <a:moveTo>
                  <a:pt x="154" y="165"/>
                </a:moveTo>
                <a:cubicBezTo>
                  <a:pt x="242" y="165"/>
                  <a:pt x="239" y="59"/>
                  <a:pt x="239" y="15"/>
                </a:cubicBezTo>
                <a:cubicBezTo>
                  <a:pt x="239" y="-28"/>
                  <a:pt x="196" y="36"/>
                  <a:pt x="132" y="59"/>
                </a:cubicBezTo>
                <a:cubicBezTo>
                  <a:pt x="68" y="80"/>
                  <a:pt x="-18" y="15"/>
                  <a:pt x="3" y="59"/>
                </a:cubicBezTo>
                <a:cubicBezTo>
                  <a:pt x="25" y="101"/>
                  <a:pt x="68" y="165"/>
                  <a:pt x="154" y="165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" name=""/>
          <p:cNvSpPr/>
          <p:nvPr/>
        </p:nvSpPr>
        <p:spPr>
          <a:xfrm>
            <a:off x="817560" y="2933640"/>
            <a:ext cx="30960" cy="61920"/>
          </a:xfrm>
          <a:custGeom>
            <a:avLst/>
            <a:gdLst/>
            <a:ahLst/>
            <a:rect l="0" t="0" r="r" b="b"/>
            <a:pathLst>
              <a:path w="86" h="172">
                <a:moveTo>
                  <a:pt x="86" y="43"/>
                </a:moveTo>
                <a:cubicBezTo>
                  <a:pt x="86" y="90"/>
                  <a:pt x="66" y="172"/>
                  <a:pt x="42" y="172"/>
                </a:cubicBezTo>
                <a:cubicBezTo>
                  <a:pt x="19" y="172"/>
                  <a:pt x="0" y="90"/>
                  <a:pt x="0" y="43"/>
                </a:cubicBezTo>
                <a:cubicBezTo>
                  <a:pt x="0" y="-4"/>
                  <a:pt x="19" y="0"/>
                  <a:pt x="42" y="0"/>
                </a:cubicBezTo>
                <a:cubicBezTo>
                  <a:pt x="66" y="0"/>
                  <a:pt x="86" y="-4"/>
                  <a:pt x="86" y="43"/>
                </a:cubicBezTo>
                <a:close/>
              </a:path>
            </a:pathLst>
          </a:custGeom>
          <a:solidFill>
            <a:srgbClr val="55ac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" name=""/>
          <p:cNvSpPr/>
          <p:nvPr/>
        </p:nvSpPr>
        <p:spPr>
          <a:xfrm>
            <a:off x="786600" y="2919240"/>
            <a:ext cx="92520" cy="41400"/>
          </a:xfrm>
          <a:custGeom>
            <a:avLst/>
            <a:gdLst/>
            <a:ahLst/>
            <a:rect l="0" t="0" r="r" b="b"/>
            <a:pathLst>
              <a:path w="257" h="115">
                <a:moveTo>
                  <a:pt x="128" y="40"/>
                </a:moveTo>
                <a:cubicBezTo>
                  <a:pt x="128" y="-24"/>
                  <a:pt x="0" y="-2"/>
                  <a:pt x="0" y="40"/>
                </a:cubicBezTo>
                <a:cubicBezTo>
                  <a:pt x="0" y="84"/>
                  <a:pt x="64" y="63"/>
                  <a:pt x="86" y="105"/>
                </a:cubicBezTo>
                <a:cubicBezTo>
                  <a:pt x="107" y="148"/>
                  <a:pt x="128" y="40"/>
                  <a:pt x="128" y="40"/>
                </a:cubicBezTo>
                <a:moveTo>
                  <a:pt x="128" y="40"/>
                </a:moveTo>
                <a:cubicBezTo>
                  <a:pt x="128" y="-24"/>
                  <a:pt x="257" y="-2"/>
                  <a:pt x="257" y="40"/>
                </a:cubicBezTo>
                <a:cubicBezTo>
                  <a:pt x="257" y="84"/>
                  <a:pt x="192" y="63"/>
                  <a:pt x="171" y="105"/>
                </a:cubicBezTo>
                <a:cubicBezTo>
                  <a:pt x="149" y="148"/>
                  <a:pt x="128" y="40"/>
                  <a:pt x="128" y="40"/>
                </a:cubicBezTo>
                <a:close/>
              </a:path>
            </a:pathLst>
          </a:custGeom>
          <a:solidFill>
            <a:srgbClr val="55ac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" name=""/>
          <p:cNvSpPr/>
          <p:nvPr/>
        </p:nvSpPr>
        <p:spPr>
          <a:xfrm>
            <a:off x="809640" y="3079440"/>
            <a:ext cx="23400" cy="23400"/>
          </a:xfrm>
          <a:custGeom>
            <a:avLst/>
            <a:gdLst/>
            <a:ahLst/>
            <a:rect l="0" t="0" r="r" b="b"/>
            <a:pathLst>
              <a:path w="65" h="65">
                <a:moveTo>
                  <a:pt x="65" y="32"/>
                </a:moveTo>
                <a:cubicBezTo>
                  <a:pt x="65" y="41"/>
                  <a:pt x="62" y="50"/>
                  <a:pt x="56" y="56"/>
                </a:cubicBezTo>
                <a:cubicBezTo>
                  <a:pt x="49" y="62"/>
                  <a:pt x="41" y="65"/>
                  <a:pt x="32" y="65"/>
                </a:cubicBezTo>
                <a:cubicBezTo>
                  <a:pt x="23" y="65"/>
                  <a:pt x="16" y="62"/>
                  <a:pt x="10" y="56"/>
                </a:cubicBezTo>
                <a:cubicBezTo>
                  <a:pt x="3" y="50"/>
                  <a:pt x="0" y="41"/>
                  <a:pt x="0" y="32"/>
                </a:cubicBezTo>
                <a:cubicBezTo>
                  <a:pt x="0" y="24"/>
                  <a:pt x="3" y="16"/>
                  <a:pt x="10" y="10"/>
                </a:cubicBezTo>
                <a:cubicBezTo>
                  <a:pt x="16" y="3"/>
                  <a:pt x="23" y="0"/>
                  <a:pt x="32" y="0"/>
                </a:cubicBezTo>
                <a:cubicBezTo>
                  <a:pt x="41" y="0"/>
                  <a:pt x="49" y="3"/>
                  <a:pt x="56" y="10"/>
                </a:cubicBezTo>
                <a:cubicBezTo>
                  <a:pt x="62" y="16"/>
                  <a:pt x="65" y="24"/>
                  <a:pt x="65" y="32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1065240" y="2483640"/>
            <a:ext cx="3533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~$12/month (Hetzner CX22)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1065240" y="2893320"/>
            <a:ext cx="6147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Docker Compose (same constraints, same demo)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"/>
          <p:cNvSpPr/>
          <p:nvPr/>
        </p:nvSpPr>
        <p:spPr>
          <a:xfrm>
            <a:off x="779040" y="4448160"/>
            <a:ext cx="230400" cy="276480"/>
          </a:xfrm>
          <a:custGeom>
            <a:avLst/>
            <a:gdLst/>
            <a:ahLst/>
            <a:rect l="0" t="0" r="r" b="b"/>
            <a:pathLst>
              <a:path w="640" h="768">
                <a:moveTo>
                  <a:pt x="640" y="683"/>
                </a:moveTo>
                <a:cubicBezTo>
                  <a:pt x="640" y="730"/>
                  <a:pt x="602" y="768"/>
                  <a:pt x="555" y="768"/>
                </a:cubicBezTo>
                <a:lnTo>
                  <a:pt x="86" y="768"/>
                </a:lnTo>
                <a:cubicBezTo>
                  <a:pt x="38" y="768"/>
                  <a:pt x="0" y="730"/>
                  <a:pt x="0" y="683"/>
                </a:cubicBezTo>
                <a:lnTo>
                  <a:pt x="0" y="85"/>
                </a:lnTo>
                <a:cubicBezTo>
                  <a:pt x="0" y="38"/>
                  <a:pt x="38" y="0"/>
                  <a:pt x="86" y="0"/>
                </a:cubicBezTo>
                <a:lnTo>
                  <a:pt x="555" y="0"/>
                </a:lnTo>
                <a:cubicBezTo>
                  <a:pt x="602" y="0"/>
                  <a:pt x="640" y="38"/>
                  <a:pt x="640" y="85"/>
                </a:cubicBezTo>
                <a:lnTo>
                  <a:pt x="640" y="683"/>
                </a:ln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"/>
          <p:cNvSpPr/>
          <p:nvPr/>
        </p:nvSpPr>
        <p:spPr>
          <a:xfrm>
            <a:off x="809640" y="4501800"/>
            <a:ext cx="169200" cy="169200"/>
          </a:xfrm>
          <a:custGeom>
            <a:avLst/>
            <a:gdLst/>
            <a:ahLst/>
            <a:rect l="0" t="0" r="r" b="b"/>
            <a:pathLst>
              <a:path w="470" h="470">
                <a:moveTo>
                  <a:pt x="470" y="362"/>
                </a:moveTo>
                <a:cubicBezTo>
                  <a:pt x="470" y="375"/>
                  <a:pt x="461" y="384"/>
                  <a:pt x="449" y="384"/>
                </a:cubicBezTo>
                <a:lnTo>
                  <a:pt x="22" y="384"/>
                </a:lnTo>
                <a:cubicBezTo>
                  <a:pt x="10" y="384"/>
                  <a:pt x="0" y="375"/>
                  <a:pt x="0" y="362"/>
                </a:cubicBezTo>
                <a:cubicBezTo>
                  <a:pt x="0" y="350"/>
                  <a:pt x="10" y="341"/>
                  <a:pt x="22" y="341"/>
                </a:cubicBezTo>
                <a:lnTo>
                  <a:pt x="449" y="341"/>
                </a:lnTo>
                <a:cubicBezTo>
                  <a:pt x="461" y="341"/>
                  <a:pt x="470" y="350"/>
                  <a:pt x="470" y="362"/>
                </a:cubicBezTo>
                <a:moveTo>
                  <a:pt x="128" y="448"/>
                </a:moveTo>
                <a:cubicBezTo>
                  <a:pt x="128" y="460"/>
                  <a:pt x="119" y="470"/>
                  <a:pt x="107" y="470"/>
                </a:cubicBezTo>
                <a:lnTo>
                  <a:pt x="22" y="470"/>
                </a:lnTo>
                <a:cubicBezTo>
                  <a:pt x="10" y="470"/>
                  <a:pt x="0" y="460"/>
                  <a:pt x="0" y="448"/>
                </a:cubicBezTo>
                <a:cubicBezTo>
                  <a:pt x="0" y="437"/>
                  <a:pt x="10" y="427"/>
                  <a:pt x="22" y="427"/>
                </a:cubicBezTo>
                <a:lnTo>
                  <a:pt x="107" y="427"/>
                </a:lnTo>
                <a:cubicBezTo>
                  <a:pt x="119" y="427"/>
                  <a:pt x="128" y="437"/>
                  <a:pt x="128" y="448"/>
                </a:cubicBezTo>
                <a:moveTo>
                  <a:pt x="470" y="21"/>
                </a:moveTo>
                <a:cubicBezTo>
                  <a:pt x="470" y="33"/>
                  <a:pt x="461" y="42"/>
                  <a:pt x="449" y="42"/>
                </a:cubicBezTo>
                <a:lnTo>
                  <a:pt x="22" y="42"/>
                </a:lnTo>
                <a:cubicBezTo>
                  <a:pt x="10" y="42"/>
                  <a:pt x="0" y="33"/>
                  <a:pt x="0" y="21"/>
                </a:cubicBezTo>
                <a:cubicBezTo>
                  <a:pt x="0" y="9"/>
                  <a:pt x="10" y="0"/>
                  <a:pt x="22" y="0"/>
                </a:cubicBezTo>
                <a:lnTo>
                  <a:pt x="449" y="0"/>
                </a:lnTo>
                <a:cubicBezTo>
                  <a:pt x="461" y="0"/>
                  <a:pt x="470" y="9"/>
                  <a:pt x="470" y="21"/>
                </a:cubicBezTo>
                <a:moveTo>
                  <a:pt x="470" y="106"/>
                </a:moveTo>
                <a:cubicBezTo>
                  <a:pt x="470" y="118"/>
                  <a:pt x="461" y="128"/>
                  <a:pt x="449" y="128"/>
                </a:cubicBezTo>
                <a:lnTo>
                  <a:pt x="22" y="128"/>
                </a:lnTo>
                <a:cubicBezTo>
                  <a:pt x="10" y="128"/>
                  <a:pt x="0" y="118"/>
                  <a:pt x="0" y="106"/>
                </a:cubicBezTo>
                <a:cubicBezTo>
                  <a:pt x="0" y="95"/>
                  <a:pt x="10" y="85"/>
                  <a:pt x="22" y="85"/>
                </a:cubicBezTo>
                <a:lnTo>
                  <a:pt x="449" y="85"/>
                </a:lnTo>
                <a:cubicBezTo>
                  <a:pt x="461" y="85"/>
                  <a:pt x="470" y="95"/>
                  <a:pt x="470" y="106"/>
                </a:cubicBezTo>
                <a:moveTo>
                  <a:pt x="470" y="192"/>
                </a:moveTo>
                <a:cubicBezTo>
                  <a:pt x="470" y="203"/>
                  <a:pt x="461" y="213"/>
                  <a:pt x="449" y="213"/>
                </a:cubicBezTo>
                <a:lnTo>
                  <a:pt x="22" y="213"/>
                </a:lnTo>
                <a:cubicBezTo>
                  <a:pt x="10" y="213"/>
                  <a:pt x="0" y="203"/>
                  <a:pt x="0" y="192"/>
                </a:cubicBezTo>
                <a:cubicBezTo>
                  <a:pt x="0" y="180"/>
                  <a:pt x="10" y="170"/>
                  <a:pt x="22" y="170"/>
                </a:cubicBezTo>
                <a:lnTo>
                  <a:pt x="449" y="170"/>
                </a:lnTo>
                <a:cubicBezTo>
                  <a:pt x="461" y="170"/>
                  <a:pt x="470" y="180"/>
                  <a:pt x="470" y="192"/>
                </a:cubicBezTo>
                <a:moveTo>
                  <a:pt x="470" y="277"/>
                </a:moveTo>
                <a:cubicBezTo>
                  <a:pt x="470" y="289"/>
                  <a:pt x="461" y="298"/>
                  <a:pt x="449" y="298"/>
                </a:cubicBezTo>
                <a:lnTo>
                  <a:pt x="22" y="298"/>
                </a:lnTo>
                <a:cubicBezTo>
                  <a:pt x="10" y="298"/>
                  <a:pt x="0" y="289"/>
                  <a:pt x="0" y="277"/>
                </a:cubicBezTo>
                <a:cubicBezTo>
                  <a:pt x="0" y="265"/>
                  <a:pt x="10" y="256"/>
                  <a:pt x="22" y="256"/>
                </a:cubicBezTo>
                <a:lnTo>
                  <a:pt x="449" y="256"/>
                </a:lnTo>
                <a:cubicBezTo>
                  <a:pt x="461" y="256"/>
                  <a:pt x="470" y="265"/>
                  <a:pt x="470" y="277"/>
                </a:cubicBezTo>
                <a:close/>
              </a:path>
            </a:pathLst>
          </a:custGeom>
          <a:solidFill>
            <a:srgbClr val="99aa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"/>
          <p:cNvSpPr/>
          <p:nvPr/>
        </p:nvSpPr>
        <p:spPr>
          <a:xfrm>
            <a:off x="836640" y="4492800"/>
            <a:ext cx="172440" cy="177840"/>
          </a:xfrm>
          <a:custGeom>
            <a:avLst/>
            <a:gdLst/>
            <a:ahLst/>
            <a:rect l="0" t="0" r="r" b="b"/>
            <a:pathLst>
              <a:path w="479" h="494">
                <a:moveTo>
                  <a:pt x="479" y="9"/>
                </a:moveTo>
                <a:cubicBezTo>
                  <a:pt x="462" y="-2"/>
                  <a:pt x="440" y="-3"/>
                  <a:pt x="426" y="9"/>
                </a:cubicBezTo>
                <a:lnTo>
                  <a:pt x="409" y="22"/>
                </a:lnTo>
                <a:lnTo>
                  <a:pt x="377" y="48"/>
                </a:lnTo>
                <a:lnTo>
                  <a:pt x="375" y="50"/>
                </a:lnTo>
                <a:lnTo>
                  <a:pt x="324" y="91"/>
                </a:lnTo>
                <a:lnTo>
                  <a:pt x="70" y="299"/>
                </a:lnTo>
                <a:cubicBezTo>
                  <a:pt x="61" y="306"/>
                  <a:pt x="53" y="325"/>
                  <a:pt x="45" y="343"/>
                </a:cubicBezTo>
                <a:cubicBezTo>
                  <a:pt x="37" y="361"/>
                  <a:pt x="25" y="404"/>
                  <a:pt x="14" y="437"/>
                </a:cubicBezTo>
                <a:cubicBezTo>
                  <a:pt x="11" y="442"/>
                  <a:pt x="-8" y="476"/>
                  <a:pt x="3" y="489"/>
                </a:cubicBezTo>
                <a:cubicBezTo>
                  <a:pt x="14" y="502"/>
                  <a:pt x="52" y="489"/>
                  <a:pt x="57" y="487"/>
                </a:cubicBezTo>
                <a:cubicBezTo>
                  <a:pt x="92" y="484"/>
                  <a:pt x="137" y="479"/>
                  <a:pt x="156" y="475"/>
                </a:cubicBezTo>
                <a:cubicBezTo>
                  <a:pt x="176" y="470"/>
                  <a:pt x="196" y="466"/>
                  <a:pt x="205" y="459"/>
                </a:cubicBezTo>
                <a:lnTo>
                  <a:pt x="206" y="458"/>
                </a:lnTo>
                <a:lnTo>
                  <a:pt x="459" y="252"/>
                </a:lnTo>
                <a:lnTo>
                  <a:pt x="476" y="239"/>
                </a:lnTo>
                <a:lnTo>
                  <a:pt x="479" y="236"/>
                </a:lnTo>
                <a:lnTo>
                  <a:pt x="479" y="9"/>
                </a:lnTo>
                <a:close/>
              </a:path>
            </a:pathLst>
          </a:custGeom>
          <a:solidFill>
            <a:srgbClr val="6675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" name=""/>
          <p:cNvSpPr/>
          <p:nvPr/>
        </p:nvSpPr>
        <p:spPr>
          <a:xfrm>
            <a:off x="839520" y="4582440"/>
            <a:ext cx="73800" cy="73800"/>
          </a:xfrm>
          <a:custGeom>
            <a:avLst/>
            <a:gdLst/>
            <a:ahLst/>
            <a:rect l="0" t="0" r="r" b="b"/>
            <a:pathLst>
              <a:path w="205" h="205">
                <a:moveTo>
                  <a:pt x="197" y="108"/>
                </a:moveTo>
                <a:cubicBezTo>
                  <a:pt x="197" y="108"/>
                  <a:pt x="170" y="68"/>
                  <a:pt x="152" y="53"/>
                </a:cubicBezTo>
                <a:cubicBezTo>
                  <a:pt x="138" y="35"/>
                  <a:pt x="98" y="7"/>
                  <a:pt x="98" y="7"/>
                </a:cubicBezTo>
                <a:cubicBezTo>
                  <a:pt x="88" y="-2"/>
                  <a:pt x="73" y="-3"/>
                  <a:pt x="63" y="6"/>
                </a:cubicBezTo>
                <a:cubicBezTo>
                  <a:pt x="54" y="16"/>
                  <a:pt x="46" y="36"/>
                  <a:pt x="38" y="56"/>
                </a:cubicBezTo>
                <a:cubicBezTo>
                  <a:pt x="28" y="80"/>
                  <a:pt x="10" y="145"/>
                  <a:pt x="0" y="179"/>
                </a:cubicBezTo>
                <a:cubicBezTo>
                  <a:pt x="-2" y="184"/>
                  <a:pt x="11" y="169"/>
                  <a:pt x="10" y="174"/>
                </a:cubicBezTo>
                <a:cubicBezTo>
                  <a:pt x="10" y="178"/>
                  <a:pt x="11" y="183"/>
                  <a:pt x="12" y="187"/>
                </a:cubicBezTo>
                <a:lnTo>
                  <a:pt x="9" y="190"/>
                </a:lnTo>
                <a:lnTo>
                  <a:pt x="14" y="191"/>
                </a:lnTo>
                <a:cubicBezTo>
                  <a:pt x="15" y="193"/>
                  <a:pt x="15" y="195"/>
                  <a:pt x="16" y="196"/>
                </a:cubicBezTo>
                <a:lnTo>
                  <a:pt x="19" y="193"/>
                </a:lnTo>
                <a:cubicBezTo>
                  <a:pt x="23" y="194"/>
                  <a:pt x="27" y="195"/>
                  <a:pt x="31" y="194"/>
                </a:cubicBezTo>
                <a:cubicBezTo>
                  <a:pt x="36" y="194"/>
                  <a:pt x="21" y="207"/>
                  <a:pt x="27" y="205"/>
                </a:cubicBezTo>
                <a:cubicBezTo>
                  <a:pt x="61" y="195"/>
                  <a:pt x="125" y="177"/>
                  <a:pt x="149" y="167"/>
                </a:cubicBezTo>
                <a:cubicBezTo>
                  <a:pt x="169" y="159"/>
                  <a:pt x="189" y="152"/>
                  <a:pt x="198" y="142"/>
                </a:cubicBezTo>
                <a:cubicBezTo>
                  <a:pt x="208" y="133"/>
                  <a:pt x="207" y="117"/>
                  <a:pt x="197" y="108"/>
                </a:cubicBezTo>
                <a:close/>
              </a:path>
            </a:pathLst>
          </a:custGeom>
          <a:solidFill>
            <a:srgbClr val="d99e8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"/>
          <p:cNvSpPr/>
          <p:nvPr/>
        </p:nvSpPr>
        <p:spPr>
          <a:xfrm>
            <a:off x="960480" y="4452120"/>
            <a:ext cx="83520" cy="83520"/>
          </a:xfrm>
          <a:custGeom>
            <a:avLst/>
            <a:gdLst/>
            <a:ahLst/>
            <a:rect l="0" t="0" r="r" b="b"/>
            <a:pathLst>
              <a:path w="232" h="232">
                <a:moveTo>
                  <a:pt x="14" y="81"/>
                </a:moveTo>
                <a:cubicBezTo>
                  <a:pt x="-5" y="100"/>
                  <a:pt x="-5" y="130"/>
                  <a:pt x="14" y="149"/>
                </a:cubicBezTo>
                <a:lnTo>
                  <a:pt x="82" y="217"/>
                </a:lnTo>
                <a:cubicBezTo>
                  <a:pt x="100" y="236"/>
                  <a:pt x="131" y="236"/>
                  <a:pt x="149" y="217"/>
                </a:cubicBezTo>
                <a:lnTo>
                  <a:pt x="218" y="149"/>
                </a:lnTo>
                <a:cubicBezTo>
                  <a:pt x="236" y="130"/>
                  <a:pt x="236" y="100"/>
                  <a:pt x="218" y="81"/>
                </a:cubicBezTo>
                <a:lnTo>
                  <a:pt x="149" y="14"/>
                </a:lnTo>
                <a:cubicBezTo>
                  <a:pt x="131" y="-5"/>
                  <a:pt x="100" y="-5"/>
                  <a:pt x="82" y="14"/>
                </a:cubicBezTo>
                <a:lnTo>
                  <a:pt x="14" y="81"/>
                </a:lnTo>
                <a:close/>
              </a:path>
            </a:pathLst>
          </a:custGeom>
          <a:solidFill>
            <a:srgbClr val="ea59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" name=""/>
          <p:cNvSpPr/>
          <p:nvPr/>
        </p:nvSpPr>
        <p:spPr>
          <a:xfrm>
            <a:off x="862200" y="4493520"/>
            <a:ext cx="140040" cy="140040"/>
          </a:xfrm>
          <a:custGeom>
            <a:avLst/>
            <a:gdLst/>
            <a:ahLst/>
            <a:rect l="0" t="0" r="r" b="b"/>
            <a:pathLst>
              <a:path w="389" h="389">
                <a:moveTo>
                  <a:pt x="0" y="254"/>
                </a:moveTo>
                <a:lnTo>
                  <a:pt x="68" y="322"/>
                </a:lnTo>
                <a:lnTo>
                  <a:pt x="136" y="389"/>
                </a:lnTo>
                <a:lnTo>
                  <a:pt x="389" y="136"/>
                </a:lnTo>
                <a:lnTo>
                  <a:pt x="254" y="0"/>
                </a:lnTo>
                <a:lnTo>
                  <a:pt x="0" y="254"/>
                </a:ln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"/>
          <p:cNvSpPr/>
          <p:nvPr/>
        </p:nvSpPr>
        <p:spPr>
          <a:xfrm>
            <a:off x="836640" y="4637520"/>
            <a:ext cx="21240" cy="21600"/>
          </a:xfrm>
          <a:custGeom>
            <a:avLst/>
            <a:gdLst/>
            <a:ahLst/>
            <a:rect l="0" t="0" r="r" b="b"/>
            <a:pathLst>
              <a:path w="59" h="60">
                <a:moveTo>
                  <a:pt x="59" y="45"/>
                </a:moveTo>
                <a:cubicBezTo>
                  <a:pt x="59" y="45"/>
                  <a:pt x="16" y="69"/>
                  <a:pt x="3" y="57"/>
                </a:cubicBezTo>
                <a:cubicBezTo>
                  <a:pt x="-9" y="45"/>
                  <a:pt x="16" y="0"/>
                  <a:pt x="16" y="0"/>
                </a:cubicBezTo>
                <a:cubicBezTo>
                  <a:pt x="16" y="0"/>
                  <a:pt x="58" y="1"/>
                  <a:pt x="59" y="45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" name=""/>
          <p:cNvSpPr/>
          <p:nvPr/>
        </p:nvSpPr>
        <p:spPr>
          <a:xfrm>
            <a:off x="953280" y="4463280"/>
            <a:ext cx="79560" cy="79200"/>
          </a:xfrm>
          <a:custGeom>
            <a:avLst/>
            <a:gdLst/>
            <a:ahLst/>
            <a:rect l="0" t="0" r="r" b="b"/>
            <a:pathLst>
              <a:path w="221" h="220">
                <a:moveTo>
                  <a:pt x="0" y="84"/>
                </a:moveTo>
                <a:lnTo>
                  <a:pt x="85" y="0"/>
                </a:lnTo>
                <a:lnTo>
                  <a:pt x="221" y="135"/>
                </a:lnTo>
                <a:lnTo>
                  <a:pt x="136" y="220"/>
                </a:lnTo>
                <a:lnTo>
                  <a:pt x="0" y="84"/>
                </a:ln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" name=""/>
          <p:cNvSpPr/>
          <p:nvPr/>
        </p:nvSpPr>
        <p:spPr>
          <a:xfrm>
            <a:off x="959400" y="4469040"/>
            <a:ext cx="67320" cy="67320"/>
          </a:xfrm>
          <a:custGeom>
            <a:avLst/>
            <a:gdLst/>
            <a:ahLst/>
            <a:rect l="0" t="0" r="r" b="b"/>
            <a:pathLst>
              <a:path w="187" h="187">
                <a:moveTo>
                  <a:pt x="35" y="17"/>
                </a:moveTo>
                <a:lnTo>
                  <a:pt x="52" y="0"/>
                </a:lnTo>
                <a:lnTo>
                  <a:pt x="187" y="137"/>
                </a:lnTo>
                <a:lnTo>
                  <a:pt x="170" y="153"/>
                </a:lnTo>
                <a:lnTo>
                  <a:pt x="35" y="17"/>
                </a:lnTo>
                <a:moveTo>
                  <a:pt x="0" y="51"/>
                </a:moveTo>
                <a:lnTo>
                  <a:pt x="17" y="34"/>
                </a:lnTo>
                <a:lnTo>
                  <a:pt x="153" y="170"/>
                </a:lnTo>
                <a:lnTo>
                  <a:pt x="136" y="187"/>
                </a:lnTo>
                <a:lnTo>
                  <a:pt x="0" y="51"/>
                </a:lnTo>
                <a:close/>
              </a:path>
            </a:pathLst>
          </a:custGeom>
          <a:solidFill>
            <a:srgbClr val="99aa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747720" y="3874320"/>
            <a:ext cx="2574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The WordPress site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" name=""/>
          <p:cNvSpPr/>
          <p:nvPr/>
        </p:nvSpPr>
        <p:spPr>
          <a:xfrm>
            <a:off x="817560" y="4857480"/>
            <a:ext cx="184320" cy="276840"/>
          </a:xfrm>
          <a:custGeom>
            <a:avLst/>
            <a:gdLst/>
            <a:ahLst/>
            <a:rect l="0" t="0" r="r" b="b"/>
            <a:pathLst>
              <a:path w="512" h="769">
                <a:moveTo>
                  <a:pt x="512" y="726"/>
                </a:moveTo>
                <a:cubicBezTo>
                  <a:pt x="512" y="749"/>
                  <a:pt x="493" y="769"/>
                  <a:pt x="469" y="769"/>
                </a:cubicBezTo>
                <a:lnTo>
                  <a:pt x="43" y="769"/>
                </a:lnTo>
                <a:cubicBezTo>
                  <a:pt x="19" y="769"/>
                  <a:pt x="0" y="749"/>
                  <a:pt x="0" y="726"/>
                </a:cubicBezTo>
                <a:lnTo>
                  <a:pt x="0" y="43"/>
                </a:lnTo>
                <a:cubicBezTo>
                  <a:pt x="0" y="19"/>
                  <a:pt x="19" y="0"/>
                  <a:pt x="43" y="0"/>
                </a:cubicBezTo>
                <a:lnTo>
                  <a:pt x="469" y="0"/>
                </a:lnTo>
                <a:cubicBezTo>
                  <a:pt x="493" y="0"/>
                  <a:pt x="512" y="19"/>
                  <a:pt x="512" y="43"/>
                </a:cubicBezTo>
                <a:lnTo>
                  <a:pt x="512" y="726"/>
                </a:ln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" name=""/>
          <p:cNvSpPr/>
          <p:nvPr/>
        </p:nvSpPr>
        <p:spPr>
          <a:xfrm>
            <a:off x="832680" y="4872960"/>
            <a:ext cx="153720" cy="245880"/>
          </a:xfrm>
          <a:custGeom>
            <a:avLst/>
            <a:gdLst/>
            <a:ahLst/>
            <a:rect l="0" t="0" r="r" b="b"/>
            <a:pathLst>
              <a:path w="427" h="683">
                <a:moveTo>
                  <a:pt x="427" y="298"/>
                </a:moveTo>
                <a:cubicBezTo>
                  <a:pt x="427" y="310"/>
                  <a:pt x="418" y="320"/>
                  <a:pt x="406" y="320"/>
                </a:cubicBezTo>
                <a:lnTo>
                  <a:pt x="21" y="320"/>
                </a:lnTo>
                <a:cubicBezTo>
                  <a:pt x="10" y="320"/>
                  <a:pt x="0" y="310"/>
                  <a:pt x="0" y="298"/>
                </a:cubicBezTo>
                <a:lnTo>
                  <a:pt x="0" y="21"/>
                </a:lnTo>
                <a:cubicBezTo>
                  <a:pt x="0" y="9"/>
                  <a:pt x="10" y="0"/>
                  <a:pt x="21" y="0"/>
                </a:cubicBezTo>
                <a:lnTo>
                  <a:pt x="406" y="0"/>
                </a:lnTo>
                <a:cubicBezTo>
                  <a:pt x="418" y="0"/>
                  <a:pt x="427" y="9"/>
                  <a:pt x="427" y="21"/>
                </a:cubicBezTo>
                <a:lnTo>
                  <a:pt x="427" y="298"/>
                </a:lnTo>
                <a:moveTo>
                  <a:pt x="427" y="662"/>
                </a:moveTo>
                <a:cubicBezTo>
                  <a:pt x="427" y="673"/>
                  <a:pt x="418" y="683"/>
                  <a:pt x="406" y="683"/>
                </a:cubicBezTo>
                <a:lnTo>
                  <a:pt x="21" y="683"/>
                </a:lnTo>
                <a:cubicBezTo>
                  <a:pt x="10" y="683"/>
                  <a:pt x="0" y="673"/>
                  <a:pt x="0" y="662"/>
                </a:cubicBezTo>
                <a:lnTo>
                  <a:pt x="0" y="384"/>
                </a:lnTo>
                <a:cubicBezTo>
                  <a:pt x="0" y="372"/>
                  <a:pt x="10" y="362"/>
                  <a:pt x="21" y="362"/>
                </a:cubicBezTo>
                <a:lnTo>
                  <a:pt x="406" y="362"/>
                </a:lnTo>
                <a:cubicBezTo>
                  <a:pt x="418" y="362"/>
                  <a:pt x="427" y="372"/>
                  <a:pt x="427" y="384"/>
                </a:cubicBezTo>
                <a:lnTo>
                  <a:pt x="427" y="662"/>
                </a:lnTo>
                <a:close/>
              </a:path>
            </a:pathLst>
          </a:custGeom>
          <a:solidFill>
            <a:srgbClr val="6675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" name=""/>
          <p:cNvSpPr/>
          <p:nvPr/>
        </p:nvSpPr>
        <p:spPr>
          <a:xfrm>
            <a:off x="878760" y="4888440"/>
            <a:ext cx="61920" cy="168840"/>
          </a:xfrm>
          <a:custGeom>
            <a:avLst/>
            <a:gdLst/>
            <a:ahLst/>
            <a:rect l="0" t="0" r="r" b="b"/>
            <a:pathLst>
              <a:path w="172" h="469">
                <a:moveTo>
                  <a:pt x="172" y="85"/>
                </a:moveTo>
                <a:cubicBezTo>
                  <a:pt x="172" y="97"/>
                  <a:pt x="162" y="106"/>
                  <a:pt x="150" y="106"/>
                </a:cubicBezTo>
                <a:lnTo>
                  <a:pt x="21" y="106"/>
                </a:lnTo>
                <a:cubicBezTo>
                  <a:pt x="10" y="106"/>
                  <a:pt x="0" y="97"/>
                  <a:pt x="0" y="85"/>
                </a:cubicBezTo>
                <a:lnTo>
                  <a:pt x="0" y="21"/>
                </a:lnTo>
                <a:cubicBezTo>
                  <a:pt x="0" y="9"/>
                  <a:pt x="10" y="0"/>
                  <a:pt x="21" y="0"/>
                </a:cubicBezTo>
                <a:lnTo>
                  <a:pt x="150" y="0"/>
                </a:lnTo>
                <a:cubicBezTo>
                  <a:pt x="162" y="0"/>
                  <a:pt x="172" y="9"/>
                  <a:pt x="172" y="21"/>
                </a:cubicBezTo>
                <a:lnTo>
                  <a:pt x="172" y="85"/>
                </a:lnTo>
                <a:moveTo>
                  <a:pt x="172" y="448"/>
                </a:moveTo>
                <a:cubicBezTo>
                  <a:pt x="172" y="460"/>
                  <a:pt x="162" y="469"/>
                  <a:pt x="150" y="469"/>
                </a:cubicBezTo>
                <a:lnTo>
                  <a:pt x="21" y="469"/>
                </a:lnTo>
                <a:cubicBezTo>
                  <a:pt x="10" y="469"/>
                  <a:pt x="0" y="460"/>
                  <a:pt x="0" y="448"/>
                </a:cubicBezTo>
                <a:lnTo>
                  <a:pt x="0" y="384"/>
                </a:lnTo>
                <a:cubicBezTo>
                  <a:pt x="0" y="372"/>
                  <a:pt x="10" y="363"/>
                  <a:pt x="21" y="363"/>
                </a:cubicBezTo>
                <a:lnTo>
                  <a:pt x="150" y="363"/>
                </a:lnTo>
                <a:cubicBezTo>
                  <a:pt x="162" y="363"/>
                  <a:pt x="172" y="372"/>
                  <a:pt x="172" y="384"/>
                </a:cubicBezTo>
                <a:lnTo>
                  <a:pt x="172" y="448"/>
                </a:ln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" name=""/>
          <p:cNvSpPr/>
          <p:nvPr/>
        </p:nvSpPr>
        <p:spPr>
          <a:xfrm>
            <a:off x="863280" y="4896000"/>
            <a:ext cx="92520" cy="199800"/>
          </a:xfrm>
          <a:custGeom>
            <a:avLst/>
            <a:gdLst/>
            <a:ahLst/>
            <a:rect l="0" t="0" r="r" b="b"/>
            <a:pathLst>
              <a:path w="257" h="555">
                <a:moveTo>
                  <a:pt x="65" y="0"/>
                </a:moveTo>
                <a:lnTo>
                  <a:pt x="193" y="0"/>
                </a:lnTo>
                <a:lnTo>
                  <a:pt x="193" y="64"/>
                </a:lnTo>
                <a:lnTo>
                  <a:pt x="65" y="64"/>
                </a:lnTo>
                <a:lnTo>
                  <a:pt x="65" y="0"/>
                </a:lnTo>
                <a:moveTo>
                  <a:pt x="65" y="362"/>
                </a:moveTo>
                <a:lnTo>
                  <a:pt x="193" y="362"/>
                </a:lnTo>
                <a:lnTo>
                  <a:pt x="193" y="426"/>
                </a:lnTo>
                <a:lnTo>
                  <a:pt x="65" y="426"/>
                </a:lnTo>
                <a:lnTo>
                  <a:pt x="65" y="362"/>
                </a:lnTo>
                <a:moveTo>
                  <a:pt x="257" y="171"/>
                </a:moveTo>
                <a:cubicBezTo>
                  <a:pt x="257" y="182"/>
                  <a:pt x="248" y="192"/>
                  <a:pt x="236" y="192"/>
                </a:cubicBezTo>
                <a:lnTo>
                  <a:pt x="21" y="192"/>
                </a:lnTo>
                <a:cubicBezTo>
                  <a:pt x="10" y="192"/>
                  <a:pt x="0" y="182"/>
                  <a:pt x="0" y="171"/>
                </a:cubicBezTo>
                <a:lnTo>
                  <a:pt x="0" y="170"/>
                </a:lnTo>
                <a:cubicBezTo>
                  <a:pt x="0" y="158"/>
                  <a:pt x="10" y="149"/>
                  <a:pt x="21" y="149"/>
                </a:cubicBezTo>
                <a:lnTo>
                  <a:pt x="236" y="149"/>
                </a:lnTo>
                <a:cubicBezTo>
                  <a:pt x="248" y="149"/>
                  <a:pt x="257" y="158"/>
                  <a:pt x="257" y="170"/>
                </a:cubicBezTo>
                <a:lnTo>
                  <a:pt x="257" y="171"/>
                </a:lnTo>
                <a:moveTo>
                  <a:pt x="257" y="534"/>
                </a:moveTo>
                <a:cubicBezTo>
                  <a:pt x="257" y="546"/>
                  <a:pt x="248" y="555"/>
                  <a:pt x="236" y="555"/>
                </a:cubicBezTo>
                <a:lnTo>
                  <a:pt x="21" y="555"/>
                </a:lnTo>
                <a:cubicBezTo>
                  <a:pt x="10" y="555"/>
                  <a:pt x="0" y="546"/>
                  <a:pt x="0" y="534"/>
                </a:cubicBezTo>
                <a:lnTo>
                  <a:pt x="0" y="533"/>
                </a:lnTo>
                <a:cubicBezTo>
                  <a:pt x="0" y="521"/>
                  <a:pt x="10" y="511"/>
                  <a:pt x="21" y="511"/>
                </a:cubicBezTo>
                <a:lnTo>
                  <a:pt x="236" y="511"/>
                </a:lnTo>
                <a:cubicBezTo>
                  <a:pt x="248" y="511"/>
                  <a:pt x="257" y="521"/>
                  <a:pt x="257" y="533"/>
                </a:cubicBezTo>
                <a:lnTo>
                  <a:pt x="257" y="534"/>
                </a:lnTo>
                <a:close/>
              </a:path>
            </a:pathLst>
          </a:custGeom>
          <a:solidFill>
            <a:srgbClr val="e1e8e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1065240" y="4446000"/>
            <a:ext cx="5334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2,500 posts · 500 WooCommerce products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" name=""/>
          <p:cNvSpPr/>
          <p:nvPr/>
        </p:nvSpPr>
        <p:spPr>
          <a:xfrm>
            <a:off x="914400" y="5280120"/>
            <a:ext cx="130320" cy="129960"/>
          </a:xfrm>
          <a:custGeom>
            <a:avLst/>
            <a:gdLst/>
            <a:ahLst/>
            <a:rect l="0" t="0" r="r" b="b"/>
            <a:pathLst>
              <a:path w="362" h="361">
                <a:moveTo>
                  <a:pt x="11" y="349"/>
                </a:moveTo>
                <a:cubicBezTo>
                  <a:pt x="-4" y="334"/>
                  <a:pt x="-4" y="309"/>
                  <a:pt x="11" y="294"/>
                </a:cubicBezTo>
                <a:lnTo>
                  <a:pt x="295" y="11"/>
                </a:lnTo>
                <a:cubicBezTo>
                  <a:pt x="310" y="-4"/>
                  <a:pt x="335" y="-4"/>
                  <a:pt x="350" y="11"/>
                </a:cubicBezTo>
                <a:cubicBezTo>
                  <a:pt x="365" y="26"/>
                  <a:pt x="365" y="50"/>
                  <a:pt x="350" y="65"/>
                </a:cubicBezTo>
                <a:lnTo>
                  <a:pt x="66" y="349"/>
                </a:lnTo>
                <a:cubicBezTo>
                  <a:pt x="51" y="364"/>
                  <a:pt x="26" y="364"/>
                  <a:pt x="11" y="349"/>
                </a:cubicBezTo>
                <a:close/>
              </a:path>
            </a:pathLst>
          </a:custGeom>
          <a:solidFill>
            <a:srgbClr val="c1694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" name=""/>
          <p:cNvSpPr/>
          <p:nvPr/>
        </p:nvSpPr>
        <p:spPr>
          <a:xfrm>
            <a:off x="832320" y="5389200"/>
            <a:ext cx="102960" cy="103320"/>
          </a:xfrm>
          <a:custGeom>
            <a:avLst/>
            <a:gdLst/>
            <a:ahLst/>
            <a:rect l="0" t="0" r="r" b="b"/>
            <a:pathLst>
              <a:path w="286" h="287">
                <a:moveTo>
                  <a:pt x="19" y="271"/>
                </a:moveTo>
                <a:lnTo>
                  <a:pt x="15" y="266"/>
                </a:lnTo>
                <a:cubicBezTo>
                  <a:pt x="-5" y="246"/>
                  <a:pt x="-5" y="213"/>
                  <a:pt x="15" y="193"/>
                </a:cubicBezTo>
                <a:lnTo>
                  <a:pt x="194" y="15"/>
                </a:lnTo>
                <a:cubicBezTo>
                  <a:pt x="214" y="-5"/>
                  <a:pt x="246" y="-5"/>
                  <a:pt x="267" y="15"/>
                </a:cubicBezTo>
                <a:lnTo>
                  <a:pt x="271" y="20"/>
                </a:lnTo>
                <a:cubicBezTo>
                  <a:pt x="291" y="40"/>
                  <a:pt x="291" y="73"/>
                  <a:pt x="271" y="93"/>
                </a:cubicBezTo>
                <a:lnTo>
                  <a:pt x="92" y="271"/>
                </a:lnTo>
                <a:cubicBezTo>
                  <a:pt x="72" y="292"/>
                  <a:pt x="39" y="292"/>
                  <a:pt x="19" y="271"/>
                </a:cubicBezTo>
                <a:close/>
              </a:path>
            </a:pathLst>
          </a:custGeom>
          <a:solidFill>
            <a:srgbClr val="6675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" name=""/>
          <p:cNvSpPr/>
          <p:nvPr/>
        </p:nvSpPr>
        <p:spPr>
          <a:xfrm>
            <a:off x="771480" y="5397840"/>
            <a:ext cx="155520" cy="155880"/>
          </a:xfrm>
          <a:custGeom>
            <a:avLst/>
            <a:gdLst/>
            <a:ahLst/>
            <a:rect l="0" t="0" r="r" b="b"/>
            <a:pathLst>
              <a:path w="432" h="433">
                <a:moveTo>
                  <a:pt x="414" y="226"/>
                </a:moveTo>
                <a:cubicBezTo>
                  <a:pt x="450" y="190"/>
                  <a:pt x="428" y="110"/>
                  <a:pt x="375" y="57"/>
                </a:cubicBezTo>
                <a:cubicBezTo>
                  <a:pt x="322" y="4"/>
                  <a:pt x="242" y="-18"/>
                  <a:pt x="205" y="18"/>
                </a:cubicBezTo>
                <a:lnTo>
                  <a:pt x="0" y="222"/>
                </a:lnTo>
                <a:lnTo>
                  <a:pt x="209" y="433"/>
                </a:lnTo>
                <a:lnTo>
                  <a:pt x="414" y="226"/>
                </a:ln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"/>
          <p:cNvSpPr/>
          <p:nvPr/>
        </p:nvSpPr>
        <p:spPr>
          <a:xfrm>
            <a:off x="786960" y="5426640"/>
            <a:ext cx="111240" cy="111240"/>
          </a:xfrm>
          <a:custGeom>
            <a:avLst/>
            <a:gdLst/>
            <a:ahLst/>
            <a:rect l="0" t="0" r="r" b="b"/>
            <a:pathLst>
              <a:path w="309" h="309">
                <a:moveTo>
                  <a:pt x="0" y="185"/>
                </a:moveTo>
                <a:lnTo>
                  <a:pt x="185" y="0"/>
                </a:lnTo>
                <a:lnTo>
                  <a:pt x="198" y="12"/>
                </a:lnTo>
                <a:lnTo>
                  <a:pt x="12" y="197"/>
                </a:lnTo>
                <a:lnTo>
                  <a:pt x="0" y="185"/>
                </a:lnTo>
                <a:moveTo>
                  <a:pt x="37" y="222"/>
                </a:moveTo>
                <a:lnTo>
                  <a:pt x="222" y="37"/>
                </a:lnTo>
                <a:lnTo>
                  <a:pt x="235" y="49"/>
                </a:lnTo>
                <a:lnTo>
                  <a:pt x="49" y="235"/>
                </a:lnTo>
                <a:lnTo>
                  <a:pt x="37" y="222"/>
                </a:lnTo>
                <a:moveTo>
                  <a:pt x="74" y="259"/>
                </a:moveTo>
                <a:lnTo>
                  <a:pt x="259" y="74"/>
                </a:lnTo>
                <a:lnTo>
                  <a:pt x="272" y="86"/>
                </a:lnTo>
                <a:lnTo>
                  <a:pt x="86" y="272"/>
                </a:lnTo>
                <a:lnTo>
                  <a:pt x="74" y="259"/>
                </a:lnTo>
                <a:moveTo>
                  <a:pt x="111" y="296"/>
                </a:moveTo>
                <a:lnTo>
                  <a:pt x="296" y="111"/>
                </a:lnTo>
                <a:lnTo>
                  <a:pt x="309" y="123"/>
                </a:lnTo>
                <a:lnTo>
                  <a:pt x="123" y="309"/>
                </a:lnTo>
                <a:lnTo>
                  <a:pt x="111" y="296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"/>
          <p:cNvSpPr/>
          <p:nvPr/>
        </p:nvSpPr>
        <p:spPr>
          <a:xfrm>
            <a:off x="828720" y="5402880"/>
            <a:ext cx="93240" cy="93240"/>
          </a:xfrm>
          <a:custGeom>
            <a:avLst/>
            <a:gdLst/>
            <a:ahLst/>
            <a:rect l="0" t="0" r="r" b="b"/>
            <a:pathLst>
              <a:path w="259" h="259">
                <a:moveTo>
                  <a:pt x="51" y="0"/>
                </a:moveTo>
                <a:cubicBezTo>
                  <a:pt x="50" y="1"/>
                  <a:pt x="48" y="2"/>
                  <a:pt x="46" y="3"/>
                </a:cubicBezTo>
                <a:lnTo>
                  <a:pt x="0" y="50"/>
                </a:lnTo>
                <a:lnTo>
                  <a:pt x="209" y="259"/>
                </a:lnTo>
                <a:lnTo>
                  <a:pt x="255" y="212"/>
                </a:lnTo>
                <a:cubicBezTo>
                  <a:pt x="256" y="210"/>
                  <a:pt x="257" y="209"/>
                  <a:pt x="259" y="207"/>
                </a:cubicBezTo>
                <a:lnTo>
                  <a:pt x="51" y="0"/>
                </a:lnTo>
                <a:close/>
              </a:path>
            </a:pathLst>
          </a:custGeom>
          <a:solidFill>
            <a:srgbClr val="55ac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" name=""/>
          <p:cNvSpPr/>
          <p:nvPr/>
        </p:nvSpPr>
        <p:spPr>
          <a:xfrm>
            <a:off x="839520" y="5412240"/>
            <a:ext cx="73080" cy="72720"/>
          </a:xfrm>
          <a:custGeom>
            <a:avLst/>
            <a:gdLst/>
            <a:ahLst/>
            <a:rect l="0" t="0" r="r" b="b"/>
            <a:pathLst>
              <a:path w="203" h="202">
                <a:moveTo>
                  <a:pt x="0" y="12"/>
                </a:moveTo>
                <a:lnTo>
                  <a:pt x="5" y="0"/>
                </a:lnTo>
                <a:lnTo>
                  <a:pt x="203" y="197"/>
                </a:lnTo>
                <a:lnTo>
                  <a:pt x="190" y="202"/>
                </a:lnTo>
                <a:lnTo>
                  <a:pt x="0" y="12"/>
                </a:lnTo>
                <a:close/>
              </a:path>
            </a:pathLst>
          </a:custGeom>
          <a:solidFill>
            <a:srgbClr val="2266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1065240" y="4855320"/>
            <a:ext cx="2844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~6,000 revisions in DB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" name=""/>
          <p:cNvSpPr/>
          <p:nvPr/>
        </p:nvSpPr>
        <p:spPr>
          <a:xfrm>
            <a:off x="794520" y="5686200"/>
            <a:ext cx="123120" cy="123120"/>
          </a:xfrm>
          <a:custGeom>
            <a:avLst/>
            <a:gdLst/>
            <a:ahLst/>
            <a:rect l="0" t="0" r="r" b="b"/>
            <a:pathLst>
              <a:path w="342" h="342">
                <a:moveTo>
                  <a:pt x="171" y="0"/>
                </a:moveTo>
                <a:cubicBezTo>
                  <a:pt x="77" y="0"/>
                  <a:pt x="0" y="77"/>
                  <a:pt x="0" y="172"/>
                </a:cubicBezTo>
                <a:lnTo>
                  <a:pt x="0" y="342"/>
                </a:lnTo>
                <a:lnTo>
                  <a:pt x="43" y="342"/>
                </a:lnTo>
                <a:lnTo>
                  <a:pt x="43" y="172"/>
                </a:lnTo>
                <a:cubicBezTo>
                  <a:pt x="43" y="101"/>
                  <a:pt x="100" y="43"/>
                  <a:pt x="171" y="43"/>
                </a:cubicBezTo>
                <a:cubicBezTo>
                  <a:pt x="242" y="43"/>
                  <a:pt x="299" y="101"/>
                  <a:pt x="299" y="172"/>
                </a:cubicBezTo>
                <a:lnTo>
                  <a:pt x="299" y="342"/>
                </a:lnTo>
                <a:lnTo>
                  <a:pt x="342" y="342"/>
                </a:lnTo>
                <a:lnTo>
                  <a:pt x="342" y="172"/>
                </a:lnTo>
                <a:cubicBezTo>
                  <a:pt x="342" y="77"/>
                  <a:pt x="265" y="0"/>
                  <a:pt x="171" y="0"/>
                </a:cubicBezTo>
                <a:close/>
              </a:path>
            </a:pathLst>
          </a:custGeom>
          <a:solidFill>
            <a:srgbClr val="f490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"/>
          <p:cNvSpPr/>
          <p:nvPr/>
        </p:nvSpPr>
        <p:spPr>
          <a:xfrm>
            <a:off x="779040" y="5747760"/>
            <a:ext cx="153720" cy="176760"/>
          </a:xfrm>
          <a:custGeom>
            <a:avLst/>
            <a:gdLst/>
            <a:ahLst/>
            <a:rect l="0" t="0" r="r" b="b"/>
            <a:pathLst>
              <a:path w="427" h="491">
                <a:moveTo>
                  <a:pt x="0" y="0"/>
                </a:moveTo>
                <a:lnTo>
                  <a:pt x="43" y="42"/>
                </a:lnTo>
                <a:lnTo>
                  <a:pt x="85" y="0"/>
                </a:lnTo>
                <a:lnTo>
                  <a:pt x="128" y="42"/>
                </a:lnTo>
                <a:lnTo>
                  <a:pt x="170" y="0"/>
                </a:lnTo>
                <a:lnTo>
                  <a:pt x="214" y="42"/>
                </a:lnTo>
                <a:lnTo>
                  <a:pt x="257" y="0"/>
                </a:lnTo>
                <a:lnTo>
                  <a:pt x="299" y="42"/>
                </a:lnTo>
                <a:lnTo>
                  <a:pt x="342" y="0"/>
                </a:lnTo>
                <a:lnTo>
                  <a:pt x="385" y="42"/>
                </a:lnTo>
                <a:lnTo>
                  <a:pt x="427" y="0"/>
                </a:lnTo>
                <a:lnTo>
                  <a:pt x="427" y="491"/>
                </a:lnTo>
                <a:lnTo>
                  <a:pt x="0" y="491"/>
                </a:lnTo>
                <a:lnTo>
                  <a:pt x="0" y="0"/>
                </a:ln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" name=""/>
          <p:cNvSpPr/>
          <p:nvPr/>
        </p:nvSpPr>
        <p:spPr>
          <a:xfrm>
            <a:off x="901800" y="5724720"/>
            <a:ext cx="123120" cy="123120"/>
          </a:xfrm>
          <a:custGeom>
            <a:avLst/>
            <a:gdLst/>
            <a:ahLst/>
            <a:rect l="0" t="0" r="r" b="b"/>
            <a:pathLst>
              <a:path w="342" h="342">
                <a:moveTo>
                  <a:pt x="171" y="0"/>
                </a:moveTo>
                <a:cubicBezTo>
                  <a:pt x="77" y="0"/>
                  <a:pt x="0" y="76"/>
                  <a:pt x="0" y="170"/>
                </a:cubicBezTo>
                <a:lnTo>
                  <a:pt x="0" y="342"/>
                </a:lnTo>
                <a:lnTo>
                  <a:pt x="43" y="342"/>
                </a:lnTo>
                <a:lnTo>
                  <a:pt x="43" y="170"/>
                </a:lnTo>
                <a:cubicBezTo>
                  <a:pt x="43" y="100"/>
                  <a:pt x="101" y="42"/>
                  <a:pt x="171" y="42"/>
                </a:cubicBezTo>
                <a:cubicBezTo>
                  <a:pt x="242" y="42"/>
                  <a:pt x="299" y="100"/>
                  <a:pt x="299" y="170"/>
                </a:cubicBezTo>
                <a:lnTo>
                  <a:pt x="299" y="342"/>
                </a:lnTo>
                <a:lnTo>
                  <a:pt x="342" y="342"/>
                </a:lnTo>
                <a:lnTo>
                  <a:pt x="342" y="170"/>
                </a:lnTo>
                <a:cubicBezTo>
                  <a:pt x="342" y="76"/>
                  <a:pt x="266" y="0"/>
                  <a:pt x="171" y="0"/>
                </a:cubicBez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"/>
          <p:cNvSpPr/>
          <p:nvPr/>
        </p:nvSpPr>
        <p:spPr>
          <a:xfrm>
            <a:off x="886320" y="5785920"/>
            <a:ext cx="154080" cy="176760"/>
          </a:xfrm>
          <a:custGeom>
            <a:avLst/>
            <a:gdLst/>
            <a:ahLst/>
            <a:rect l="0" t="0" r="r" b="b"/>
            <a:pathLst>
              <a:path w="428" h="491">
                <a:moveTo>
                  <a:pt x="0" y="0"/>
                </a:moveTo>
                <a:lnTo>
                  <a:pt x="43" y="43"/>
                </a:lnTo>
                <a:lnTo>
                  <a:pt x="86" y="0"/>
                </a:lnTo>
                <a:lnTo>
                  <a:pt x="128" y="43"/>
                </a:lnTo>
                <a:lnTo>
                  <a:pt x="171" y="0"/>
                </a:lnTo>
                <a:lnTo>
                  <a:pt x="213" y="43"/>
                </a:lnTo>
                <a:lnTo>
                  <a:pt x="256" y="0"/>
                </a:lnTo>
                <a:lnTo>
                  <a:pt x="299" y="43"/>
                </a:lnTo>
                <a:lnTo>
                  <a:pt x="342" y="0"/>
                </a:lnTo>
                <a:lnTo>
                  <a:pt x="385" y="43"/>
                </a:lnTo>
                <a:lnTo>
                  <a:pt x="428" y="0"/>
                </a:lnTo>
                <a:lnTo>
                  <a:pt x="428" y="491"/>
                </a:lnTo>
                <a:lnTo>
                  <a:pt x="0" y="491"/>
                </a:lnTo>
                <a:lnTo>
                  <a:pt x="0" y="0"/>
                </a:lnTo>
                <a:close/>
              </a:path>
            </a:pathLst>
          </a:custGeom>
          <a:solidFill>
            <a:srgbClr val="744ea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1065240" y="5274360"/>
            <a:ext cx="5151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Realistic bloat: transients, orphaned meta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1065240" y="5684040"/>
            <a:ext cx="4467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WooCommerce + Yoast SEO active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" name=""/>
          <p:cNvSpPr/>
          <p:nvPr/>
        </p:nvSpPr>
        <p:spPr>
          <a:xfrm>
            <a:off x="794520" y="6819840"/>
            <a:ext cx="230760" cy="276480"/>
          </a:xfrm>
          <a:custGeom>
            <a:avLst/>
            <a:gdLst/>
            <a:ahLst/>
            <a:rect l="0" t="0" r="r" b="b"/>
            <a:pathLst>
              <a:path w="641" h="768">
                <a:moveTo>
                  <a:pt x="639" y="333"/>
                </a:moveTo>
                <a:cubicBezTo>
                  <a:pt x="636" y="325"/>
                  <a:pt x="628" y="319"/>
                  <a:pt x="619" y="319"/>
                </a:cubicBezTo>
                <a:lnTo>
                  <a:pt x="361" y="319"/>
                </a:lnTo>
                <a:lnTo>
                  <a:pt x="510" y="31"/>
                </a:lnTo>
                <a:cubicBezTo>
                  <a:pt x="514" y="22"/>
                  <a:pt x="512" y="11"/>
                  <a:pt x="504" y="4"/>
                </a:cubicBezTo>
                <a:cubicBezTo>
                  <a:pt x="500" y="1"/>
                  <a:pt x="495" y="0"/>
                  <a:pt x="491" y="0"/>
                </a:cubicBezTo>
                <a:cubicBezTo>
                  <a:pt x="486" y="0"/>
                  <a:pt x="481" y="1"/>
                  <a:pt x="477" y="5"/>
                </a:cubicBezTo>
                <a:lnTo>
                  <a:pt x="320" y="140"/>
                </a:lnTo>
                <a:lnTo>
                  <a:pt x="7" y="410"/>
                </a:lnTo>
                <a:cubicBezTo>
                  <a:pt x="0" y="416"/>
                  <a:pt x="-2" y="425"/>
                  <a:pt x="1" y="433"/>
                </a:cubicBezTo>
                <a:cubicBezTo>
                  <a:pt x="4" y="442"/>
                  <a:pt x="12" y="447"/>
                  <a:pt x="21" y="447"/>
                </a:cubicBezTo>
                <a:lnTo>
                  <a:pt x="279" y="447"/>
                </a:lnTo>
                <a:lnTo>
                  <a:pt x="131" y="737"/>
                </a:lnTo>
                <a:cubicBezTo>
                  <a:pt x="126" y="746"/>
                  <a:pt x="129" y="757"/>
                  <a:pt x="137" y="763"/>
                </a:cubicBezTo>
                <a:cubicBezTo>
                  <a:pt x="140" y="766"/>
                  <a:pt x="145" y="768"/>
                  <a:pt x="150" y="768"/>
                </a:cubicBezTo>
                <a:cubicBezTo>
                  <a:pt x="155" y="768"/>
                  <a:pt x="160" y="766"/>
                  <a:pt x="164" y="763"/>
                </a:cubicBezTo>
                <a:lnTo>
                  <a:pt x="320" y="628"/>
                </a:lnTo>
                <a:lnTo>
                  <a:pt x="633" y="357"/>
                </a:lnTo>
                <a:cubicBezTo>
                  <a:pt x="639" y="351"/>
                  <a:pt x="642" y="342"/>
                  <a:pt x="639" y="333"/>
                </a:cubicBez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747720" y="6255720"/>
            <a:ext cx="2483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The load generator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" name=""/>
          <p:cNvSpPr/>
          <p:nvPr/>
        </p:nvSpPr>
        <p:spPr>
          <a:xfrm>
            <a:off x="752400" y="1457280"/>
            <a:ext cx="962280" cy="952560"/>
          </a:xfrm>
          <a:custGeom>
            <a:avLst/>
            <a:gdLst/>
            <a:ahLst/>
            <a:rect l="0" t="0" r="r" b="b"/>
            <a:pathLst>
              <a:path w="2673" h="2646">
                <a:moveTo>
                  <a:pt x="0" y="0"/>
                </a:moveTo>
                <a:lnTo>
                  <a:pt x="2673" y="0"/>
                </a:lnTo>
                <a:lnTo>
                  <a:pt x="2673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" name=""/>
          <p:cNvSpPr/>
          <p:nvPr/>
        </p:nvSpPr>
        <p:spPr>
          <a:xfrm>
            <a:off x="1714320" y="1457280"/>
            <a:ext cx="2124360" cy="952560"/>
          </a:xfrm>
          <a:custGeom>
            <a:avLst/>
            <a:gdLst/>
            <a:ahLst/>
            <a:rect l="0" t="0" r="r" b="b"/>
            <a:pathLst>
              <a:path w="5901" h="2646">
                <a:moveTo>
                  <a:pt x="0" y="0"/>
                </a:moveTo>
                <a:lnTo>
                  <a:pt x="5901" y="0"/>
                </a:lnTo>
                <a:lnTo>
                  <a:pt x="5901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" name=""/>
          <p:cNvSpPr/>
          <p:nvPr/>
        </p:nvSpPr>
        <p:spPr>
          <a:xfrm>
            <a:off x="3838320" y="1457280"/>
            <a:ext cx="1619640" cy="952560"/>
          </a:xfrm>
          <a:custGeom>
            <a:avLst/>
            <a:gdLst/>
            <a:ahLst/>
            <a:rect l="0" t="0" r="r" b="b"/>
            <a:pathLst>
              <a:path w="4499" h="2646">
                <a:moveTo>
                  <a:pt x="0" y="0"/>
                </a:moveTo>
                <a:lnTo>
                  <a:pt x="4499" y="0"/>
                </a:lnTo>
                <a:lnTo>
                  <a:pt x="4499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"/>
          <p:cNvSpPr/>
          <p:nvPr/>
        </p:nvSpPr>
        <p:spPr>
          <a:xfrm>
            <a:off x="5457600" y="1457280"/>
            <a:ext cx="1791000" cy="952560"/>
          </a:xfrm>
          <a:custGeom>
            <a:avLst/>
            <a:gdLst/>
            <a:ahLst/>
            <a:rect l="0" t="0" r="r" b="b"/>
            <a:pathLst>
              <a:path w="4975" h="2646">
                <a:moveTo>
                  <a:pt x="0" y="0"/>
                </a:moveTo>
                <a:lnTo>
                  <a:pt x="4975" y="0"/>
                </a:lnTo>
                <a:lnTo>
                  <a:pt x="4975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"/>
          <p:cNvSpPr/>
          <p:nvPr/>
        </p:nvSpPr>
        <p:spPr>
          <a:xfrm>
            <a:off x="7248240" y="1457280"/>
            <a:ext cx="972000" cy="952560"/>
          </a:xfrm>
          <a:custGeom>
            <a:avLst/>
            <a:gdLst/>
            <a:ahLst/>
            <a:rect l="0" t="0" r="r" b="b"/>
            <a:pathLst>
              <a:path w="2700" h="2646">
                <a:moveTo>
                  <a:pt x="0" y="0"/>
                </a:moveTo>
                <a:lnTo>
                  <a:pt x="2700" y="0"/>
                </a:lnTo>
                <a:lnTo>
                  <a:pt x="2700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"/>
          <p:cNvSpPr/>
          <p:nvPr/>
        </p:nvSpPr>
        <p:spPr>
          <a:xfrm>
            <a:off x="8219880" y="1457280"/>
            <a:ext cx="1429200" cy="952560"/>
          </a:xfrm>
          <a:custGeom>
            <a:avLst/>
            <a:gdLst/>
            <a:ahLst/>
            <a:rect l="0" t="0" r="r" b="b"/>
            <a:pathLst>
              <a:path w="3970" h="2646">
                <a:moveTo>
                  <a:pt x="0" y="0"/>
                </a:moveTo>
                <a:lnTo>
                  <a:pt x="3970" y="0"/>
                </a:lnTo>
                <a:lnTo>
                  <a:pt x="3970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" name=""/>
          <p:cNvSpPr/>
          <p:nvPr/>
        </p:nvSpPr>
        <p:spPr>
          <a:xfrm>
            <a:off x="9648720" y="1457280"/>
            <a:ext cx="1791000" cy="952560"/>
          </a:xfrm>
          <a:custGeom>
            <a:avLst/>
            <a:gdLst/>
            <a:ahLst/>
            <a:rect l="0" t="0" r="r" b="b"/>
            <a:pathLst>
              <a:path w="4975" h="2646">
                <a:moveTo>
                  <a:pt x="0" y="0"/>
                </a:moveTo>
                <a:lnTo>
                  <a:pt x="4975" y="0"/>
                </a:lnTo>
                <a:lnTo>
                  <a:pt x="4975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" name=""/>
          <p:cNvSpPr/>
          <p:nvPr/>
        </p:nvSpPr>
        <p:spPr>
          <a:xfrm>
            <a:off x="752400" y="2409480"/>
            <a:ext cx="962280" cy="1371960"/>
          </a:xfrm>
          <a:custGeom>
            <a:avLst/>
            <a:gdLst/>
            <a:ahLst/>
            <a:rect l="0" t="0" r="r" b="b"/>
            <a:pathLst>
              <a:path w="2673" h="3811">
                <a:moveTo>
                  <a:pt x="0" y="0"/>
                </a:moveTo>
                <a:lnTo>
                  <a:pt x="2673" y="0"/>
                </a:lnTo>
                <a:lnTo>
                  <a:pt x="2673" y="3811"/>
                </a:lnTo>
                <a:lnTo>
                  <a:pt x="0" y="381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" name=""/>
          <p:cNvSpPr/>
          <p:nvPr/>
        </p:nvSpPr>
        <p:spPr>
          <a:xfrm>
            <a:off x="1714320" y="2409480"/>
            <a:ext cx="2124360" cy="1371960"/>
          </a:xfrm>
          <a:custGeom>
            <a:avLst/>
            <a:gdLst/>
            <a:ahLst/>
            <a:rect l="0" t="0" r="r" b="b"/>
            <a:pathLst>
              <a:path w="5901" h="3811">
                <a:moveTo>
                  <a:pt x="0" y="0"/>
                </a:moveTo>
                <a:lnTo>
                  <a:pt x="5901" y="0"/>
                </a:lnTo>
                <a:lnTo>
                  <a:pt x="5901" y="3811"/>
                </a:lnTo>
                <a:lnTo>
                  <a:pt x="0" y="381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"/>
          <p:cNvSpPr/>
          <p:nvPr/>
        </p:nvSpPr>
        <p:spPr>
          <a:xfrm>
            <a:off x="3838320" y="2409480"/>
            <a:ext cx="1619640" cy="1371960"/>
          </a:xfrm>
          <a:custGeom>
            <a:avLst/>
            <a:gdLst/>
            <a:ahLst/>
            <a:rect l="0" t="0" r="r" b="b"/>
            <a:pathLst>
              <a:path w="4499" h="3811">
                <a:moveTo>
                  <a:pt x="0" y="0"/>
                </a:moveTo>
                <a:lnTo>
                  <a:pt x="4499" y="0"/>
                </a:lnTo>
                <a:lnTo>
                  <a:pt x="4499" y="3811"/>
                </a:lnTo>
                <a:lnTo>
                  <a:pt x="0" y="381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" name=""/>
          <p:cNvSpPr/>
          <p:nvPr/>
        </p:nvSpPr>
        <p:spPr>
          <a:xfrm>
            <a:off x="5457600" y="2409480"/>
            <a:ext cx="1791000" cy="1371960"/>
          </a:xfrm>
          <a:custGeom>
            <a:avLst/>
            <a:gdLst/>
            <a:ahLst/>
            <a:rect l="0" t="0" r="r" b="b"/>
            <a:pathLst>
              <a:path w="4975" h="3811">
                <a:moveTo>
                  <a:pt x="0" y="0"/>
                </a:moveTo>
                <a:lnTo>
                  <a:pt x="4975" y="0"/>
                </a:lnTo>
                <a:lnTo>
                  <a:pt x="4975" y="3811"/>
                </a:lnTo>
                <a:lnTo>
                  <a:pt x="0" y="381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" name=""/>
          <p:cNvSpPr/>
          <p:nvPr/>
        </p:nvSpPr>
        <p:spPr>
          <a:xfrm>
            <a:off x="7248240" y="2409480"/>
            <a:ext cx="972000" cy="1371960"/>
          </a:xfrm>
          <a:custGeom>
            <a:avLst/>
            <a:gdLst/>
            <a:ahLst/>
            <a:rect l="0" t="0" r="r" b="b"/>
            <a:pathLst>
              <a:path w="2700" h="3811">
                <a:moveTo>
                  <a:pt x="0" y="0"/>
                </a:moveTo>
                <a:lnTo>
                  <a:pt x="2700" y="0"/>
                </a:lnTo>
                <a:lnTo>
                  <a:pt x="2700" y="3811"/>
                </a:lnTo>
                <a:lnTo>
                  <a:pt x="0" y="381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" name=""/>
          <p:cNvSpPr/>
          <p:nvPr/>
        </p:nvSpPr>
        <p:spPr>
          <a:xfrm>
            <a:off x="8219880" y="2409480"/>
            <a:ext cx="1429200" cy="1371960"/>
          </a:xfrm>
          <a:custGeom>
            <a:avLst/>
            <a:gdLst/>
            <a:ahLst/>
            <a:rect l="0" t="0" r="r" b="b"/>
            <a:pathLst>
              <a:path w="3970" h="3811">
                <a:moveTo>
                  <a:pt x="0" y="0"/>
                </a:moveTo>
                <a:lnTo>
                  <a:pt x="3970" y="0"/>
                </a:lnTo>
                <a:lnTo>
                  <a:pt x="3970" y="3811"/>
                </a:lnTo>
                <a:lnTo>
                  <a:pt x="0" y="381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" name=""/>
          <p:cNvSpPr/>
          <p:nvPr/>
        </p:nvSpPr>
        <p:spPr>
          <a:xfrm>
            <a:off x="9648720" y="2409480"/>
            <a:ext cx="1791000" cy="1371960"/>
          </a:xfrm>
          <a:custGeom>
            <a:avLst/>
            <a:gdLst/>
            <a:ahLst/>
            <a:rect l="0" t="0" r="r" b="b"/>
            <a:pathLst>
              <a:path w="4975" h="3811">
                <a:moveTo>
                  <a:pt x="0" y="0"/>
                </a:moveTo>
                <a:lnTo>
                  <a:pt x="4975" y="0"/>
                </a:lnTo>
                <a:lnTo>
                  <a:pt x="4975" y="3811"/>
                </a:lnTo>
                <a:lnTo>
                  <a:pt x="0" y="381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" name=""/>
          <p:cNvSpPr/>
          <p:nvPr/>
        </p:nvSpPr>
        <p:spPr>
          <a:xfrm>
            <a:off x="752400" y="3781080"/>
            <a:ext cx="962280" cy="1362600"/>
          </a:xfrm>
          <a:custGeom>
            <a:avLst/>
            <a:gdLst/>
            <a:ahLst/>
            <a:rect l="0" t="0" r="r" b="b"/>
            <a:pathLst>
              <a:path w="2673" h="3785">
                <a:moveTo>
                  <a:pt x="0" y="0"/>
                </a:moveTo>
                <a:lnTo>
                  <a:pt x="2673" y="0"/>
                </a:lnTo>
                <a:lnTo>
                  <a:pt x="2673" y="3785"/>
                </a:lnTo>
                <a:lnTo>
                  <a:pt x="0" y="3785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" name=""/>
          <p:cNvSpPr/>
          <p:nvPr/>
        </p:nvSpPr>
        <p:spPr>
          <a:xfrm>
            <a:off x="1714320" y="3781080"/>
            <a:ext cx="2124360" cy="1362600"/>
          </a:xfrm>
          <a:custGeom>
            <a:avLst/>
            <a:gdLst/>
            <a:ahLst/>
            <a:rect l="0" t="0" r="r" b="b"/>
            <a:pathLst>
              <a:path w="5901" h="3785">
                <a:moveTo>
                  <a:pt x="0" y="0"/>
                </a:moveTo>
                <a:lnTo>
                  <a:pt x="5901" y="0"/>
                </a:lnTo>
                <a:lnTo>
                  <a:pt x="5901" y="3785"/>
                </a:lnTo>
                <a:lnTo>
                  <a:pt x="0" y="3785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" name=""/>
          <p:cNvSpPr/>
          <p:nvPr/>
        </p:nvSpPr>
        <p:spPr>
          <a:xfrm>
            <a:off x="3838320" y="3781080"/>
            <a:ext cx="1619640" cy="1362600"/>
          </a:xfrm>
          <a:custGeom>
            <a:avLst/>
            <a:gdLst/>
            <a:ahLst/>
            <a:rect l="0" t="0" r="r" b="b"/>
            <a:pathLst>
              <a:path w="4499" h="3785">
                <a:moveTo>
                  <a:pt x="0" y="0"/>
                </a:moveTo>
                <a:lnTo>
                  <a:pt x="4499" y="0"/>
                </a:lnTo>
                <a:lnTo>
                  <a:pt x="4499" y="3785"/>
                </a:lnTo>
                <a:lnTo>
                  <a:pt x="0" y="3785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" name=""/>
          <p:cNvSpPr/>
          <p:nvPr/>
        </p:nvSpPr>
        <p:spPr>
          <a:xfrm>
            <a:off x="5457600" y="3781080"/>
            <a:ext cx="1791000" cy="1362600"/>
          </a:xfrm>
          <a:custGeom>
            <a:avLst/>
            <a:gdLst/>
            <a:ahLst/>
            <a:rect l="0" t="0" r="r" b="b"/>
            <a:pathLst>
              <a:path w="4975" h="3785">
                <a:moveTo>
                  <a:pt x="0" y="0"/>
                </a:moveTo>
                <a:lnTo>
                  <a:pt x="4975" y="0"/>
                </a:lnTo>
                <a:lnTo>
                  <a:pt x="4975" y="3785"/>
                </a:lnTo>
                <a:lnTo>
                  <a:pt x="0" y="3785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" name=""/>
          <p:cNvSpPr/>
          <p:nvPr/>
        </p:nvSpPr>
        <p:spPr>
          <a:xfrm>
            <a:off x="7248240" y="3781080"/>
            <a:ext cx="972000" cy="1362600"/>
          </a:xfrm>
          <a:custGeom>
            <a:avLst/>
            <a:gdLst/>
            <a:ahLst/>
            <a:rect l="0" t="0" r="r" b="b"/>
            <a:pathLst>
              <a:path w="2700" h="3785">
                <a:moveTo>
                  <a:pt x="0" y="0"/>
                </a:moveTo>
                <a:lnTo>
                  <a:pt x="2700" y="0"/>
                </a:lnTo>
                <a:lnTo>
                  <a:pt x="2700" y="3785"/>
                </a:lnTo>
                <a:lnTo>
                  <a:pt x="0" y="3785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" name=""/>
          <p:cNvSpPr/>
          <p:nvPr/>
        </p:nvSpPr>
        <p:spPr>
          <a:xfrm>
            <a:off x="8219880" y="3781080"/>
            <a:ext cx="1429200" cy="1362600"/>
          </a:xfrm>
          <a:custGeom>
            <a:avLst/>
            <a:gdLst/>
            <a:ahLst/>
            <a:rect l="0" t="0" r="r" b="b"/>
            <a:pathLst>
              <a:path w="3970" h="3785">
                <a:moveTo>
                  <a:pt x="0" y="0"/>
                </a:moveTo>
                <a:lnTo>
                  <a:pt x="3970" y="0"/>
                </a:lnTo>
                <a:lnTo>
                  <a:pt x="3970" y="3785"/>
                </a:lnTo>
                <a:lnTo>
                  <a:pt x="0" y="3785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" name=""/>
          <p:cNvSpPr/>
          <p:nvPr/>
        </p:nvSpPr>
        <p:spPr>
          <a:xfrm>
            <a:off x="9648720" y="3781080"/>
            <a:ext cx="1791000" cy="1362600"/>
          </a:xfrm>
          <a:custGeom>
            <a:avLst/>
            <a:gdLst/>
            <a:ahLst/>
            <a:rect l="0" t="0" r="r" b="b"/>
            <a:pathLst>
              <a:path w="4975" h="3785">
                <a:moveTo>
                  <a:pt x="0" y="0"/>
                </a:moveTo>
                <a:lnTo>
                  <a:pt x="4975" y="0"/>
                </a:lnTo>
                <a:lnTo>
                  <a:pt x="4975" y="3785"/>
                </a:lnTo>
                <a:lnTo>
                  <a:pt x="0" y="3785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" name=""/>
          <p:cNvSpPr/>
          <p:nvPr/>
        </p:nvSpPr>
        <p:spPr>
          <a:xfrm>
            <a:off x="752400" y="5143320"/>
            <a:ext cx="962280" cy="1781640"/>
          </a:xfrm>
          <a:custGeom>
            <a:avLst/>
            <a:gdLst/>
            <a:ahLst/>
            <a:rect l="0" t="0" r="r" b="b"/>
            <a:pathLst>
              <a:path w="2673" h="4949">
                <a:moveTo>
                  <a:pt x="0" y="0"/>
                </a:moveTo>
                <a:lnTo>
                  <a:pt x="2673" y="0"/>
                </a:lnTo>
                <a:lnTo>
                  <a:pt x="2673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" name=""/>
          <p:cNvSpPr/>
          <p:nvPr/>
        </p:nvSpPr>
        <p:spPr>
          <a:xfrm>
            <a:off x="1714320" y="5143320"/>
            <a:ext cx="2124360" cy="1781640"/>
          </a:xfrm>
          <a:custGeom>
            <a:avLst/>
            <a:gdLst/>
            <a:ahLst/>
            <a:rect l="0" t="0" r="r" b="b"/>
            <a:pathLst>
              <a:path w="5901" h="4949">
                <a:moveTo>
                  <a:pt x="0" y="0"/>
                </a:moveTo>
                <a:lnTo>
                  <a:pt x="5901" y="0"/>
                </a:lnTo>
                <a:lnTo>
                  <a:pt x="5901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" name=""/>
          <p:cNvSpPr/>
          <p:nvPr/>
        </p:nvSpPr>
        <p:spPr>
          <a:xfrm>
            <a:off x="3838320" y="5143320"/>
            <a:ext cx="1619640" cy="1781640"/>
          </a:xfrm>
          <a:custGeom>
            <a:avLst/>
            <a:gdLst/>
            <a:ahLst/>
            <a:rect l="0" t="0" r="r" b="b"/>
            <a:pathLst>
              <a:path w="4499" h="4949">
                <a:moveTo>
                  <a:pt x="0" y="0"/>
                </a:moveTo>
                <a:lnTo>
                  <a:pt x="4499" y="0"/>
                </a:lnTo>
                <a:lnTo>
                  <a:pt x="4499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" name=""/>
          <p:cNvSpPr/>
          <p:nvPr/>
        </p:nvSpPr>
        <p:spPr>
          <a:xfrm>
            <a:off x="5457600" y="5143320"/>
            <a:ext cx="1791000" cy="1781640"/>
          </a:xfrm>
          <a:custGeom>
            <a:avLst/>
            <a:gdLst/>
            <a:ahLst/>
            <a:rect l="0" t="0" r="r" b="b"/>
            <a:pathLst>
              <a:path w="4975" h="4949">
                <a:moveTo>
                  <a:pt x="0" y="0"/>
                </a:moveTo>
                <a:lnTo>
                  <a:pt x="4975" y="0"/>
                </a:lnTo>
                <a:lnTo>
                  <a:pt x="4975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" name=""/>
          <p:cNvSpPr/>
          <p:nvPr/>
        </p:nvSpPr>
        <p:spPr>
          <a:xfrm>
            <a:off x="7248240" y="5143320"/>
            <a:ext cx="972000" cy="1781640"/>
          </a:xfrm>
          <a:custGeom>
            <a:avLst/>
            <a:gdLst/>
            <a:ahLst/>
            <a:rect l="0" t="0" r="r" b="b"/>
            <a:pathLst>
              <a:path w="2700" h="4949">
                <a:moveTo>
                  <a:pt x="0" y="0"/>
                </a:moveTo>
                <a:lnTo>
                  <a:pt x="2700" y="0"/>
                </a:lnTo>
                <a:lnTo>
                  <a:pt x="2700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" name=""/>
          <p:cNvSpPr/>
          <p:nvPr/>
        </p:nvSpPr>
        <p:spPr>
          <a:xfrm>
            <a:off x="8219880" y="5143320"/>
            <a:ext cx="1429200" cy="1781640"/>
          </a:xfrm>
          <a:custGeom>
            <a:avLst/>
            <a:gdLst/>
            <a:ahLst/>
            <a:rect l="0" t="0" r="r" b="b"/>
            <a:pathLst>
              <a:path w="3970" h="4949">
                <a:moveTo>
                  <a:pt x="0" y="0"/>
                </a:moveTo>
                <a:lnTo>
                  <a:pt x="3970" y="0"/>
                </a:lnTo>
                <a:lnTo>
                  <a:pt x="3970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" name=""/>
          <p:cNvSpPr/>
          <p:nvPr/>
        </p:nvSpPr>
        <p:spPr>
          <a:xfrm>
            <a:off x="9648720" y="5143320"/>
            <a:ext cx="1791000" cy="1781640"/>
          </a:xfrm>
          <a:custGeom>
            <a:avLst/>
            <a:gdLst/>
            <a:ahLst/>
            <a:rect l="0" t="0" r="r" b="b"/>
            <a:pathLst>
              <a:path w="4975" h="4949">
                <a:moveTo>
                  <a:pt x="0" y="0"/>
                </a:moveTo>
                <a:lnTo>
                  <a:pt x="4975" y="0"/>
                </a:lnTo>
                <a:lnTo>
                  <a:pt x="4975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" name=""/>
          <p:cNvSpPr/>
          <p:nvPr/>
        </p:nvSpPr>
        <p:spPr>
          <a:xfrm>
            <a:off x="752400" y="145728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0"/>
                </a:moveTo>
                <a:lnTo>
                  <a:pt x="27" y="0"/>
                </a:lnTo>
                <a:lnTo>
                  <a:pt x="27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" name=""/>
          <p:cNvSpPr/>
          <p:nvPr/>
        </p:nvSpPr>
        <p:spPr>
          <a:xfrm>
            <a:off x="752400" y="1457280"/>
            <a:ext cx="971640" cy="9720"/>
          </a:xfrm>
          <a:custGeom>
            <a:avLst/>
            <a:gdLst/>
            <a:ahLst/>
            <a:rect l="0" t="0" r="r" b="b"/>
            <a:pathLst>
              <a:path w="2699" h="27">
                <a:moveTo>
                  <a:pt x="0" y="0"/>
                </a:moveTo>
                <a:lnTo>
                  <a:pt x="2699" y="0"/>
                </a:lnTo>
                <a:lnTo>
                  <a:pt x="269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" name=""/>
          <p:cNvSpPr/>
          <p:nvPr/>
        </p:nvSpPr>
        <p:spPr>
          <a:xfrm>
            <a:off x="1714320" y="145728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0"/>
                </a:moveTo>
                <a:lnTo>
                  <a:pt x="27" y="0"/>
                </a:lnTo>
                <a:lnTo>
                  <a:pt x="27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" name=""/>
          <p:cNvSpPr/>
          <p:nvPr/>
        </p:nvSpPr>
        <p:spPr>
          <a:xfrm>
            <a:off x="1723680" y="1457280"/>
            <a:ext cx="2124720" cy="9720"/>
          </a:xfrm>
          <a:custGeom>
            <a:avLst/>
            <a:gdLst/>
            <a:ahLst/>
            <a:rect l="0" t="0" r="r" b="b"/>
            <a:pathLst>
              <a:path w="5902" h="27">
                <a:moveTo>
                  <a:pt x="0" y="0"/>
                </a:moveTo>
                <a:lnTo>
                  <a:pt x="5902" y="0"/>
                </a:lnTo>
                <a:lnTo>
                  <a:pt x="590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" name=""/>
          <p:cNvSpPr/>
          <p:nvPr/>
        </p:nvSpPr>
        <p:spPr>
          <a:xfrm>
            <a:off x="3838320" y="1457280"/>
            <a:ext cx="10080" cy="962280"/>
          </a:xfrm>
          <a:custGeom>
            <a:avLst/>
            <a:gdLst/>
            <a:ahLst/>
            <a:rect l="0" t="0" r="r" b="b"/>
            <a:pathLst>
              <a:path w="28" h="2673">
                <a:moveTo>
                  <a:pt x="0" y="0"/>
                </a:moveTo>
                <a:lnTo>
                  <a:pt x="28" y="0"/>
                </a:lnTo>
                <a:lnTo>
                  <a:pt x="28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" name=""/>
          <p:cNvSpPr/>
          <p:nvPr/>
        </p:nvSpPr>
        <p:spPr>
          <a:xfrm>
            <a:off x="3848040" y="1457280"/>
            <a:ext cx="1609920" cy="9720"/>
          </a:xfrm>
          <a:custGeom>
            <a:avLst/>
            <a:gdLst/>
            <a:ahLst/>
            <a:rect l="0" t="0" r="r" b="b"/>
            <a:pathLst>
              <a:path w="4472" h="27">
                <a:moveTo>
                  <a:pt x="0" y="0"/>
                </a:moveTo>
                <a:lnTo>
                  <a:pt x="4472" y="0"/>
                </a:lnTo>
                <a:lnTo>
                  <a:pt x="447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" name=""/>
          <p:cNvSpPr/>
          <p:nvPr/>
        </p:nvSpPr>
        <p:spPr>
          <a:xfrm>
            <a:off x="5448240" y="145728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0"/>
                </a:moveTo>
                <a:lnTo>
                  <a:pt x="27" y="0"/>
                </a:lnTo>
                <a:lnTo>
                  <a:pt x="27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" name=""/>
          <p:cNvSpPr/>
          <p:nvPr/>
        </p:nvSpPr>
        <p:spPr>
          <a:xfrm>
            <a:off x="5457600" y="1457280"/>
            <a:ext cx="1791000" cy="9720"/>
          </a:xfrm>
          <a:custGeom>
            <a:avLst/>
            <a:gdLst/>
            <a:ahLst/>
            <a:rect l="0" t="0" r="r" b="b"/>
            <a:pathLst>
              <a:path w="4975" h="27">
                <a:moveTo>
                  <a:pt x="0" y="0"/>
                </a:moveTo>
                <a:lnTo>
                  <a:pt x="4975" y="0"/>
                </a:lnTo>
                <a:lnTo>
                  <a:pt x="497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" name=""/>
          <p:cNvSpPr/>
          <p:nvPr/>
        </p:nvSpPr>
        <p:spPr>
          <a:xfrm>
            <a:off x="7238880" y="145728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0"/>
                </a:moveTo>
                <a:lnTo>
                  <a:pt x="27" y="0"/>
                </a:lnTo>
                <a:lnTo>
                  <a:pt x="27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" name=""/>
          <p:cNvSpPr/>
          <p:nvPr/>
        </p:nvSpPr>
        <p:spPr>
          <a:xfrm>
            <a:off x="7248240" y="1457280"/>
            <a:ext cx="972000" cy="9720"/>
          </a:xfrm>
          <a:custGeom>
            <a:avLst/>
            <a:gdLst/>
            <a:ahLst/>
            <a:rect l="0" t="0" r="r" b="b"/>
            <a:pathLst>
              <a:path w="2700" h="27">
                <a:moveTo>
                  <a:pt x="0" y="0"/>
                </a:moveTo>
                <a:lnTo>
                  <a:pt x="2700" y="0"/>
                </a:lnTo>
                <a:lnTo>
                  <a:pt x="27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" name=""/>
          <p:cNvSpPr/>
          <p:nvPr/>
        </p:nvSpPr>
        <p:spPr>
          <a:xfrm>
            <a:off x="8210520" y="145728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0"/>
                </a:moveTo>
                <a:lnTo>
                  <a:pt x="27" y="0"/>
                </a:lnTo>
                <a:lnTo>
                  <a:pt x="27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" name=""/>
          <p:cNvSpPr/>
          <p:nvPr/>
        </p:nvSpPr>
        <p:spPr>
          <a:xfrm>
            <a:off x="8219880" y="1457280"/>
            <a:ext cx="1429200" cy="9720"/>
          </a:xfrm>
          <a:custGeom>
            <a:avLst/>
            <a:gdLst/>
            <a:ahLst/>
            <a:rect l="0" t="0" r="r" b="b"/>
            <a:pathLst>
              <a:path w="3970" h="27">
                <a:moveTo>
                  <a:pt x="0" y="0"/>
                </a:moveTo>
                <a:lnTo>
                  <a:pt x="3970" y="0"/>
                </a:lnTo>
                <a:lnTo>
                  <a:pt x="397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" name=""/>
          <p:cNvSpPr/>
          <p:nvPr/>
        </p:nvSpPr>
        <p:spPr>
          <a:xfrm>
            <a:off x="9639000" y="1457280"/>
            <a:ext cx="10080" cy="962280"/>
          </a:xfrm>
          <a:custGeom>
            <a:avLst/>
            <a:gdLst/>
            <a:ahLst/>
            <a:rect l="0" t="0" r="r" b="b"/>
            <a:pathLst>
              <a:path w="28" h="2673">
                <a:moveTo>
                  <a:pt x="0" y="0"/>
                </a:moveTo>
                <a:lnTo>
                  <a:pt x="28" y="0"/>
                </a:lnTo>
                <a:lnTo>
                  <a:pt x="28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" name=""/>
          <p:cNvSpPr/>
          <p:nvPr/>
        </p:nvSpPr>
        <p:spPr>
          <a:xfrm>
            <a:off x="9648720" y="1457280"/>
            <a:ext cx="1800360" cy="9720"/>
          </a:xfrm>
          <a:custGeom>
            <a:avLst/>
            <a:gdLst/>
            <a:ahLst/>
            <a:rect l="0" t="0" r="r" b="b"/>
            <a:pathLst>
              <a:path w="5001" h="27">
                <a:moveTo>
                  <a:pt x="0" y="0"/>
                </a:moveTo>
                <a:lnTo>
                  <a:pt x="5001" y="0"/>
                </a:lnTo>
                <a:lnTo>
                  <a:pt x="500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" name=""/>
          <p:cNvSpPr/>
          <p:nvPr/>
        </p:nvSpPr>
        <p:spPr>
          <a:xfrm>
            <a:off x="11439360" y="145728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0"/>
                </a:moveTo>
                <a:lnTo>
                  <a:pt x="27" y="0"/>
                </a:lnTo>
                <a:lnTo>
                  <a:pt x="27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" name=""/>
          <p:cNvSpPr/>
          <p:nvPr/>
        </p:nvSpPr>
        <p:spPr>
          <a:xfrm>
            <a:off x="752400" y="2409480"/>
            <a:ext cx="971640" cy="10080"/>
          </a:xfrm>
          <a:custGeom>
            <a:avLst/>
            <a:gdLst/>
            <a:ahLst/>
            <a:rect l="0" t="0" r="r" b="b"/>
            <a:pathLst>
              <a:path w="2699" h="28">
                <a:moveTo>
                  <a:pt x="0" y="0"/>
                </a:moveTo>
                <a:lnTo>
                  <a:pt x="2699" y="0"/>
                </a:lnTo>
                <a:lnTo>
                  <a:pt x="26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"/>
          <p:cNvSpPr/>
          <p:nvPr/>
        </p:nvSpPr>
        <p:spPr>
          <a:xfrm>
            <a:off x="1723680" y="2409480"/>
            <a:ext cx="2124720" cy="10080"/>
          </a:xfrm>
          <a:custGeom>
            <a:avLst/>
            <a:gdLst/>
            <a:ahLst/>
            <a:rect l="0" t="0" r="r" b="b"/>
            <a:pathLst>
              <a:path w="5902" h="28">
                <a:moveTo>
                  <a:pt x="0" y="0"/>
                </a:moveTo>
                <a:lnTo>
                  <a:pt x="5902" y="0"/>
                </a:lnTo>
                <a:lnTo>
                  <a:pt x="590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"/>
          <p:cNvSpPr/>
          <p:nvPr/>
        </p:nvSpPr>
        <p:spPr>
          <a:xfrm>
            <a:off x="3848040" y="2409480"/>
            <a:ext cx="1609920" cy="10080"/>
          </a:xfrm>
          <a:custGeom>
            <a:avLst/>
            <a:gdLst/>
            <a:ahLst/>
            <a:rect l="0" t="0" r="r" b="b"/>
            <a:pathLst>
              <a:path w="4472" h="28">
                <a:moveTo>
                  <a:pt x="0" y="0"/>
                </a:moveTo>
                <a:lnTo>
                  <a:pt x="4472" y="0"/>
                </a:lnTo>
                <a:lnTo>
                  <a:pt x="447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"/>
          <p:cNvSpPr/>
          <p:nvPr/>
        </p:nvSpPr>
        <p:spPr>
          <a:xfrm>
            <a:off x="5457600" y="2409480"/>
            <a:ext cx="1791000" cy="10080"/>
          </a:xfrm>
          <a:custGeom>
            <a:avLst/>
            <a:gdLst/>
            <a:ahLst/>
            <a:rect l="0" t="0" r="r" b="b"/>
            <a:pathLst>
              <a:path w="4975" h="28">
                <a:moveTo>
                  <a:pt x="0" y="0"/>
                </a:moveTo>
                <a:lnTo>
                  <a:pt x="4975" y="0"/>
                </a:lnTo>
                <a:lnTo>
                  <a:pt x="497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" name=""/>
          <p:cNvSpPr/>
          <p:nvPr/>
        </p:nvSpPr>
        <p:spPr>
          <a:xfrm>
            <a:off x="7248240" y="2409480"/>
            <a:ext cx="972000" cy="10080"/>
          </a:xfrm>
          <a:custGeom>
            <a:avLst/>
            <a:gdLst/>
            <a:ahLst/>
            <a:rect l="0" t="0" r="r" b="b"/>
            <a:pathLst>
              <a:path w="2700" h="28">
                <a:moveTo>
                  <a:pt x="0" y="0"/>
                </a:moveTo>
                <a:lnTo>
                  <a:pt x="2700" y="0"/>
                </a:lnTo>
                <a:lnTo>
                  <a:pt x="270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" name=""/>
          <p:cNvSpPr/>
          <p:nvPr/>
        </p:nvSpPr>
        <p:spPr>
          <a:xfrm>
            <a:off x="8219880" y="2409480"/>
            <a:ext cx="1429200" cy="10080"/>
          </a:xfrm>
          <a:custGeom>
            <a:avLst/>
            <a:gdLst/>
            <a:ahLst/>
            <a:rect l="0" t="0" r="r" b="b"/>
            <a:pathLst>
              <a:path w="3970" h="28">
                <a:moveTo>
                  <a:pt x="0" y="0"/>
                </a:moveTo>
                <a:lnTo>
                  <a:pt x="3970" y="0"/>
                </a:lnTo>
                <a:lnTo>
                  <a:pt x="397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" name=""/>
          <p:cNvSpPr/>
          <p:nvPr/>
        </p:nvSpPr>
        <p:spPr>
          <a:xfrm>
            <a:off x="9648720" y="2409480"/>
            <a:ext cx="1800360" cy="10080"/>
          </a:xfrm>
          <a:custGeom>
            <a:avLst/>
            <a:gdLst/>
            <a:ahLst/>
            <a:rect l="0" t="0" r="r" b="b"/>
            <a:pathLst>
              <a:path w="5001" h="28">
                <a:moveTo>
                  <a:pt x="0" y="0"/>
                </a:moveTo>
                <a:lnTo>
                  <a:pt x="5001" y="0"/>
                </a:lnTo>
                <a:lnTo>
                  <a:pt x="500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" name=""/>
          <p:cNvSpPr/>
          <p:nvPr/>
        </p:nvSpPr>
        <p:spPr>
          <a:xfrm>
            <a:off x="752400" y="2419200"/>
            <a:ext cx="9720" cy="1362240"/>
          </a:xfrm>
          <a:custGeom>
            <a:avLst/>
            <a:gdLst/>
            <a:ahLst/>
            <a:rect l="0" t="0" r="r" b="b"/>
            <a:pathLst>
              <a:path w="27" h="3784">
                <a:moveTo>
                  <a:pt x="0" y="0"/>
                </a:moveTo>
                <a:lnTo>
                  <a:pt x="27" y="0"/>
                </a:lnTo>
                <a:lnTo>
                  <a:pt x="27" y="3784"/>
                </a:lnTo>
                <a:lnTo>
                  <a:pt x="0" y="378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" name=""/>
          <p:cNvSpPr/>
          <p:nvPr/>
        </p:nvSpPr>
        <p:spPr>
          <a:xfrm>
            <a:off x="1714320" y="2419200"/>
            <a:ext cx="9720" cy="1362240"/>
          </a:xfrm>
          <a:custGeom>
            <a:avLst/>
            <a:gdLst/>
            <a:ahLst/>
            <a:rect l="0" t="0" r="r" b="b"/>
            <a:pathLst>
              <a:path w="27" h="3784">
                <a:moveTo>
                  <a:pt x="0" y="0"/>
                </a:moveTo>
                <a:lnTo>
                  <a:pt x="27" y="0"/>
                </a:lnTo>
                <a:lnTo>
                  <a:pt x="27" y="3784"/>
                </a:lnTo>
                <a:lnTo>
                  <a:pt x="0" y="378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" name=""/>
          <p:cNvSpPr/>
          <p:nvPr/>
        </p:nvSpPr>
        <p:spPr>
          <a:xfrm>
            <a:off x="3838320" y="2419200"/>
            <a:ext cx="10080" cy="1362240"/>
          </a:xfrm>
          <a:custGeom>
            <a:avLst/>
            <a:gdLst/>
            <a:ahLst/>
            <a:rect l="0" t="0" r="r" b="b"/>
            <a:pathLst>
              <a:path w="28" h="3784">
                <a:moveTo>
                  <a:pt x="0" y="0"/>
                </a:moveTo>
                <a:lnTo>
                  <a:pt x="28" y="0"/>
                </a:lnTo>
                <a:lnTo>
                  <a:pt x="28" y="3784"/>
                </a:lnTo>
                <a:lnTo>
                  <a:pt x="0" y="378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" name=""/>
          <p:cNvSpPr/>
          <p:nvPr/>
        </p:nvSpPr>
        <p:spPr>
          <a:xfrm>
            <a:off x="5448240" y="2419200"/>
            <a:ext cx="9720" cy="1362240"/>
          </a:xfrm>
          <a:custGeom>
            <a:avLst/>
            <a:gdLst/>
            <a:ahLst/>
            <a:rect l="0" t="0" r="r" b="b"/>
            <a:pathLst>
              <a:path w="27" h="3784">
                <a:moveTo>
                  <a:pt x="0" y="0"/>
                </a:moveTo>
                <a:lnTo>
                  <a:pt x="27" y="0"/>
                </a:lnTo>
                <a:lnTo>
                  <a:pt x="27" y="3784"/>
                </a:lnTo>
                <a:lnTo>
                  <a:pt x="0" y="378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" name=""/>
          <p:cNvSpPr/>
          <p:nvPr/>
        </p:nvSpPr>
        <p:spPr>
          <a:xfrm>
            <a:off x="7238880" y="2419200"/>
            <a:ext cx="9720" cy="1362240"/>
          </a:xfrm>
          <a:custGeom>
            <a:avLst/>
            <a:gdLst/>
            <a:ahLst/>
            <a:rect l="0" t="0" r="r" b="b"/>
            <a:pathLst>
              <a:path w="27" h="3784">
                <a:moveTo>
                  <a:pt x="0" y="0"/>
                </a:moveTo>
                <a:lnTo>
                  <a:pt x="27" y="0"/>
                </a:lnTo>
                <a:lnTo>
                  <a:pt x="27" y="3784"/>
                </a:lnTo>
                <a:lnTo>
                  <a:pt x="0" y="378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" name=""/>
          <p:cNvSpPr/>
          <p:nvPr/>
        </p:nvSpPr>
        <p:spPr>
          <a:xfrm>
            <a:off x="8210520" y="2419200"/>
            <a:ext cx="9720" cy="1362240"/>
          </a:xfrm>
          <a:custGeom>
            <a:avLst/>
            <a:gdLst/>
            <a:ahLst/>
            <a:rect l="0" t="0" r="r" b="b"/>
            <a:pathLst>
              <a:path w="27" h="3784">
                <a:moveTo>
                  <a:pt x="0" y="0"/>
                </a:moveTo>
                <a:lnTo>
                  <a:pt x="27" y="0"/>
                </a:lnTo>
                <a:lnTo>
                  <a:pt x="27" y="3784"/>
                </a:lnTo>
                <a:lnTo>
                  <a:pt x="0" y="378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" name=""/>
          <p:cNvSpPr/>
          <p:nvPr/>
        </p:nvSpPr>
        <p:spPr>
          <a:xfrm>
            <a:off x="9639000" y="2419200"/>
            <a:ext cx="10080" cy="1362240"/>
          </a:xfrm>
          <a:custGeom>
            <a:avLst/>
            <a:gdLst/>
            <a:ahLst/>
            <a:rect l="0" t="0" r="r" b="b"/>
            <a:pathLst>
              <a:path w="28" h="3784">
                <a:moveTo>
                  <a:pt x="0" y="0"/>
                </a:moveTo>
                <a:lnTo>
                  <a:pt x="28" y="0"/>
                </a:lnTo>
                <a:lnTo>
                  <a:pt x="28" y="3784"/>
                </a:lnTo>
                <a:lnTo>
                  <a:pt x="0" y="378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" name=""/>
          <p:cNvSpPr/>
          <p:nvPr/>
        </p:nvSpPr>
        <p:spPr>
          <a:xfrm>
            <a:off x="11439360" y="2419200"/>
            <a:ext cx="9720" cy="1362240"/>
          </a:xfrm>
          <a:custGeom>
            <a:avLst/>
            <a:gdLst/>
            <a:ahLst/>
            <a:rect l="0" t="0" r="r" b="b"/>
            <a:pathLst>
              <a:path w="27" h="3784">
                <a:moveTo>
                  <a:pt x="0" y="0"/>
                </a:moveTo>
                <a:lnTo>
                  <a:pt x="27" y="0"/>
                </a:lnTo>
                <a:lnTo>
                  <a:pt x="27" y="3784"/>
                </a:lnTo>
                <a:lnTo>
                  <a:pt x="0" y="378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" name=""/>
          <p:cNvSpPr/>
          <p:nvPr/>
        </p:nvSpPr>
        <p:spPr>
          <a:xfrm>
            <a:off x="752400" y="3781080"/>
            <a:ext cx="9720" cy="1371960"/>
          </a:xfrm>
          <a:custGeom>
            <a:avLst/>
            <a:gdLst/>
            <a:ahLst/>
            <a:rect l="0" t="0" r="r" b="b"/>
            <a:pathLst>
              <a:path w="27" h="3811">
                <a:moveTo>
                  <a:pt x="0" y="0"/>
                </a:moveTo>
                <a:lnTo>
                  <a:pt x="27" y="0"/>
                </a:lnTo>
                <a:lnTo>
                  <a:pt x="27" y="3811"/>
                </a:lnTo>
                <a:lnTo>
                  <a:pt x="0" y="381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" name=""/>
          <p:cNvSpPr/>
          <p:nvPr/>
        </p:nvSpPr>
        <p:spPr>
          <a:xfrm>
            <a:off x="752400" y="3771720"/>
            <a:ext cx="971640" cy="9720"/>
          </a:xfrm>
          <a:custGeom>
            <a:avLst/>
            <a:gdLst/>
            <a:ahLst/>
            <a:rect l="0" t="0" r="r" b="b"/>
            <a:pathLst>
              <a:path w="2699" h="27">
                <a:moveTo>
                  <a:pt x="0" y="0"/>
                </a:moveTo>
                <a:lnTo>
                  <a:pt x="2699" y="0"/>
                </a:lnTo>
                <a:lnTo>
                  <a:pt x="269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" name=""/>
          <p:cNvSpPr/>
          <p:nvPr/>
        </p:nvSpPr>
        <p:spPr>
          <a:xfrm>
            <a:off x="1714320" y="3781080"/>
            <a:ext cx="9720" cy="1371960"/>
          </a:xfrm>
          <a:custGeom>
            <a:avLst/>
            <a:gdLst/>
            <a:ahLst/>
            <a:rect l="0" t="0" r="r" b="b"/>
            <a:pathLst>
              <a:path w="27" h="3811">
                <a:moveTo>
                  <a:pt x="0" y="0"/>
                </a:moveTo>
                <a:lnTo>
                  <a:pt x="27" y="0"/>
                </a:lnTo>
                <a:lnTo>
                  <a:pt x="27" y="3811"/>
                </a:lnTo>
                <a:lnTo>
                  <a:pt x="0" y="381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" name=""/>
          <p:cNvSpPr/>
          <p:nvPr/>
        </p:nvSpPr>
        <p:spPr>
          <a:xfrm>
            <a:off x="1723680" y="3771720"/>
            <a:ext cx="2124720" cy="9720"/>
          </a:xfrm>
          <a:custGeom>
            <a:avLst/>
            <a:gdLst/>
            <a:ahLst/>
            <a:rect l="0" t="0" r="r" b="b"/>
            <a:pathLst>
              <a:path w="5902" h="27">
                <a:moveTo>
                  <a:pt x="0" y="0"/>
                </a:moveTo>
                <a:lnTo>
                  <a:pt x="5902" y="0"/>
                </a:lnTo>
                <a:lnTo>
                  <a:pt x="590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" name=""/>
          <p:cNvSpPr/>
          <p:nvPr/>
        </p:nvSpPr>
        <p:spPr>
          <a:xfrm>
            <a:off x="3838320" y="3781080"/>
            <a:ext cx="10080" cy="1371960"/>
          </a:xfrm>
          <a:custGeom>
            <a:avLst/>
            <a:gdLst/>
            <a:ahLst/>
            <a:rect l="0" t="0" r="r" b="b"/>
            <a:pathLst>
              <a:path w="28" h="3811">
                <a:moveTo>
                  <a:pt x="0" y="0"/>
                </a:moveTo>
                <a:lnTo>
                  <a:pt x="28" y="0"/>
                </a:lnTo>
                <a:lnTo>
                  <a:pt x="28" y="3811"/>
                </a:lnTo>
                <a:lnTo>
                  <a:pt x="0" y="381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" name=""/>
          <p:cNvSpPr/>
          <p:nvPr/>
        </p:nvSpPr>
        <p:spPr>
          <a:xfrm>
            <a:off x="3848040" y="3771720"/>
            <a:ext cx="1609920" cy="9720"/>
          </a:xfrm>
          <a:custGeom>
            <a:avLst/>
            <a:gdLst/>
            <a:ahLst/>
            <a:rect l="0" t="0" r="r" b="b"/>
            <a:pathLst>
              <a:path w="4472" h="27">
                <a:moveTo>
                  <a:pt x="0" y="0"/>
                </a:moveTo>
                <a:lnTo>
                  <a:pt x="4472" y="0"/>
                </a:lnTo>
                <a:lnTo>
                  <a:pt x="447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" name=""/>
          <p:cNvSpPr/>
          <p:nvPr/>
        </p:nvSpPr>
        <p:spPr>
          <a:xfrm>
            <a:off x="5448240" y="3781080"/>
            <a:ext cx="9720" cy="1371960"/>
          </a:xfrm>
          <a:custGeom>
            <a:avLst/>
            <a:gdLst/>
            <a:ahLst/>
            <a:rect l="0" t="0" r="r" b="b"/>
            <a:pathLst>
              <a:path w="27" h="3811">
                <a:moveTo>
                  <a:pt x="0" y="0"/>
                </a:moveTo>
                <a:lnTo>
                  <a:pt x="27" y="0"/>
                </a:lnTo>
                <a:lnTo>
                  <a:pt x="27" y="3811"/>
                </a:lnTo>
                <a:lnTo>
                  <a:pt x="0" y="381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" name=""/>
          <p:cNvSpPr/>
          <p:nvPr/>
        </p:nvSpPr>
        <p:spPr>
          <a:xfrm>
            <a:off x="5457600" y="3771720"/>
            <a:ext cx="1791000" cy="9720"/>
          </a:xfrm>
          <a:custGeom>
            <a:avLst/>
            <a:gdLst/>
            <a:ahLst/>
            <a:rect l="0" t="0" r="r" b="b"/>
            <a:pathLst>
              <a:path w="4975" h="27">
                <a:moveTo>
                  <a:pt x="0" y="0"/>
                </a:moveTo>
                <a:lnTo>
                  <a:pt x="4975" y="0"/>
                </a:lnTo>
                <a:lnTo>
                  <a:pt x="497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" name=""/>
          <p:cNvSpPr/>
          <p:nvPr/>
        </p:nvSpPr>
        <p:spPr>
          <a:xfrm>
            <a:off x="7238880" y="3781080"/>
            <a:ext cx="9720" cy="1371960"/>
          </a:xfrm>
          <a:custGeom>
            <a:avLst/>
            <a:gdLst/>
            <a:ahLst/>
            <a:rect l="0" t="0" r="r" b="b"/>
            <a:pathLst>
              <a:path w="27" h="3811">
                <a:moveTo>
                  <a:pt x="0" y="0"/>
                </a:moveTo>
                <a:lnTo>
                  <a:pt x="27" y="0"/>
                </a:lnTo>
                <a:lnTo>
                  <a:pt x="27" y="3811"/>
                </a:lnTo>
                <a:lnTo>
                  <a:pt x="0" y="381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" name=""/>
          <p:cNvSpPr/>
          <p:nvPr/>
        </p:nvSpPr>
        <p:spPr>
          <a:xfrm>
            <a:off x="7248240" y="3771720"/>
            <a:ext cx="972000" cy="9720"/>
          </a:xfrm>
          <a:custGeom>
            <a:avLst/>
            <a:gdLst/>
            <a:ahLst/>
            <a:rect l="0" t="0" r="r" b="b"/>
            <a:pathLst>
              <a:path w="2700" h="27">
                <a:moveTo>
                  <a:pt x="0" y="0"/>
                </a:moveTo>
                <a:lnTo>
                  <a:pt x="2700" y="0"/>
                </a:lnTo>
                <a:lnTo>
                  <a:pt x="27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" name=""/>
          <p:cNvSpPr/>
          <p:nvPr/>
        </p:nvSpPr>
        <p:spPr>
          <a:xfrm>
            <a:off x="8210520" y="3781080"/>
            <a:ext cx="9720" cy="1371960"/>
          </a:xfrm>
          <a:custGeom>
            <a:avLst/>
            <a:gdLst/>
            <a:ahLst/>
            <a:rect l="0" t="0" r="r" b="b"/>
            <a:pathLst>
              <a:path w="27" h="3811">
                <a:moveTo>
                  <a:pt x="0" y="0"/>
                </a:moveTo>
                <a:lnTo>
                  <a:pt x="27" y="0"/>
                </a:lnTo>
                <a:lnTo>
                  <a:pt x="27" y="3811"/>
                </a:lnTo>
                <a:lnTo>
                  <a:pt x="0" y="381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" name=""/>
          <p:cNvSpPr/>
          <p:nvPr/>
        </p:nvSpPr>
        <p:spPr>
          <a:xfrm>
            <a:off x="8219880" y="3771720"/>
            <a:ext cx="1429200" cy="9720"/>
          </a:xfrm>
          <a:custGeom>
            <a:avLst/>
            <a:gdLst/>
            <a:ahLst/>
            <a:rect l="0" t="0" r="r" b="b"/>
            <a:pathLst>
              <a:path w="3970" h="27">
                <a:moveTo>
                  <a:pt x="0" y="0"/>
                </a:moveTo>
                <a:lnTo>
                  <a:pt x="3970" y="0"/>
                </a:lnTo>
                <a:lnTo>
                  <a:pt x="397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" name=""/>
          <p:cNvSpPr/>
          <p:nvPr/>
        </p:nvSpPr>
        <p:spPr>
          <a:xfrm>
            <a:off x="9639000" y="3781080"/>
            <a:ext cx="10080" cy="1371960"/>
          </a:xfrm>
          <a:custGeom>
            <a:avLst/>
            <a:gdLst/>
            <a:ahLst/>
            <a:rect l="0" t="0" r="r" b="b"/>
            <a:pathLst>
              <a:path w="28" h="3811">
                <a:moveTo>
                  <a:pt x="0" y="0"/>
                </a:moveTo>
                <a:lnTo>
                  <a:pt x="28" y="0"/>
                </a:lnTo>
                <a:lnTo>
                  <a:pt x="28" y="3811"/>
                </a:lnTo>
                <a:lnTo>
                  <a:pt x="0" y="381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" name=""/>
          <p:cNvSpPr/>
          <p:nvPr/>
        </p:nvSpPr>
        <p:spPr>
          <a:xfrm>
            <a:off x="9648720" y="3771720"/>
            <a:ext cx="1800360" cy="9720"/>
          </a:xfrm>
          <a:custGeom>
            <a:avLst/>
            <a:gdLst/>
            <a:ahLst/>
            <a:rect l="0" t="0" r="r" b="b"/>
            <a:pathLst>
              <a:path w="5001" h="27">
                <a:moveTo>
                  <a:pt x="0" y="0"/>
                </a:moveTo>
                <a:lnTo>
                  <a:pt x="5001" y="0"/>
                </a:lnTo>
                <a:lnTo>
                  <a:pt x="500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" name=""/>
          <p:cNvSpPr/>
          <p:nvPr/>
        </p:nvSpPr>
        <p:spPr>
          <a:xfrm>
            <a:off x="11439360" y="3781080"/>
            <a:ext cx="9720" cy="1371960"/>
          </a:xfrm>
          <a:custGeom>
            <a:avLst/>
            <a:gdLst/>
            <a:ahLst/>
            <a:rect l="0" t="0" r="r" b="b"/>
            <a:pathLst>
              <a:path w="27" h="3811">
                <a:moveTo>
                  <a:pt x="0" y="0"/>
                </a:moveTo>
                <a:lnTo>
                  <a:pt x="27" y="0"/>
                </a:lnTo>
                <a:lnTo>
                  <a:pt x="27" y="3811"/>
                </a:lnTo>
                <a:lnTo>
                  <a:pt x="0" y="381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" name=""/>
          <p:cNvSpPr/>
          <p:nvPr/>
        </p:nvSpPr>
        <p:spPr>
          <a:xfrm>
            <a:off x="752400" y="5152680"/>
            <a:ext cx="9720" cy="1781640"/>
          </a:xfrm>
          <a:custGeom>
            <a:avLst/>
            <a:gdLst/>
            <a:ahLst/>
            <a:rect l="0" t="0" r="r" b="b"/>
            <a:pathLst>
              <a:path w="27" h="4949">
                <a:moveTo>
                  <a:pt x="0" y="0"/>
                </a:moveTo>
                <a:lnTo>
                  <a:pt x="27" y="0"/>
                </a:lnTo>
                <a:lnTo>
                  <a:pt x="27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" name=""/>
          <p:cNvSpPr/>
          <p:nvPr/>
        </p:nvSpPr>
        <p:spPr>
          <a:xfrm>
            <a:off x="752400" y="5143320"/>
            <a:ext cx="971640" cy="9720"/>
          </a:xfrm>
          <a:custGeom>
            <a:avLst/>
            <a:gdLst/>
            <a:ahLst/>
            <a:rect l="0" t="0" r="r" b="b"/>
            <a:pathLst>
              <a:path w="2699" h="27">
                <a:moveTo>
                  <a:pt x="0" y="0"/>
                </a:moveTo>
                <a:lnTo>
                  <a:pt x="2699" y="0"/>
                </a:lnTo>
                <a:lnTo>
                  <a:pt x="269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" name=""/>
          <p:cNvSpPr/>
          <p:nvPr/>
        </p:nvSpPr>
        <p:spPr>
          <a:xfrm>
            <a:off x="1714320" y="5152680"/>
            <a:ext cx="9720" cy="1781640"/>
          </a:xfrm>
          <a:custGeom>
            <a:avLst/>
            <a:gdLst/>
            <a:ahLst/>
            <a:rect l="0" t="0" r="r" b="b"/>
            <a:pathLst>
              <a:path w="27" h="4949">
                <a:moveTo>
                  <a:pt x="0" y="0"/>
                </a:moveTo>
                <a:lnTo>
                  <a:pt x="27" y="0"/>
                </a:lnTo>
                <a:lnTo>
                  <a:pt x="27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" name=""/>
          <p:cNvSpPr/>
          <p:nvPr/>
        </p:nvSpPr>
        <p:spPr>
          <a:xfrm>
            <a:off x="1723680" y="5143320"/>
            <a:ext cx="2124720" cy="9720"/>
          </a:xfrm>
          <a:custGeom>
            <a:avLst/>
            <a:gdLst/>
            <a:ahLst/>
            <a:rect l="0" t="0" r="r" b="b"/>
            <a:pathLst>
              <a:path w="5902" h="27">
                <a:moveTo>
                  <a:pt x="0" y="0"/>
                </a:moveTo>
                <a:lnTo>
                  <a:pt x="5902" y="0"/>
                </a:lnTo>
                <a:lnTo>
                  <a:pt x="590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" name=""/>
          <p:cNvSpPr/>
          <p:nvPr/>
        </p:nvSpPr>
        <p:spPr>
          <a:xfrm>
            <a:off x="3838320" y="5152680"/>
            <a:ext cx="10080" cy="1781640"/>
          </a:xfrm>
          <a:custGeom>
            <a:avLst/>
            <a:gdLst/>
            <a:ahLst/>
            <a:rect l="0" t="0" r="r" b="b"/>
            <a:pathLst>
              <a:path w="28" h="4949">
                <a:moveTo>
                  <a:pt x="0" y="0"/>
                </a:moveTo>
                <a:lnTo>
                  <a:pt x="28" y="0"/>
                </a:lnTo>
                <a:lnTo>
                  <a:pt x="28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" name=""/>
          <p:cNvSpPr/>
          <p:nvPr/>
        </p:nvSpPr>
        <p:spPr>
          <a:xfrm>
            <a:off x="3848040" y="5143320"/>
            <a:ext cx="1609920" cy="9720"/>
          </a:xfrm>
          <a:custGeom>
            <a:avLst/>
            <a:gdLst/>
            <a:ahLst/>
            <a:rect l="0" t="0" r="r" b="b"/>
            <a:pathLst>
              <a:path w="4472" h="27">
                <a:moveTo>
                  <a:pt x="0" y="0"/>
                </a:moveTo>
                <a:lnTo>
                  <a:pt x="4472" y="0"/>
                </a:lnTo>
                <a:lnTo>
                  <a:pt x="447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" name=""/>
          <p:cNvSpPr/>
          <p:nvPr/>
        </p:nvSpPr>
        <p:spPr>
          <a:xfrm>
            <a:off x="5448240" y="5152680"/>
            <a:ext cx="9720" cy="1781640"/>
          </a:xfrm>
          <a:custGeom>
            <a:avLst/>
            <a:gdLst/>
            <a:ahLst/>
            <a:rect l="0" t="0" r="r" b="b"/>
            <a:pathLst>
              <a:path w="27" h="4949">
                <a:moveTo>
                  <a:pt x="0" y="0"/>
                </a:moveTo>
                <a:lnTo>
                  <a:pt x="27" y="0"/>
                </a:lnTo>
                <a:lnTo>
                  <a:pt x="27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" name=""/>
          <p:cNvSpPr/>
          <p:nvPr/>
        </p:nvSpPr>
        <p:spPr>
          <a:xfrm>
            <a:off x="5457600" y="5143320"/>
            <a:ext cx="1791000" cy="9720"/>
          </a:xfrm>
          <a:custGeom>
            <a:avLst/>
            <a:gdLst/>
            <a:ahLst/>
            <a:rect l="0" t="0" r="r" b="b"/>
            <a:pathLst>
              <a:path w="4975" h="27">
                <a:moveTo>
                  <a:pt x="0" y="0"/>
                </a:moveTo>
                <a:lnTo>
                  <a:pt x="4975" y="0"/>
                </a:lnTo>
                <a:lnTo>
                  <a:pt x="497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" name=""/>
          <p:cNvSpPr/>
          <p:nvPr/>
        </p:nvSpPr>
        <p:spPr>
          <a:xfrm>
            <a:off x="7238880" y="5152680"/>
            <a:ext cx="9720" cy="1781640"/>
          </a:xfrm>
          <a:custGeom>
            <a:avLst/>
            <a:gdLst/>
            <a:ahLst/>
            <a:rect l="0" t="0" r="r" b="b"/>
            <a:pathLst>
              <a:path w="27" h="4949">
                <a:moveTo>
                  <a:pt x="0" y="0"/>
                </a:moveTo>
                <a:lnTo>
                  <a:pt x="27" y="0"/>
                </a:lnTo>
                <a:lnTo>
                  <a:pt x="27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" name=""/>
          <p:cNvSpPr/>
          <p:nvPr/>
        </p:nvSpPr>
        <p:spPr>
          <a:xfrm>
            <a:off x="7248240" y="5143320"/>
            <a:ext cx="972000" cy="9720"/>
          </a:xfrm>
          <a:custGeom>
            <a:avLst/>
            <a:gdLst/>
            <a:ahLst/>
            <a:rect l="0" t="0" r="r" b="b"/>
            <a:pathLst>
              <a:path w="2700" h="27">
                <a:moveTo>
                  <a:pt x="0" y="0"/>
                </a:moveTo>
                <a:lnTo>
                  <a:pt x="2700" y="0"/>
                </a:lnTo>
                <a:lnTo>
                  <a:pt x="27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" name=""/>
          <p:cNvSpPr/>
          <p:nvPr/>
        </p:nvSpPr>
        <p:spPr>
          <a:xfrm>
            <a:off x="8210520" y="5152680"/>
            <a:ext cx="9720" cy="1781640"/>
          </a:xfrm>
          <a:custGeom>
            <a:avLst/>
            <a:gdLst/>
            <a:ahLst/>
            <a:rect l="0" t="0" r="r" b="b"/>
            <a:pathLst>
              <a:path w="27" h="4949">
                <a:moveTo>
                  <a:pt x="0" y="0"/>
                </a:moveTo>
                <a:lnTo>
                  <a:pt x="27" y="0"/>
                </a:lnTo>
                <a:lnTo>
                  <a:pt x="27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" name=""/>
          <p:cNvSpPr/>
          <p:nvPr/>
        </p:nvSpPr>
        <p:spPr>
          <a:xfrm>
            <a:off x="8219880" y="5143320"/>
            <a:ext cx="1429200" cy="9720"/>
          </a:xfrm>
          <a:custGeom>
            <a:avLst/>
            <a:gdLst/>
            <a:ahLst/>
            <a:rect l="0" t="0" r="r" b="b"/>
            <a:pathLst>
              <a:path w="3970" h="27">
                <a:moveTo>
                  <a:pt x="0" y="0"/>
                </a:moveTo>
                <a:lnTo>
                  <a:pt x="3970" y="0"/>
                </a:lnTo>
                <a:lnTo>
                  <a:pt x="397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"/>
          <p:cNvSpPr/>
          <p:nvPr/>
        </p:nvSpPr>
        <p:spPr>
          <a:xfrm>
            <a:off x="9639000" y="5152680"/>
            <a:ext cx="10080" cy="1781640"/>
          </a:xfrm>
          <a:custGeom>
            <a:avLst/>
            <a:gdLst/>
            <a:ahLst/>
            <a:rect l="0" t="0" r="r" b="b"/>
            <a:pathLst>
              <a:path w="28" h="4949">
                <a:moveTo>
                  <a:pt x="0" y="0"/>
                </a:moveTo>
                <a:lnTo>
                  <a:pt x="28" y="0"/>
                </a:lnTo>
                <a:lnTo>
                  <a:pt x="28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"/>
          <p:cNvSpPr/>
          <p:nvPr/>
        </p:nvSpPr>
        <p:spPr>
          <a:xfrm>
            <a:off x="9648720" y="5143320"/>
            <a:ext cx="1800360" cy="9720"/>
          </a:xfrm>
          <a:custGeom>
            <a:avLst/>
            <a:gdLst/>
            <a:ahLst/>
            <a:rect l="0" t="0" r="r" b="b"/>
            <a:pathLst>
              <a:path w="5001" h="27">
                <a:moveTo>
                  <a:pt x="0" y="0"/>
                </a:moveTo>
                <a:lnTo>
                  <a:pt x="5001" y="0"/>
                </a:lnTo>
                <a:lnTo>
                  <a:pt x="500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"/>
          <p:cNvSpPr/>
          <p:nvPr/>
        </p:nvSpPr>
        <p:spPr>
          <a:xfrm>
            <a:off x="11439360" y="5152680"/>
            <a:ext cx="9720" cy="1781640"/>
          </a:xfrm>
          <a:custGeom>
            <a:avLst/>
            <a:gdLst/>
            <a:ahLst/>
            <a:rect l="0" t="0" r="r" b="b"/>
            <a:pathLst>
              <a:path w="27" h="4949">
                <a:moveTo>
                  <a:pt x="0" y="0"/>
                </a:moveTo>
                <a:lnTo>
                  <a:pt x="27" y="0"/>
                </a:lnTo>
                <a:lnTo>
                  <a:pt x="27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747720" y="770400"/>
            <a:ext cx="203832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The journey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880920" y="1778760"/>
            <a:ext cx="704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2409480" y="1778760"/>
            <a:ext cx="735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Stack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4410360" y="1569240"/>
            <a:ext cx="474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4126320" y="1978920"/>
            <a:ext cx="1043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5661360" y="1778760"/>
            <a:ext cx="1379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requests/s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7441920" y="1778760"/>
            <a:ext cx="582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CPU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8734320" y="1569240"/>
            <a:ext cx="398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DB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8396280" y="1978920"/>
            <a:ext cx="1073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Threads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9898920" y="1778760"/>
            <a:ext cx="1288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New layer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880920" y="29314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1844640" y="2731320"/>
            <a:ext cx="1172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Apache +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" name=""/>
          <p:cNvSpPr/>
          <p:nvPr/>
        </p:nvSpPr>
        <p:spPr>
          <a:xfrm>
            <a:off x="4000320" y="2523960"/>
            <a:ext cx="276480" cy="277560"/>
          </a:xfrm>
          <a:custGeom>
            <a:avLst/>
            <a:gdLst/>
            <a:ahLst/>
            <a:rect l="0" t="0" r="r" b="b"/>
            <a:pathLst>
              <a:path w="768" h="771">
                <a:moveTo>
                  <a:pt x="470" y="0"/>
                </a:moveTo>
                <a:lnTo>
                  <a:pt x="385" y="171"/>
                </a:lnTo>
                <a:lnTo>
                  <a:pt x="278" y="64"/>
                </a:lnTo>
                <a:lnTo>
                  <a:pt x="278" y="214"/>
                </a:lnTo>
                <a:lnTo>
                  <a:pt x="65" y="171"/>
                </a:lnTo>
                <a:lnTo>
                  <a:pt x="235" y="343"/>
                </a:lnTo>
                <a:lnTo>
                  <a:pt x="0" y="471"/>
                </a:lnTo>
                <a:lnTo>
                  <a:pt x="257" y="471"/>
                </a:lnTo>
                <a:lnTo>
                  <a:pt x="129" y="728"/>
                </a:lnTo>
                <a:lnTo>
                  <a:pt x="385" y="557"/>
                </a:lnTo>
                <a:lnTo>
                  <a:pt x="619" y="771"/>
                </a:lnTo>
                <a:lnTo>
                  <a:pt x="555" y="471"/>
                </a:lnTo>
                <a:lnTo>
                  <a:pt x="768" y="471"/>
                </a:lnTo>
                <a:lnTo>
                  <a:pt x="598" y="343"/>
                </a:lnTo>
                <a:lnTo>
                  <a:pt x="768" y="150"/>
                </a:lnTo>
                <a:lnTo>
                  <a:pt x="513" y="214"/>
                </a:lnTo>
                <a:lnTo>
                  <a:pt x="470" y="0"/>
                </a:lnTo>
                <a:close/>
              </a:path>
            </a:pathLst>
          </a:custGeom>
          <a:solidFill>
            <a:srgbClr val="bb1a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1" name=""/>
          <p:cNvSpPr/>
          <p:nvPr/>
        </p:nvSpPr>
        <p:spPr>
          <a:xfrm>
            <a:off x="4073760" y="2578320"/>
            <a:ext cx="156960" cy="171000"/>
          </a:xfrm>
          <a:custGeom>
            <a:avLst/>
            <a:gdLst/>
            <a:ahLst/>
            <a:rect l="0" t="0" r="r" b="b"/>
            <a:pathLst>
              <a:path w="436" h="475">
                <a:moveTo>
                  <a:pt x="285" y="124"/>
                </a:moveTo>
                <a:lnTo>
                  <a:pt x="325" y="114"/>
                </a:lnTo>
                <a:lnTo>
                  <a:pt x="436" y="87"/>
                </a:lnTo>
                <a:lnTo>
                  <a:pt x="364" y="168"/>
                </a:lnTo>
                <a:lnTo>
                  <a:pt x="336" y="201"/>
                </a:lnTo>
                <a:lnTo>
                  <a:pt x="370" y="226"/>
                </a:lnTo>
                <a:lnTo>
                  <a:pt x="432" y="273"/>
                </a:lnTo>
                <a:lnTo>
                  <a:pt x="306" y="273"/>
                </a:lnTo>
                <a:lnTo>
                  <a:pt x="316" y="320"/>
                </a:lnTo>
                <a:lnTo>
                  <a:pt x="349" y="475"/>
                </a:lnTo>
                <a:lnTo>
                  <a:pt x="225" y="361"/>
                </a:lnTo>
                <a:lnTo>
                  <a:pt x="201" y="341"/>
                </a:lnTo>
                <a:lnTo>
                  <a:pt x="176" y="358"/>
                </a:lnTo>
                <a:lnTo>
                  <a:pt x="64" y="433"/>
                </a:lnTo>
                <a:lnTo>
                  <a:pt x="116" y="330"/>
                </a:lnTo>
                <a:lnTo>
                  <a:pt x="144" y="273"/>
                </a:lnTo>
                <a:lnTo>
                  <a:pt x="0" y="273"/>
                </a:lnTo>
                <a:lnTo>
                  <a:pt x="80" y="229"/>
                </a:lnTo>
                <a:lnTo>
                  <a:pt x="126" y="204"/>
                </a:lnTo>
                <a:lnTo>
                  <a:pt x="89" y="166"/>
                </a:lnTo>
                <a:lnTo>
                  <a:pt x="24" y="101"/>
                </a:lnTo>
                <a:lnTo>
                  <a:pt x="93" y="115"/>
                </a:lnTo>
                <a:lnTo>
                  <a:pt x="139" y="124"/>
                </a:lnTo>
                <a:lnTo>
                  <a:pt x="139" y="34"/>
                </a:lnTo>
                <a:lnTo>
                  <a:pt x="170" y="65"/>
                </a:lnTo>
                <a:lnTo>
                  <a:pt x="208" y="103"/>
                </a:lnTo>
                <a:lnTo>
                  <a:pt x="234" y="55"/>
                </a:lnTo>
                <a:lnTo>
                  <a:pt x="261" y="0"/>
                </a:lnTo>
                <a:lnTo>
                  <a:pt x="285" y="124"/>
                </a:lnTo>
                <a:close/>
              </a:path>
            </a:pathLst>
          </a:custGeom>
          <a:solidFill>
            <a:srgbClr val="fcab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" name=""/>
          <p:cNvSpPr/>
          <p:nvPr/>
        </p:nvSpPr>
        <p:spPr>
          <a:xfrm>
            <a:off x="4123080" y="2615400"/>
            <a:ext cx="65160" cy="70560"/>
          </a:xfrm>
          <a:custGeom>
            <a:avLst/>
            <a:gdLst/>
            <a:ahLst/>
            <a:rect l="0" t="0" r="r" b="b"/>
            <a:pathLst>
              <a:path w="181" h="196">
                <a:moveTo>
                  <a:pt x="118" y="52"/>
                </a:moveTo>
                <a:lnTo>
                  <a:pt x="135" y="47"/>
                </a:lnTo>
                <a:lnTo>
                  <a:pt x="181" y="35"/>
                </a:lnTo>
                <a:lnTo>
                  <a:pt x="151" y="70"/>
                </a:lnTo>
                <a:lnTo>
                  <a:pt x="139" y="83"/>
                </a:lnTo>
                <a:lnTo>
                  <a:pt x="153" y="93"/>
                </a:lnTo>
                <a:lnTo>
                  <a:pt x="179" y="113"/>
                </a:lnTo>
                <a:lnTo>
                  <a:pt x="127" y="113"/>
                </a:lnTo>
                <a:lnTo>
                  <a:pt x="131" y="132"/>
                </a:lnTo>
                <a:lnTo>
                  <a:pt x="145" y="196"/>
                </a:lnTo>
                <a:lnTo>
                  <a:pt x="94" y="149"/>
                </a:lnTo>
                <a:lnTo>
                  <a:pt x="83" y="141"/>
                </a:lnTo>
                <a:lnTo>
                  <a:pt x="73" y="148"/>
                </a:lnTo>
                <a:lnTo>
                  <a:pt x="27" y="179"/>
                </a:lnTo>
                <a:lnTo>
                  <a:pt x="48" y="136"/>
                </a:lnTo>
                <a:lnTo>
                  <a:pt x="59" y="113"/>
                </a:lnTo>
                <a:lnTo>
                  <a:pt x="0" y="113"/>
                </a:lnTo>
                <a:lnTo>
                  <a:pt x="33" y="95"/>
                </a:lnTo>
                <a:lnTo>
                  <a:pt x="52" y="84"/>
                </a:lnTo>
                <a:lnTo>
                  <a:pt x="37" y="69"/>
                </a:lnTo>
                <a:lnTo>
                  <a:pt x="10" y="41"/>
                </a:lnTo>
                <a:lnTo>
                  <a:pt x="38" y="47"/>
                </a:lnTo>
                <a:lnTo>
                  <a:pt x="58" y="52"/>
                </a:lnTo>
                <a:lnTo>
                  <a:pt x="58" y="13"/>
                </a:lnTo>
                <a:lnTo>
                  <a:pt x="70" y="26"/>
                </a:lnTo>
                <a:lnTo>
                  <a:pt x="86" y="42"/>
                </a:lnTo>
                <a:lnTo>
                  <a:pt x="97" y="22"/>
                </a:lnTo>
                <a:lnTo>
                  <a:pt x="108" y="0"/>
                </a:lnTo>
                <a:lnTo>
                  <a:pt x="118" y="52"/>
                </a:lnTo>
                <a:close/>
              </a:path>
            </a:pathLst>
          </a:custGeom>
          <a:solidFill>
            <a:srgbClr val="f5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1844640" y="3141000"/>
            <a:ext cx="1149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mod_php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4286160" y="2521800"/>
            <a:ext cx="750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crash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3968640" y="2931480"/>
            <a:ext cx="977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@ ~200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3968640" y="3350520"/>
            <a:ext cx="383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VU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5585400" y="2731320"/>
            <a:ext cx="982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~40+ →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5585400" y="3141000"/>
            <a:ext cx="1012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collapse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7376400" y="2931480"/>
            <a:ext cx="1250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100% 20+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9776880" y="2931480"/>
            <a:ext cx="276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" name=""/>
          <p:cNvSpPr txBox="1"/>
          <p:nvPr/>
        </p:nvSpPr>
        <p:spPr>
          <a:xfrm>
            <a:off x="880920" y="43030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1844640" y="3884040"/>
            <a:ext cx="1770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+ Nginx · FPM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1844640" y="4303080"/>
            <a:ext cx="1471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· OPcache ·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1844640" y="4712400"/>
            <a:ext cx="704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Redis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3968640" y="4093560"/>
            <a:ext cx="1235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~100–130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3968640" y="4512600"/>
            <a:ext cx="398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5585400" y="4303080"/>
            <a:ext cx="928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~50–60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7376400" y="4303080"/>
            <a:ext cx="1718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~25% ~15–20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9776880" y="4093560"/>
            <a:ext cx="1303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OPcache ·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9776880" y="4512600"/>
            <a:ext cx="704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Redis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880920" y="58744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1844640" y="5255640"/>
            <a:ext cx="1263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+ FastCGI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1844640" y="5664960"/>
            <a:ext cx="904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cache ·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1844640" y="6084000"/>
            <a:ext cx="1073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MariaDB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1844640" y="6493680"/>
            <a:ext cx="7520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tuning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3968640" y="5664960"/>
            <a:ext cx="928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~70–90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3968640" y="6084000"/>
            <a:ext cx="398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5585400" y="5874480"/>
            <a:ext cx="468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~65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7376400" y="5874480"/>
            <a:ext cx="1410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~18% ~0–3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9776880" y="5664960"/>
            <a:ext cx="1026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FastCGI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9776880" y="6084000"/>
            <a:ext cx="1425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page cache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5" name=""/>
          <p:cNvSpPr/>
          <p:nvPr/>
        </p:nvSpPr>
        <p:spPr>
          <a:xfrm>
            <a:off x="757080" y="2023920"/>
            <a:ext cx="10687320" cy="1400400"/>
          </a:xfrm>
          <a:custGeom>
            <a:avLst/>
            <a:gdLst/>
            <a:ahLst/>
            <a:rect l="0" t="0" r="r" b="b"/>
            <a:pathLst>
              <a:path w="29687" h="3890">
                <a:moveTo>
                  <a:pt x="0" y="3745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3745"/>
                </a:lnTo>
                <a:cubicBezTo>
                  <a:pt x="29687" y="3754"/>
                  <a:pt x="29686" y="3764"/>
                  <a:pt x="29684" y="3773"/>
                </a:cubicBezTo>
                <a:cubicBezTo>
                  <a:pt x="29683" y="3783"/>
                  <a:pt x="29680" y="3792"/>
                  <a:pt x="29676" y="3800"/>
                </a:cubicBezTo>
                <a:cubicBezTo>
                  <a:pt x="29672" y="3809"/>
                  <a:pt x="29668" y="3818"/>
                  <a:pt x="29663" y="3826"/>
                </a:cubicBezTo>
                <a:cubicBezTo>
                  <a:pt x="29657" y="3834"/>
                  <a:pt x="29651" y="3841"/>
                  <a:pt x="29645" y="3848"/>
                </a:cubicBezTo>
                <a:cubicBezTo>
                  <a:pt x="29638" y="3854"/>
                  <a:pt x="29630" y="3860"/>
                  <a:pt x="29623" y="3866"/>
                </a:cubicBezTo>
                <a:cubicBezTo>
                  <a:pt x="29615" y="3871"/>
                  <a:pt x="29606" y="3876"/>
                  <a:pt x="29597" y="3879"/>
                </a:cubicBezTo>
                <a:cubicBezTo>
                  <a:pt x="29589" y="3883"/>
                  <a:pt x="29579" y="3886"/>
                  <a:pt x="29570" y="3887"/>
                </a:cubicBezTo>
                <a:cubicBezTo>
                  <a:pt x="29561" y="3889"/>
                  <a:pt x="29551" y="3890"/>
                  <a:pt x="29542" y="3890"/>
                </a:cubicBezTo>
                <a:lnTo>
                  <a:pt x="145" y="3890"/>
                </a:lnTo>
                <a:cubicBezTo>
                  <a:pt x="136" y="3890"/>
                  <a:pt x="126" y="3889"/>
                  <a:pt x="117" y="3887"/>
                </a:cubicBezTo>
                <a:cubicBezTo>
                  <a:pt x="108" y="3886"/>
                  <a:pt x="99" y="3883"/>
                  <a:pt x="90" y="3879"/>
                </a:cubicBezTo>
                <a:cubicBezTo>
                  <a:pt x="81" y="3876"/>
                  <a:pt x="73" y="3871"/>
                  <a:pt x="65" y="3866"/>
                </a:cubicBezTo>
                <a:cubicBezTo>
                  <a:pt x="57" y="3860"/>
                  <a:pt x="49" y="3854"/>
                  <a:pt x="43" y="3848"/>
                </a:cubicBezTo>
                <a:cubicBezTo>
                  <a:pt x="36" y="3841"/>
                  <a:pt x="30" y="3834"/>
                  <a:pt x="24" y="3826"/>
                </a:cubicBezTo>
                <a:cubicBezTo>
                  <a:pt x="19" y="3818"/>
                  <a:pt x="15" y="3809"/>
                  <a:pt x="11" y="3800"/>
                </a:cubicBezTo>
                <a:cubicBezTo>
                  <a:pt x="7" y="3792"/>
                  <a:pt x="5" y="3783"/>
                  <a:pt x="3" y="3773"/>
                </a:cubicBezTo>
                <a:cubicBezTo>
                  <a:pt x="1" y="3764"/>
                  <a:pt x="0" y="3754"/>
                  <a:pt x="0" y="3745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" name=""/>
          <p:cNvSpPr/>
          <p:nvPr/>
        </p:nvSpPr>
        <p:spPr>
          <a:xfrm>
            <a:off x="757080" y="2023920"/>
            <a:ext cx="10687320" cy="1400400"/>
          </a:xfrm>
          <a:custGeom>
            <a:avLst/>
            <a:gdLst/>
            <a:ahLst/>
            <a:rect l="0" t="0" r="r" b="b"/>
            <a:pathLst>
              <a:path w="29687" h="3890">
                <a:moveTo>
                  <a:pt x="0" y="3745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3745"/>
                </a:lnTo>
                <a:cubicBezTo>
                  <a:pt x="29687" y="3754"/>
                  <a:pt x="29686" y="3764"/>
                  <a:pt x="29684" y="3773"/>
                </a:cubicBezTo>
                <a:cubicBezTo>
                  <a:pt x="29683" y="3783"/>
                  <a:pt x="29680" y="3792"/>
                  <a:pt x="29676" y="3800"/>
                </a:cubicBezTo>
                <a:cubicBezTo>
                  <a:pt x="29672" y="3809"/>
                  <a:pt x="29668" y="3818"/>
                  <a:pt x="29663" y="3826"/>
                </a:cubicBezTo>
                <a:cubicBezTo>
                  <a:pt x="29657" y="3834"/>
                  <a:pt x="29651" y="3841"/>
                  <a:pt x="29645" y="3848"/>
                </a:cubicBezTo>
                <a:cubicBezTo>
                  <a:pt x="29638" y="3854"/>
                  <a:pt x="29630" y="3860"/>
                  <a:pt x="29623" y="3866"/>
                </a:cubicBezTo>
                <a:cubicBezTo>
                  <a:pt x="29615" y="3871"/>
                  <a:pt x="29606" y="3876"/>
                  <a:pt x="29597" y="3879"/>
                </a:cubicBezTo>
                <a:cubicBezTo>
                  <a:pt x="29589" y="3883"/>
                  <a:pt x="29579" y="3886"/>
                  <a:pt x="29570" y="3887"/>
                </a:cubicBezTo>
                <a:cubicBezTo>
                  <a:pt x="29561" y="3889"/>
                  <a:pt x="29551" y="3890"/>
                  <a:pt x="29542" y="3890"/>
                </a:cubicBezTo>
                <a:lnTo>
                  <a:pt x="145" y="3890"/>
                </a:lnTo>
                <a:cubicBezTo>
                  <a:pt x="136" y="3890"/>
                  <a:pt x="126" y="3889"/>
                  <a:pt x="117" y="3887"/>
                </a:cubicBezTo>
                <a:cubicBezTo>
                  <a:pt x="108" y="3886"/>
                  <a:pt x="99" y="3883"/>
                  <a:pt x="90" y="3879"/>
                </a:cubicBezTo>
                <a:cubicBezTo>
                  <a:pt x="81" y="3876"/>
                  <a:pt x="73" y="3871"/>
                  <a:pt x="65" y="3866"/>
                </a:cubicBezTo>
                <a:cubicBezTo>
                  <a:pt x="57" y="3860"/>
                  <a:pt x="49" y="3854"/>
                  <a:pt x="43" y="3848"/>
                </a:cubicBezTo>
                <a:cubicBezTo>
                  <a:pt x="36" y="3841"/>
                  <a:pt x="30" y="3834"/>
                  <a:pt x="24" y="3826"/>
                </a:cubicBezTo>
                <a:cubicBezTo>
                  <a:pt x="19" y="3818"/>
                  <a:pt x="15" y="3809"/>
                  <a:pt x="11" y="3800"/>
                </a:cubicBezTo>
                <a:cubicBezTo>
                  <a:pt x="7" y="3792"/>
                  <a:pt x="5" y="3783"/>
                  <a:pt x="3" y="3773"/>
                </a:cubicBezTo>
                <a:cubicBezTo>
                  <a:pt x="1" y="3764"/>
                  <a:pt x="0" y="3754"/>
                  <a:pt x="0" y="3745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" name=""/>
          <p:cNvSpPr/>
          <p:nvPr/>
        </p:nvSpPr>
        <p:spPr>
          <a:xfrm>
            <a:off x="752400" y="4724280"/>
            <a:ext cx="1181520" cy="533520"/>
          </a:xfrm>
          <a:custGeom>
            <a:avLst/>
            <a:gdLst/>
            <a:ahLst/>
            <a:rect l="0" t="0" r="r" b="b"/>
            <a:pathLst>
              <a:path w="3282" h="1482">
                <a:moveTo>
                  <a:pt x="0" y="0"/>
                </a:moveTo>
                <a:lnTo>
                  <a:pt x="3282" y="0"/>
                </a:lnTo>
                <a:lnTo>
                  <a:pt x="3282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" name=""/>
          <p:cNvSpPr/>
          <p:nvPr/>
        </p:nvSpPr>
        <p:spPr>
          <a:xfrm>
            <a:off x="1933560" y="4724280"/>
            <a:ext cx="3981600" cy="533520"/>
          </a:xfrm>
          <a:custGeom>
            <a:avLst/>
            <a:gdLst/>
            <a:ahLst/>
            <a:rect l="0" t="0" r="r" b="b"/>
            <a:pathLst>
              <a:path w="11060" h="1482">
                <a:moveTo>
                  <a:pt x="0" y="0"/>
                </a:moveTo>
                <a:lnTo>
                  <a:pt x="11060" y="0"/>
                </a:lnTo>
                <a:lnTo>
                  <a:pt x="11060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" name=""/>
          <p:cNvSpPr/>
          <p:nvPr/>
        </p:nvSpPr>
        <p:spPr>
          <a:xfrm>
            <a:off x="752400" y="5257440"/>
            <a:ext cx="1181520" cy="543600"/>
          </a:xfrm>
          <a:custGeom>
            <a:avLst/>
            <a:gdLst/>
            <a:ahLst/>
            <a:rect l="0" t="0" r="r" b="b"/>
            <a:pathLst>
              <a:path w="3282" h="1510">
                <a:moveTo>
                  <a:pt x="0" y="0"/>
                </a:moveTo>
                <a:lnTo>
                  <a:pt x="3282" y="0"/>
                </a:lnTo>
                <a:lnTo>
                  <a:pt x="3282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" name=""/>
          <p:cNvSpPr/>
          <p:nvPr/>
        </p:nvSpPr>
        <p:spPr>
          <a:xfrm>
            <a:off x="1933560" y="5257440"/>
            <a:ext cx="3981600" cy="543600"/>
          </a:xfrm>
          <a:custGeom>
            <a:avLst/>
            <a:gdLst/>
            <a:ahLst/>
            <a:rect l="0" t="0" r="r" b="b"/>
            <a:pathLst>
              <a:path w="11060" h="1510">
                <a:moveTo>
                  <a:pt x="0" y="0"/>
                </a:moveTo>
                <a:lnTo>
                  <a:pt x="11060" y="0"/>
                </a:lnTo>
                <a:lnTo>
                  <a:pt x="11060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1" name=""/>
          <p:cNvSpPr/>
          <p:nvPr/>
        </p:nvSpPr>
        <p:spPr>
          <a:xfrm>
            <a:off x="752400" y="5800680"/>
            <a:ext cx="1181520" cy="533520"/>
          </a:xfrm>
          <a:custGeom>
            <a:avLst/>
            <a:gdLst/>
            <a:ahLst/>
            <a:rect l="0" t="0" r="r" b="b"/>
            <a:pathLst>
              <a:path w="3282" h="1482">
                <a:moveTo>
                  <a:pt x="0" y="0"/>
                </a:moveTo>
                <a:lnTo>
                  <a:pt x="3282" y="0"/>
                </a:lnTo>
                <a:lnTo>
                  <a:pt x="3282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2" name=""/>
          <p:cNvSpPr/>
          <p:nvPr/>
        </p:nvSpPr>
        <p:spPr>
          <a:xfrm>
            <a:off x="1933560" y="5800680"/>
            <a:ext cx="3981600" cy="533520"/>
          </a:xfrm>
          <a:custGeom>
            <a:avLst/>
            <a:gdLst/>
            <a:ahLst/>
            <a:rect l="0" t="0" r="r" b="b"/>
            <a:pathLst>
              <a:path w="11060" h="1482">
                <a:moveTo>
                  <a:pt x="0" y="0"/>
                </a:moveTo>
                <a:lnTo>
                  <a:pt x="11060" y="0"/>
                </a:lnTo>
                <a:lnTo>
                  <a:pt x="11060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3" name=""/>
          <p:cNvSpPr/>
          <p:nvPr/>
        </p:nvSpPr>
        <p:spPr>
          <a:xfrm>
            <a:off x="752400" y="6333840"/>
            <a:ext cx="1181520" cy="543240"/>
          </a:xfrm>
          <a:custGeom>
            <a:avLst/>
            <a:gdLst/>
            <a:ahLst/>
            <a:rect l="0" t="0" r="r" b="b"/>
            <a:pathLst>
              <a:path w="3282" h="1509">
                <a:moveTo>
                  <a:pt x="0" y="0"/>
                </a:moveTo>
                <a:lnTo>
                  <a:pt x="3282" y="0"/>
                </a:lnTo>
                <a:lnTo>
                  <a:pt x="328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4" name=""/>
          <p:cNvSpPr/>
          <p:nvPr/>
        </p:nvSpPr>
        <p:spPr>
          <a:xfrm>
            <a:off x="1933560" y="6333840"/>
            <a:ext cx="3981600" cy="543240"/>
          </a:xfrm>
          <a:custGeom>
            <a:avLst/>
            <a:gdLst/>
            <a:ahLst/>
            <a:rect l="0" t="0" r="r" b="b"/>
            <a:pathLst>
              <a:path w="11060" h="1509">
                <a:moveTo>
                  <a:pt x="0" y="0"/>
                </a:moveTo>
                <a:lnTo>
                  <a:pt x="11060" y="0"/>
                </a:lnTo>
                <a:lnTo>
                  <a:pt x="1106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5" name=""/>
          <p:cNvSpPr/>
          <p:nvPr/>
        </p:nvSpPr>
        <p:spPr>
          <a:xfrm>
            <a:off x="752400" y="4714560"/>
            <a:ext cx="9720" cy="552960"/>
          </a:xfrm>
          <a:custGeom>
            <a:avLst/>
            <a:gdLst/>
            <a:ahLst/>
            <a:rect l="0" t="0" r="r" b="b"/>
            <a:pathLst>
              <a:path w="27" h="1536">
                <a:moveTo>
                  <a:pt x="0" y="0"/>
                </a:moveTo>
                <a:lnTo>
                  <a:pt x="27" y="0"/>
                </a:lnTo>
                <a:lnTo>
                  <a:pt x="27" y="1536"/>
                </a:lnTo>
                <a:lnTo>
                  <a:pt x="0" y="153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6" name=""/>
          <p:cNvSpPr/>
          <p:nvPr/>
        </p:nvSpPr>
        <p:spPr>
          <a:xfrm>
            <a:off x="752400" y="4714560"/>
            <a:ext cx="1181520" cy="10080"/>
          </a:xfrm>
          <a:custGeom>
            <a:avLst/>
            <a:gdLst/>
            <a:ahLst/>
            <a:rect l="0" t="0" r="r" b="b"/>
            <a:pathLst>
              <a:path w="3282" h="28">
                <a:moveTo>
                  <a:pt x="0" y="0"/>
                </a:moveTo>
                <a:lnTo>
                  <a:pt x="3282" y="0"/>
                </a:lnTo>
                <a:lnTo>
                  <a:pt x="328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7" name=""/>
          <p:cNvSpPr/>
          <p:nvPr/>
        </p:nvSpPr>
        <p:spPr>
          <a:xfrm>
            <a:off x="1923840" y="4714560"/>
            <a:ext cx="10080" cy="552960"/>
          </a:xfrm>
          <a:custGeom>
            <a:avLst/>
            <a:gdLst/>
            <a:ahLst/>
            <a:rect l="0" t="0" r="r" b="b"/>
            <a:pathLst>
              <a:path w="28" h="1536">
                <a:moveTo>
                  <a:pt x="0" y="0"/>
                </a:moveTo>
                <a:lnTo>
                  <a:pt x="28" y="0"/>
                </a:lnTo>
                <a:lnTo>
                  <a:pt x="28" y="1536"/>
                </a:lnTo>
                <a:lnTo>
                  <a:pt x="0" y="153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8" name=""/>
          <p:cNvSpPr/>
          <p:nvPr/>
        </p:nvSpPr>
        <p:spPr>
          <a:xfrm>
            <a:off x="1933560" y="4714560"/>
            <a:ext cx="3991320" cy="10080"/>
          </a:xfrm>
          <a:custGeom>
            <a:avLst/>
            <a:gdLst/>
            <a:ahLst/>
            <a:rect l="0" t="0" r="r" b="b"/>
            <a:pathLst>
              <a:path w="11087" h="28">
                <a:moveTo>
                  <a:pt x="0" y="0"/>
                </a:moveTo>
                <a:lnTo>
                  <a:pt x="11087" y="0"/>
                </a:lnTo>
                <a:lnTo>
                  <a:pt x="1108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9" name=""/>
          <p:cNvSpPr/>
          <p:nvPr/>
        </p:nvSpPr>
        <p:spPr>
          <a:xfrm>
            <a:off x="5914800" y="4714560"/>
            <a:ext cx="10080" cy="552960"/>
          </a:xfrm>
          <a:custGeom>
            <a:avLst/>
            <a:gdLst/>
            <a:ahLst/>
            <a:rect l="0" t="0" r="r" b="b"/>
            <a:pathLst>
              <a:path w="28" h="1536">
                <a:moveTo>
                  <a:pt x="0" y="0"/>
                </a:moveTo>
                <a:lnTo>
                  <a:pt x="28" y="0"/>
                </a:lnTo>
                <a:lnTo>
                  <a:pt x="28" y="1536"/>
                </a:lnTo>
                <a:lnTo>
                  <a:pt x="0" y="153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0" name=""/>
          <p:cNvSpPr/>
          <p:nvPr/>
        </p:nvSpPr>
        <p:spPr>
          <a:xfrm>
            <a:off x="752400" y="5257440"/>
            <a:ext cx="1181520" cy="10080"/>
          </a:xfrm>
          <a:custGeom>
            <a:avLst/>
            <a:gdLst/>
            <a:ahLst/>
            <a:rect l="0" t="0" r="r" b="b"/>
            <a:pathLst>
              <a:path w="3282" h="28">
                <a:moveTo>
                  <a:pt x="0" y="0"/>
                </a:moveTo>
                <a:lnTo>
                  <a:pt x="3282" y="0"/>
                </a:lnTo>
                <a:lnTo>
                  <a:pt x="328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1" name=""/>
          <p:cNvSpPr/>
          <p:nvPr/>
        </p:nvSpPr>
        <p:spPr>
          <a:xfrm>
            <a:off x="1933560" y="5257440"/>
            <a:ext cx="3991320" cy="10080"/>
          </a:xfrm>
          <a:custGeom>
            <a:avLst/>
            <a:gdLst/>
            <a:ahLst/>
            <a:rect l="0" t="0" r="r" b="b"/>
            <a:pathLst>
              <a:path w="11087" h="28">
                <a:moveTo>
                  <a:pt x="0" y="0"/>
                </a:moveTo>
                <a:lnTo>
                  <a:pt x="11087" y="0"/>
                </a:lnTo>
                <a:lnTo>
                  <a:pt x="1108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2" name=""/>
          <p:cNvSpPr/>
          <p:nvPr/>
        </p:nvSpPr>
        <p:spPr>
          <a:xfrm>
            <a:off x="752400" y="52671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3" name=""/>
          <p:cNvSpPr/>
          <p:nvPr/>
        </p:nvSpPr>
        <p:spPr>
          <a:xfrm>
            <a:off x="1923840" y="526716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4" name=""/>
          <p:cNvSpPr/>
          <p:nvPr/>
        </p:nvSpPr>
        <p:spPr>
          <a:xfrm>
            <a:off x="5914800" y="526716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5" name=""/>
          <p:cNvSpPr/>
          <p:nvPr/>
        </p:nvSpPr>
        <p:spPr>
          <a:xfrm>
            <a:off x="752400" y="58006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6" name=""/>
          <p:cNvSpPr/>
          <p:nvPr/>
        </p:nvSpPr>
        <p:spPr>
          <a:xfrm>
            <a:off x="752400" y="5790960"/>
            <a:ext cx="1181520" cy="10080"/>
          </a:xfrm>
          <a:custGeom>
            <a:avLst/>
            <a:gdLst/>
            <a:ahLst/>
            <a:rect l="0" t="0" r="r" b="b"/>
            <a:pathLst>
              <a:path w="3282" h="28">
                <a:moveTo>
                  <a:pt x="0" y="0"/>
                </a:moveTo>
                <a:lnTo>
                  <a:pt x="3282" y="0"/>
                </a:lnTo>
                <a:lnTo>
                  <a:pt x="328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7" name=""/>
          <p:cNvSpPr/>
          <p:nvPr/>
        </p:nvSpPr>
        <p:spPr>
          <a:xfrm>
            <a:off x="1923840" y="58006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8" name=""/>
          <p:cNvSpPr/>
          <p:nvPr/>
        </p:nvSpPr>
        <p:spPr>
          <a:xfrm>
            <a:off x="1933560" y="5790960"/>
            <a:ext cx="3991320" cy="10080"/>
          </a:xfrm>
          <a:custGeom>
            <a:avLst/>
            <a:gdLst/>
            <a:ahLst/>
            <a:rect l="0" t="0" r="r" b="b"/>
            <a:pathLst>
              <a:path w="11087" h="28">
                <a:moveTo>
                  <a:pt x="0" y="0"/>
                </a:moveTo>
                <a:lnTo>
                  <a:pt x="11087" y="0"/>
                </a:lnTo>
                <a:lnTo>
                  <a:pt x="1108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9" name=""/>
          <p:cNvSpPr/>
          <p:nvPr/>
        </p:nvSpPr>
        <p:spPr>
          <a:xfrm>
            <a:off x="5914800" y="58006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0" name=""/>
          <p:cNvSpPr/>
          <p:nvPr/>
        </p:nvSpPr>
        <p:spPr>
          <a:xfrm>
            <a:off x="752400" y="634356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1" name=""/>
          <p:cNvSpPr/>
          <p:nvPr/>
        </p:nvSpPr>
        <p:spPr>
          <a:xfrm>
            <a:off x="752400" y="6333840"/>
            <a:ext cx="1181520" cy="10080"/>
          </a:xfrm>
          <a:custGeom>
            <a:avLst/>
            <a:gdLst/>
            <a:ahLst/>
            <a:rect l="0" t="0" r="r" b="b"/>
            <a:pathLst>
              <a:path w="3282" h="28">
                <a:moveTo>
                  <a:pt x="0" y="0"/>
                </a:moveTo>
                <a:lnTo>
                  <a:pt x="3282" y="0"/>
                </a:lnTo>
                <a:lnTo>
                  <a:pt x="328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2" name=""/>
          <p:cNvSpPr/>
          <p:nvPr/>
        </p:nvSpPr>
        <p:spPr>
          <a:xfrm>
            <a:off x="1923840" y="634356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3" name=""/>
          <p:cNvSpPr/>
          <p:nvPr/>
        </p:nvSpPr>
        <p:spPr>
          <a:xfrm>
            <a:off x="1933560" y="6333840"/>
            <a:ext cx="3991320" cy="10080"/>
          </a:xfrm>
          <a:custGeom>
            <a:avLst/>
            <a:gdLst/>
            <a:ahLst/>
            <a:rect l="0" t="0" r="r" b="b"/>
            <a:pathLst>
              <a:path w="11087" h="28">
                <a:moveTo>
                  <a:pt x="0" y="0"/>
                </a:moveTo>
                <a:lnTo>
                  <a:pt x="11087" y="0"/>
                </a:lnTo>
                <a:lnTo>
                  <a:pt x="1108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" name=""/>
          <p:cNvSpPr/>
          <p:nvPr/>
        </p:nvSpPr>
        <p:spPr>
          <a:xfrm>
            <a:off x="5914800" y="634356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747720" y="770400"/>
            <a:ext cx="621576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Key concept: what is a Virtual User?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747720" y="1502640"/>
            <a:ext cx="5633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 VU = 1 browser-like loop, running forever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"/>
          <p:cNvSpPr txBox="1"/>
          <p:nvPr/>
        </p:nvSpPr>
        <p:spPr>
          <a:xfrm>
            <a:off x="914400" y="2185560"/>
            <a:ext cx="80276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VU #1:  GET /  → wait 1s → GET /?p=1 → wait 1s → repeat …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914400" y="2452320"/>
            <a:ext cx="80276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VU #2:  GET /  → wait 1s → GET /?p=2 → wait 1s → repeat …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914400" y="2728440"/>
            <a:ext cx="4230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1337040" y="2706120"/>
            <a:ext cx="235440" cy="27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DejaVuSans"/>
                <a:ea typeface="DejaVuSans"/>
              </a:rPr>
              <a:t>⋮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1" name=""/>
          <p:cNvSpPr txBox="1"/>
          <p:nvPr/>
        </p:nvSpPr>
        <p:spPr>
          <a:xfrm>
            <a:off x="914400" y="2995200"/>
            <a:ext cx="80276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VU #50: GET /  → wait 1s → GET /?p=5 → wait 1s → repeat …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2" name=""/>
          <p:cNvSpPr txBox="1"/>
          <p:nvPr/>
        </p:nvSpPr>
        <p:spPr>
          <a:xfrm>
            <a:off x="747720" y="3626640"/>
            <a:ext cx="6841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50 VUs =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50 open connections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=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~50 req/s sustained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747720" y="4198320"/>
            <a:ext cx="7634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Real-world equivalent </a:t>
            </a:r>
            <a:r>
              <a:rPr b="0" i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(think time = 15–30× longer in real life)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880920" y="4826880"/>
            <a:ext cx="919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k6 VUs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5" name=""/>
          <p:cNvSpPr txBox="1"/>
          <p:nvPr/>
        </p:nvSpPr>
        <p:spPr>
          <a:xfrm>
            <a:off x="2059560" y="4826880"/>
            <a:ext cx="3722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≈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Real simultaneous visitors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880920" y="536976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2059560" y="5369760"/>
            <a:ext cx="1387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~150 – 300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880920" y="590328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50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2059560" y="5903280"/>
            <a:ext cx="1617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~750 – 1,500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0" name=""/>
          <p:cNvSpPr txBox="1"/>
          <p:nvPr/>
        </p:nvSpPr>
        <p:spPr>
          <a:xfrm>
            <a:off x="880920" y="6446160"/>
            <a:ext cx="459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100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2059560" y="6446160"/>
            <a:ext cx="1847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~1,500 – 3,000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5" name=""/>
          <p:cNvSpPr/>
          <p:nvPr/>
        </p:nvSpPr>
        <p:spPr>
          <a:xfrm>
            <a:off x="752400" y="1457280"/>
            <a:ext cx="2648160" cy="543240"/>
          </a:xfrm>
          <a:custGeom>
            <a:avLst/>
            <a:gdLst/>
            <a:ahLst/>
            <a:rect l="0" t="0" r="r" b="b"/>
            <a:pathLst>
              <a:path w="7356" h="1509">
                <a:moveTo>
                  <a:pt x="0" y="0"/>
                </a:moveTo>
                <a:lnTo>
                  <a:pt x="7356" y="0"/>
                </a:lnTo>
                <a:lnTo>
                  <a:pt x="7356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6" name=""/>
          <p:cNvSpPr/>
          <p:nvPr/>
        </p:nvSpPr>
        <p:spPr>
          <a:xfrm>
            <a:off x="3400200" y="1457280"/>
            <a:ext cx="8039520" cy="543240"/>
          </a:xfrm>
          <a:custGeom>
            <a:avLst/>
            <a:gdLst/>
            <a:ahLst/>
            <a:rect l="0" t="0" r="r" b="b"/>
            <a:pathLst>
              <a:path w="22332" h="1509">
                <a:moveTo>
                  <a:pt x="0" y="0"/>
                </a:moveTo>
                <a:lnTo>
                  <a:pt x="22332" y="0"/>
                </a:lnTo>
                <a:lnTo>
                  <a:pt x="2233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7" name=""/>
          <p:cNvSpPr/>
          <p:nvPr/>
        </p:nvSpPr>
        <p:spPr>
          <a:xfrm>
            <a:off x="752400" y="2000160"/>
            <a:ext cx="2648160" cy="952920"/>
          </a:xfrm>
          <a:custGeom>
            <a:avLst/>
            <a:gdLst/>
            <a:ahLst/>
            <a:rect l="0" t="0" r="r" b="b"/>
            <a:pathLst>
              <a:path w="7356" h="2647">
                <a:moveTo>
                  <a:pt x="0" y="0"/>
                </a:moveTo>
                <a:lnTo>
                  <a:pt x="7356" y="0"/>
                </a:lnTo>
                <a:lnTo>
                  <a:pt x="7356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8" name=""/>
          <p:cNvSpPr/>
          <p:nvPr/>
        </p:nvSpPr>
        <p:spPr>
          <a:xfrm>
            <a:off x="3400200" y="2000160"/>
            <a:ext cx="8039520" cy="952920"/>
          </a:xfrm>
          <a:custGeom>
            <a:avLst/>
            <a:gdLst/>
            <a:ahLst/>
            <a:rect l="0" t="0" r="r" b="b"/>
            <a:pathLst>
              <a:path w="22332" h="2647">
                <a:moveTo>
                  <a:pt x="0" y="0"/>
                </a:moveTo>
                <a:lnTo>
                  <a:pt x="22332" y="0"/>
                </a:lnTo>
                <a:lnTo>
                  <a:pt x="22332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9" name=""/>
          <p:cNvSpPr/>
          <p:nvPr/>
        </p:nvSpPr>
        <p:spPr>
          <a:xfrm>
            <a:off x="752400" y="2952720"/>
            <a:ext cx="2648160" cy="533520"/>
          </a:xfrm>
          <a:custGeom>
            <a:avLst/>
            <a:gdLst/>
            <a:ahLst/>
            <a:rect l="0" t="0" r="r" b="b"/>
            <a:pathLst>
              <a:path w="7356" h="1482">
                <a:moveTo>
                  <a:pt x="0" y="0"/>
                </a:moveTo>
                <a:lnTo>
                  <a:pt x="7356" y="0"/>
                </a:lnTo>
                <a:lnTo>
                  <a:pt x="7356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0" name=""/>
          <p:cNvSpPr/>
          <p:nvPr/>
        </p:nvSpPr>
        <p:spPr>
          <a:xfrm>
            <a:off x="3400200" y="2952720"/>
            <a:ext cx="8039520" cy="533520"/>
          </a:xfrm>
          <a:custGeom>
            <a:avLst/>
            <a:gdLst/>
            <a:ahLst/>
            <a:rect l="0" t="0" r="r" b="b"/>
            <a:pathLst>
              <a:path w="22332" h="1482">
                <a:moveTo>
                  <a:pt x="0" y="0"/>
                </a:moveTo>
                <a:lnTo>
                  <a:pt x="22332" y="0"/>
                </a:lnTo>
                <a:lnTo>
                  <a:pt x="22332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1" name=""/>
          <p:cNvSpPr/>
          <p:nvPr/>
        </p:nvSpPr>
        <p:spPr>
          <a:xfrm>
            <a:off x="752400" y="3485880"/>
            <a:ext cx="2648160" cy="543240"/>
          </a:xfrm>
          <a:custGeom>
            <a:avLst/>
            <a:gdLst/>
            <a:ahLst/>
            <a:rect l="0" t="0" r="r" b="b"/>
            <a:pathLst>
              <a:path w="7356" h="1509">
                <a:moveTo>
                  <a:pt x="0" y="0"/>
                </a:moveTo>
                <a:lnTo>
                  <a:pt x="7356" y="0"/>
                </a:lnTo>
                <a:lnTo>
                  <a:pt x="7356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2" name=""/>
          <p:cNvSpPr/>
          <p:nvPr/>
        </p:nvSpPr>
        <p:spPr>
          <a:xfrm>
            <a:off x="3400200" y="3485880"/>
            <a:ext cx="8039520" cy="543240"/>
          </a:xfrm>
          <a:custGeom>
            <a:avLst/>
            <a:gdLst/>
            <a:ahLst/>
            <a:rect l="0" t="0" r="r" b="b"/>
            <a:pathLst>
              <a:path w="22332" h="1509">
                <a:moveTo>
                  <a:pt x="0" y="0"/>
                </a:moveTo>
                <a:lnTo>
                  <a:pt x="22332" y="0"/>
                </a:lnTo>
                <a:lnTo>
                  <a:pt x="2233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3" name=""/>
          <p:cNvSpPr/>
          <p:nvPr/>
        </p:nvSpPr>
        <p:spPr>
          <a:xfrm>
            <a:off x="752400" y="4028760"/>
            <a:ext cx="2648160" cy="533880"/>
          </a:xfrm>
          <a:custGeom>
            <a:avLst/>
            <a:gdLst/>
            <a:ahLst/>
            <a:rect l="0" t="0" r="r" b="b"/>
            <a:pathLst>
              <a:path w="7356" h="1483">
                <a:moveTo>
                  <a:pt x="0" y="0"/>
                </a:moveTo>
                <a:lnTo>
                  <a:pt x="7356" y="0"/>
                </a:lnTo>
                <a:lnTo>
                  <a:pt x="7356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4" name=""/>
          <p:cNvSpPr/>
          <p:nvPr/>
        </p:nvSpPr>
        <p:spPr>
          <a:xfrm>
            <a:off x="3400200" y="4028760"/>
            <a:ext cx="8039520" cy="533880"/>
          </a:xfrm>
          <a:custGeom>
            <a:avLst/>
            <a:gdLst/>
            <a:ahLst/>
            <a:rect l="0" t="0" r="r" b="b"/>
            <a:pathLst>
              <a:path w="22332" h="1483">
                <a:moveTo>
                  <a:pt x="0" y="0"/>
                </a:moveTo>
                <a:lnTo>
                  <a:pt x="22332" y="0"/>
                </a:lnTo>
                <a:lnTo>
                  <a:pt x="22332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5" name=""/>
          <p:cNvSpPr/>
          <p:nvPr/>
        </p:nvSpPr>
        <p:spPr>
          <a:xfrm>
            <a:off x="752400" y="4562280"/>
            <a:ext cx="2648160" cy="543240"/>
          </a:xfrm>
          <a:custGeom>
            <a:avLst/>
            <a:gdLst/>
            <a:ahLst/>
            <a:rect l="0" t="0" r="r" b="b"/>
            <a:pathLst>
              <a:path w="7356" h="1509">
                <a:moveTo>
                  <a:pt x="0" y="0"/>
                </a:moveTo>
                <a:lnTo>
                  <a:pt x="7356" y="0"/>
                </a:lnTo>
                <a:lnTo>
                  <a:pt x="7356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6" name=""/>
          <p:cNvSpPr/>
          <p:nvPr/>
        </p:nvSpPr>
        <p:spPr>
          <a:xfrm>
            <a:off x="3400200" y="4562280"/>
            <a:ext cx="8039520" cy="543240"/>
          </a:xfrm>
          <a:custGeom>
            <a:avLst/>
            <a:gdLst/>
            <a:ahLst/>
            <a:rect l="0" t="0" r="r" b="b"/>
            <a:pathLst>
              <a:path w="22332" h="1509">
                <a:moveTo>
                  <a:pt x="0" y="0"/>
                </a:moveTo>
                <a:lnTo>
                  <a:pt x="22332" y="0"/>
                </a:lnTo>
                <a:lnTo>
                  <a:pt x="2233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7" name=""/>
          <p:cNvSpPr/>
          <p:nvPr/>
        </p:nvSpPr>
        <p:spPr>
          <a:xfrm>
            <a:off x="752400" y="5105160"/>
            <a:ext cx="2648160" cy="952920"/>
          </a:xfrm>
          <a:custGeom>
            <a:avLst/>
            <a:gdLst/>
            <a:ahLst/>
            <a:rect l="0" t="0" r="r" b="b"/>
            <a:pathLst>
              <a:path w="7356" h="2647">
                <a:moveTo>
                  <a:pt x="0" y="0"/>
                </a:moveTo>
                <a:lnTo>
                  <a:pt x="7356" y="0"/>
                </a:lnTo>
                <a:lnTo>
                  <a:pt x="7356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8" name=""/>
          <p:cNvSpPr/>
          <p:nvPr/>
        </p:nvSpPr>
        <p:spPr>
          <a:xfrm>
            <a:off x="3400200" y="5105160"/>
            <a:ext cx="8039520" cy="952920"/>
          </a:xfrm>
          <a:custGeom>
            <a:avLst/>
            <a:gdLst/>
            <a:ahLst/>
            <a:rect l="0" t="0" r="r" b="b"/>
            <a:pathLst>
              <a:path w="22332" h="2647">
                <a:moveTo>
                  <a:pt x="0" y="0"/>
                </a:moveTo>
                <a:lnTo>
                  <a:pt x="22332" y="0"/>
                </a:lnTo>
                <a:lnTo>
                  <a:pt x="22332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9" name=""/>
          <p:cNvSpPr/>
          <p:nvPr/>
        </p:nvSpPr>
        <p:spPr>
          <a:xfrm>
            <a:off x="752400" y="6057720"/>
            <a:ext cx="2648160" cy="952920"/>
          </a:xfrm>
          <a:custGeom>
            <a:avLst/>
            <a:gdLst/>
            <a:ahLst/>
            <a:rect l="0" t="0" r="r" b="b"/>
            <a:pathLst>
              <a:path w="7356" h="2647">
                <a:moveTo>
                  <a:pt x="0" y="0"/>
                </a:moveTo>
                <a:lnTo>
                  <a:pt x="7356" y="0"/>
                </a:lnTo>
                <a:lnTo>
                  <a:pt x="7356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0" name=""/>
          <p:cNvSpPr/>
          <p:nvPr/>
        </p:nvSpPr>
        <p:spPr>
          <a:xfrm>
            <a:off x="3400200" y="6057720"/>
            <a:ext cx="8039520" cy="952920"/>
          </a:xfrm>
          <a:custGeom>
            <a:avLst/>
            <a:gdLst/>
            <a:ahLst/>
            <a:rect l="0" t="0" r="r" b="b"/>
            <a:pathLst>
              <a:path w="22332" h="2647">
                <a:moveTo>
                  <a:pt x="0" y="0"/>
                </a:moveTo>
                <a:lnTo>
                  <a:pt x="22332" y="0"/>
                </a:lnTo>
                <a:lnTo>
                  <a:pt x="22332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1" name=""/>
          <p:cNvSpPr/>
          <p:nvPr/>
        </p:nvSpPr>
        <p:spPr>
          <a:xfrm>
            <a:off x="75240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2" name=""/>
          <p:cNvSpPr/>
          <p:nvPr/>
        </p:nvSpPr>
        <p:spPr>
          <a:xfrm>
            <a:off x="752400" y="1457280"/>
            <a:ext cx="2657880" cy="9720"/>
          </a:xfrm>
          <a:custGeom>
            <a:avLst/>
            <a:gdLst/>
            <a:ahLst/>
            <a:rect l="0" t="0" r="r" b="b"/>
            <a:pathLst>
              <a:path w="7383" h="27">
                <a:moveTo>
                  <a:pt x="0" y="0"/>
                </a:moveTo>
                <a:lnTo>
                  <a:pt x="7383" y="0"/>
                </a:lnTo>
                <a:lnTo>
                  <a:pt x="7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3" name=""/>
          <p:cNvSpPr/>
          <p:nvPr/>
        </p:nvSpPr>
        <p:spPr>
          <a:xfrm>
            <a:off x="340020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4" name=""/>
          <p:cNvSpPr/>
          <p:nvPr/>
        </p:nvSpPr>
        <p:spPr>
          <a:xfrm>
            <a:off x="3409920" y="1457280"/>
            <a:ext cx="8039160" cy="9720"/>
          </a:xfrm>
          <a:custGeom>
            <a:avLst/>
            <a:gdLst/>
            <a:ahLst/>
            <a:rect l="0" t="0" r="r" b="b"/>
            <a:pathLst>
              <a:path w="22331" h="27">
                <a:moveTo>
                  <a:pt x="0" y="0"/>
                </a:moveTo>
                <a:lnTo>
                  <a:pt x="22331" y="0"/>
                </a:lnTo>
                <a:lnTo>
                  <a:pt x="223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" name=""/>
          <p:cNvSpPr/>
          <p:nvPr/>
        </p:nvSpPr>
        <p:spPr>
          <a:xfrm>
            <a:off x="1143936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" name=""/>
          <p:cNvSpPr/>
          <p:nvPr/>
        </p:nvSpPr>
        <p:spPr>
          <a:xfrm>
            <a:off x="752400" y="1990440"/>
            <a:ext cx="2657880" cy="10080"/>
          </a:xfrm>
          <a:custGeom>
            <a:avLst/>
            <a:gdLst/>
            <a:ahLst/>
            <a:rect l="0" t="0" r="r" b="b"/>
            <a:pathLst>
              <a:path w="7383" h="28">
                <a:moveTo>
                  <a:pt x="0" y="0"/>
                </a:moveTo>
                <a:lnTo>
                  <a:pt x="7383" y="0"/>
                </a:lnTo>
                <a:lnTo>
                  <a:pt x="7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" name=""/>
          <p:cNvSpPr/>
          <p:nvPr/>
        </p:nvSpPr>
        <p:spPr>
          <a:xfrm>
            <a:off x="3409920" y="1990440"/>
            <a:ext cx="8039160" cy="10080"/>
          </a:xfrm>
          <a:custGeom>
            <a:avLst/>
            <a:gdLst/>
            <a:ahLst/>
            <a:rect l="0" t="0" r="r" b="b"/>
            <a:pathLst>
              <a:path w="22331" h="28">
                <a:moveTo>
                  <a:pt x="0" y="0"/>
                </a:moveTo>
                <a:lnTo>
                  <a:pt x="22331" y="0"/>
                </a:lnTo>
                <a:lnTo>
                  <a:pt x="223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" name=""/>
          <p:cNvSpPr/>
          <p:nvPr/>
        </p:nvSpPr>
        <p:spPr>
          <a:xfrm>
            <a:off x="752400" y="20001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" name=""/>
          <p:cNvSpPr/>
          <p:nvPr/>
        </p:nvSpPr>
        <p:spPr>
          <a:xfrm>
            <a:off x="3400200" y="200016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" name=""/>
          <p:cNvSpPr/>
          <p:nvPr/>
        </p:nvSpPr>
        <p:spPr>
          <a:xfrm>
            <a:off x="11439360" y="20001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1" name=""/>
          <p:cNvSpPr/>
          <p:nvPr/>
        </p:nvSpPr>
        <p:spPr>
          <a:xfrm>
            <a:off x="752400" y="295272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2" name=""/>
          <p:cNvSpPr/>
          <p:nvPr/>
        </p:nvSpPr>
        <p:spPr>
          <a:xfrm>
            <a:off x="752400" y="2943000"/>
            <a:ext cx="2657880" cy="10080"/>
          </a:xfrm>
          <a:custGeom>
            <a:avLst/>
            <a:gdLst/>
            <a:ahLst/>
            <a:rect l="0" t="0" r="r" b="b"/>
            <a:pathLst>
              <a:path w="7383" h="28">
                <a:moveTo>
                  <a:pt x="0" y="0"/>
                </a:moveTo>
                <a:lnTo>
                  <a:pt x="7383" y="0"/>
                </a:lnTo>
                <a:lnTo>
                  <a:pt x="7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3" name=""/>
          <p:cNvSpPr/>
          <p:nvPr/>
        </p:nvSpPr>
        <p:spPr>
          <a:xfrm>
            <a:off x="3400200" y="295272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4" name=""/>
          <p:cNvSpPr/>
          <p:nvPr/>
        </p:nvSpPr>
        <p:spPr>
          <a:xfrm>
            <a:off x="3409920" y="2943000"/>
            <a:ext cx="8039160" cy="10080"/>
          </a:xfrm>
          <a:custGeom>
            <a:avLst/>
            <a:gdLst/>
            <a:ahLst/>
            <a:rect l="0" t="0" r="r" b="b"/>
            <a:pathLst>
              <a:path w="22331" h="28">
                <a:moveTo>
                  <a:pt x="0" y="0"/>
                </a:moveTo>
                <a:lnTo>
                  <a:pt x="22331" y="0"/>
                </a:lnTo>
                <a:lnTo>
                  <a:pt x="223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5" name=""/>
          <p:cNvSpPr/>
          <p:nvPr/>
        </p:nvSpPr>
        <p:spPr>
          <a:xfrm>
            <a:off x="11439360" y="295272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6" name=""/>
          <p:cNvSpPr/>
          <p:nvPr/>
        </p:nvSpPr>
        <p:spPr>
          <a:xfrm>
            <a:off x="752400" y="349560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7" name=""/>
          <p:cNvSpPr/>
          <p:nvPr/>
        </p:nvSpPr>
        <p:spPr>
          <a:xfrm>
            <a:off x="752400" y="3485880"/>
            <a:ext cx="2657880" cy="10080"/>
          </a:xfrm>
          <a:custGeom>
            <a:avLst/>
            <a:gdLst/>
            <a:ahLst/>
            <a:rect l="0" t="0" r="r" b="b"/>
            <a:pathLst>
              <a:path w="7383" h="28">
                <a:moveTo>
                  <a:pt x="0" y="0"/>
                </a:moveTo>
                <a:lnTo>
                  <a:pt x="7383" y="0"/>
                </a:lnTo>
                <a:lnTo>
                  <a:pt x="7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8" name=""/>
          <p:cNvSpPr/>
          <p:nvPr/>
        </p:nvSpPr>
        <p:spPr>
          <a:xfrm>
            <a:off x="3400200" y="349560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9" name=""/>
          <p:cNvSpPr/>
          <p:nvPr/>
        </p:nvSpPr>
        <p:spPr>
          <a:xfrm>
            <a:off x="3409920" y="3485880"/>
            <a:ext cx="8039160" cy="10080"/>
          </a:xfrm>
          <a:custGeom>
            <a:avLst/>
            <a:gdLst/>
            <a:ahLst/>
            <a:rect l="0" t="0" r="r" b="b"/>
            <a:pathLst>
              <a:path w="22331" h="28">
                <a:moveTo>
                  <a:pt x="0" y="0"/>
                </a:moveTo>
                <a:lnTo>
                  <a:pt x="22331" y="0"/>
                </a:lnTo>
                <a:lnTo>
                  <a:pt x="223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0" name=""/>
          <p:cNvSpPr/>
          <p:nvPr/>
        </p:nvSpPr>
        <p:spPr>
          <a:xfrm>
            <a:off x="11439360" y="349560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1" name=""/>
          <p:cNvSpPr/>
          <p:nvPr/>
        </p:nvSpPr>
        <p:spPr>
          <a:xfrm>
            <a:off x="752400" y="40287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2" name=""/>
          <p:cNvSpPr/>
          <p:nvPr/>
        </p:nvSpPr>
        <p:spPr>
          <a:xfrm>
            <a:off x="752400" y="4019400"/>
            <a:ext cx="2657880" cy="9720"/>
          </a:xfrm>
          <a:custGeom>
            <a:avLst/>
            <a:gdLst/>
            <a:ahLst/>
            <a:rect l="0" t="0" r="r" b="b"/>
            <a:pathLst>
              <a:path w="7383" h="27">
                <a:moveTo>
                  <a:pt x="0" y="0"/>
                </a:moveTo>
                <a:lnTo>
                  <a:pt x="7383" y="0"/>
                </a:lnTo>
                <a:lnTo>
                  <a:pt x="7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3" name=""/>
          <p:cNvSpPr/>
          <p:nvPr/>
        </p:nvSpPr>
        <p:spPr>
          <a:xfrm>
            <a:off x="3400200" y="40287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4" name=""/>
          <p:cNvSpPr/>
          <p:nvPr/>
        </p:nvSpPr>
        <p:spPr>
          <a:xfrm>
            <a:off x="3409920" y="4019400"/>
            <a:ext cx="8039160" cy="9720"/>
          </a:xfrm>
          <a:custGeom>
            <a:avLst/>
            <a:gdLst/>
            <a:ahLst/>
            <a:rect l="0" t="0" r="r" b="b"/>
            <a:pathLst>
              <a:path w="22331" h="27">
                <a:moveTo>
                  <a:pt x="0" y="0"/>
                </a:moveTo>
                <a:lnTo>
                  <a:pt x="22331" y="0"/>
                </a:lnTo>
                <a:lnTo>
                  <a:pt x="223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5" name=""/>
          <p:cNvSpPr/>
          <p:nvPr/>
        </p:nvSpPr>
        <p:spPr>
          <a:xfrm>
            <a:off x="11439360" y="40287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6" name=""/>
          <p:cNvSpPr/>
          <p:nvPr/>
        </p:nvSpPr>
        <p:spPr>
          <a:xfrm>
            <a:off x="752400" y="45716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7" name=""/>
          <p:cNvSpPr/>
          <p:nvPr/>
        </p:nvSpPr>
        <p:spPr>
          <a:xfrm>
            <a:off x="752400" y="4562280"/>
            <a:ext cx="2657880" cy="9720"/>
          </a:xfrm>
          <a:custGeom>
            <a:avLst/>
            <a:gdLst/>
            <a:ahLst/>
            <a:rect l="0" t="0" r="r" b="b"/>
            <a:pathLst>
              <a:path w="7383" h="27">
                <a:moveTo>
                  <a:pt x="0" y="0"/>
                </a:moveTo>
                <a:lnTo>
                  <a:pt x="7383" y="0"/>
                </a:lnTo>
                <a:lnTo>
                  <a:pt x="7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8" name=""/>
          <p:cNvSpPr/>
          <p:nvPr/>
        </p:nvSpPr>
        <p:spPr>
          <a:xfrm>
            <a:off x="3400200" y="457164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9" name=""/>
          <p:cNvSpPr/>
          <p:nvPr/>
        </p:nvSpPr>
        <p:spPr>
          <a:xfrm>
            <a:off x="3409920" y="4562280"/>
            <a:ext cx="8039160" cy="9720"/>
          </a:xfrm>
          <a:custGeom>
            <a:avLst/>
            <a:gdLst/>
            <a:ahLst/>
            <a:rect l="0" t="0" r="r" b="b"/>
            <a:pathLst>
              <a:path w="22331" h="27">
                <a:moveTo>
                  <a:pt x="0" y="0"/>
                </a:moveTo>
                <a:lnTo>
                  <a:pt x="22331" y="0"/>
                </a:lnTo>
                <a:lnTo>
                  <a:pt x="223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0" name=""/>
          <p:cNvSpPr/>
          <p:nvPr/>
        </p:nvSpPr>
        <p:spPr>
          <a:xfrm>
            <a:off x="11439360" y="45716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1" name=""/>
          <p:cNvSpPr/>
          <p:nvPr/>
        </p:nvSpPr>
        <p:spPr>
          <a:xfrm>
            <a:off x="752400" y="51051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2" name=""/>
          <p:cNvSpPr/>
          <p:nvPr/>
        </p:nvSpPr>
        <p:spPr>
          <a:xfrm>
            <a:off x="752400" y="5095800"/>
            <a:ext cx="2657880" cy="9720"/>
          </a:xfrm>
          <a:custGeom>
            <a:avLst/>
            <a:gdLst/>
            <a:ahLst/>
            <a:rect l="0" t="0" r="r" b="b"/>
            <a:pathLst>
              <a:path w="7383" h="27">
                <a:moveTo>
                  <a:pt x="0" y="0"/>
                </a:moveTo>
                <a:lnTo>
                  <a:pt x="7383" y="0"/>
                </a:lnTo>
                <a:lnTo>
                  <a:pt x="7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3" name=""/>
          <p:cNvSpPr/>
          <p:nvPr/>
        </p:nvSpPr>
        <p:spPr>
          <a:xfrm>
            <a:off x="3400200" y="510516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4" name=""/>
          <p:cNvSpPr/>
          <p:nvPr/>
        </p:nvSpPr>
        <p:spPr>
          <a:xfrm>
            <a:off x="3409920" y="5095800"/>
            <a:ext cx="8039160" cy="9720"/>
          </a:xfrm>
          <a:custGeom>
            <a:avLst/>
            <a:gdLst/>
            <a:ahLst/>
            <a:rect l="0" t="0" r="r" b="b"/>
            <a:pathLst>
              <a:path w="22331" h="27">
                <a:moveTo>
                  <a:pt x="0" y="0"/>
                </a:moveTo>
                <a:lnTo>
                  <a:pt x="22331" y="0"/>
                </a:lnTo>
                <a:lnTo>
                  <a:pt x="223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5" name=""/>
          <p:cNvSpPr/>
          <p:nvPr/>
        </p:nvSpPr>
        <p:spPr>
          <a:xfrm>
            <a:off x="11439360" y="51051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6" name=""/>
          <p:cNvSpPr/>
          <p:nvPr/>
        </p:nvSpPr>
        <p:spPr>
          <a:xfrm>
            <a:off x="752400" y="605772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7" name=""/>
          <p:cNvSpPr/>
          <p:nvPr/>
        </p:nvSpPr>
        <p:spPr>
          <a:xfrm>
            <a:off x="752400" y="6048360"/>
            <a:ext cx="2657880" cy="9720"/>
          </a:xfrm>
          <a:custGeom>
            <a:avLst/>
            <a:gdLst/>
            <a:ahLst/>
            <a:rect l="0" t="0" r="r" b="b"/>
            <a:pathLst>
              <a:path w="7383" h="27">
                <a:moveTo>
                  <a:pt x="0" y="0"/>
                </a:moveTo>
                <a:lnTo>
                  <a:pt x="7383" y="0"/>
                </a:lnTo>
                <a:lnTo>
                  <a:pt x="7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8" name=""/>
          <p:cNvSpPr/>
          <p:nvPr/>
        </p:nvSpPr>
        <p:spPr>
          <a:xfrm>
            <a:off x="3400200" y="605772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9" name=""/>
          <p:cNvSpPr/>
          <p:nvPr/>
        </p:nvSpPr>
        <p:spPr>
          <a:xfrm>
            <a:off x="3409920" y="6048360"/>
            <a:ext cx="8039160" cy="9720"/>
          </a:xfrm>
          <a:custGeom>
            <a:avLst/>
            <a:gdLst/>
            <a:ahLst/>
            <a:rect l="0" t="0" r="r" b="b"/>
            <a:pathLst>
              <a:path w="22331" h="27">
                <a:moveTo>
                  <a:pt x="0" y="0"/>
                </a:moveTo>
                <a:lnTo>
                  <a:pt x="22331" y="0"/>
                </a:lnTo>
                <a:lnTo>
                  <a:pt x="223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0" name=""/>
          <p:cNvSpPr/>
          <p:nvPr/>
        </p:nvSpPr>
        <p:spPr>
          <a:xfrm>
            <a:off x="11439360" y="605772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747720" y="770400"/>
            <a:ext cx="375732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Key metric definitions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2" name=""/>
          <p:cNvSpPr txBox="1"/>
          <p:nvPr/>
        </p:nvSpPr>
        <p:spPr>
          <a:xfrm>
            <a:off x="1749240" y="1569240"/>
            <a:ext cx="674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Term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5931360" y="1569240"/>
            <a:ext cx="2973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What it actually means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880920" y="2312280"/>
            <a:ext cx="1701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Virtual Users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3529440" y="2102760"/>
            <a:ext cx="7084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Concurrent browser-like loops running continuously — not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" name=""/>
          <p:cNvSpPr txBox="1"/>
          <p:nvPr/>
        </p:nvSpPr>
        <p:spPr>
          <a:xfrm>
            <a:off x="3529440" y="2521800"/>
            <a:ext cx="1762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unique visitors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880920" y="3055320"/>
            <a:ext cx="1379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requests/s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3529440" y="3055320"/>
            <a:ext cx="69440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Total HTTP responses served per second across all VUs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880920" y="3598200"/>
            <a:ext cx="1501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p95 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3529440" y="3598200"/>
            <a:ext cx="6927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95% of requests were </a:t>
            </a:r>
            <a:r>
              <a:rPr b="0" i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faster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than this — 5% were slower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" name=""/>
          <p:cNvSpPr txBox="1"/>
          <p:nvPr/>
        </p:nvSpPr>
        <p:spPr>
          <a:xfrm>
            <a:off x="880920" y="4131360"/>
            <a:ext cx="1501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p99 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2" name=""/>
          <p:cNvSpPr txBox="1"/>
          <p:nvPr/>
        </p:nvSpPr>
        <p:spPr>
          <a:xfrm>
            <a:off x="3529440" y="4131360"/>
            <a:ext cx="7451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The near-worst case — 1% of requests were slower than this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880920" y="4674600"/>
            <a:ext cx="1716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FPM workers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4" name=""/>
          <p:cNvSpPr txBox="1"/>
          <p:nvPr/>
        </p:nvSpPr>
        <p:spPr>
          <a:xfrm>
            <a:off x="3529440" y="4674600"/>
            <a:ext cx="6162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PHP processes </a:t>
            </a:r>
            <a:r>
              <a:rPr b="0" i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currently executing code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right now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5" name=""/>
          <p:cNvSpPr txBox="1"/>
          <p:nvPr/>
        </p:nvSpPr>
        <p:spPr>
          <a:xfrm>
            <a:off x="880920" y="5417280"/>
            <a:ext cx="2298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FPM queue depth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6" name=""/>
          <p:cNvSpPr txBox="1"/>
          <p:nvPr/>
        </p:nvSpPr>
        <p:spPr>
          <a:xfrm>
            <a:off x="3529440" y="5207760"/>
            <a:ext cx="7320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Requests waiting for a free PHP worker — 0 = healthy, &gt;0 =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7" name=""/>
          <p:cNvSpPr txBox="1"/>
          <p:nvPr/>
        </p:nvSpPr>
        <p:spPr>
          <a:xfrm>
            <a:off x="3529440" y="5626800"/>
            <a:ext cx="843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trouble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880920" y="6160320"/>
            <a:ext cx="1471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DB threads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880920" y="6579360"/>
            <a:ext cx="1026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running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3529440" y="6369840"/>
            <a:ext cx="6820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MySQL queries </a:t>
            </a:r>
            <a:r>
              <a:rPr b="0" i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actively executing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not just connected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4" name=""/>
          <p:cNvSpPr/>
          <p:nvPr/>
        </p:nvSpPr>
        <p:spPr>
          <a:xfrm>
            <a:off x="752400" y="1457280"/>
            <a:ext cx="66960" cy="409680"/>
          </a:xfrm>
          <a:custGeom>
            <a:avLst/>
            <a:gdLst/>
            <a:ahLst/>
            <a:rect l="0" t="0" r="r" b="b"/>
            <a:pathLst>
              <a:path w="186" h="1138">
                <a:moveTo>
                  <a:pt x="0" y="0"/>
                </a:moveTo>
                <a:lnTo>
                  <a:pt x="186" y="0"/>
                </a:lnTo>
                <a:lnTo>
                  <a:pt x="186" y="1138"/>
                </a:lnTo>
                <a:lnTo>
                  <a:pt x="0" y="113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5" name=""/>
          <p:cNvSpPr/>
          <p:nvPr/>
        </p:nvSpPr>
        <p:spPr>
          <a:xfrm>
            <a:off x="757080" y="3224160"/>
            <a:ext cx="10687320" cy="1400400"/>
          </a:xfrm>
          <a:custGeom>
            <a:avLst/>
            <a:gdLst/>
            <a:ahLst/>
            <a:rect l="0" t="0" r="r" b="b"/>
            <a:pathLst>
              <a:path w="29687" h="3890">
                <a:moveTo>
                  <a:pt x="0" y="374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2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4"/>
                  <a:pt x="29615" y="19"/>
                  <a:pt x="29623" y="24"/>
                </a:cubicBezTo>
                <a:cubicBezTo>
                  <a:pt x="29630" y="29"/>
                  <a:pt x="29638" y="36"/>
                  <a:pt x="29645" y="42"/>
                </a:cubicBezTo>
                <a:cubicBezTo>
                  <a:pt x="29651" y="49"/>
                  <a:pt x="29657" y="56"/>
                  <a:pt x="29663" y="64"/>
                </a:cubicBezTo>
                <a:cubicBezTo>
                  <a:pt x="29668" y="72"/>
                  <a:pt x="29672" y="81"/>
                  <a:pt x="29676" y="89"/>
                </a:cubicBezTo>
                <a:cubicBezTo>
                  <a:pt x="29680" y="98"/>
                  <a:pt x="29683" y="107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3744"/>
                </a:lnTo>
                <a:cubicBezTo>
                  <a:pt x="29687" y="3754"/>
                  <a:pt x="29686" y="3764"/>
                  <a:pt x="29684" y="3773"/>
                </a:cubicBezTo>
                <a:cubicBezTo>
                  <a:pt x="29683" y="3782"/>
                  <a:pt x="29680" y="3791"/>
                  <a:pt x="29676" y="3800"/>
                </a:cubicBezTo>
                <a:cubicBezTo>
                  <a:pt x="29672" y="3809"/>
                  <a:pt x="29668" y="3817"/>
                  <a:pt x="29663" y="3825"/>
                </a:cubicBezTo>
                <a:cubicBezTo>
                  <a:pt x="29657" y="3833"/>
                  <a:pt x="29651" y="3841"/>
                  <a:pt x="29645" y="3847"/>
                </a:cubicBezTo>
                <a:cubicBezTo>
                  <a:pt x="29638" y="3854"/>
                  <a:pt x="29630" y="3860"/>
                  <a:pt x="29623" y="3865"/>
                </a:cubicBezTo>
                <a:cubicBezTo>
                  <a:pt x="29615" y="3871"/>
                  <a:pt x="29606" y="3875"/>
                  <a:pt x="29597" y="3879"/>
                </a:cubicBezTo>
                <a:cubicBezTo>
                  <a:pt x="29589" y="3883"/>
                  <a:pt x="29579" y="3885"/>
                  <a:pt x="29570" y="3887"/>
                </a:cubicBezTo>
                <a:cubicBezTo>
                  <a:pt x="29561" y="3889"/>
                  <a:pt x="29551" y="3890"/>
                  <a:pt x="29542" y="3890"/>
                </a:cubicBezTo>
                <a:lnTo>
                  <a:pt x="145" y="3890"/>
                </a:lnTo>
                <a:cubicBezTo>
                  <a:pt x="136" y="3890"/>
                  <a:pt x="126" y="3889"/>
                  <a:pt x="117" y="3887"/>
                </a:cubicBezTo>
                <a:cubicBezTo>
                  <a:pt x="108" y="3885"/>
                  <a:pt x="99" y="3883"/>
                  <a:pt x="90" y="3879"/>
                </a:cubicBezTo>
                <a:cubicBezTo>
                  <a:pt x="81" y="3875"/>
                  <a:pt x="73" y="3871"/>
                  <a:pt x="65" y="3865"/>
                </a:cubicBezTo>
                <a:cubicBezTo>
                  <a:pt x="57" y="3860"/>
                  <a:pt x="49" y="3854"/>
                  <a:pt x="43" y="3847"/>
                </a:cubicBezTo>
                <a:cubicBezTo>
                  <a:pt x="36" y="3841"/>
                  <a:pt x="30" y="3833"/>
                  <a:pt x="24" y="3825"/>
                </a:cubicBezTo>
                <a:cubicBezTo>
                  <a:pt x="19" y="3817"/>
                  <a:pt x="15" y="3809"/>
                  <a:pt x="11" y="3800"/>
                </a:cubicBezTo>
                <a:cubicBezTo>
                  <a:pt x="7" y="3791"/>
                  <a:pt x="5" y="3782"/>
                  <a:pt x="3" y="3773"/>
                </a:cubicBezTo>
                <a:cubicBezTo>
                  <a:pt x="1" y="3764"/>
                  <a:pt x="0" y="3754"/>
                  <a:pt x="0" y="3744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6" name=""/>
          <p:cNvSpPr/>
          <p:nvPr/>
        </p:nvSpPr>
        <p:spPr>
          <a:xfrm>
            <a:off x="757080" y="3224160"/>
            <a:ext cx="10687320" cy="1400400"/>
          </a:xfrm>
          <a:custGeom>
            <a:avLst/>
            <a:gdLst/>
            <a:ahLst/>
            <a:rect l="0" t="0" r="r" b="b"/>
            <a:pathLst>
              <a:path w="29687" h="3890">
                <a:moveTo>
                  <a:pt x="0" y="374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2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4"/>
                  <a:pt x="29615" y="19"/>
                  <a:pt x="29623" y="24"/>
                </a:cubicBezTo>
                <a:cubicBezTo>
                  <a:pt x="29630" y="29"/>
                  <a:pt x="29638" y="36"/>
                  <a:pt x="29645" y="42"/>
                </a:cubicBezTo>
                <a:cubicBezTo>
                  <a:pt x="29651" y="49"/>
                  <a:pt x="29657" y="56"/>
                  <a:pt x="29663" y="64"/>
                </a:cubicBezTo>
                <a:cubicBezTo>
                  <a:pt x="29668" y="72"/>
                  <a:pt x="29672" y="81"/>
                  <a:pt x="29676" y="89"/>
                </a:cubicBezTo>
                <a:cubicBezTo>
                  <a:pt x="29680" y="98"/>
                  <a:pt x="29683" y="107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3744"/>
                </a:lnTo>
                <a:cubicBezTo>
                  <a:pt x="29687" y="3754"/>
                  <a:pt x="29686" y="3764"/>
                  <a:pt x="29684" y="3773"/>
                </a:cubicBezTo>
                <a:cubicBezTo>
                  <a:pt x="29683" y="3782"/>
                  <a:pt x="29680" y="3791"/>
                  <a:pt x="29676" y="3800"/>
                </a:cubicBezTo>
                <a:cubicBezTo>
                  <a:pt x="29672" y="3809"/>
                  <a:pt x="29668" y="3817"/>
                  <a:pt x="29663" y="3825"/>
                </a:cubicBezTo>
                <a:cubicBezTo>
                  <a:pt x="29657" y="3833"/>
                  <a:pt x="29651" y="3841"/>
                  <a:pt x="29645" y="3847"/>
                </a:cubicBezTo>
                <a:cubicBezTo>
                  <a:pt x="29638" y="3854"/>
                  <a:pt x="29630" y="3860"/>
                  <a:pt x="29623" y="3865"/>
                </a:cubicBezTo>
                <a:cubicBezTo>
                  <a:pt x="29615" y="3871"/>
                  <a:pt x="29606" y="3875"/>
                  <a:pt x="29597" y="3879"/>
                </a:cubicBezTo>
                <a:cubicBezTo>
                  <a:pt x="29589" y="3883"/>
                  <a:pt x="29579" y="3885"/>
                  <a:pt x="29570" y="3887"/>
                </a:cubicBezTo>
                <a:cubicBezTo>
                  <a:pt x="29561" y="3889"/>
                  <a:pt x="29551" y="3890"/>
                  <a:pt x="29542" y="3890"/>
                </a:cubicBezTo>
                <a:lnTo>
                  <a:pt x="145" y="3890"/>
                </a:lnTo>
                <a:cubicBezTo>
                  <a:pt x="136" y="3890"/>
                  <a:pt x="126" y="3889"/>
                  <a:pt x="117" y="3887"/>
                </a:cubicBezTo>
                <a:cubicBezTo>
                  <a:pt x="108" y="3885"/>
                  <a:pt x="99" y="3883"/>
                  <a:pt x="90" y="3879"/>
                </a:cubicBezTo>
                <a:cubicBezTo>
                  <a:pt x="81" y="3875"/>
                  <a:pt x="73" y="3871"/>
                  <a:pt x="65" y="3865"/>
                </a:cubicBezTo>
                <a:cubicBezTo>
                  <a:pt x="57" y="3860"/>
                  <a:pt x="49" y="3854"/>
                  <a:pt x="43" y="3847"/>
                </a:cubicBezTo>
                <a:cubicBezTo>
                  <a:pt x="36" y="3841"/>
                  <a:pt x="30" y="3833"/>
                  <a:pt x="24" y="3825"/>
                </a:cubicBezTo>
                <a:cubicBezTo>
                  <a:pt x="19" y="3817"/>
                  <a:pt x="15" y="3809"/>
                  <a:pt x="11" y="3800"/>
                </a:cubicBezTo>
                <a:cubicBezTo>
                  <a:pt x="7" y="3791"/>
                  <a:pt x="5" y="3782"/>
                  <a:pt x="3" y="3773"/>
                </a:cubicBezTo>
                <a:cubicBezTo>
                  <a:pt x="1" y="3764"/>
                  <a:pt x="0" y="3754"/>
                  <a:pt x="0" y="3744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747720" y="770400"/>
            <a:ext cx="421596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The two load test scripts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8" name=""/>
          <p:cNvSpPr/>
          <p:nvPr/>
        </p:nvSpPr>
        <p:spPr>
          <a:xfrm>
            <a:off x="752400" y="2124000"/>
            <a:ext cx="2124360" cy="352800"/>
          </a:xfrm>
          <a:custGeom>
            <a:avLst/>
            <a:gdLst/>
            <a:ahLst/>
            <a:rect l="0" t="0" r="r" b="b"/>
            <a:pathLst>
              <a:path w="5901" h="980">
                <a:moveTo>
                  <a:pt x="0" y="821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6" y="70"/>
                </a:cubicBezTo>
                <a:cubicBezTo>
                  <a:pt x="32" y="62"/>
                  <a:pt x="39" y="54"/>
                  <a:pt x="46" y="46"/>
                </a:cubicBezTo>
                <a:cubicBezTo>
                  <a:pt x="54" y="39"/>
                  <a:pt x="62" y="32"/>
                  <a:pt x="70" y="26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5742" y="0"/>
                </a:lnTo>
                <a:cubicBezTo>
                  <a:pt x="5753" y="0"/>
                  <a:pt x="5763" y="1"/>
                  <a:pt x="5773" y="3"/>
                </a:cubicBezTo>
                <a:cubicBezTo>
                  <a:pt x="5783" y="5"/>
                  <a:pt x="5793" y="8"/>
                  <a:pt x="5803" y="12"/>
                </a:cubicBezTo>
                <a:cubicBezTo>
                  <a:pt x="5813" y="16"/>
                  <a:pt x="5822" y="21"/>
                  <a:pt x="5830" y="26"/>
                </a:cubicBezTo>
                <a:cubicBezTo>
                  <a:pt x="5839" y="32"/>
                  <a:pt x="5847" y="39"/>
                  <a:pt x="5854" y="46"/>
                </a:cubicBezTo>
                <a:cubicBezTo>
                  <a:pt x="5862" y="54"/>
                  <a:pt x="5868" y="62"/>
                  <a:pt x="5874" y="70"/>
                </a:cubicBezTo>
                <a:cubicBezTo>
                  <a:pt x="5880" y="79"/>
                  <a:pt x="5885" y="88"/>
                  <a:pt x="5889" y="98"/>
                </a:cubicBezTo>
                <a:cubicBezTo>
                  <a:pt x="5893" y="107"/>
                  <a:pt x="5896" y="117"/>
                  <a:pt x="5898" y="127"/>
                </a:cubicBezTo>
                <a:cubicBezTo>
                  <a:pt x="5900" y="138"/>
                  <a:pt x="5901" y="148"/>
                  <a:pt x="5901" y="158"/>
                </a:cubicBezTo>
                <a:lnTo>
                  <a:pt x="5901" y="821"/>
                </a:lnTo>
                <a:cubicBezTo>
                  <a:pt x="5901" y="831"/>
                  <a:pt x="5900" y="842"/>
                  <a:pt x="5898" y="852"/>
                </a:cubicBezTo>
                <a:cubicBezTo>
                  <a:pt x="5896" y="862"/>
                  <a:pt x="5893" y="872"/>
                  <a:pt x="5889" y="882"/>
                </a:cubicBezTo>
                <a:cubicBezTo>
                  <a:pt x="5885" y="891"/>
                  <a:pt x="5880" y="900"/>
                  <a:pt x="5874" y="909"/>
                </a:cubicBezTo>
                <a:cubicBezTo>
                  <a:pt x="5868" y="918"/>
                  <a:pt x="5862" y="926"/>
                  <a:pt x="5854" y="933"/>
                </a:cubicBezTo>
                <a:cubicBezTo>
                  <a:pt x="5847" y="941"/>
                  <a:pt x="5839" y="947"/>
                  <a:pt x="5830" y="953"/>
                </a:cubicBezTo>
                <a:cubicBezTo>
                  <a:pt x="5822" y="959"/>
                  <a:pt x="5813" y="964"/>
                  <a:pt x="5803" y="968"/>
                </a:cubicBezTo>
                <a:cubicBezTo>
                  <a:pt x="5793" y="972"/>
                  <a:pt x="5783" y="975"/>
                  <a:pt x="5773" y="977"/>
                </a:cubicBezTo>
                <a:cubicBezTo>
                  <a:pt x="5763" y="979"/>
                  <a:pt x="5753" y="980"/>
                  <a:pt x="5742" y="980"/>
                </a:cubicBezTo>
                <a:lnTo>
                  <a:pt x="158" y="980"/>
                </a:lnTo>
                <a:cubicBezTo>
                  <a:pt x="148" y="980"/>
                  <a:pt x="138" y="979"/>
                  <a:pt x="127" y="977"/>
                </a:cubicBezTo>
                <a:cubicBezTo>
                  <a:pt x="117" y="975"/>
                  <a:pt x="107" y="972"/>
                  <a:pt x="98" y="968"/>
                </a:cubicBezTo>
                <a:cubicBezTo>
                  <a:pt x="88" y="964"/>
                  <a:pt x="79" y="959"/>
                  <a:pt x="70" y="953"/>
                </a:cubicBezTo>
                <a:cubicBezTo>
                  <a:pt x="62" y="947"/>
                  <a:pt x="54" y="941"/>
                  <a:pt x="46" y="933"/>
                </a:cubicBezTo>
                <a:cubicBezTo>
                  <a:pt x="39" y="926"/>
                  <a:pt x="32" y="918"/>
                  <a:pt x="26" y="909"/>
                </a:cubicBezTo>
                <a:cubicBezTo>
                  <a:pt x="21" y="900"/>
                  <a:pt x="16" y="891"/>
                  <a:pt x="12" y="882"/>
                </a:cubicBezTo>
                <a:cubicBezTo>
                  <a:pt x="8" y="872"/>
                  <a:pt x="5" y="862"/>
                  <a:pt x="3" y="852"/>
                </a:cubicBezTo>
                <a:cubicBezTo>
                  <a:pt x="1" y="842"/>
                  <a:pt x="0" y="831"/>
                  <a:pt x="0" y="821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1090440" y="1502640"/>
            <a:ext cx="7739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Why does one screenshot say </a:t>
            </a:r>
            <a:r>
              <a:rPr b="1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50 VU </a:t>
            </a:r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and another say </a:t>
            </a:r>
            <a:r>
              <a:rPr b="1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500 VU</a:t>
            </a:r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?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808560" y="2128320"/>
            <a:ext cx="200160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Courier New"/>
                <a:ea typeface="Courier New"/>
              </a:rPr>
              <a:t>snapshot.js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2874240" y="2106360"/>
            <a:ext cx="2763720" cy="33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Arial"/>
                <a:ea typeface="Arial"/>
              </a:rPr>
              <a:t> — </a:t>
            </a:r>
            <a:r>
              <a:rPr b="1" lang="en-US" sz="2390" spc="-1" strike="noStrike">
                <a:solidFill>
                  <a:srgbClr val="1f2328"/>
                </a:solidFill>
                <a:latin typeface="Arial"/>
                <a:ea typeface="Arial"/>
              </a:rPr>
              <a:t>50 Virtual Users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747720" y="2693160"/>
            <a:ext cx="4813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Purpose: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measure and compare levels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914400" y="3385800"/>
            <a:ext cx="22532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0 → 50 VU in 20s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914400" y="3652560"/>
            <a:ext cx="61974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hold 50 VU for 50s   ← screenshot fires here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914400" y="3928680"/>
            <a:ext cx="22532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ramp down in 20s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914400" y="4195440"/>
            <a:ext cx="23950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Total: 90 seconds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7" name=""/>
          <p:cNvSpPr/>
          <p:nvPr/>
        </p:nvSpPr>
        <p:spPr>
          <a:xfrm>
            <a:off x="2038320" y="4829040"/>
            <a:ext cx="2438640" cy="362160"/>
          </a:xfrm>
          <a:custGeom>
            <a:avLst/>
            <a:gdLst/>
            <a:ahLst/>
            <a:rect l="0" t="0" r="r" b="b"/>
            <a:pathLst>
              <a:path w="6774" h="1006">
                <a:moveTo>
                  <a:pt x="0" y="848"/>
                </a:moveTo>
                <a:lnTo>
                  <a:pt x="0" y="160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8"/>
                  <a:pt x="12" y="98"/>
                </a:cubicBezTo>
                <a:cubicBezTo>
                  <a:pt x="16" y="88"/>
                  <a:pt x="21" y="79"/>
                  <a:pt x="26" y="70"/>
                </a:cubicBezTo>
                <a:cubicBezTo>
                  <a:pt x="32" y="62"/>
                  <a:pt x="39" y="54"/>
                  <a:pt x="46" y="46"/>
                </a:cubicBezTo>
                <a:cubicBezTo>
                  <a:pt x="53" y="39"/>
                  <a:pt x="61" y="32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6615" y="0"/>
                </a:lnTo>
                <a:cubicBezTo>
                  <a:pt x="6626" y="0"/>
                  <a:pt x="6636" y="1"/>
                  <a:pt x="6646" y="3"/>
                </a:cubicBezTo>
                <a:cubicBezTo>
                  <a:pt x="6656" y="5"/>
                  <a:pt x="6666" y="8"/>
                  <a:pt x="6676" y="12"/>
                </a:cubicBezTo>
                <a:cubicBezTo>
                  <a:pt x="6686" y="16"/>
                  <a:pt x="6695" y="21"/>
                  <a:pt x="6703" y="27"/>
                </a:cubicBezTo>
                <a:cubicBezTo>
                  <a:pt x="6712" y="32"/>
                  <a:pt x="6720" y="39"/>
                  <a:pt x="6727" y="46"/>
                </a:cubicBezTo>
                <a:cubicBezTo>
                  <a:pt x="6735" y="54"/>
                  <a:pt x="6741" y="62"/>
                  <a:pt x="6747" y="70"/>
                </a:cubicBezTo>
                <a:cubicBezTo>
                  <a:pt x="6753" y="79"/>
                  <a:pt x="6758" y="88"/>
                  <a:pt x="6762" y="98"/>
                </a:cubicBezTo>
                <a:cubicBezTo>
                  <a:pt x="6766" y="108"/>
                  <a:pt x="6769" y="117"/>
                  <a:pt x="6771" y="128"/>
                </a:cubicBezTo>
                <a:cubicBezTo>
                  <a:pt x="6773" y="138"/>
                  <a:pt x="6774" y="148"/>
                  <a:pt x="6774" y="160"/>
                </a:cubicBezTo>
                <a:lnTo>
                  <a:pt x="6774" y="848"/>
                </a:lnTo>
                <a:cubicBezTo>
                  <a:pt x="6774" y="858"/>
                  <a:pt x="6773" y="868"/>
                  <a:pt x="6771" y="879"/>
                </a:cubicBezTo>
                <a:cubicBezTo>
                  <a:pt x="6769" y="889"/>
                  <a:pt x="6766" y="899"/>
                  <a:pt x="6762" y="908"/>
                </a:cubicBezTo>
                <a:cubicBezTo>
                  <a:pt x="6758" y="918"/>
                  <a:pt x="6753" y="927"/>
                  <a:pt x="6747" y="936"/>
                </a:cubicBezTo>
                <a:cubicBezTo>
                  <a:pt x="6741" y="944"/>
                  <a:pt x="6735" y="952"/>
                  <a:pt x="6727" y="960"/>
                </a:cubicBezTo>
                <a:cubicBezTo>
                  <a:pt x="6720" y="967"/>
                  <a:pt x="6712" y="974"/>
                  <a:pt x="6703" y="980"/>
                </a:cubicBezTo>
                <a:cubicBezTo>
                  <a:pt x="6695" y="985"/>
                  <a:pt x="6686" y="990"/>
                  <a:pt x="6676" y="994"/>
                </a:cubicBezTo>
                <a:cubicBezTo>
                  <a:pt x="6666" y="998"/>
                  <a:pt x="6656" y="1001"/>
                  <a:pt x="6646" y="1003"/>
                </a:cubicBezTo>
                <a:cubicBezTo>
                  <a:pt x="6636" y="1005"/>
                  <a:pt x="6626" y="1006"/>
                  <a:pt x="6615" y="1006"/>
                </a:cubicBezTo>
                <a:lnTo>
                  <a:pt x="158" y="1006"/>
                </a:lnTo>
                <a:cubicBezTo>
                  <a:pt x="148" y="1006"/>
                  <a:pt x="138" y="1005"/>
                  <a:pt x="127" y="1003"/>
                </a:cubicBezTo>
                <a:cubicBezTo>
                  <a:pt x="117" y="1001"/>
                  <a:pt x="107" y="998"/>
                  <a:pt x="98" y="994"/>
                </a:cubicBezTo>
                <a:cubicBezTo>
                  <a:pt x="88" y="990"/>
                  <a:pt x="79" y="985"/>
                  <a:pt x="70" y="980"/>
                </a:cubicBezTo>
                <a:cubicBezTo>
                  <a:pt x="61" y="974"/>
                  <a:pt x="53" y="967"/>
                  <a:pt x="46" y="960"/>
                </a:cubicBezTo>
                <a:cubicBezTo>
                  <a:pt x="39" y="952"/>
                  <a:pt x="32" y="944"/>
                  <a:pt x="26" y="936"/>
                </a:cubicBezTo>
                <a:cubicBezTo>
                  <a:pt x="21" y="927"/>
                  <a:pt x="16" y="918"/>
                  <a:pt x="12" y="908"/>
                </a:cubicBezTo>
                <a:cubicBezTo>
                  <a:pt x="8" y="899"/>
                  <a:pt x="5" y="889"/>
                  <a:pt x="3" y="879"/>
                </a:cubicBezTo>
                <a:cubicBezTo>
                  <a:pt x="1" y="868"/>
                  <a:pt x="0" y="858"/>
                  <a:pt x="0" y="848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747720" y="4826880"/>
            <a:ext cx="1287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Used for: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2130840" y="4880520"/>
            <a:ext cx="22532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make snapshot-l1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0" name=""/>
          <p:cNvSpPr/>
          <p:nvPr/>
        </p:nvSpPr>
        <p:spPr>
          <a:xfrm>
            <a:off x="4628880" y="4829040"/>
            <a:ext cx="2448360" cy="362160"/>
          </a:xfrm>
          <a:custGeom>
            <a:avLst/>
            <a:gdLst/>
            <a:ahLst/>
            <a:rect l="0" t="0" r="r" b="b"/>
            <a:pathLst>
              <a:path w="6801" h="1006">
                <a:moveTo>
                  <a:pt x="0" y="848"/>
                </a:moveTo>
                <a:lnTo>
                  <a:pt x="0" y="160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8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6642" y="0"/>
                </a:lnTo>
                <a:cubicBezTo>
                  <a:pt x="6653" y="0"/>
                  <a:pt x="6663" y="1"/>
                  <a:pt x="6673" y="3"/>
                </a:cubicBezTo>
                <a:cubicBezTo>
                  <a:pt x="6683" y="5"/>
                  <a:pt x="6693" y="8"/>
                  <a:pt x="6703" y="12"/>
                </a:cubicBezTo>
                <a:cubicBezTo>
                  <a:pt x="6713" y="16"/>
                  <a:pt x="6722" y="21"/>
                  <a:pt x="6730" y="27"/>
                </a:cubicBezTo>
                <a:cubicBezTo>
                  <a:pt x="6739" y="32"/>
                  <a:pt x="6747" y="39"/>
                  <a:pt x="6755" y="46"/>
                </a:cubicBezTo>
                <a:cubicBezTo>
                  <a:pt x="6762" y="54"/>
                  <a:pt x="6768" y="62"/>
                  <a:pt x="6774" y="70"/>
                </a:cubicBezTo>
                <a:cubicBezTo>
                  <a:pt x="6780" y="79"/>
                  <a:pt x="6785" y="88"/>
                  <a:pt x="6789" y="98"/>
                </a:cubicBezTo>
                <a:cubicBezTo>
                  <a:pt x="6793" y="108"/>
                  <a:pt x="6796" y="117"/>
                  <a:pt x="6798" y="128"/>
                </a:cubicBezTo>
                <a:cubicBezTo>
                  <a:pt x="6800" y="138"/>
                  <a:pt x="6801" y="148"/>
                  <a:pt x="6801" y="160"/>
                </a:cubicBezTo>
                <a:lnTo>
                  <a:pt x="6801" y="848"/>
                </a:lnTo>
                <a:cubicBezTo>
                  <a:pt x="6801" y="858"/>
                  <a:pt x="6800" y="868"/>
                  <a:pt x="6798" y="879"/>
                </a:cubicBezTo>
                <a:cubicBezTo>
                  <a:pt x="6796" y="889"/>
                  <a:pt x="6793" y="899"/>
                  <a:pt x="6789" y="908"/>
                </a:cubicBezTo>
                <a:cubicBezTo>
                  <a:pt x="6785" y="918"/>
                  <a:pt x="6780" y="927"/>
                  <a:pt x="6774" y="936"/>
                </a:cubicBezTo>
                <a:cubicBezTo>
                  <a:pt x="6768" y="944"/>
                  <a:pt x="6762" y="952"/>
                  <a:pt x="6755" y="960"/>
                </a:cubicBezTo>
                <a:cubicBezTo>
                  <a:pt x="6747" y="967"/>
                  <a:pt x="6739" y="974"/>
                  <a:pt x="6730" y="980"/>
                </a:cubicBezTo>
                <a:cubicBezTo>
                  <a:pt x="6722" y="985"/>
                  <a:pt x="6713" y="990"/>
                  <a:pt x="6703" y="994"/>
                </a:cubicBezTo>
                <a:cubicBezTo>
                  <a:pt x="6693" y="998"/>
                  <a:pt x="6683" y="1001"/>
                  <a:pt x="6673" y="1003"/>
                </a:cubicBezTo>
                <a:cubicBezTo>
                  <a:pt x="6663" y="1005"/>
                  <a:pt x="6653" y="1006"/>
                  <a:pt x="6642" y="1006"/>
                </a:cubicBezTo>
                <a:lnTo>
                  <a:pt x="159" y="1006"/>
                </a:lnTo>
                <a:cubicBezTo>
                  <a:pt x="149" y="1006"/>
                  <a:pt x="138" y="1005"/>
                  <a:pt x="128" y="1003"/>
                </a:cubicBezTo>
                <a:cubicBezTo>
                  <a:pt x="118" y="1001"/>
                  <a:pt x="108" y="998"/>
                  <a:pt x="98" y="994"/>
                </a:cubicBezTo>
                <a:cubicBezTo>
                  <a:pt x="89" y="990"/>
                  <a:pt x="79" y="985"/>
                  <a:pt x="71" y="980"/>
                </a:cubicBezTo>
                <a:cubicBezTo>
                  <a:pt x="62" y="974"/>
                  <a:pt x="54" y="967"/>
                  <a:pt x="47" y="960"/>
                </a:cubicBezTo>
                <a:cubicBezTo>
                  <a:pt x="39" y="952"/>
                  <a:pt x="33" y="944"/>
                  <a:pt x="27" y="936"/>
                </a:cubicBezTo>
                <a:cubicBezTo>
                  <a:pt x="21" y="927"/>
                  <a:pt x="16" y="918"/>
                  <a:pt x="12" y="908"/>
                </a:cubicBezTo>
                <a:cubicBezTo>
                  <a:pt x="8" y="899"/>
                  <a:pt x="5" y="889"/>
                  <a:pt x="3" y="879"/>
                </a:cubicBezTo>
                <a:cubicBezTo>
                  <a:pt x="1" y="868"/>
                  <a:pt x="0" y="858"/>
                  <a:pt x="0" y="848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4478400" y="4826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,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2" name=""/>
          <p:cNvSpPr/>
          <p:nvPr/>
        </p:nvSpPr>
        <p:spPr>
          <a:xfrm>
            <a:off x="771480" y="5391000"/>
            <a:ext cx="276480" cy="276480"/>
          </a:xfrm>
          <a:custGeom>
            <a:avLst/>
            <a:gdLst/>
            <a:ahLst/>
            <a:rect l="0" t="0" r="r" b="b"/>
            <a:pathLst>
              <a:path w="768" h="768">
                <a:moveTo>
                  <a:pt x="768" y="682"/>
                </a:moveTo>
                <a:cubicBezTo>
                  <a:pt x="768" y="729"/>
                  <a:pt x="730" y="768"/>
                  <a:pt x="683" y="768"/>
                </a:cubicBezTo>
                <a:lnTo>
                  <a:pt x="85" y="768"/>
                </a:lnTo>
                <a:cubicBezTo>
                  <a:pt x="38" y="768"/>
                  <a:pt x="0" y="729"/>
                  <a:pt x="0" y="682"/>
                </a:cubicBezTo>
                <a:lnTo>
                  <a:pt x="0" y="85"/>
                </a:lnTo>
                <a:cubicBezTo>
                  <a:pt x="0" y="38"/>
                  <a:pt x="38" y="0"/>
                  <a:pt x="85" y="0"/>
                </a:cubicBezTo>
                <a:lnTo>
                  <a:pt x="683" y="0"/>
                </a:lnTo>
                <a:cubicBezTo>
                  <a:pt x="730" y="0"/>
                  <a:pt x="768" y="38"/>
                  <a:pt x="768" y="85"/>
                </a:cubicBezTo>
                <a:lnTo>
                  <a:pt x="768" y="682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3" name=""/>
          <p:cNvSpPr/>
          <p:nvPr/>
        </p:nvSpPr>
        <p:spPr>
          <a:xfrm>
            <a:off x="815040" y="5436720"/>
            <a:ext cx="189720" cy="186480"/>
          </a:xfrm>
          <a:custGeom>
            <a:avLst/>
            <a:gdLst/>
            <a:ahLst/>
            <a:rect l="0" t="0" r="r" b="b"/>
            <a:pathLst>
              <a:path w="527" h="518">
                <a:moveTo>
                  <a:pt x="504" y="9"/>
                </a:moveTo>
                <a:cubicBezTo>
                  <a:pt x="479" y="-7"/>
                  <a:pt x="446" y="0"/>
                  <a:pt x="430" y="24"/>
                </a:cubicBezTo>
                <a:lnTo>
                  <a:pt x="198" y="383"/>
                </a:lnTo>
                <a:lnTo>
                  <a:pt x="90" y="284"/>
                </a:lnTo>
                <a:cubicBezTo>
                  <a:pt x="68" y="264"/>
                  <a:pt x="34" y="265"/>
                  <a:pt x="14" y="287"/>
                </a:cubicBezTo>
                <a:cubicBezTo>
                  <a:pt x="-5" y="308"/>
                  <a:pt x="-4" y="342"/>
                  <a:pt x="17" y="362"/>
                </a:cubicBezTo>
                <a:lnTo>
                  <a:pt x="172" y="504"/>
                </a:lnTo>
                <a:cubicBezTo>
                  <a:pt x="182" y="514"/>
                  <a:pt x="195" y="518"/>
                  <a:pt x="208" y="518"/>
                </a:cubicBezTo>
                <a:cubicBezTo>
                  <a:pt x="223" y="518"/>
                  <a:pt x="241" y="512"/>
                  <a:pt x="253" y="494"/>
                </a:cubicBezTo>
                <a:cubicBezTo>
                  <a:pt x="260" y="483"/>
                  <a:pt x="519" y="82"/>
                  <a:pt x="519" y="82"/>
                </a:cubicBezTo>
                <a:cubicBezTo>
                  <a:pt x="535" y="58"/>
                  <a:pt x="528" y="25"/>
                  <a:pt x="504" y="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4725720" y="4880520"/>
            <a:ext cx="22532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make snapshot-l2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5" name=""/>
          <p:cNvSpPr/>
          <p:nvPr/>
        </p:nvSpPr>
        <p:spPr>
          <a:xfrm>
            <a:off x="771480" y="5810040"/>
            <a:ext cx="276480" cy="276480"/>
          </a:xfrm>
          <a:custGeom>
            <a:avLst/>
            <a:gdLst/>
            <a:ahLst/>
            <a:rect l="0" t="0" r="r" b="b"/>
            <a:pathLst>
              <a:path w="768" h="768">
                <a:moveTo>
                  <a:pt x="768" y="683"/>
                </a:moveTo>
                <a:cubicBezTo>
                  <a:pt x="768" y="730"/>
                  <a:pt x="730" y="768"/>
                  <a:pt x="683" y="768"/>
                </a:cubicBezTo>
                <a:lnTo>
                  <a:pt x="85" y="768"/>
                </a:lnTo>
                <a:cubicBezTo>
                  <a:pt x="38" y="768"/>
                  <a:pt x="0" y="730"/>
                  <a:pt x="0" y="683"/>
                </a:cubicBezTo>
                <a:lnTo>
                  <a:pt x="0" y="85"/>
                </a:lnTo>
                <a:cubicBezTo>
                  <a:pt x="0" y="38"/>
                  <a:pt x="38" y="0"/>
                  <a:pt x="85" y="0"/>
                </a:cubicBezTo>
                <a:lnTo>
                  <a:pt x="683" y="0"/>
                </a:lnTo>
                <a:cubicBezTo>
                  <a:pt x="730" y="0"/>
                  <a:pt x="768" y="38"/>
                  <a:pt x="768" y="85"/>
                </a:cubicBezTo>
                <a:lnTo>
                  <a:pt x="768" y="683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6" name=""/>
          <p:cNvSpPr/>
          <p:nvPr/>
        </p:nvSpPr>
        <p:spPr>
          <a:xfrm>
            <a:off x="815040" y="5855760"/>
            <a:ext cx="189720" cy="186480"/>
          </a:xfrm>
          <a:custGeom>
            <a:avLst/>
            <a:gdLst/>
            <a:ahLst/>
            <a:rect l="0" t="0" r="r" b="b"/>
            <a:pathLst>
              <a:path w="527" h="518">
                <a:moveTo>
                  <a:pt x="504" y="9"/>
                </a:moveTo>
                <a:cubicBezTo>
                  <a:pt x="479" y="-7"/>
                  <a:pt x="446" y="0"/>
                  <a:pt x="430" y="25"/>
                </a:cubicBezTo>
                <a:lnTo>
                  <a:pt x="198" y="383"/>
                </a:lnTo>
                <a:lnTo>
                  <a:pt x="90" y="284"/>
                </a:lnTo>
                <a:cubicBezTo>
                  <a:pt x="68" y="264"/>
                  <a:pt x="34" y="265"/>
                  <a:pt x="14" y="287"/>
                </a:cubicBezTo>
                <a:cubicBezTo>
                  <a:pt x="-5" y="308"/>
                  <a:pt x="-4" y="342"/>
                  <a:pt x="17" y="362"/>
                </a:cubicBezTo>
                <a:lnTo>
                  <a:pt x="172" y="504"/>
                </a:lnTo>
                <a:cubicBezTo>
                  <a:pt x="182" y="514"/>
                  <a:pt x="195" y="518"/>
                  <a:pt x="208" y="518"/>
                </a:cubicBezTo>
                <a:cubicBezTo>
                  <a:pt x="223" y="518"/>
                  <a:pt x="241" y="512"/>
                  <a:pt x="253" y="494"/>
                </a:cubicBezTo>
                <a:cubicBezTo>
                  <a:pt x="260" y="483"/>
                  <a:pt x="519" y="83"/>
                  <a:pt x="519" y="83"/>
                </a:cubicBezTo>
                <a:cubicBezTo>
                  <a:pt x="535" y="59"/>
                  <a:pt x="528" y="26"/>
                  <a:pt x="504" y="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1065240" y="5388840"/>
            <a:ext cx="4767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All three levels visible and comparable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8" name=""/>
          <p:cNvSpPr/>
          <p:nvPr/>
        </p:nvSpPr>
        <p:spPr>
          <a:xfrm>
            <a:off x="752400" y="6429240"/>
            <a:ext cx="2848320" cy="352800"/>
          </a:xfrm>
          <a:custGeom>
            <a:avLst/>
            <a:gdLst/>
            <a:ahLst/>
            <a:rect l="0" t="0" r="r" b="b"/>
            <a:pathLst>
              <a:path w="7912" h="980">
                <a:moveTo>
                  <a:pt x="0" y="821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8"/>
                  <a:pt x="12" y="98"/>
                </a:cubicBezTo>
                <a:cubicBezTo>
                  <a:pt x="16" y="88"/>
                  <a:pt x="21" y="79"/>
                  <a:pt x="26" y="70"/>
                </a:cubicBezTo>
                <a:cubicBezTo>
                  <a:pt x="32" y="62"/>
                  <a:pt x="39" y="54"/>
                  <a:pt x="46" y="46"/>
                </a:cubicBezTo>
                <a:cubicBezTo>
                  <a:pt x="54" y="39"/>
                  <a:pt x="62" y="32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7753" y="0"/>
                </a:lnTo>
                <a:cubicBezTo>
                  <a:pt x="7763" y="0"/>
                  <a:pt x="7774" y="1"/>
                  <a:pt x="7784" y="3"/>
                </a:cubicBezTo>
                <a:cubicBezTo>
                  <a:pt x="7794" y="5"/>
                  <a:pt x="7804" y="8"/>
                  <a:pt x="7814" y="12"/>
                </a:cubicBezTo>
                <a:cubicBezTo>
                  <a:pt x="7823" y="16"/>
                  <a:pt x="7833" y="21"/>
                  <a:pt x="7841" y="27"/>
                </a:cubicBezTo>
                <a:cubicBezTo>
                  <a:pt x="7850" y="32"/>
                  <a:pt x="7858" y="39"/>
                  <a:pt x="7865" y="46"/>
                </a:cubicBezTo>
                <a:cubicBezTo>
                  <a:pt x="7873" y="54"/>
                  <a:pt x="7879" y="62"/>
                  <a:pt x="7885" y="70"/>
                </a:cubicBezTo>
                <a:cubicBezTo>
                  <a:pt x="7891" y="79"/>
                  <a:pt x="7896" y="88"/>
                  <a:pt x="7900" y="98"/>
                </a:cubicBezTo>
                <a:cubicBezTo>
                  <a:pt x="7904" y="108"/>
                  <a:pt x="7907" y="117"/>
                  <a:pt x="7909" y="128"/>
                </a:cubicBezTo>
                <a:cubicBezTo>
                  <a:pt x="7911" y="138"/>
                  <a:pt x="7912" y="148"/>
                  <a:pt x="7912" y="159"/>
                </a:cubicBezTo>
                <a:lnTo>
                  <a:pt x="7912" y="821"/>
                </a:lnTo>
                <a:cubicBezTo>
                  <a:pt x="7912" y="832"/>
                  <a:pt x="7911" y="842"/>
                  <a:pt x="7909" y="852"/>
                </a:cubicBezTo>
                <a:cubicBezTo>
                  <a:pt x="7907" y="862"/>
                  <a:pt x="7904" y="872"/>
                  <a:pt x="7900" y="882"/>
                </a:cubicBezTo>
                <a:cubicBezTo>
                  <a:pt x="7896" y="891"/>
                  <a:pt x="7891" y="901"/>
                  <a:pt x="7885" y="909"/>
                </a:cubicBezTo>
                <a:cubicBezTo>
                  <a:pt x="7879" y="918"/>
                  <a:pt x="7873" y="926"/>
                  <a:pt x="7865" y="933"/>
                </a:cubicBezTo>
                <a:cubicBezTo>
                  <a:pt x="7858" y="941"/>
                  <a:pt x="7850" y="947"/>
                  <a:pt x="7841" y="953"/>
                </a:cubicBezTo>
                <a:cubicBezTo>
                  <a:pt x="7833" y="959"/>
                  <a:pt x="7823" y="964"/>
                  <a:pt x="7814" y="968"/>
                </a:cubicBezTo>
                <a:cubicBezTo>
                  <a:pt x="7804" y="972"/>
                  <a:pt x="7794" y="975"/>
                  <a:pt x="7784" y="977"/>
                </a:cubicBezTo>
                <a:cubicBezTo>
                  <a:pt x="7774" y="979"/>
                  <a:pt x="7763" y="980"/>
                  <a:pt x="7753" y="980"/>
                </a:cubicBezTo>
                <a:lnTo>
                  <a:pt x="158" y="980"/>
                </a:lnTo>
                <a:cubicBezTo>
                  <a:pt x="148" y="980"/>
                  <a:pt x="138" y="979"/>
                  <a:pt x="127" y="977"/>
                </a:cubicBezTo>
                <a:cubicBezTo>
                  <a:pt x="117" y="975"/>
                  <a:pt x="107" y="972"/>
                  <a:pt x="98" y="968"/>
                </a:cubicBezTo>
                <a:cubicBezTo>
                  <a:pt x="88" y="964"/>
                  <a:pt x="79" y="959"/>
                  <a:pt x="70" y="953"/>
                </a:cubicBezTo>
                <a:cubicBezTo>
                  <a:pt x="62" y="947"/>
                  <a:pt x="54" y="941"/>
                  <a:pt x="46" y="933"/>
                </a:cubicBezTo>
                <a:cubicBezTo>
                  <a:pt x="39" y="926"/>
                  <a:pt x="32" y="918"/>
                  <a:pt x="26" y="909"/>
                </a:cubicBezTo>
                <a:cubicBezTo>
                  <a:pt x="21" y="901"/>
                  <a:pt x="16" y="891"/>
                  <a:pt x="12" y="882"/>
                </a:cubicBezTo>
                <a:cubicBezTo>
                  <a:pt x="8" y="872"/>
                  <a:pt x="5" y="862"/>
                  <a:pt x="3" y="852"/>
                </a:cubicBezTo>
                <a:cubicBezTo>
                  <a:pt x="1" y="842"/>
                  <a:pt x="0" y="832"/>
                  <a:pt x="0" y="821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1065240" y="5807880"/>
            <a:ext cx="4767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L0 struggles, L1 stable, L2 stays clean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808560" y="6433560"/>
            <a:ext cx="273024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Courier New"/>
                <a:ea typeface="Courier New"/>
              </a:rPr>
              <a:t>black-friday.js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1" name=""/>
          <p:cNvSpPr txBox="1"/>
          <p:nvPr/>
        </p:nvSpPr>
        <p:spPr>
          <a:xfrm>
            <a:off x="3603600" y="6411600"/>
            <a:ext cx="3573000" cy="33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Arial"/>
                <a:ea typeface="Arial"/>
              </a:rPr>
              <a:t> — </a:t>
            </a:r>
            <a:r>
              <a:rPr b="1" lang="en-US" sz="2390" spc="-1" strike="noStrike">
                <a:solidFill>
                  <a:srgbClr val="1f2328"/>
                </a:solidFill>
                <a:latin typeface="Arial"/>
                <a:ea typeface="Arial"/>
              </a:rPr>
              <a:t>0 → 500 Virtual Users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5" name=""/>
          <p:cNvSpPr/>
          <p:nvPr/>
        </p:nvSpPr>
        <p:spPr>
          <a:xfrm>
            <a:off x="757080" y="1652400"/>
            <a:ext cx="10687320" cy="2867400"/>
          </a:xfrm>
          <a:custGeom>
            <a:avLst/>
            <a:gdLst/>
            <a:ahLst/>
            <a:rect l="0" t="0" r="r" b="b"/>
            <a:pathLst>
              <a:path w="29687" h="7965">
                <a:moveTo>
                  <a:pt x="0" y="7819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7819"/>
                </a:lnTo>
                <a:cubicBezTo>
                  <a:pt x="29687" y="7829"/>
                  <a:pt x="29686" y="7838"/>
                  <a:pt x="29684" y="7848"/>
                </a:cubicBezTo>
                <a:cubicBezTo>
                  <a:pt x="29683" y="7857"/>
                  <a:pt x="29680" y="7866"/>
                  <a:pt x="29676" y="7875"/>
                </a:cubicBezTo>
                <a:cubicBezTo>
                  <a:pt x="29672" y="7884"/>
                  <a:pt x="29668" y="7892"/>
                  <a:pt x="29663" y="7900"/>
                </a:cubicBezTo>
                <a:cubicBezTo>
                  <a:pt x="29657" y="7908"/>
                  <a:pt x="29651" y="7916"/>
                  <a:pt x="29645" y="7922"/>
                </a:cubicBezTo>
                <a:cubicBezTo>
                  <a:pt x="29638" y="7929"/>
                  <a:pt x="29630" y="7935"/>
                  <a:pt x="29623" y="7940"/>
                </a:cubicBezTo>
                <a:cubicBezTo>
                  <a:pt x="29615" y="7946"/>
                  <a:pt x="29606" y="7950"/>
                  <a:pt x="29597" y="7954"/>
                </a:cubicBezTo>
                <a:cubicBezTo>
                  <a:pt x="29589" y="7958"/>
                  <a:pt x="29579" y="7960"/>
                  <a:pt x="29570" y="7962"/>
                </a:cubicBezTo>
                <a:cubicBezTo>
                  <a:pt x="29561" y="7964"/>
                  <a:pt x="29551" y="7965"/>
                  <a:pt x="29542" y="7965"/>
                </a:cubicBezTo>
                <a:lnTo>
                  <a:pt x="145" y="7965"/>
                </a:lnTo>
                <a:cubicBezTo>
                  <a:pt x="136" y="7965"/>
                  <a:pt x="126" y="7964"/>
                  <a:pt x="117" y="7962"/>
                </a:cubicBezTo>
                <a:cubicBezTo>
                  <a:pt x="108" y="7960"/>
                  <a:pt x="99" y="7958"/>
                  <a:pt x="90" y="7954"/>
                </a:cubicBezTo>
                <a:cubicBezTo>
                  <a:pt x="81" y="7950"/>
                  <a:pt x="73" y="7946"/>
                  <a:pt x="65" y="7940"/>
                </a:cubicBezTo>
                <a:cubicBezTo>
                  <a:pt x="57" y="7935"/>
                  <a:pt x="49" y="7929"/>
                  <a:pt x="43" y="7922"/>
                </a:cubicBezTo>
                <a:cubicBezTo>
                  <a:pt x="36" y="7916"/>
                  <a:pt x="30" y="7908"/>
                  <a:pt x="24" y="7900"/>
                </a:cubicBezTo>
                <a:cubicBezTo>
                  <a:pt x="19" y="7892"/>
                  <a:pt x="15" y="7884"/>
                  <a:pt x="11" y="7875"/>
                </a:cubicBezTo>
                <a:cubicBezTo>
                  <a:pt x="7" y="7866"/>
                  <a:pt x="5" y="7857"/>
                  <a:pt x="3" y="7848"/>
                </a:cubicBezTo>
                <a:cubicBezTo>
                  <a:pt x="1" y="7838"/>
                  <a:pt x="0" y="7829"/>
                  <a:pt x="0" y="7819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6" name=""/>
          <p:cNvSpPr/>
          <p:nvPr/>
        </p:nvSpPr>
        <p:spPr>
          <a:xfrm>
            <a:off x="757080" y="1652400"/>
            <a:ext cx="10687320" cy="2867400"/>
          </a:xfrm>
          <a:custGeom>
            <a:avLst/>
            <a:gdLst/>
            <a:ahLst/>
            <a:rect l="0" t="0" r="r" b="b"/>
            <a:pathLst>
              <a:path w="29687" h="7965">
                <a:moveTo>
                  <a:pt x="0" y="7819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7819"/>
                </a:lnTo>
                <a:cubicBezTo>
                  <a:pt x="29687" y="7829"/>
                  <a:pt x="29686" y="7838"/>
                  <a:pt x="29684" y="7848"/>
                </a:cubicBezTo>
                <a:cubicBezTo>
                  <a:pt x="29683" y="7857"/>
                  <a:pt x="29680" y="7866"/>
                  <a:pt x="29676" y="7875"/>
                </a:cubicBezTo>
                <a:cubicBezTo>
                  <a:pt x="29672" y="7884"/>
                  <a:pt x="29668" y="7892"/>
                  <a:pt x="29663" y="7900"/>
                </a:cubicBezTo>
                <a:cubicBezTo>
                  <a:pt x="29657" y="7908"/>
                  <a:pt x="29651" y="7916"/>
                  <a:pt x="29645" y="7922"/>
                </a:cubicBezTo>
                <a:cubicBezTo>
                  <a:pt x="29638" y="7929"/>
                  <a:pt x="29630" y="7935"/>
                  <a:pt x="29623" y="7940"/>
                </a:cubicBezTo>
                <a:cubicBezTo>
                  <a:pt x="29615" y="7946"/>
                  <a:pt x="29606" y="7950"/>
                  <a:pt x="29597" y="7954"/>
                </a:cubicBezTo>
                <a:cubicBezTo>
                  <a:pt x="29589" y="7958"/>
                  <a:pt x="29579" y="7960"/>
                  <a:pt x="29570" y="7962"/>
                </a:cubicBezTo>
                <a:cubicBezTo>
                  <a:pt x="29561" y="7964"/>
                  <a:pt x="29551" y="7965"/>
                  <a:pt x="29542" y="7965"/>
                </a:cubicBezTo>
                <a:lnTo>
                  <a:pt x="145" y="7965"/>
                </a:lnTo>
                <a:cubicBezTo>
                  <a:pt x="136" y="7965"/>
                  <a:pt x="126" y="7964"/>
                  <a:pt x="117" y="7962"/>
                </a:cubicBezTo>
                <a:cubicBezTo>
                  <a:pt x="108" y="7960"/>
                  <a:pt x="99" y="7958"/>
                  <a:pt x="90" y="7954"/>
                </a:cubicBezTo>
                <a:cubicBezTo>
                  <a:pt x="81" y="7950"/>
                  <a:pt x="73" y="7946"/>
                  <a:pt x="65" y="7940"/>
                </a:cubicBezTo>
                <a:cubicBezTo>
                  <a:pt x="57" y="7935"/>
                  <a:pt x="49" y="7929"/>
                  <a:pt x="43" y="7922"/>
                </a:cubicBezTo>
                <a:cubicBezTo>
                  <a:pt x="36" y="7916"/>
                  <a:pt x="30" y="7908"/>
                  <a:pt x="24" y="7900"/>
                </a:cubicBezTo>
                <a:cubicBezTo>
                  <a:pt x="19" y="7892"/>
                  <a:pt x="15" y="7884"/>
                  <a:pt x="11" y="7875"/>
                </a:cubicBezTo>
                <a:cubicBezTo>
                  <a:pt x="7" y="7866"/>
                  <a:pt x="5" y="7857"/>
                  <a:pt x="3" y="7848"/>
                </a:cubicBezTo>
                <a:cubicBezTo>
                  <a:pt x="1" y="7838"/>
                  <a:pt x="0" y="7829"/>
                  <a:pt x="0" y="7819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7" name=""/>
          <p:cNvSpPr/>
          <p:nvPr/>
        </p:nvSpPr>
        <p:spPr>
          <a:xfrm>
            <a:off x="752400" y="5095800"/>
            <a:ext cx="66960" cy="829080"/>
          </a:xfrm>
          <a:custGeom>
            <a:avLst/>
            <a:gdLst/>
            <a:ahLst/>
            <a:rect l="0" t="0" r="r" b="b"/>
            <a:pathLst>
              <a:path w="186" h="2303">
                <a:moveTo>
                  <a:pt x="0" y="0"/>
                </a:moveTo>
                <a:lnTo>
                  <a:pt x="186" y="0"/>
                </a:lnTo>
                <a:lnTo>
                  <a:pt x="186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8" name=""/>
          <p:cNvSpPr txBox="1"/>
          <p:nvPr/>
        </p:nvSpPr>
        <p:spPr>
          <a:xfrm>
            <a:off x="747720" y="951480"/>
            <a:ext cx="329868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Observability stack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9" name=""/>
          <p:cNvSpPr/>
          <p:nvPr/>
        </p:nvSpPr>
        <p:spPr>
          <a:xfrm>
            <a:off x="3397680" y="1809720"/>
            <a:ext cx="219600" cy="219600"/>
          </a:xfrm>
          <a:custGeom>
            <a:avLst/>
            <a:gdLst/>
            <a:ahLst/>
            <a:rect l="0" t="0" r="r" b="b"/>
            <a:pathLst>
              <a:path w="610" h="610">
                <a:moveTo>
                  <a:pt x="610" y="542"/>
                </a:moveTo>
                <a:cubicBezTo>
                  <a:pt x="610" y="580"/>
                  <a:pt x="580" y="610"/>
                  <a:pt x="542" y="610"/>
                </a:cubicBezTo>
                <a:lnTo>
                  <a:pt x="69" y="610"/>
                </a:lnTo>
                <a:cubicBezTo>
                  <a:pt x="31" y="610"/>
                  <a:pt x="0" y="580"/>
                  <a:pt x="0" y="542"/>
                </a:cubicBezTo>
                <a:lnTo>
                  <a:pt x="0" y="67"/>
                </a:lnTo>
                <a:cubicBezTo>
                  <a:pt x="0" y="30"/>
                  <a:pt x="31" y="0"/>
                  <a:pt x="69" y="0"/>
                </a:cubicBezTo>
                <a:lnTo>
                  <a:pt x="542" y="0"/>
                </a:lnTo>
                <a:cubicBezTo>
                  <a:pt x="580" y="0"/>
                  <a:pt x="610" y="30"/>
                  <a:pt x="610" y="67"/>
                </a:cubicBezTo>
                <a:lnTo>
                  <a:pt x="610" y="542"/>
                </a:ln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0" name=""/>
          <p:cNvSpPr/>
          <p:nvPr/>
        </p:nvSpPr>
        <p:spPr>
          <a:xfrm>
            <a:off x="3446280" y="1852200"/>
            <a:ext cx="134640" cy="134280"/>
          </a:xfrm>
          <a:custGeom>
            <a:avLst/>
            <a:gdLst/>
            <a:ahLst/>
            <a:rect l="0" t="0" r="r" b="b"/>
            <a:pathLst>
              <a:path w="374" h="373">
                <a:moveTo>
                  <a:pt x="0" y="0"/>
                </a:moveTo>
                <a:lnTo>
                  <a:pt x="374" y="186"/>
                </a:lnTo>
                <a:lnTo>
                  <a:pt x="0" y="3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1" name=""/>
          <p:cNvSpPr txBox="1"/>
          <p:nvPr/>
        </p:nvSpPr>
        <p:spPr>
          <a:xfrm>
            <a:off x="914400" y="1822680"/>
            <a:ext cx="24681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k6 ──remote-write──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2" name=""/>
          <p:cNvSpPr/>
          <p:nvPr/>
        </p:nvSpPr>
        <p:spPr>
          <a:xfrm>
            <a:off x="5205240" y="1809720"/>
            <a:ext cx="219960" cy="219600"/>
          </a:xfrm>
          <a:custGeom>
            <a:avLst/>
            <a:gdLst/>
            <a:ahLst/>
            <a:rect l="0" t="0" r="r" b="b"/>
            <a:pathLst>
              <a:path w="611" h="610">
                <a:moveTo>
                  <a:pt x="0" y="542"/>
                </a:moveTo>
                <a:cubicBezTo>
                  <a:pt x="0" y="580"/>
                  <a:pt x="31" y="610"/>
                  <a:pt x="68" y="610"/>
                </a:cubicBezTo>
                <a:lnTo>
                  <a:pt x="543" y="610"/>
                </a:lnTo>
                <a:cubicBezTo>
                  <a:pt x="580" y="610"/>
                  <a:pt x="611" y="580"/>
                  <a:pt x="611" y="542"/>
                </a:cubicBezTo>
                <a:lnTo>
                  <a:pt x="611" y="67"/>
                </a:lnTo>
                <a:cubicBezTo>
                  <a:pt x="611" y="30"/>
                  <a:pt x="580" y="0"/>
                  <a:pt x="543" y="0"/>
                </a:cubicBezTo>
                <a:lnTo>
                  <a:pt x="68" y="0"/>
                </a:lnTo>
                <a:cubicBezTo>
                  <a:pt x="31" y="0"/>
                  <a:pt x="0" y="30"/>
                  <a:pt x="0" y="67"/>
                </a:cubicBezTo>
                <a:lnTo>
                  <a:pt x="0" y="542"/>
                </a:ln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3" name=""/>
          <p:cNvSpPr/>
          <p:nvPr/>
        </p:nvSpPr>
        <p:spPr>
          <a:xfrm>
            <a:off x="5241960" y="1852200"/>
            <a:ext cx="134280" cy="134280"/>
          </a:xfrm>
          <a:custGeom>
            <a:avLst/>
            <a:gdLst/>
            <a:ahLst/>
            <a:rect l="0" t="0" r="r" b="b"/>
            <a:pathLst>
              <a:path w="373" h="373">
                <a:moveTo>
                  <a:pt x="373" y="0"/>
                </a:moveTo>
                <a:lnTo>
                  <a:pt x="0" y="186"/>
                </a:lnTo>
                <a:lnTo>
                  <a:pt x="373" y="373"/>
                </a:lnTo>
                <a:lnTo>
                  <a:pt x="37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4" name=""/>
          <p:cNvSpPr txBox="1"/>
          <p:nvPr/>
        </p:nvSpPr>
        <p:spPr>
          <a:xfrm>
            <a:off x="3628440" y="1822680"/>
            <a:ext cx="155844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Prometheus 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5" name=""/>
          <p:cNvSpPr txBox="1"/>
          <p:nvPr/>
        </p:nvSpPr>
        <p:spPr>
          <a:xfrm>
            <a:off x="5433840" y="1822680"/>
            <a:ext cx="441432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── </a:t>
            </a:r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node-exporter  (CPU, RAM, disk)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6" name=""/>
          <p:cNvSpPr/>
          <p:nvPr/>
        </p:nvSpPr>
        <p:spPr>
          <a:xfrm>
            <a:off x="5345640" y="2072880"/>
            <a:ext cx="219960" cy="210960"/>
          </a:xfrm>
          <a:custGeom>
            <a:avLst/>
            <a:gdLst/>
            <a:ahLst/>
            <a:rect l="0" t="0" r="r" b="b"/>
            <a:pathLst>
              <a:path w="611" h="586">
                <a:moveTo>
                  <a:pt x="0" y="521"/>
                </a:moveTo>
                <a:cubicBezTo>
                  <a:pt x="0" y="557"/>
                  <a:pt x="31" y="586"/>
                  <a:pt x="68" y="586"/>
                </a:cubicBezTo>
                <a:lnTo>
                  <a:pt x="543" y="586"/>
                </a:lnTo>
                <a:cubicBezTo>
                  <a:pt x="580" y="586"/>
                  <a:pt x="611" y="557"/>
                  <a:pt x="611" y="521"/>
                </a:cubicBezTo>
                <a:lnTo>
                  <a:pt x="611" y="65"/>
                </a:lnTo>
                <a:cubicBezTo>
                  <a:pt x="611" y="29"/>
                  <a:pt x="580" y="0"/>
                  <a:pt x="543" y="0"/>
                </a:cubicBezTo>
                <a:lnTo>
                  <a:pt x="68" y="0"/>
                </a:lnTo>
                <a:cubicBezTo>
                  <a:pt x="31" y="0"/>
                  <a:pt x="0" y="29"/>
                  <a:pt x="0" y="65"/>
                </a:cubicBezTo>
                <a:lnTo>
                  <a:pt x="0" y="521"/>
                </a:ln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7" name=""/>
          <p:cNvSpPr/>
          <p:nvPr/>
        </p:nvSpPr>
        <p:spPr>
          <a:xfrm>
            <a:off x="5382360" y="2113920"/>
            <a:ext cx="134280" cy="128880"/>
          </a:xfrm>
          <a:custGeom>
            <a:avLst/>
            <a:gdLst/>
            <a:ahLst/>
            <a:rect l="0" t="0" r="r" b="b"/>
            <a:pathLst>
              <a:path w="373" h="358">
                <a:moveTo>
                  <a:pt x="373" y="0"/>
                </a:moveTo>
                <a:lnTo>
                  <a:pt x="0" y="179"/>
                </a:lnTo>
                <a:lnTo>
                  <a:pt x="373" y="358"/>
                </a:lnTo>
                <a:lnTo>
                  <a:pt x="37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8" name=""/>
          <p:cNvSpPr txBox="1"/>
          <p:nvPr/>
        </p:nvSpPr>
        <p:spPr>
          <a:xfrm>
            <a:off x="914400" y="2085840"/>
            <a:ext cx="44157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   │       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9" name=""/>
          <p:cNvSpPr txBox="1"/>
          <p:nvPr/>
        </p:nvSpPr>
        <p:spPr>
          <a:xfrm>
            <a:off x="5574600" y="2085840"/>
            <a:ext cx="48045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── </a:t>
            </a:r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cadvisor       (container metrics)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0" name=""/>
          <p:cNvSpPr/>
          <p:nvPr/>
        </p:nvSpPr>
        <p:spPr>
          <a:xfrm>
            <a:off x="5345640" y="2327400"/>
            <a:ext cx="219960" cy="219600"/>
          </a:xfrm>
          <a:custGeom>
            <a:avLst/>
            <a:gdLst/>
            <a:ahLst/>
            <a:rect l="0" t="0" r="r" b="b"/>
            <a:pathLst>
              <a:path w="611" h="610">
                <a:moveTo>
                  <a:pt x="0" y="542"/>
                </a:moveTo>
                <a:cubicBezTo>
                  <a:pt x="0" y="580"/>
                  <a:pt x="31" y="610"/>
                  <a:pt x="68" y="610"/>
                </a:cubicBezTo>
                <a:lnTo>
                  <a:pt x="543" y="610"/>
                </a:lnTo>
                <a:cubicBezTo>
                  <a:pt x="580" y="610"/>
                  <a:pt x="611" y="580"/>
                  <a:pt x="611" y="542"/>
                </a:cubicBezTo>
                <a:lnTo>
                  <a:pt x="611" y="67"/>
                </a:lnTo>
                <a:cubicBezTo>
                  <a:pt x="611" y="30"/>
                  <a:pt x="580" y="0"/>
                  <a:pt x="543" y="0"/>
                </a:cubicBezTo>
                <a:lnTo>
                  <a:pt x="68" y="0"/>
                </a:lnTo>
                <a:cubicBezTo>
                  <a:pt x="31" y="0"/>
                  <a:pt x="0" y="30"/>
                  <a:pt x="0" y="67"/>
                </a:cubicBezTo>
                <a:lnTo>
                  <a:pt x="0" y="542"/>
                </a:ln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1" name=""/>
          <p:cNvSpPr/>
          <p:nvPr/>
        </p:nvSpPr>
        <p:spPr>
          <a:xfrm>
            <a:off x="5382360" y="2369880"/>
            <a:ext cx="134280" cy="134640"/>
          </a:xfrm>
          <a:custGeom>
            <a:avLst/>
            <a:gdLst/>
            <a:ahLst/>
            <a:rect l="0" t="0" r="r" b="b"/>
            <a:pathLst>
              <a:path w="373" h="374">
                <a:moveTo>
                  <a:pt x="373" y="0"/>
                </a:moveTo>
                <a:lnTo>
                  <a:pt x="0" y="186"/>
                </a:lnTo>
                <a:lnTo>
                  <a:pt x="373" y="374"/>
                </a:lnTo>
                <a:lnTo>
                  <a:pt x="37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2" name=""/>
          <p:cNvSpPr txBox="1"/>
          <p:nvPr/>
        </p:nvSpPr>
        <p:spPr>
          <a:xfrm>
            <a:off x="914400" y="2340360"/>
            <a:ext cx="44157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   │       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3" name=""/>
          <p:cNvSpPr txBox="1"/>
          <p:nvPr/>
        </p:nvSpPr>
        <p:spPr>
          <a:xfrm>
            <a:off x="5574600" y="2340360"/>
            <a:ext cx="532440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── </a:t>
            </a:r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mysqld-exporter (threads, buffer pool)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4" name=""/>
          <p:cNvSpPr/>
          <p:nvPr/>
        </p:nvSpPr>
        <p:spPr>
          <a:xfrm>
            <a:off x="5345640" y="2590560"/>
            <a:ext cx="219960" cy="210960"/>
          </a:xfrm>
          <a:custGeom>
            <a:avLst/>
            <a:gdLst/>
            <a:ahLst/>
            <a:rect l="0" t="0" r="r" b="b"/>
            <a:pathLst>
              <a:path w="611" h="586">
                <a:moveTo>
                  <a:pt x="0" y="521"/>
                </a:moveTo>
                <a:cubicBezTo>
                  <a:pt x="0" y="557"/>
                  <a:pt x="31" y="586"/>
                  <a:pt x="68" y="586"/>
                </a:cubicBezTo>
                <a:lnTo>
                  <a:pt x="543" y="586"/>
                </a:lnTo>
                <a:cubicBezTo>
                  <a:pt x="580" y="586"/>
                  <a:pt x="611" y="557"/>
                  <a:pt x="611" y="521"/>
                </a:cubicBezTo>
                <a:lnTo>
                  <a:pt x="611" y="65"/>
                </a:lnTo>
                <a:cubicBezTo>
                  <a:pt x="611" y="29"/>
                  <a:pt x="580" y="0"/>
                  <a:pt x="543" y="0"/>
                </a:cubicBezTo>
                <a:lnTo>
                  <a:pt x="68" y="0"/>
                </a:lnTo>
                <a:cubicBezTo>
                  <a:pt x="31" y="0"/>
                  <a:pt x="0" y="29"/>
                  <a:pt x="0" y="65"/>
                </a:cubicBezTo>
                <a:lnTo>
                  <a:pt x="0" y="521"/>
                </a:ln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5" name=""/>
          <p:cNvSpPr/>
          <p:nvPr/>
        </p:nvSpPr>
        <p:spPr>
          <a:xfrm>
            <a:off x="5382360" y="2631600"/>
            <a:ext cx="134280" cy="128880"/>
          </a:xfrm>
          <a:custGeom>
            <a:avLst/>
            <a:gdLst/>
            <a:ahLst/>
            <a:rect l="0" t="0" r="r" b="b"/>
            <a:pathLst>
              <a:path w="373" h="358">
                <a:moveTo>
                  <a:pt x="373" y="0"/>
                </a:moveTo>
                <a:lnTo>
                  <a:pt x="0" y="180"/>
                </a:lnTo>
                <a:lnTo>
                  <a:pt x="373" y="358"/>
                </a:lnTo>
                <a:lnTo>
                  <a:pt x="37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6" name=""/>
          <p:cNvSpPr txBox="1"/>
          <p:nvPr/>
        </p:nvSpPr>
        <p:spPr>
          <a:xfrm>
            <a:off x="914400" y="2603520"/>
            <a:ext cx="44157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   │       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7" name=""/>
          <p:cNvSpPr txBox="1"/>
          <p:nvPr/>
        </p:nvSpPr>
        <p:spPr>
          <a:xfrm>
            <a:off x="5574600" y="2603520"/>
            <a:ext cx="46749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── </a:t>
            </a:r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php-fpm-exporter (workers, queue)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8" name=""/>
          <p:cNvSpPr/>
          <p:nvPr/>
        </p:nvSpPr>
        <p:spPr>
          <a:xfrm>
            <a:off x="5345640" y="2845080"/>
            <a:ext cx="219960" cy="219600"/>
          </a:xfrm>
          <a:custGeom>
            <a:avLst/>
            <a:gdLst/>
            <a:ahLst/>
            <a:rect l="0" t="0" r="r" b="b"/>
            <a:pathLst>
              <a:path w="611" h="610">
                <a:moveTo>
                  <a:pt x="0" y="543"/>
                </a:moveTo>
                <a:cubicBezTo>
                  <a:pt x="0" y="580"/>
                  <a:pt x="31" y="610"/>
                  <a:pt x="68" y="610"/>
                </a:cubicBezTo>
                <a:lnTo>
                  <a:pt x="543" y="610"/>
                </a:lnTo>
                <a:cubicBezTo>
                  <a:pt x="580" y="610"/>
                  <a:pt x="611" y="580"/>
                  <a:pt x="611" y="543"/>
                </a:cubicBezTo>
                <a:lnTo>
                  <a:pt x="611" y="68"/>
                </a:lnTo>
                <a:cubicBezTo>
                  <a:pt x="611" y="30"/>
                  <a:pt x="580" y="0"/>
                  <a:pt x="543" y="0"/>
                </a:cubicBezTo>
                <a:lnTo>
                  <a:pt x="68" y="0"/>
                </a:lnTo>
                <a:cubicBezTo>
                  <a:pt x="31" y="0"/>
                  <a:pt x="0" y="30"/>
                  <a:pt x="0" y="68"/>
                </a:cubicBezTo>
                <a:lnTo>
                  <a:pt x="0" y="543"/>
                </a:ln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9" name=""/>
          <p:cNvSpPr/>
          <p:nvPr/>
        </p:nvSpPr>
        <p:spPr>
          <a:xfrm>
            <a:off x="5382360" y="2887560"/>
            <a:ext cx="134280" cy="134640"/>
          </a:xfrm>
          <a:custGeom>
            <a:avLst/>
            <a:gdLst/>
            <a:ahLst/>
            <a:rect l="0" t="0" r="r" b="b"/>
            <a:pathLst>
              <a:path w="373" h="374">
                <a:moveTo>
                  <a:pt x="373" y="0"/>
                </a:moveTo>
                <a:lnTo>
                  <a:pt x="0" y="187"/>
                </a:lnTo>
                <a:lnTo>
                  <a:pt x="373" y="374"/>
                </a:lnTo>
                <a:lnTo>
                  <a:pt x="37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0" name=""/>
          <p:cNvSpPr txBox="1"/>
          <p:nvPr/>
        </p:nvSpPr>
        <p:spPr>
          <a:xfrm>
            <a:off x="914400" y="2858040"/>
            <a:ext cx="44157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   │       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1" name=""/>
          <p:cNvSpPr txBox="1"/>
          <p:nvPr/>
        </p:nvSpPr>
        <p:spPr>
          <a:xfrm>
            <a:off x="5574600" y="2858040"/>
            <a:ext cx="571284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── </a:t>
            </a:r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nginx-exporter  (connections, requests/s)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2" name=""/>
          <p:cNvSpPr/>
          <p:nvPr/>
        </p:nvSpPr>
        <p:spPr>
          <a:xfrm>
            <a:off x="5345640" y="3108240"/>
            <a:ext cx="219960" cy="210960"/>
          </a:xfrm>
          <a:custGeom>
            <a:avLst/>
            <a:gdLst/>
            <a:ahLst/>
            <a:rect l="0" t="0" r="r" b="b"/>
            <a:pathLst>
              <a:path w="611" h="586">
                <a:moveTo>
                  <a:pt x="0" y="521"/>
                </a:moveTo>
                <a:cubicBezTo>
                  <a:pt x="0" y="557"/>
                  <a:pt x="31" y="586"/>
                  <a:pt x="68" y="586"/>
                </a:cubicBezTo>
                <a:lnTo>
                  <a:pt x="543" y="586"/>
                </a:lnTo>
                <a:cubicBezTo>
                  <a:pt x="580" y="586"/>
                  <a:pt x="611" y="557"/>
                  <a:pt x="611" y="521"/>
                </a:cubicBezTo>
                <a:lnTo>
                  <a:pt x="611" y="65"/>
                </a:lnTo>
                <a:cubicBezTo>
                  <a:pt x="611" y="29"/>
                  <a:pt x="580" y="0"/>
                  <a:pt x="543" y="0"/>
                </a:cubicBezTo>
                <a:lnTo>
                  <a:pt x="68" y="0"/>
                </a:lnTo>
                <a:cubicBezTo>
                  <a:pt x="31" y="0"/>
                  <a:pt x="0" y="29"/>
                  <a:pt x="0" y="65"/>
                </a:cubicBezTo>
                <a:lnTo>
                  <a:pt x="0" y="521"/>
                </a:ln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3" name=""/>
          <p:cNvSpPr/>
          <p:nvPr/>
        </p:nvSpPr>
        <p:spPr>
          <a:xfrm>
            <a:off x="5382360" y="3149280"/>
            <a:ext cx="134280" cy="128880"/>
          </a:xfrm>
          <a:custGeom>
            <a:avLst/>
            <a:gdLst/>
            <a:ahLst/>
            <a:rect l="0" t="0" r="r" b="b"/>
            <a:pathLst>
              <a:path w="373" h="358">
                <a:moveTo>
                  <a:pt x="373" y="0"/>
                </a:moveTo>
                <a:lnTo>
                  <a:pt x="0" y="179"/>
                </a:lnTo>
                <a:lnTo>
                  <a:pt x="373" y="358"/>
                </a:lnTo>
                <a:lnTo>
                  <a:pt x="37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4" name=""/>
          <p:cNvSpPr txBox="1"/>
          <p:nvPr/>
        </p:nvSpPr>
        <p:spPr>
          <a:xfrm>
            <a:off x="914400" y="3121200"/>
            <a:ext cx="44157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   │       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5" name=""/>
          <p:cNvSpPr txBox="1"/>
          <p:nvPr/>
        </p:nvSpPr>
        <p:spPr>
          <a:xfrm>
            <a:off x="5574600" y="3121200"/>
            <a:ext cx="48045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── </a:t>
            </a:r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redis-exporter  (hit rate, memory)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6" name=""/>
          <p:cNvSpPr txBox="1"/>
          <p:nvPr/>
        </p:nvSpPr>
        <p:spPr>
          <a:xfrm>
            <a:off x="914400" y="3367080"/>
            <a:ext cx="350604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   ▼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7" name=""/>
          <p:cNvSpPr txBox="1"/>
          <p:nvPr/>
        </p:nvSpPr>
        <p:spPr>
          <a:xfrm>
            <a:off x="914400" y="3621600"/>
            <a:ext cx="740124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</a:t>
            </a:r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Grafana  ←── Loki (container logs)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8" name=""/>
          <p:cNvSpPr txBox="1"/>
          <p:nvPr/>
        </p:nvSpPr>
        <p:spPr>
          <a:xfrm>
            <a:off x="914400" y="3867120"/>
            <a:ext cx="415512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</a:t>
            </a:r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7 dashboards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9" name=""/>
          <p:cNvSpPr txBox="1"/>
          <p:nvPr/>
        </p:nvSpPr>
        <p:spPr>
          <a:xfrm>
            <a:off x="914400" y="4113000"/>
            <a:ext cx="49341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</a:t>
            </a:r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(live during demo)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0" name=""/>
          <p:cNvSpPr txBox="1"/>
          <p:nvPr/>
        </p:nvSpPr>
        <p:spPr>
          <a:xfrm>
            <a:off x="1090440" y="5141160"/>
            <a:ext cx="8724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Every number you see on screen is a </a:t>
            </a:r>
            <a:r>
              <a:rPr b="1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real metric from a real process.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1" name=""/>
          <p:cNvSpPr txBox="1"/>
          <p:nvPr/>
        </p:nvSpPr>
        <p:spPr>
          <a:xfrm>
            <a:off x="1090440" y="5550840"/>
            <a:ext cx="6301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No synthetic benchmarks. No cherry-picked results.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5" name=""/>
          <p:cNvSpPr txBox="1"/>
          <p:nvPr/>
        </p:nvSpPr>
        <p:spPr>
          <a:xfrm>
            <a:off x="747720" y="2106000"/>
            <a:ext cx="343800" cy="323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ColorEmoji"/>
                <a:ea typeface="NotoColorEmoji"/>
              </a:rPr>
              <a:t>💥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6" name=""/>
          <p:cNvSpPr txBox="1"/>
          <p:nvPr/>
        </p:nvSpPr>
        <p:spPr>
          <a:xfrm>
            <a:off x="747720" y="2743200"/>
            <a:ext cx="1154520" cy="494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480" spc="-1" strike="noStrike">
                <a:solidFill>
                  <a:srgbClr val="224466"/>
                </a:solidFill>
                <a:latin typeface="Arial"/>
                <a:ea typeface="Arial"/>
              </a:rPr>
              <a:t>ACT I</a:t>
            </a:r>
            <a:endParaRPr b="0" lang="en-US" sz="34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7" name=""/>
          <p:cNvSpPr txBox="1"/>
          <p:nvPr/>
        </p:nvSpPr>
        <p:spPr>
          <a:xfrm>
            <a:off x="747720" y="3646800"/>
            <a:ext cx="175932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The Crash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8" name=""/>
          <p:cNvSpPr txBox="1"/>
          <p:nvPr/>
        </p:nvSpPr>
        <p:spPr>
          <a:xfrm>
            <a:off x="747720" y="4420800"/>
            <a:ext cx="4305960" cy="33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Arial"/>
                <a:ea typeface="Arial"/>
              </a:rPr>
              <a:t>Level 0 — Apache + mod_php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2" name=""/>
          <p:cNvSpPr/>
          <p:nvPr/>
        </p:nvSpPr>
        <p:spPr>
          <a:xfrm>
            <a:off x="757080" y="2023920"/>
            <a:ext cx="10687320" cy="2210040"/>
          </a:xfrm>
          <a:custGeom>
            <a:avLst/>
            <a:gdLst/>
            <a:ahLst/>
            <a:rect l="0" t="0" r="r" b="b"/>
            <a:pathLst>
              <a:path w="29687" h="6139">
                <a:moveTo>
                  <a:pt x="0" y="599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5994"/>
                </a:lnTo>
                <a:cubicBezTo>
                  <a:pt x="29687" y="6003"/>
                  <a:pt x="29686" y="6013"/>
                  <a:pt x="29684" y="6022"/>
                </a:cubicBezTo>
                <a:cubicBezTo>
                  <a:pt x="29683" y="6031"/>
                  <a:pt x="29680" y="6041"/>
                  <a:pt x="29676" y="6049"/>
                </a:cubicBezTo>
                <a:cubicBezTo>
                  <a:pt x="29672" y="6058"/>
                  <a:pt x="29668" y="6067"/>
                  <a:pt x="29663" y="6075"/>
                </a:cubicBezTo>
                <a:cubicBezTo>
                  <a:pt x="29657" y="6082"/>
                  <a:pt x="29651" y="6090"/>
                  <a:pt x="29645" y="6097"/>
                </a:cubicBezTo>
                <a:cubicBezTo>
                  <a:pt x="29638" y="6103"/>
                  <a:pt x="29630" y="6109"/>
                  <a:pt x="29623" y="6115"/>
                </a:cubicBezTo>
                <a:cubicBezTo>
                  <a:pt x="29615" y="6120"/>
                  <a:pt x="29606" y="6124"/>
                  <a:pt x="29597" y="6128"/>
                </a:cubicBezTo>
                <a:cubicBezTo>
                  <a:pt x="29589" y="6132"/>
                  <a:pt x="29579" y="6135"/>
                  <a:pt x="29570" y="6136"/>
                </a:cubicBezTo>
                <a:cubicBezTo>
                  <a:pt x="29561" y="6138"/>
                  <a:pt x="29551" y="6139"/>
                  <a:pt x="29542" y="6139"/>
                </a:cubicBezTo>
                <a:lnTo>
                  <a:pt x="145" y="6139"/>
                </a:lnTo>
                <a:cubicBezTo>
                  <a:pt x="136" y="6139"/>
                  <a:pt x="126" y="6138"/>
                  <a:pt x="117" y="6136"/>
                </a:cubicBezTo>
                <a:cubicBezTo>
                  <a:pt x="108" y="6135"/>
                  <a:pt x="99" y="6132"/>
                  <a:pt x="90" y="6128"/>
                </a:cubicBezTo>
                <a:cubicBezTo>
                  <a:pt x="81" y="6124"/>
                  <a:pt x="73" y="6120"/>
                  <a:pt x="65" y="6115"/>
                </a:cubicBezTo>
                <a:cubicBezTo>
                  <a:pt x="57" y="6109"/>
                  <a:pt x="49" y="6103"/>
                  <a:pt x="43" y="6097"/>
                </a:cubicBezTo>
                <a:cubicBezTo>
                  <a:pt x="36" y="6090"/>
                  <a:pt x="30" y="6082"/>
                  <a:pt x="24" y="6075"/>
                </a:cubicBezTo>
                <a:cubicBezTo>
                  <a:pt x="19" y="6067"/>
                  <a:pt x="15" y="6058"/>
                  <a:pt x="11" y="6049"/>
                </a:cubicBezTo>
                <a:cubicBezTo>
                  <a:pt x="7" y="6041"/>
                  <a:pt x="5" y="6031"/>
                  <a:pt x="3" y="6022"/>
                </a:cubicBezTo>
                <a:cubicBezTo>
                  <a:pt x="1" y="6013"/>
                  <a:pt x="0" y="6003"/>
                  <a:pt x="0" y="5994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3" name=""/>
          <p:cNvSpPr/>
          <p:nvPr/>
        </p:nvSpPr>
        <p:spPr>
          <a:xfrm>
            <a:off x="757080" y="2023920"/>
            <a:ext cx="10687320" cy="2210040"/>
          </a:xfrm>
          <a:custGeom>
            <a:avLst/>
            <a:gdLst/>
            <a:ahLst/>
            <a:rect l="0" t="0" r="r" b="b"/>
            <a:pathLst>
              <a:path w="29687" h="6139">
                <a:moveTo>
                  <a:pt x="0" y="599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5994"/>
                </a:lnTo>
                <a:cubicBezTo>
                  <a:pt x="29687" y="6003"/>
                  <a:pt x="29686" y="6013"/>
                  <a:pt x="29684" y="6022"/>
                </a:cubicBezTo>
                <a:cubicBezTo>
                  <a:pt x="29683" y="6031"/>
                  <a:pt x="29680" y="6041"/>
                  <a:pt x="29676" y="6049"/>
                </a:cubicBezTo>
                <a:cubicBezTo>
                  <a:pt x="29672" y="6058"/>
                  <a:pt x="29668" y="6067"/>
                  <a:pt x="29663" y="6075"/>
                </a:cubicBezTo>
                <a:cubicBezTo>
                  <a:pt x="29657" y="6082"/>
                  <a:pt x="29651" y="6090"/>
                  <a:pt x="29645" y="6097"/>
                </a:cubicBezTo>
                <a:cubicBezTo>
                  <a:pt x="29638" y="6103"/>
                  <a:pt x="29630" y="6109"/>
                  <a:pt x="29623" y="6115"/>
                </a:cubicBezTo>
                <a:cubicBezTo>
                  <a:pt x="29615" y="6120"/>
                  <a:pt x="29606" y="6124"/>
                  <a:pt x="29597" y="6128"/>
                </a:cubicBezTo>
                <a:cubicBezTo>
                  <a:pt x="29589" y="6132"/>
                  <a:pt x="29579" y="6135"/>
                  <a:pt x="29570" y="6136"/>
                </a:cubicBezTo>
                <a:cubicBezTo>
                  <a:pt x="29561" y="6138"/>
                  <a:pt x="29551" y="6139"/>
                  <a:pt x="29542" y="6139"/>
                </a:cubicBezTo>
                <a:lnTo>
                  <a:pt x="145" y="6139"/>
                </a:lnTo>
                <a:cubicBezTo>
                  <a:pt x="136" y="6139"/>
                  <a:pt x="126" y="6138"/>
                  <a:pt x="117" y="6136"/>
                </a:cubicBezTo>
                <a:cubicBezTo>
                  <a:pt x="108" y="6135"/>
                  <a:pt x="99" y="6132"/>
                  <a:pt x="90" y="6128"/>
                </a:cubicBezTo>
                <a:cubicBezTo>
                  <a:pt x="81" y="6124"/>
                  <a:pt x="73" y="6120"/>
                  <a:pt x="65" y="6115"/>
                </a:cubicBezTo>
                <a:cubicBezTo>
                  <a:pt x="57" y="6109"/>
                  <a:pt x="49" y="6103"/>
                  <a:pt x="43" y="6097"/>
                </a:cubicBezTo>
                <a:cubicBezTo>
                  <a:pt x="36" y="6090"/>
                  <a:pt x="30" y="6082"/>
                  <a:pt x="24" y="6075"/>
                </a:cubicBezTo>
                <a:cubicBezTo>
                  <a:pt x="19" y="6067"/>
                  <a:pt x="15" y="6058"/>
                  <a:pt x="11" y="6049"/>
                </a:cubicBezTo>
                <a:cubicBezTo>
                  <a:pt x="7" y="6041"/>
                  <a:pt x="5" y="6031"/>
                  <a:pt x="3" y="6022"/>
                </a:cubicBezTo>
                <a:cubicBezTo>
                  <a:pt x="1" y="6013"/>
                  <a:pt x="0" y="6003"/>
                  <a:pt x="0" y="5994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4" name=""/>
          <p:cNvSpPr/>
          <p:nvPr/>
        </p:nvSpPr>
        <p:spPr>
          <a:xfrm>
            <a:off x="752400" y="6495840"/>
            <a:ext cx="66960" cy="829080"/>
          </a:xfrm>
          <a:custGeom>
            <a:avLst/>
            <a:gdLst/>
            <a:ahLst/>
            <a:rect l="0" t="0" r="r" b="b"/>
            <a:pathLst>
              <a:path w="186" h="2303">
                <a:moveTo>
                  <a:pt x="0" y="0"/>
                </a:moveTo>
                <a:lnTo>
                  <a:pt x="186" y="0"/>
                </a:lnTo>
                <a:lnTo>
                  <a:pt x="186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5" name=""/>
          <p:cNvSpPr txBox="1"/>
          <p:nvPr/>
        </p:nvSpPr>
        <p:spPr>
          <a:xfrm>
            <a:off x="747720" y="770400"/>
            <a:ext cx="641520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0 — How Apache prefork works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6" name=""/>
          <p:cNvSpPr txBox="1"/>
          <p:nvPr/>
        </p:nvSpPr>
        <p:spPr>
          <a:xfrm>
            <a:off x="747720" y="1502640"/>
            <a:ext cx="4621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Each connection = one OS process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7" name=""/>
          <p:cNvSpPr txBox="1"/>
          <p:nvPr/>
        </p:nvSpPr>
        <p:spPr>
          <a:xfrm>
            <a:off x="914400" y="2185560"/>
            <a:ext cx="22532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Browser connects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8" name=""/>
          <p:cNvSpPr txBox="1"/>
          <p:nvPr/>
        </p:nvSpPr>
        <p:spPr>
          <a:xfrm>
            <a:off x="914400" y="2452320"/>
            <a:ext cx="46472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→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Apache forks a worker process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9" name=""/>
          <p:cNvSpPr txBox="1"/>
          <p:nvPr/>
        </p:nvSpPr>
        <p:spPr>
          <a:xfrm>
            <a:off x="914400" y="2728440"/>
            <a:ext cx="60555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→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worker loads PHP + WordPress into RAM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0" name=""/>
          <p:cNvSpPr txBox="1"/>
          <p:nvPr/>
        </p:nvSpPr>
        <p:spPr>
          <a:xfrm>
            <a:off x="914400" y="2995200"/>
            <a:ext cx="43653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→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PHP runs, queries MySQL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1" name=""/>
          <p:cNvSpPr txBox="1"/>
          <p:nvPr/>
        </p:nvSpPr>
        <p:spPr>
          <a:xfrm>
            <a:off x="914400" y="3261960"/>
            <a:ext cx="32392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→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response sent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2" name=""/>
          <p:cNvSpPr txBox="1"/>
          <p:nvPr/>
        </p:nvSpPr>
        <p:spPr>
          <a:xfrm>
            <a:off x="914400" y="3538080"/>
            <a:ext cx="54918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→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worker stays alive, waiting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3" name=""/>
          <p:cNvSpPr txBox="1"/>
          <p:nvPr/>
        </p:nvSpPr>
        <p:spPr>
          <a:xfrm>
            <a:off x="914400" y="3804840"/>
            <a:ext cx="49280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(idle, ~32 MB RAM held)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4" name=""/>
          <p:cNvSpPr/>
          <p:nvPr/>
        </p:nvSpPr>
        <p:spPr>
          <a:xfrm>
            <a:off x="1076040" y="51339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4"/>
                  <a:pt x="236" y="151"/>
                  <a:pt x="230" y="165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4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4" y="46"/>
                  <a:pt x="35" y="34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3"/>
                  <a:pt x="204" y="34"/>
                </a:cubicBezTo>
                <a:cubicBezTo>
                  <a:pt x="215" y="46"/>
                  <a:pt x="223" y="58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5" name=""/>
          <p:cNvSpPr txBox="1"/>
          <p:nvPr/>
        </p:nvSpPr>
        <p:spPr>
          <a:xfrm>
            <a:off x="747720" y="4436280"/>
            <a:ext cx="174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The problem: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6" name=""/>
          <p:cNvSpPr/>
          <p:nvPr/>
        </p:nvSpPr>
        <p:spPr>
          <a:xfrm>
            <a:off x="1076040" y="56196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3" y="179"/>
                  <a:pt x="215" y="192"/>
                  <a:pt x="204" y="203"/>
                </a:cubicBezTo>
                <a:cubicBezTo>
                  <a:pt x="192" y="214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4"/>
                  <a:pt x="35" y="203"/>
                </a:cubicBezTo>
                <a:cubicBezTo>
                  <a:pt x="24" y="192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7" name=""/>
          <p:cNvSpPr txBox="1"/>
          <p:nvPr/>
        </p:nvSpPr>
        <p:spPr>
          <a:xfrm>
            <a:off x="1300320" y="5007960"/>
            <a:ext cx="5066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60 idle workers = 1.9 GB RAM consumed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8" name=""/>
          <p:cNvSpPr/>
          <p:nvPr/>
        </p:nvSpPr>
        <p:spPr>
          <a:xfrm>
            <a:off x="1076040" y="60958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3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9" name=""/>
          <p:cNvSpPr txBox="1"/>
          <p:nvPr/>
        </p:nvSpPr>
        <p:spPr>
          <a:xfrm>
            <a:off x="1300320" y="5493600"/>
            <a:ext cx="3066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Browser #61 gets: queue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0" name=""/>
          <p:cNvSpPr txBox="1"/>
          <p:nvPr/>
        </p:nvSpPr>
        <p:spPr>
          <a:xfrm>
            <a:off x="1300320" y="5969880"/>
            <a:ext cx="2911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Browser #200 gets: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503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1" name=""/>
          <p:cNvSpPr txBox="1"/>
          <p:nvPr/>
        </p:nvSpPr>
        <p:spPr>
          <a:xfrm>
            <a:off x="1090440" y="6541200"/>
            <a:ext cx="68540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The process model was designed for static files in 1996.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445" name="" descr=""/>
          <p:cNvPicPr/>
          <p:nvPr/>
        </p:nvPicPr>
        <p:blipFill>
          <a:blip r:embed="rId1"/>
          <a:stretch/>
        </p:blipFill>
        <p:spPr>
          <a:xfrm>
            <a:off x="752400" y="1457280"/>
            <a:ext cx="8572320" cy="5143320"/>
          </a:xfrm>
          <a:prstGeom prst="rect">
            <a:avLst/>
          </a:prstGeom>
          <a:ln w="0">
            <a:noFill/>
          </a:ln>
        </p:spPr>
      </p:pic>
      <p:sp>
        <p:nvSpPr>
          <p:cNvPr id="446" name=""/>
          <p:cNvSpPr txBox="1"/>
          <p:nvPr/>
        </p:nvSpPr>
        <p:spPr>
          <a:xfrm>
            <a:off x="747720" y="770400"/>
            <a:ext cx="299844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The Apache math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0" name=""/>
          <p:cNvSpPr/>
          <p:nvPr/>
        </p:nvSpPr>
        <p:spPr>
          <a:xfrm>
            <a:off x="780840" y="830160"/>
            <a:ext cx="362160" cy="254880"/>
          </a:xfrm>
          <a:custGeom>
            <a:avLst/>
            <a:gdLst/>
            <a:ahLst/>
            <a:rect l="0" t="0" r="r" b="b"/>
            <a:pathLst>
              <a:path w="1006" h="708">
                <a:moveTo>
                  <a:pt x="0" y="109"/>
                </a:moveTo>
                <a:cubicBezTo>
                  <a:pt x="0" y="109"/>
                  <a:pt x="0" y="0"/>
                  <a:pt x="112" y="0"/>
                </a:cubicBezTo>
                <a:lnTo>
                  <a:pt x="895" y="0"/>
                </a:lnTo>
                <a:cubicBezTo>
                  <a:pt x="895" y="0"/>
                  <a:pt x="1006" y="0"/>
                  <a:pt x="1006" y="109"/>
                </a:cubicBezTo>
                <a:lnTo>
                  <a:pt x="1006" y="599"/>
                </a:lnTo>
                <a:cubicBezTo>
                  <a:pt x="1006" y="599"/>
                  <a:pt x="1006" y="708"/>
                  <a:pt x="895" y="708"/>
                </a:cubicBezTo>
                <a:lnTo>
                  <a:pt x="112" y="708"/>
                </a:lnTo>
                <a:cubicBezTo>
                  <a:pt x="112" y="708"/>
                  <a:pt x="0" y="708"/>
                  <a:pt x="0" y="599"/>
                </a:cubicBezTo>
                <a:lnTo>
                  <a:pt x="0" y="109"/>
                </a:ln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1" name=""/>
          <p:cNvSpPr/>
          <p:nvPr/>
        </p:nvSpPr>
        <p:spPr>
          <a:xfrm>
            <a:off x="891360" y="859320"/>
            <a:ext cx="201600" cy="196200"/>
          </a:xfrm>
          <a:custGeom>
            <a:avLst/>
            <a:gdLst/>
            <a:ahLst/>
            <a:rect l="0" t="0" r="r" b="b"/>
            <a:pathLst>
              <a:path w="560" h="545">
                <a:moveTo>
                  <a:pt x="560" y="273"/>
                </a:moveTo>
                <a:cubicBezTo>
                  <a:pt x="560" y="291"/>
                  <a:pt x="558" y="309"/>
                  <a:pt x="554" y="326"/>
                </a:cubicBezTo>
                <a:cubicBezTo>
                  <a:pt x="551" y="344"/>
                  <a:pt x="546" y="361"/>
                  <a:pt x="539" y="377"/>
                </a:cubicBezTo>
                <a:cubicBezTo>
                  <a:pt x="532" y="394"/>
                  <a:pt x="523" y="410"/>
                  <a:pt x="513" y="424"/>
                </a:cubicBezTo>
                <a:cubicBezTo>
                  <a:pt x="503" y="439"/>
                  <a:pt x="491" y="453"/>
                  <a:pt x="478" y="466"/>
                </a:cubicBezTo>
                <a:cubicBezTo>
                  <a:pt x="465" y="478"/>
                  <a:pt x="451" y="489"/>
                  <a:pt x="436" y="499"/>
                </a:cubicBezTo>
                <a:cubicBezTo>
                  <a:pt x="420" y="509"/>
                  <a:pt x="404" y="518"/>
                  <a:pt x="387" y="525"/>
                </a:cubicBezTo>
                <a:cubicBezTo>
                  <a:pt x="371" y="531"/>
                  <a:pt x="353" y="537"/>
                  <a:pt x="335" y="540"/>
                </a:cubicBezTo>
                <a:cubicBezTo>
                  <a:pt x="317" y="543"/>
                  <a:pt x="299" y="545"/>
                  <a:pt x="281" y="545"/>
                </a:cubicBezTo>
                <a:cubicBezTo>
                  <a:pt x="262" y="545"/>
                  <a:pt x="244" y="543"/>
                  <a:pt x="226" y="540"/>
                </a:cubicBezTo>
                <a:cubicBezTo>
                  <a:pt x="208" y="537"/>
                  <a:pt x="191" y="531"/>
                  <a:pt x="174" y="525"/>
                </a:cubicBezTo>
                <a:cubicBezTo>
                  <a:pt x="157" y="518"/>
                  <a:pt x="141" y="509"/>
                  <a:pt x="125" y="499"/>
                </a:cubicBezTo>
                <a:cubicBezTo>
                  <a:pt x="110" y="489"/>
                  <a:pt x="96" y="478"/>
                  <a:pt x="83" y="466"/>
                </a:cubicBezTo>
                <a:cubicBezTo>
                  <a:pt x="70" y="453"/>
                  <a:pt x="59" y="439"/>
                  <a:pt x="48" y="424"/>
                </a:cubicBezTo>
                <a:cubicBezTo>
                  <a:pt x="38" y="410"/>
                  <a:pt x="29" y="394"/>
                  <a:pt x="22" y="377"/>
                </a:cubicBezTo>
                <a:cubicBezTo>
                  <a:pt x="15" y="361"/>
                  <a:pt x="9" y="344"/>
                  <a:pt x="6" y="326"/>
                </a:cubicBezTo>
                <a:cubicBezTo>
                  <a:pt x="2" y="309"/>
                  <a:pt x="0" y="291"/>
                  <a:pt x="0" y="273"/>
                </a:cubicBezTo>
                <a:cubicBezTo>
                  <a:pt x="0" y="255"/>
                  <a:pt x="2" y="238"/>
                  <a:pt x="6" y="220"/>
                </a:cubicBezTo>
                <a:cubicBezTo>
                  <a:pt x="9" y="203"/>
                  <a:pt x="15" y="186"/>
                  <a:pt x="22" y="169"/>
                </a:cubicBezTo>
                <a:cubicBezTo>
                  <a:pt x="29" y="153"/>
                  <a:pt x="38" y="137"/>
                  <a:pt x="48" y="122"/>
                </a:cubicBezTo>
                <a:cubicBezTo>
                  <a:pt x="59" y="107"/>
                  <a:pt x="70" y="94"/>
                  <a:pt x="83" y="81"/>
                </a:cubicBezTo>
                <a:cubicBezTo>
                  <a:pt x="96" y="68"/>
                  <a:pt x="110" y="56"/>
                  <a:pt x="125" y="46"/>
                </a:cubicBezTo>
                <a:cubicBezTo>
                  <a:pt x="141" y="36"/>
                  <a:pt x="157" y="28"/>
                  <a:pt x="174" y="21"/>
                </a:cubicBezTo>
                <a:cubicBezTo>
                  <a:pt x="191" y="14"/>
                  <a:pt x="208" y="9"/>
                  <a:pt x="226" y="6"/>
                </a:cubicBezTo>
                <a:cubicBezTo>
                  <a:pt x="244" y="2"/>
                  <a:pt x="262" y="0"/>
                  <a:pt x="281" y="0"/>
                </a:cubicBezTo>
                <a:cubicBezTo>
                  <a:pt x="299" y="0"/>
                  <a:pt x="317" y="2"/>
                  <a:pt x="335" y="6"/>
                </a:cubicBezTo>
                <a:cubicBezTo>
                  <a:pt x="353" y="9"/>
                  <a:pt x="371" y="14"/>
                  <a:pt x="387" y="21"/>
                </a:cubicBezTo>
                <a:cubicBezTo>
                  <a:pt x="404" y="28"/>
                  <a:pt x="420" y="36"/>
                  <a:pt x="436" y="46"/>
                </a:cubicBezTo>
                <a:cubicBezTo>
                  <a:pt x="451" y="56"/>
                  <a:pt x="465" y="68"/>
                  <a:pt x="478" y="81"/>
                </a:cubicBezTo>
                <a:cubicBezTo>
                  <a:pt x="491" y="94"/>
                  <a:pt x="503" y="107"/>
                  <a:pt x="513" y="122"/>
                </a:cubicBezTo>
                <a:cubicBezTo>
                  <a:pt x="523" y="137"/>
                  <a:pt x="532" y="153"/>
                  <a:pt x="539" y="169"/>
                </a:cubicBezTo>
                <a:cubicBezTo>
                  <a:pt x="546" y="186"/>
                  <a:pt x="551" y="203"/>
                  <a:pt x="554" y="220"/>
                </a:cubicBezTo>
                <a:cubicBezTo>
                  <a:pt x="558" y="238"/>
                  <a:pt x="560" y="255"/>
                  <a:pt x="560" y="273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2" name=""/>
          <p:cNvSpPr/>
          <p:nvPr/>
        </p:nvSpPr>
        <p:spPr>
          <a:xfrm>
            <a:off x="911520" y="879120"/>
            <a:ext cx="161280" cy="156960"/>
          </a:xfrm>
          <a:custGeom>
            <a:avLst/>
            <a:gdLst/>
            <a:ahLst/>
            <a:rect l="0" t="0" r="r" b="b"/>
            <a:pathLst>
              <a:path w="448" h="436">
                <a:moveTo>
                  <a:pt x="448" y="217"/>
                </a:moveTo>
                <a:cubicBezTo>
                  <a:pt x="448" y="232"/>
                  <a:pt x="447" y="246"/>
                  <a:pt x="444" y="260"/>
                </a:cubicBezTo>
                <a:cubicBezTo>
                  <a:pt x="441" y="274"/>
                  <a:pt x="437" y="287"/>
                  <a:pt x="431" y="301"/>
                </a:cubicBezTo>
                <a:cubicBezTo>
                  <a:pt x="425" y="314"/>
                  <a:pt x="418" y="326"/>
                  <a:pt x="410" y="338"/>
                </a:cubicBezTo>
                <a:cubicBezTo>
                  <a:pt x="402" y="350"/>
                  <a:pt x="393" y="361"/>
                  <a:pt x="383" y="371"/>
                </a:cubicBezTo>
                <a:cubicBezTo>
                  <a:pt x="372" y="381"/>
                  <a:pt x="360" y="391"/>
                  <a:pt x="348" y="399"/>
                </a:cubicBezTo>
                <a:cubicBezTo>
                  <a:pt x="336" y="407"/>
                  <a:pt x="323" y="414"/>
                  <a:pt x="309" y="419"/>
                </a:cubicBezTo>
                <a:cubicBezTo>
                  <a:pt x="296" y="425"/>
                  <a:pt x="282" y="429"/>
                  <a:pt x="267" y="432"/>
                </a:cubicBezTo>
                <a:cubicBezTo>
                  <a:pt x="253" y="434"/>
                  <a:pt x="238" y="436"/>
                  <a:pt x="224" y="436"/>
                </a:cubicBezTo>
                <a:cubicBezTo>
                  <a:pt x="209" y="436"/>
                  <a:pt x="194" y="434"/>
                  <a:pt x="180" y="432"/>
                </a:cubicBezTo>
                <a:cubicBezTo>
                  <a:pt x="166" y="429"/>
                  <a:pt x="152" y="425"/>
                  <a:pt x="138" y="419"/>
                </a:cubicBezTo>
                <a:cubicBezTo>
                  <a:pt x="125" y="414"/>
                  <a:pt x="112" y="407"/>
                  <a:pt x="99" y="399"/>
                </a:cubicBezTo>
                <a:cubicBezTo>
                  <a:pt x="87" y="391"/>
                  <a:pt x="76" y="381"/>
                  <a:pt x="66" y="371"/>
                </a:cubicBezTo>
                <a:cubicBezTo>
                  <a:pt x="55" y="361"/>
                  <a:pt x="46" y="350"/>
                  <a:pt x="38" y="338"/>
                </a:cubicBezTo>
                <a:cubicBezTo>
                  <a:pt x="30" y="326"/>
                  <a:pt x="23" y="314"/>
                  <a:pt x="17" y="301"/>
                </a:cubicBezTo>
                <a:cubicBezTo>
                  <a:pt x="12" y="287"/>
                  <a:pt x="7" y="274"/>
                  <a:pt x="4" y="260"/>
                </a:cubicBezTo>
                <a:cubicBezTo>
                  <a:pt x="2" y="246"/>
                  <a:pt x="0" y="232"/>
                  <a:pt x="0" y="217"/>
                </a:cubicBezTo>
                <a:cubicBezTo>
                  <a:pt x="0" y="203"/>
                  <a:pt x="2" y="189"/>
                  <a:pt x="4" y="175"/>
                </a:cubicBezTo>
                <a:cubicBezTo>
                  <a:pt x="7" y="161"/>
                  <a:pt x="12" y="147"/>
                  <a:pt x="17" y="134"/>
                </a:cubicBezTo>
                <a:cubicBezTo>
                  <a:pt x="23" y="121"/>
                  <a:pt x="30" y="108"/>
                  <a:pt x="38" y="96"/>
                </a:cubicBezTo>
                <a:cubicBezTo>
                  <a:pt x="46" y="85"/>
                  <a:pt x="55" y="74"/>
                  <a:pt x="66" y="63"/>
                </a:cubicBezTo>
                <a:cubicBezTo>
                  <a:pt x="76" y="53"/>
                  <a:pt x="87" y="44"/>
                  <a:pt x="99" y="36"/>
                </a:cubicBezTo>
                <a:cubicBezTo>
                  <a:pt x="112" y="28"/>
                  <a:pt x="125" y="22"/>
                  <a:pt x="138" y="16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4" y="1"/>
                  <a:pt x="209" y="0"/>
                  <a:pt x="224" y="0"/>
                </a:cubicBezTo>
                <a:cubicBezTo>
                  <a:pt x="238" y="0"/>
                  <a:pt x="253" y="1"/>
                  <a:pt x="267" y="4"/>
                </a:cubicBezTo>
                <a:cubicBezTo>
                  <a:pt x="282" y="7"/>
                  <a:pt x="296" y="11"/>
                  <a:pt x="309" y="16"/>
                </a:cubicBezTo>
                <a:cubicBezTo>
                  <a:pt x="323" y="22"/>
                  <a:pt x="336" y="28"/>
                  <a:pt x="348" y="36"/>
                </a:cubicBezTo>
                <a:cubicBezTo>
                  <a:pt x="360" y="44"/>
                  <a:pt x="372" y="53"/>
                  <a:pt x="383" y="63"/>
                </a:cubicBezTo>
                <a:cubicBezTo>
                  <a:pt x="393" y="74"/>
                  <a:pt x="402" y="85"/>
                  <a:pt x="410" y="96"/>
                </a:cubicBezTo>
                <a:cubicBezTo>
                  <a:pt x="418" y="108"/>
                  <a:pt x="425" y="121"/>
                  <a:pt x="431" y="134"/>
                </a:cubicBezTo>
                <a:cubicBezTo>
                  <a:pt x="437" y="147"/>
                  <a:pt x="441" y="161"/>
                  <a:pt x="444" y="175"/>
                </a:cubicBezTo>
                <a:cubicBezTo>
                  <a:pt x="447" y="189"/>
                  <a:pt x="448" y="203"/>
                  <a:pt x="448" y="217"/>
                </a:cubicBez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3" name=""/>
          <p:cNvSpPr/>
          <p:nvPr/>
        </p:nvSpPr>
        <p:spPr>
          <a:xfrm>
            <a:off x="941760" y="908280"/>
            <a:ext cx="100800" cy="98280"/>
          </a:xfrm>
          <a:custGeom>
            <a:avLst/>
            <a:gdLst/>
            <a:ahLst/>
            <a:rect l="0" t="0" r="r" b="b"/>
            <a:pathLst>
              <a:path w="280" h="273">
                <a:moveTo>
                  <a:pt x="280" y="137"/>
                </a:moveTo>
                <a:cubicBezTo>
                  <a:pt x="280" y="155"/>
                  <a:pt x="277" y="173"/>
                  <a:pt x="270" y="189"/>
                </a:cubicBezTo>
                <a:cubicBezTo>
                  <a:pt x="263" y="206"/>
                  <a:pt x="252" y="221"/>
                  <a:pt x="239" y="233"/>
                </a:cubicBezTo>
                <a:cubicBezTo>
                  <a:pt x="226" y="246"/>
                  <a:pt x="211" y="256"/>
                  <a:pt x="194" y="263"/>
                </a:cubicBezTo>
                <a:cubicBezTo>
                  <a:pt x="177" y="270"/>
                  <a:pt x="159" y="273"/>
                  <a:pt x="141" y="273"/>
                </a:cubicBezTo>
                <a:cubicBezTo>
                  <a:pt x="122" y="273"/>
                  <a:pt x="104" y="270"/>
                  <a:pt x="87" y="263"/>
                </a:cubicBezTo>
                <a:cubicBezTo>
                  <a:pt x="70" y="256"/>
                  <a:pt x="55" y="246"/>
                  <a:pt x="42" y="233"/>
                </a:cubicBezTo>
                <a:cubicBezTo>
                  <a:pt x="28" y="221"/>
                  <a:pt x="18" y="206"/>
                  <a:pt x="11" y="189"/>
                </a:cubicBezTo>
                <a:cubicBezTo>
                  <a:pt x="3" y="173"/>
                  <a:pt x="0" y="155"/>
                  <a:pt x="0" y="137"/>
                </a:cubicBezTo>
                <a:cubicBezTo>
                  <a:pt x="0" y="119"/>
                  <a:pt x="3" y="102"/>
                  <a:pt x="11" y="85"/>
                </a:cubicBezTo>
                <a:cubicBezTo>
                  <a:pt x="18" y="69"/>
                  <a:pt x="28" y="54"/>
                  <a:pt x="42" y="40"/>
                </a:cubicBezTo>
                <a:cubicBezTo>
                  <a:pt x="55" y="27"/>
                  <a:pt x="70" y="18"/>
                  <a:pt x="87" y="11"/>
                </a:cubicBezTo>
                <a:cubicBezTo>
                  <a:pt x="104" y="4"/>
                  <a:pt x="122" y="0"/>
                  <a:pt x="141" y="0"/>
                </a:cubicBezTo>
                <a:cubicBezTo>
                  <a:pt x="159" y="0"/>
                  <a:pt x="177" y="4"/>
                  <a:pt x="194" y="11"/>
                </a:cubicBezTo>
                <a:cubicBezTo>
                  <a:pt x="211" y="18"/>
                  <a:pt x="226" y="27"/>
                  <a:pt x="239" y="40"/>
                </a:cubicBezTo>
                <a:cubicBezTo>
                  <a:pt x="252" y="54"/>
                  <a:pt x="263" y="69"/>
                  <a:pt x="270" y="85"/>
                </a:cubicBezTo>
                <a:cubicBezTo>
                  <a:pt x="277" y="102"/>
                  <a:pt x="280" y="119"/>
                  <a:pt x="280" y="137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4" name=""/>
          <p:cNvSpPr/>
          <p:nvPr/>
        </p:nvSpPr>
        <p:spPr>
          <a:xfrm>
            <a:off x="1092600" y="849600"/>
            <a:ext cx="30600" cy="29880"/>
          </a:xfrm>
          <a:custGeom>
            <a:avLst/>
            <a:gdLst/>
            <a:ahLst/>
            <a:rect l="0" t="0" r="r" b="b"/>
            <a:pathLst>
              <a:path w="85" h="83">
                <a:moveTo>
                  <a:pt x="85" y="42"/>
                </a:moveTo>
                <a:cubicBezTo>
                  <a:pt x="85" y="47"/>
                  <a:pt x="84" y="53"/>
                  <a:pt x="81" y="58"/>
                </a:cubicBezTo>
                <a:cubicBezTo>
                  <a:pt x="79" y="63"/>
                  <a:pt x="75" y="67"/>
                  <a:pt x="71" y="71"/>
                </a:cubicBezTo>
                <a:cubicBezTo>
                  <a:pt x="67" y="75"/>
                  <a:pt x="63" y="78"/>
                  <a:pt x="58" y="80"/>
                </a:cubicBezTo>
                <a:cubicBezTo>
                  <a:pt x="53" y="82"/>
                  <a:pt x="47" y="83"/>
                  <a:pt x="42" y="83"/>
                </a:cubicBezTo>
                <a:cubicBezTo>
                  <a:pt x="36" y="83"/>
                  <a:pt x="31" y="82"/>
                  <a:pt x="26" y="80"/>
                </a:cubicBezTo>
                <a:cubicBezTo>
                  <a:pt x="21" y="78"/>
                  <a:pt x="16" y="75"/>
                  <a:pt x="12" y="71"/>
                </a:cubicBezTo>
                <a:cubicBezTo>
                  <a:pt x="8" y="67"/>
                  <a:pt x="5" y="63"/>
                  <a:pt x="3" y="58"/>
                </a:cubicBezTo>
                <a:cubicBezTo>
                  <a:pt x="1" y="53"/>
                  <a:pt x="0" y="47"/>
                  <a:pt x="0" y="42"/>
                </a:cubicBezTo>
                <a:cubicBezTo>
                  <a:pt x="0" y="37"/>
                  <a:pt x="1" y="31"/>
                  <a:pt x="3" y="25"/>
                </a:cubicBezTo>
                <a:cubicBezTo>
                  <a:pt x="5" y="20"/>
                  <a:pt x="8" y="16"/>
                  <a:pt x="12" y="12"/>
                </a:cubicBezTo>
                <a:cubicBezTo>
                  <a:pt x="16" y="8"/>
                  <a:pt x="21" y="5"/>
                  <a:pt x="26" y="3"/>
                </a:cubicBezTo>
                <a:cubicBezTo>
                  <a:pt x="31" y="1"/>
                  <a:pt x="36" y="0"/>
                  <a:pt x="42" y="0"/>
                </a:cubicBezTo>
                <a:cubicBezTo>
                  <a:pt x="47" y="0"/>
                  <a:pt x="53" y="1"/>
                  <a:pt x="58" y="3"/>
                </a:cubicBezTo>
                <a:cubicBezTo>
                  <a:pt x="63" y="5"/>
                  <a:pt x="67" y="8"/>
                  <a:pt x="71" y="12"/>
                </a:cubicBezTo>
                <a:cubicBezTo>
                  <a:pt x="75" y="16"/>
                  <a:pt x="79" y="20"/>
                  <a:pt x="81" y="25"/>
                </a:cubicBezTo>
                <a:cubicBezTo>
                  <a:pt x="84" y="31"/>
                  <a:pt x="85" y="37"/>
                  <a:pt x="85" y="4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5" name=""/>
          <p:cNvSpPr/>
          <p:nvPr/>
        </p:nvSpPr>
        <p:spPr>
          <a:xfrm>
            <a:off x="780840" y="771480"/>
            <a:ext cx="211680" cy="215640"/>
          </a:xfrm>
          <a:custGeom>
            <a:avLst/>
            <a:gdLst/>
            <a:ahLst/>
            <a:rect l="0" t="0" r="r" b="b"/>
            <a:pathLst>
              <a:path w="588" h="599">
                <a:moveTo>
                  <a:pt x="447" y="244"/>
                </a:moveTo>
                <a:lnTo>
                  <a:pt x="532" y="81"/>
                </a:lnTo>
                <a:lnTo>
                  <a:pt x="363" y="136"/>
                </a:lnTo>
                <a:lnTo>
                  <a:pt x="251" y="0"/>
                </a:lnTo>
                <a:lnTo>
                  <a:pt x="196" y="136"/>
                </a:lnTo>
                <a:lnTo>
                  <a:pt x="28" y="108"/>
                </a:lnTo>
                <a:lnTo>
                  <a:pt x="140" y="272"/>
                </a:lnTo>
                <a:lnTo>
                  <a:pt x="0" y="380"/>
                </a:lnTo>
                <a:lnTo>
                  <a:pt x="168" y="380"/>
                </a:lnTo>
                <a:lnTo>
                  <a:pt x="112" y="543"/>
                </a:lnTo>
                <a:lnTo>
                  <a:pt x="279" y="462"/>
                </a:lnTo>
                <a:lnTo>
                  <a:pt x="447" y="599"/>
                </a:lnTo>
                <a:lnTo>
                  <a:pt x="419" y="380"/>
                </a:lnTo>
                <a:lnTo>
                  <a:pt x="588" y="353"/>
                </a:lnTo>
                <a:lnTo>
                  <a:pt x="447" y="244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6" name=""/>
          <p:cNvSpPr/>
          <p:nvPr/>
        </p:nvSpPr>
        <p:spPr>
          <a:xfrm>
            <a:off x="831240" y="810360"/>
            <a:ext cx="110880" cy="127800"/>
          </a:xfrm>
          <a:custGeom>
            <a:avLst/>
            <a:gdLst/>
            <a:ahLst/>
            <a:rect l="0" t="0" r="r" b="b"/>
            <a:pathLst>
              <a:path w="308" h="355">
                <a:moveTo>
                  <a:pt x="139" y="273"/>
                </a:moveTo>
                <a:lnTo>
                  <a:pt x="56" y="328"/>
                </a:lnTo>
                <a:lnTo>
                  <a:pt x="84" y="246"/>
                </a:lnTo>
                <a:lnTo>
                  <a:pt x="0" y="219"/>
                </a:lnTo>
                <a:lnTo>
                  <a:pt x="84" y="165"/>
                </a:lnTo>
                <a:lnTo>
                  <a:pt x="0" y="83"/>
                </a:lnTo>
                <a:lnTo>
                  <a:pt x="111" y="83"/>
                </a:lnTo>
                <a:lnTo>
                  <a:pt x="139" y="0"/>
                </a:lnTo>
                <a:lnTo>
                  <a:pt x="195" y="83"/>
                </a:lnTo>
                <a:lnTo>
                  <a:pt x="279" y="56"/>
                </a:lnTo>
                <a:lnTo>
                  <a:pt x="223" y="137"/>
                </a:lnTo>
                <a:lnTo>
                  <a:pt x="308" y="219"/>
                </a:lnTo>
                <a:lnTo>
                  <a:pt x="223" y="246"/>
                </a:lnTo>
                <a:lnTo>
                  <a:pt x="251" y="355"/>
                </a:lnTo>
                <a:lnTo>
                  <a:pt x="139" y="273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457" name="" descr=""/>
          <p:cNvPicPr/>
          <p:nvPr/>
        </p:nvPicPr>
        <p:blipFill>
          <a:blip r:embed="rId1"/>
          <a:stretch/>
        </p:blipFill>
        <p:spPr>
          <a:xfrm>
            <a:off x="752400" y="1457280"/>
            <a:ext cx="10096200" cy="5676480"/>
          </a:xfrm>
          <a:prstGeom prst="rect">
            <a:avLst/>
          </a:prstGeom>
          <a:ln w="0">
            <a:noFill/>
          </a:ln>
        </p:spPr>
      </p:pic>
      <p:sp>
        <p:nvSpPr>
          <p:cNvPr id="458" name=""/>
          <p:cNvSpPr txBox="1"/>
          <p:nvPr/>
        </p:nvSpPr>
        <p:spPr>
          <a:xfrm>
            <a:off x="1160280" y="770400"/>
            <a:ext cx="981360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0 — Baseline (50 Virtual Users — before the storm)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2" name=""/>
          <p:cNvSpPr/>
          <p:nvPr/>
        </p:nvSpPr>
        <p:spPr>
          <a:xfrm>
            <a:off x="780840" y="830160"/>
            <a:ext cx="362160" cy="254880"/>
          </a:xfrm>
          <a:custGeom>
            <a:avLst/>
            <a:gdLst/>
            <a:ahLst/>
            <a:rect l="0" t="0" r="r" b="b"/>
            <a:pathLst>
              <a:path w="1006" h="708">
                <a:moveTo>
                  <a:pt x="0" y="109"/>
                </a:moveTo>
                <a:cubicBezTo>
                  <a:pt x="0" y="109"/>
                  <a:pt x="0" y="0"/>
                  <a:pt x="112" y="0"/>
                </a:cubicBezTo>
                <a:lnTo>
                  <a:pt x="895" y="0"/>
                </a:lnTo>
                <a:cubicBezTo>
                  <a:pt x="895" y="0"/>
                  <a:pt x="1006" y="0"/>
                  <a:pt x="1006" y="109"/>
                </a:cubicBezTo>
                <a:lnTo>
                  <a:pt x="1006" y="599"/>
                </a:lnTo>
                <a:cubicBezTo>
                  <a:pt x="1006" y="599"/>
                  <a:pt x="1006" y="708"/>
                  <a:pt x="895" y="708"/>
                </a:cubicBezTo>
                <a:lnTo>
                  <a:pt x="112" y="708"/>
                </a:lnTo>
                <a:cubicBezTo>
                  <a:pt x="112" y="708"/>
                  <a:pt x="0" y="708"/>
                  <a:pt x="0" y="599"/>
                </a:cubicBezTo>
                <a:lnTo>
                  <a:pt x="0" y="109"/>
                </a:ln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3" name=""/>
          <p:cNvSpPr/>
          <p:nvPr/>
        </p:nvSpPr>
        <p:spPr>
          <a:xfrm>
            <a:off x="891360" y="859320"/>
            <a:ext cx="201600" cy="196200"/>
          </a:xfrm>
          <a:custGeom>
            <a:avLst/>
            <a:gdLst/>
            <a:ahLst/>
            <a:rect l="0" t="0" r="r" b="b"/>
            <a:pathLst>
              <a:path w="560" h="545">
                <a:moveTo>
                  <a:pt x="560" y="273"/>
                </a:moveTo>
                <a:cubicBezTo>
                  <a:pt x="560" y="291"/>
                  <a:pt x="558" y="309"/>
                  <a:pt x="554" y="326"/>
                </a:cubicBezTo>
                <a:cubicBezTo>
                  <a:pt x="551" y="344"/>
                  <a:pt x="546" y="361"/>
                  <a:pt x="539" y="377"/>
                </a:cubicBezTo>
                <a:cubicBezTo>
                  <a:pt x="532" y="394"/>
                  <a:pt x="523" y="410"/>
                  <a:pt x="513" y="424"/>
                </a:cubicBezTo>
                <a:cubicBezTo>
                  <a:pt x="503" y="439"/>
                  <a:pt x="491" y="453"/>
                  <a:pt x="478" y="466"/>
                </a:cubicBezTo>
                <a:cubicBezTo>
                  <a:pt x="465" y="478"/>
                  <a:pt x="451" y="489"/>
                  <a:pt x="436" y="499"/>
                </a:cubicBezTo>
                <a:cubicBezTo>
                  <a:pt x="420" y="509"/>
                  <a:pt x="404" y="518"/>
                  <a:pt x="387" y="525"/>
                </a:cubicBezTo>
                <a:cubicBezTo>
                  <a:pt x="371" y="531"/>
                  <a:pt x="353" y="537"/>
                  <a:pt x="335" y="540"/>
                </a:cubicBezTo>
                <a:cubicBezTo>
                  <a:pt x="317" y="543"/>
                  <a:pt x="299" y="545"/>
                  <a:pt x="281" y="545"/>
                </a:cubicBezTo>
                <a:cubicBezTo>
                  <a:pt x="262" y="545"/>
                  <a:pt x="244" y="543"/>
                  <a:pt x="226" y="540"/>
                </a:cubicBezTo>
                <a:cubicBezTo>
                  <a:pt x="208" y="537"/>
                  <a:pt x="191" y="531"/>
                  <a:pt x="174" y="525"/>
                </a:cubicBezTo>
                <a:cubicBezTo>
                  <a:pt x="157" y="518"/>
                  <a:pt x="141" y="509"/>
                  <a:pt x="125" y="499"/>
                </a:cubicBezTo>
                <a:cubicBezTo>
                  <a:pt x="110" y="489"/>
                  <a:pt x="96" y="478"/>
                  <a:pt x="83" y="466"/>
                </a:cubicBezTo>
                <a:cubicBezTo>
                  <a:pt x="70" y="453"/>
                  <a:pt x="59" y="439"/>
                  <a:pt x="48" y="424"/>
                </a:cubicBezTo>
                <a:cubicBezTo>
                  <a:pt x="38" y="410"/>
                  <a:pt x="29" y="394"/>
                  <a:pt x="22" y="377"/>
                </a:cubicBezTo>
                <a:cubicBezTo>
                  <a:pt x="15" y="361"/>
                  <a:pt x="9" y="344"/>
                  <a:pt x="6" y="326"/>
                </a:cubicBezTo>
                <a:cubicBezTo>
                  <a:pt x="2" y="309"/>
                  <a:pt x="0" y="291"/>
                  <a:pt x="0" y="273"/>
                </a:cubicBezTo>
                <a:cubicBezTo>
                  <a:pt x="0" y="255"/>
                  <a:pt x="2" y="238"/>
                  <a:pt x="6" y="220"/>
                </a:cubicBezTo>
                <a:cubicBezTo>
                  <a:pt x="9" y="203"/>
                  <a:pt x="15" y="186"/>
                  <a:pt x="22" y="169"/>
                </a:cubicBezTo>
                <a:cubicBezTo>
                  <a:pt x="29" y="153"/>
                  <a:pt x="38" y="137"/>
                  <a:pt x="48" y="122"/>
                </a:cubicBezTo>
                <a:cubicBezTo>
                  <a:pt x="59" y="107"/>
                  <a:pt x="70" y="94"/>
                  <a:pt x="83" y="81"/>
                </a:cubicBezTo>
                <a:cubicBezTo>
                  <a:pt x="96" y="68"/>
                  <a:pt x="110" y="56"/>
                  <a:pt x="125" y="46"/>
                </a:cubicBezTo>
                <a:cubicBezTo>
                  <a:pt x="141" y="36"/>
                  <a:pt x="157" y="28"/>
                  <a:pt x="174" y="21"/>
                </a:cubicBezTo>
                <a:cubicBezTo>
                  <a:pt x="191" y="14"/>
                  <a:pt x="208" y="9"/>
                  <a:pt x="226" y="6"/>
                </a:cubicBezTo>
                <a:cubicBezTo>
                  <a:pt x="244" y="2"/>
                  <a:pt x="262" y="0"/>
                  <a:pt x="281" y="0"/>
                </a:cubicBezTo>
                <a:cubicBezTo>
                  <a:pt x="299" y="0"/>
                  <a:pt x="317" y="2"/>
                  <a:pt x="335" y="6"/>
                </a:cubicBezTo>
                <a:cubicBezTo>
                  <a:pt x="353" y="9"/>
                  <a:pt x="371" y="14"/>
                  <a:pt x="387" y="21"/>
                </a:cubicBezTo>
                <a:cubicBezTo>
                  <a:pt x="404" y="28"/>
                  <a:pt x="420" y="36"/>
                  <a:pt x="436" y="46"/>
                </a:cubicBezTo>
                <a:cubicBezTo>
                  <a:pt x="451" y="56"/>
                  <a:pt x="465" y="68"/>
                  <a:pt x="478" y="81"/>
                </a:cubicBezTo>
                <a:cubicBezTo>
                  <a:pt x="491" y="94"/>
                  <a:pt x="503" y="107"/>
                  <a:pt x="513" y="122"/>
                </a:cubicBezTo>
                <a:cubicBezTo>
                  <a:pt x="523" y="137"/>
                  <a:pt x="532" y="153"/>
                  <a:pt x="539" y="169"/>
                </a:cubicBezTo>
                <a:cubicBezTo>
                  <a:pt x="546" y="186"/>
                  <a:pt x="551" y="203"/>
                  <a:pt x="554" y="220"/>
                </a:cubicBezTo>
                <a:cubicBezTo>
                  <a:pt x="558" y="238"/>
                  <a:pt x="560" y="255"/>
                  <a:pt x="560" y="273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4" name=""/>
          <p:cNvSpPr/>
          <p:nvPr/>
        </p:nvSpPr>
        <p:spPr>
          <a:xfrm>
            <a:off x="911520" y="879120"/>
            <a:ext cx="161280" cy="156960"/>
          </a:xfrm>
          <a:custGeom>
            <a:avLst/>
            <a:gdLst/>
            <a:ahLst/>
            <a:rect l="0" t="0" r="r" b="b"/>
            <a:pathLst>
              <a:path w="448" h="436">
                <a:moveTo>
                  <a:pt x="448" y="217"/>
                </a:moveTo>
                <a:cubicBezTo>
                  <a:pt x="448" y="232"/>
                  <a:pt x="447" y="246"/>
                  <a:pt x="444" y="260"/>
                </a:cubicBezTo>
                <a:cubicBezTo>
                  <a:pt x="441" y="274"/>
                  <a:pt x="437" y="287"/>
                  <a:pt x="431" y="301"/>
                </a:cubicBezTo>
                <a:cubicBezTo>
                  <a:pt x="425" y="314"/>
                  <a:pt x="418" y="326"/>
                  <a:pt x="410" y="338"/>
                </a:cubicBezTo>
                <a:cubicBezTo>
                  <a:pt x="402" y="350"/>
                  <a:pt x="393" y="361"/>
                  <a:pt x="383" y="371"/>
                </a:cubicBezTo>
                <a:cubicBezTo>
                  <a:pt x="372" y="381"/>
                  <a:pt x="360" y="391"/>
                  <a:pt x="348" y="399"/>
                </a:cubicBezTo>
                <a:cubicBezTo>
                  <a:pt x="336" y="407"/>
                  <a:pt x="323" y="414"/>
                  <a:pt x="309" y="419"/>
                </a:cubicBezTo>
                <a:cubicBezTo>
                  <a:pt x="296" y="425"/>
                  <a:pt x="282" y="429"/>
                  <a:pt x="267" y="432"/>
                </a:cubicBezTo>
                <a:cubicBezTo>
                  <a:pt x="253" y="434"/>
                  <a:pt x="238" y="436"/>
                  <a:pt x="224" y="436"/>
                </a:cubicBezTo>
                <a:cubicBezTo>
                  <a:pt x="209" y="436"/>
                  <a:pt x="194" y="434"/>
                  <a:pt x="180" y="432"/>
                </a:cubicBezTo>
                <a:cubicBezTo>
                  <a:pt x="166" y="429"/>
                  <a:pt x="152" y="425"/>
                  <a:pt x="138" y="419"/>
                </a:cubicBezTo>
                <a:cubicBezTo>
                  <a:pt x="125" y="414"/>
                  <a:pt x="112" y="407"/>
                  <a:pt x="99" y="399"/>
                </a:cubicBezTo>
                <a:cubicBezTo>
                  <a:pt x="87" y="391"/>
                  <a:pt x="76" y="381"/>
                  <a:pt x="66" y="371"/>
                </a:cubicBezTo>
                <a:cubicBezTo>
                  <a:pt x="55" y="361"/>
                  <a:pt x="46" y="350"/>
                  <a:pt x="38" y="338"/>
                </a:cubicBezTo>
                <a:cubicBezTo>
                  <a:pt x="30" y="326"/>
                  <a:pt x="23" y="314"/>
                  <a:pt x="17" y="301"/>
                </a:cubicBezTo>
                <a:cubicBezTo>
                  <a:pt x="12" y="287"/>
                  <a:pt x="7" y="274"/>
                  <a:pt x="4" y="260"/>
                </a:cubicBezTo>
                <a:cubicBezTo>
                  <a:pt x="2" y="246"/>
                  <a:pt x="0" y="232"/>
                  <a:pt x="0" y="217"/>
                </a:cubicBezTo>
                <a:cubicBezTo>
                  <a:pt x="0" y="203"/>
                  <a:pt x="2" y="189"/>
                  <a:pt x="4" y="175"/>
                </a:cubicBezTo>
                <a:cubicBezTo>
                  <a:pt x="7" y="161"/>
                  <a:pt x="12" y="147"/>
                  <a:pt x="17" y="134"/>
                </a:cubicBezTo>
                <a:cubicBezTo>
                  <a:pt x="23" y="121"/>
                  <a:pt x="30" y="108"/>
                  <a:pt x="38" y="96"/>
                </a:cubicBezTo>
                <a:cubicBezTo>
                  <a:pt x="46" y="85"/>
                  <a:pt x="55" y="74"/>
                  <a:pt x="66" y="63"/>
                </a:cubicBezTo>
                <a:cubicBezTo>
                  <a:pt x="76" y="53"/>
                  <a:pt x="87" y="44"/>
                  <a:pt x="99" y="36"/>
                </a:cubicBezTo>
                <a:cubicBezTo>
                  <a:pt x="112" y="28"/>
                  <a:pt x="125" y="22"/>
                  <a:pt x="138" y="16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4" y="1"/>
                  <a:pt x="209" y="0"/>
                  <a:pt x="224" y="0"/>
                </a:cubicBezTo>
                <a:cubicBezTo>
                  <a:pt x="238" y="0"/>
                  <a:pt x="253" y="1"/>
                  <a:pt x="267" y="4"/>
                </a:cubicBezTo>
                <a:cubicBezTo>
                  <a:pt x="282" y="7"/>
                  <a:pt x="296" y="11"/>
                  <a:pt x="309" y="16"/>
                </a:cubicBezTo>
                <a:cubicBezTo>
                  <a:pt x="323" y="22"/>
                  <a:pt x="336" y="28"/>
                  <a:pt x="348" y="36"/>
                </a:cubicBezTo>
                <a:cubicBezTo>
                  <a:pt x="360" y="44"/>
                  <a:pt x="372" y="53"/>
                  <a:pt x="383" y="63"/>
                </a:cubicBezTo>
                <a:cubicBezTo>
                  <a:pt x="393" y="74"/>
                  <a:pt x="402" y="85"/>
                  <a:pt x="410" y="96"/>
                </a:cubicBezTo>
                <a:cubicBezTo>
                  <a:pt x="418" y="108"/>
                  <a:pt x="425" y="121"/>
                  <a:pt x="431" y="134"/>
                </a:cubicBezTo>
                <a:cubicBezTo>
                  <a:pt x="437" y="147"/>
                  <a:pt x="441" y="161"/>
                  <a:pt x="444" y="175"/>
                </a:cubicBezTo>
                <a:cubicBezTo>
                  <a:pt x="447" y="189"/>
                  <a:pt x="448" y="203"/>
                  <a:pt x="448" y="217"/>
                </a:cubicBez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5" name=""/>
          <p:cNvSpPr/>
          <p:nvPr/>
        </p:nvSpPr>
        <p:spPr>
          <a:xfrm>
            <a:off x="941760" y="908280"/>
            <a:ext cx="100800" cy="98280"/>
          </a:xfrm>
          <a:custGeom>
            <a:avLst/>
            <a:gdLst/>
            <a:ahLst/>
            <a:rect l="0" t="0" r="r" b="b"/>
            <a:pathLst>
              <a:path w="280" h="273">
                <a:moveTo>
                  <a:pt x="280" y="137"/>
                </a:moveTo>
                <a:cubicBezTo>
                  <a:pt x="280" y="155"/>
                  <a:pt x="277" y="173"/>
                  <a:pt x="270" y="189"/>
                </a:cubicBezTo>
                <a:cubicBezTo>
                  <a:pt x="263" y="206"/>
                  <a:pt x="252" y="221"/>
                  <a:pt x="239" y="233"/>
                </a:cubicBezTo>
                <a:cubicBezTo>
                  <a:pt x="226" y="246"/>
                  <a:pt x="211" y="256"/>
                  <a:pt x="194" y="263"/>
                </a:cubicBezTo>
                <a:cubicBezTo>
                  <a:pt x="177" y="270"/>
                  <a:pt x="159" y="273"/>
                  <a:pt x="141" y="273"/>
                </a:cubicBezTo>
                <a:cubicBezTo>
                  <a:pt x="122" y="273"/>
                  <a:pt x="104" y="270"/>
                  <a:pt x="87" y="263"/>
                </a:cubicBezTo>
                <a:cubicBezTo>
                  <a:pt x="70" y="256"/>
                  <a:pt x="55" y="246"/>
                  <a:pt x="42" y="233"/>
                </a:cubicBezTo>
                <a:cubicBezTo>
                  <a:pt x="28" y="221"/>
                  <a:pt x="18" y="206"/>
                  <a:pt x="11" y="189"/>
                </a:cubicBezTo>
                <a:cubicBezTo>
                  <a:pt x="3" y="173"/>
                  <a:pt x="0" y="155"/>
                  <a:pt x="0" y="137"/>
                </a:cubicBezTo>
                <a:cubicBezTo>
                  <a:pt x="0" y="119"/>
                  <a:pt x="3" y="102"/>
                  <a:pt x="11" y="85"/>
                </a:cubicBezTo>
                <a:cubicBezTo>
                  <a:pt x="18" y="69"/>
                  <a:pt x="28" y="54"/>
                  <a:pt x="42" y="40"/>
                </a:cubicBezTo>
                <a:cubicBezTo>
                  <a:pt x="55" y="27"/>
                  <a:pt x="70" y="18"/>
                  <a:pt x="87" y="11"/>
                </a:cubicBezTo>
                <a:cubicBezTo>
                  <a:pt x="104" y="4"/>
                  <a:pt x="122" y="0"/>
                  <a:pt x="141" y="0"/>
                </a:cubicBezTo>
                <a:cubicBezTo>
                  <a:pt x="159" y="0"/>
                  <a:pt x="177" y="4"/>
                  <a:pt x="194" y="11"/>
                </a:cubicBezTo>
                <a:cubicBezTo>
                  <a:pt x="211" y="18"/>
                  <a:pt x="226" y="27"/>
                  <a:pt x="239" y="40"/>
                </a:cubicBezTo>
                <a:cubicBezTo>
                  <a:pt x="252" y="54"/>
                  <a:pt x="263" y="69"/>
                  <a:pt x="270" y="85"/>
                </a:cubicBezTo>
                <a:cubicBezTo>
                  <a:pt x="277" y="102"/>
                  <a:pt x="280" y="119"/>
                  <a:pt x="280" y="137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6" name=""/>
          <p:cNvSpPr/>
          <p:nvPr/>
        </p:nvSpPr>
        <p:spPr>
          <a:xfrm>
            <a:off x="1092600" y="849600"/>
            <a:ext cx="30600" cy="29880"/>
          </a:xfrm>
          <a:custGeom>
            <a:avLst/>
            <a:gdLst/>
            <a:ahLst/>
            <a:rect l="0" t="0" r="r" b="b"/>
            <a:pathLst>
              <a:path w="85" h="83">
                <a:moveTo>
                  <a:pt x="85" y="42"/>
                </a:moveTo>
                <a:cubicBezTo>
                  <a:pt x="85" y="47"/>
                  <a:pt x="84" y="53"/>
                  <a:pt x="81" y="58"/>
                </a:cubicBezTo>
                <a:cubicBezTo>
                  <a:pt x="79" y="63"/>
                  <a:pt x="75" y="67"/>
                  <a:pt x="71" y="71"/>
                </a:cubicBezTo>
                <a:cubicBezTo>
                  <a:pt x="67" y="75"/>
                  <a:pt x="63" y="78"/>
                  <a:pt x="58" y="80"/>
                </a:cubicBezTo>
                <a:cubicBezTo>
                  <a:pt x="53" y="82"/>
                  <a:pt x="47" y="83"/>
                  <a:pt x="42" y="83"/>
                </a:cubicBezTo>
                <a:cubicBezTo>
                  <a:pt x="36" y="83"/>
                  <a:pt x="31" y="82"/>
                  <a:pt x="26" y="80"/>
                </a:cubicBezTo>
                <a:cubicBezTo>
                  <a:pt x="21" y="78"/>
                  <a:pt x="16" y="75"/>
                  <a:pt x="12" y="71"/>
                </a:cubicBezTo>
                <a:cubicBezTo>
                  <a:pt x="8" y="67"/>
                  <a:pt x="5" y="63"/>
                  <a:pt x="3" y="58"/>
                </a:cubicBezTo>
                <a:cubicBezTo>
                  <a:pt x="1" y="53"/>
                  <a:pt x="0" y="47"/>
                  <a:pt x="0" y="42"/>
                </a:cubicBezTo>
                <a:cubicBezTo>
                  <a:pt x="0" y="37"/>
                  <a:pt x="1" y="31"/>
                  <a:pt x="3" y="25"/>
                </a:cubicBezTo>
                <a:cubicBezTo>
                  <a:pt x="5" y="20"/>
                  <a:pt x="8" y="16"/>
                  <a:pt x="12" y="12"/>
                </a:cubicBezTo>
                <a:cubicBezTo>
                  <a:pt x="16" y="8"/>
                  <a:pt x="21" y="5"/>
                  <a:pt x="26" y="3"/>
                </a:cubicBezTo>
                <a:cubicBezTo>
                  <a:pt x="31" y="1"/>
                  <a:pt x="36" y="0"/>
                  <a:pt x="42" y="0"/>
                </a:cubicBezTo>
                <a:cubicBezTo>
                  <a:pt x="47" y="0"/>
                  <a:pt x="53" y="1"/>
                  <a:pt x="58" y="3"/>
                </a:cubicBezTo>
                <a:cubicBezTo>
                  <a:pt x="63" y="5"/>
                  <a:pt x="67" y="8"/>
                  <a:pt x="71" y="12"/>
                </a:cubicBezTo>
                <a:cubicBezTo>
                  <a:pt x="75" y="16"/>
                  <a:pt x="79" y="20"/>
                  <a:pt x="81" y="25"/>
                </a:cubicBezTo>
                <a:cubicBezTo>
                  <a:pt x="84" y="31"/>
                  <a:pt x="85" y="37"/>
                  <a:pt x="85" y="4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7" name=""/>
          <p:cNvSpPr/>
          <p:nvPr/>
        </p:nvSpPr>
        <p:spPr>
          <a:xfrm>
            <a:off x="780840" y="771480"/>
            <a:ext cx="211680" cy="215640"/>
          </a:xfrm>
          <a:custGeom>
            <a:avLst/>
            <a:gdLst/>
            <a:ahLst/>
            <a:rect l="0" t="0" r="r" b="b"/>
            <a:pathLst>
              <a:path w="588" h="599">
                <a:moveTo>
                  <a:pt x="447" y="244"/>
                </a:moveTo>
                <a:lnTo>
                  <a:pt x="532" y="81"/>
                </a:lnTo>
                <a:lnTo>
                  <a:pt x="363" y="136"/>
                </a:lnTo>
                <a:lnTo>
                  <a:pt x="251" y="0"/>
                </a:lnTo>
                <a:lnTo>
                  <a:pt x="196" y="136"/>
                </a:lnTo>
                <a:lnTo>
                  <a:pt x="28" y="108"/>
                </a:lnTo>
                <a:lnTo>
                  <a:pt x="140" y="272"/>
                </a:lnTo>
                <a:lnTo>
                  <a:pt x="0" y="380"/>
                </a:lnTo>
                <a:lnTo>
                  <a:pt x="168" y="380"/>
                </a:lnTo>
                <a:lnTo>
                  <a:pt x="112" y="543"/>
                </a:lnTo>
                <a:lnTo>
                  <a:pt x="279" y="462"/>
                </a:lnTo>
                <a:lnTo>
                  <a:pt x="447" y="599"/>
                </a:lnTo>
                <a:lnTo>
                  <a:pt x="419" y="380"/>
                </a:lnTo>
                <a:lnTo>
                  <a:pt x="588" y="353"/>
                </a:lnTo>
                <a:lnTo>
                  <a:pt x="447" y="244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8" name=""/>
          <p:cNvSpPr/>
          <p:nvPr/>
        </p:nvSpPr>
        <p:spPr>
          <a:xfrm>
            <a:off x="831240" y="810360"/>
            <a:ext cx="110880" cy="127800"/>
          </a:xfrm>
          <a:custGeom>
            <a:avLst/>
            <a:gdLst/>
            <a:ahLst/>
            <a:rect l="0" t="0" r="r" b="b"/>
            <a:pathLst>
              <a:path w="308" h="355">
                <a:moveTo>
                  <a:pt x="139" y="273"/>
                </a:moveTo>
                <a:lnTo>
                  <a:pt x="56" y="328"/>
                </a:lnTo>
                <a:lnTo>
                  <a:pt x="84" y="246"/>
                </a:lnTo>
                <a:lnTo>
                  <a:pt x="0" y="219"/>
                </a:lnTo>
                <a:lnTo>
                  <a:pt x="84" y="165"/>
                </a:lnTo>
                <a:lnTo>
                  <a:pt x="0" y="83"/>
                </a:lnTo>
                <a:lnTo>
                  <a:pt x="111" y="83"/>
                </a:lnTo>
                <a:lnTo>
                  <a:pt x="139" y="0"/>
                </a:lnTo>
                <a:lnTo>
                  <a:pt x="195" y="83"/>
                </a:lnTo>
                <a:lnTo>
                  <a:pt x="279" y="56"/>
                </a:lnTo>
                <a:lnTo>
                  <a:pt x="223" y="137"/>
                </a:lnTo>
                <a:lnTo>
                  <a:pt x="308" y="219"/>
                </a:lnTo>
                <a:lnTo>
                  <a:pt x="223" y="246"/>
                </a:lnTo>
                <a:lnTo>
                  <a:pt x="251" y="355"/>
                </a:lnTo>
                <a:lnTo>
                  <a:pt x="139" y="273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9" name=""/>
          <p:cNvSpPr txBox="1"/>
          <p:nvPr/>
        </p:nvSpPr>
        <p:spPr>
          <a:xfrm>
            <a:off x="1160280" y="770400"/>
            <a:ext cx="961416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0 — The Crash (Black Friday ramp: 0 → 500 VU —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470" name="" descr=""/>
          <p:cNvPicPr/>
          <p:nvPr/>
        </p:nvPicPr>
        <p:blipFill>
          <a:blip r:embed="rId1"/>
          <a:stretch/>
        </p:blipFill>
        <p:spPr>
          <a:xfrm>
            <a:off x="752400" y="1905120"/>
            <a:ext cx="10096200" cy="5676480"/>
          </a:xfrm>
          <a:prstGeom prst="rect">
            <a:avLst/>
          </a:prstGeom>
          <a:ln w="0">
            <a:noFill/>
          </a:ln>
        </p:spPr>
      </p:pic>
      <p:sp>
        <p:nvSpPr>
          <p:cNvPr id="471" name=""/>
          <p:cNvSpPr txBox="1"/>
          <p:nvPr/>
        </p:nvSpPr>
        <p:spPr>
          <a:xfrm>
            <a:off x="747720" y="1218240"/>
            <a:ext cx="336888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Apache dies at ~50)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5" name=""/>
          <p:cNvSpPr/>
          <p:nvPr/>
        </p:nvSpPr>
        <p:spPr>
          <a:xfrm>
            <a:off x="752400" y="1457280"/>
            <a:ext cx="1447920" cy="543240"/>
          </a:xfrm>
          <a:custGeom>
            <a:avLst/>
            <a:gdLst/>
            <a:ahLst/>
            <a:rect l="0" t="0" r="r" b="b"/>
            <a:pathLst>
              <a:path w="4022" h="1509">
                <a:moveTo>
                  <a:pt x="0" y="0"/>
                </a:moveTo>
                <a:lnTo>
                  <a:pt x="4022" y="0"/>
                </a:lnTo>
                <a:lnTo>
                  <a:pt x="402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6" name=""/>
          <p:cNvSpPr/>
          <p:nvPr/>
        </p:nvSpPr>
        <p:spPr>
          <a:xfrm>
            <a:off x="2199960" y="1457280"/>
            <a:ext cx="2648520" cy="543240"/>
          </a:xfrm>
          <a:custGeom>
            <a:avLst/>
            <a:gdLst/>
            <a:ahLst/>
            <a:rect l="0" t="0" r="r" b="b"/>
            <a:pathLst>
              <a:path w="7357" h="1509">
                <a:moveTo>
                  <a:pt x="0" y="0"/>
                </a:moveTo>
                <a:lnTo>
                  <a:pt x="7357" y="0"/>
                </a:lnTo>
                <a:lnTo>
                  <a:pt x="735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7" name=""/>
          <p:cNvSpPr/>
          <p:nvPr/>
        </p:nvSpPr>
        <p:spPr>
          <a:xfrm>
            <a:off x="4848120" y="1457280"/>
            <a:ext cx="1895760" cy="543240"/>
          </a:xfrm>
          <a:custGeom>
            <a:avLst/>
            <a:gdLst/>
            <a:ahLst/>
            <a:rect l="0" t="0" r="r" b="b"/>
            <a:pathLst>
              <a:path w="5266" h="1509">
                <a:moveTo>
                  <a:pt x="0" y="0"/>
                </a:moveTo>
                <a:lnTo>
                  <a:pt x="5266" y="0"/>
                </a:lnTo>
                <a:lnTo>
                  <a:pt x="5266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8" name=""/>
          <p:cNvSpPr/>
          <p:nvPr/>
        </p:nvSpPr>
        <p:spPr>
          <a:xfrm>
            <a:off x="6743520" y="1457280"/>
            <a:ext cx="4696200" cy="543240"/>
          </a:xfrm>
          <a:custGeom>
            <a:avLst/>
            <a:gdLst/>
            <a:ahLst/>
            <a:rect l="0" t="0" r="r" b="b"/>
            <a:pathLst>
              <a:path w="13045" h="1509">
                <a:moveTo>
                  <a:pt x="0" y="0"/>
                </a:moveTo>
                <a:lnTo>
                  <a:pt x="13045" y="0"/>
                </a:lnTo>
                <a:lnTo>
                  <a:pt x="13045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9" name=""/>
          <p:cNvSpPr/>
          <p:nvPr/>
        </p:nvSpPr>
        <p:spPr>
          <a:xfrm>
            <a:off x="752400" y="2000160"/>
            <a:ext cx="1447920" cy="952920"/>
          </a:xfrm>
          <a:custGeom>
            <a:avLst/>
            <a:gdLst/>
            <a:ahLst/>
            <a:rect l="0" t="0" r="r" b="b"/>
            <a:pathLst>
              <a:path w="4022" h="2647">
                <a:moveTo>
                  <a:pt x="0" y="0"/>
                </a:moveTo>
                <a:lnTo>
                  <a:pt x="4022" y="0"/>
                </a:lnTo>
                <a:lnTo>
                  <a:pt x="4022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0" name=""/>
          <p:cNvSpPr/>
          <p:nvPr/>
        </p:nvSpPr>
        <p:spPr>
          <a:xfrm>
            <a:off x="2199960" y="2000160"/>
            <a:ext cx="2648520" cy="952920"/>
          </a:xfrm>
          <a:custGeom>
            <a:avLst/>
            <a:gdLst/>
            <a:ahLst/>
            <a:rect l="0" t="0" r="r" b="b"/>
            <a:pathLst>
              <a:path w="7357" h="2647">
                <a:moveTo>
                  <a:pt x="0" y="0"/>
                </a:moveTo>
                <a:lnTo>
                  <a:pt x="7357" y="0"/>
                </a:lnTo>
                <a:lnTo>
                  <a:pt x="735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1" name=""/>
          <p:cNvSpPr/>
          <p:nvPr/>
        </p:nvSpPr>
        <p:spPr>
          <a:xfrm>
            <a:off x="4848120" y="2000160"/>
            <a:ext cx="1895760" cy="952920"/>
          </a:xfrm>
          <a:custGeom>
            <a:avLst/>
            <a:gdLst/>
            <a:ahLst/>
            <a:rect l="0" t="0" r="r" b="b"/>
            <a:pathLst>
              <a:path w="5266" h="2647">
                <a:moveTo>
                  <a:pt x="0" y="0"/>
                </a:moveTo>
                <a:lnTo>
                  <a:pt x="5266" y="0"/>
                </a:lnTo>
                <a:lnTo>
                  <a:pt x="5266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2" name=""/>
          <p:cNvSpPr/>
          <p:nvPr/>
        </p:nvSpPr>
        <p:spPr>
          <a:xfrm>
            <a:off x="6743520" y="2000160"/>
            <a:ext cx="4696200" cy="952920"/>
          </a:xfrm>
          <a:custGeom>
            <a:avLst/>
            <a:gdLst/>
            <a:ahLst/>
            <a:rect l="0" t="0" r="r" b="b"/>
            <a:pathLst>
              <a:path w="13045" h="2647">
                <a:moveTo>
                  <a:pt x="0" y="0"/>
                </a:moveTo>
                <a:lnTo>
                  <a:pt x="13045" y="0"/>
                </a:lnTo>
                <a:lnTo>
                  <a:pt x="13045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3" name=""/>
          <p:cNvSpPr/>
          <p:nvPr/>
        </p:nvSpPr>
        <p:spPr>
          <a:xfrm>
            <a:off x="752400" y="2952720"/>
            <a:ext cx="1447920" cy="952560"/>
          </a:xfrm>
          <a:custGeom>
            <a:avLst/>
            <a:gdLst/>
            <a:ahLst/>
            <a:rect l="0" t="0" r="r" b="b"/>
            <a:pathLst>
              <a:path w="4022" h="2646">
                <a:moveTo>
                  <a:pt x="0" y="0"/>
                </a:moveTo>
                <a:lnTo>
                  <a:pt x="4022" y="0"/>
                </a:lnTo>
                <a:lnTo>
                  <a:pt x="4022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4" name=""/>
          <p:cNvSpPr/>
          <p:nvPr/>
        </p:nvSpPr>
        <p:spPr>
          <a:xfrm>
            <a:off x="2199960" y="2952720"/>
            <a:ext cx="2648520" cy="952560"/>
          </a:xfrm>
          <a:custGeom>
            <a:avLst/>
            <a:gdLst/>
            <a:ahLst/>
            <a:rect l="0" t="0" r="r" b="b"/>
            <a:pathLst>
              <a:path w="7357" h="2646">
                <a:moveTo>
                  <a:pt x="0" y="0"/>
                </a:moveTo>
                <a:lnTo>
                  <a:pt x="7357" y="0"/>
                </a:lnTo>
                <a:lnTo>
                  <a:pt x="735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5" name=""/>
          <p:cNvSpPr/>
          <p:nvPr/>
        </p:nvSpPr>
        <p:spPr>
          <a:xfrm>
            <a:off x="4848120" y="2952720"/>
            <a:ext cx="1895760" cy="952560"/>
          </a:xfrm>
          <a:custGeom>
            <a:avLst/>
            <a:gdLst/>
            <a:ahLst/>
            <a:rect l="0" t="0" r="r" b="b"/>
            <a:pathLst>
              <a:path w="5266" h="2646">
                <a:moveTo>
                  <a:pt x="0" y="0"/>
                </a:moveTo>
                <a:lnTo>
                  <a:pt x="5266" y="0"/>
                </a:lnTo>
                <a:lnTo>
                  <a:pt x="5266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6" name=""/>
          <p:cNvSpPr/>
          <p:nvPr/>
        </p:nvSpPr>
        <p:spPr>
          <a:xfrm>
            <a:off x="6743520" y="2952720"/>
            <a:ext cx="4696200" cy="952560"/>
          </a:xfrm>
          <a:custGeom>
            <a:avLst/>
            <a:gdLst/>
            <a:ahLst/>
            <a:rect l="0" t="0" r="r" b="b"/>
            <a:pathLst>
              <a:path w="13045" h="2646">
                <a:moveTo>
                  <a:pt x="0" y="0"/>
                </a:moveTo>
                <a:lnTo>
                  <a:pt x="13045" y="0"/>
                </a:lnTo>
                <a:lnTo>
                  <a:pt x="13045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7" name=""/>
          <p:cNvSpPr/>
          <p:nvPr/>
        </p:nvSpPr>
        <p:spPr>
          <a:xfrm>
            <a:off x="752400" y="3904920"/>
            <a:ext cx="1447920" cy="533880"/>
          </a:xfrm>
          <a:custGeom>
            <a:avLst/>
            <a:gdLst/>
            <a:ahLst/>
            <a:rect l="0" t="0" r="r" b="b"/>
            <a:pathLst>
              <a:path w="4022" h="1483">
                <a:moveTo>
                  <a:pt x="0" y="0"/>
                </a:moveTo>
                <a:lnTo>
                  <a:pt x="4022" y="0"/>
                </a:lnTo>
                <a:lnTo>
                  <a:pt x="4022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8" name=""/>
          <p:cNvSpPr/>
          <p:nvPr/>
        </p:nvSpPr>
        <p:spPr>
          <a:xfrm>
            <a:off x="2199960" y="3904920"/>
            <a:ext cx="2648520" cy="533880"/>
          </a:xfrm>
          <a:custGeom>
            <a:avLst/>
            <a:gdLst/>
            <a:ahLst/>
            <a:rect l="0" t="0" r="r" b="b"/>
            <a:pathLst>
              <a:path w="7357" h="1483">
                <a:moveTo>
                  <a:pt x="0" y="0"/>
                </a:moveTo>
                <a:lnTo>
                  <a:pt x="7357" y="0"/>
                </a:lnTo>
                <a:lnTo>
                  <a:pt x="735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9" name=""/>
          <p:cNvSpPr/>
          <p:nvPr/>
        </p:nvSpPr>
        <p:spPr>
          <a:xfrm>
            <a:off x="4848120" y="3904920"/>
            <a:ext cx="1895760" cy="533880"/>
          </a:xfrm>
          <a:custGeom>
            <a:avLst/>
            <a:gdLst/>
            <a:ahLst/>
            <a:rect l="0" t="0" r="r" b="b"/>
            <a:pathLst>
              <a:path w="5266" h="1483">
                <a:moveTo>
                  <a:pt x="0" y="0"/>
                </a:moveTo>
                <a:lnTo>
                  <a:pt x="5266" y="0"/>
                </a:lnTo>
                <a:lnTo>
                  <a:pt x="5266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0" name=""/>
          <p:cNvSpPr/>
          <p:nvPr/>
        </p:nvSpPr>
        <p:spPr>
          <a:xfrm>
            <a:off x="6743520" y="3904920"/>
            <a:ext cx="4696200" cy="533880"/>
          </a:xfrm>
          <a:custGeom>
            <a:avLst/>
            <a:gdLst/>
            <a:ahLst/>
            <a:rect l="0" t="0" r="r" b="b"/>
            <a:pathLst>
              <a:path w="13045" h="1483">
                <a:moveTo>
                  <a:pt x="0" y="0"/>
                </a:moveTo>
                <a:lnTo>
                  <a:pt x="13045" y="0"/>
                </a:lnTo>
                <a:lnTo>
                  <a:pt x="13045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1" name=""/>
          <p:cNvSpPr/>
          <p:nvPr/>
        </p:nvSpPr>
        <p:spPr>
          <a:xfrm>
            <a:off x="752400" y="4438440"/>
            <a:ext cx="1447920" cy="952920"/>
          </a:xfrm>
          <a:custGeom>
            <a:avLst/>
            <a:gdLst/>
            <a:ahLst/>
            <a:rect l="0" t="0" r="r" b="b"/>
            <a:pathLst>
              <a:path w="4022" h="2647">
                <a:moveTo>
                  <a:pt x="0" y="0"/>
                </a:moveTo>
                <a:lnTo>
                  <a:pt x="4022" y="0"/>
                </a:lnTo>
                <a:lnTo>
                  <a:pt x="4022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2" name=""/>
          <p:cNvSpPr/>
          <p:nvPr/>
        </p:nvSpPr>
        <p:spPr>
          <a:xfrm>
            <a:off x="2199960" y="4438440"/>
            <a:ext cx="2648520" cy="952920"/>
          </a:xfrm>
          <a:custGeom>
            <a:avLst/>
            <a:gdLst/>
            <a:ahLst/>
            <a:rect l="0" t="0" r="r" b="b"/>
            <a:pathLst>
              <a:path w="7357" h="2647">
                <a:moveTo>
                  <a:pt x="0" y="0"/>
                </a:moveTo>
                <a:lnTo>
                  <a:pt x="7357" y="0"/>
                </a:lnTo>
                <a:lnTo>
                  <a:pt x="735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3" name=""/>
          <p:cNvSpPr/>
          <p:nvPr/>
        </p:nvSpPr>
        <p:spPr>
          <a:xfrm>
            <a:off x="4848120" y="4438440"/>
            <a:ext cx="1895760" cy="952920"/>
          </a:xfrm>
          <a:custGeom>
            <a:avLst/>
            <a:gdLst/>
            <a:ahLst/>
            <a:rect l="0" t="0" r="r" b="b"/>
            <a:pathLst>
              <a:path w="5266" h="2647">
                <a:moveTo>
                  <a:pt x="0" y="0"/>
                </a:moveTo>
                <a:lnTo>
                  <a:pt x="5266" y="0"/>
                </a:lnTo>
                <a:lnTo>
                  <a:pt x="5266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4" name=""/>
          <p:cNvSpPr/>
          <p:nvPr/>
        </p:nvSpPr>
        <p:spPr>
          <a:xfrm>
            <a:off x="6743520" y="4438440"/>
            <a:ext cx="4696200" cy="952920"/>
          </a:xfrm>
          <a:custGeom>
            <a:avLst/>
            <a:gdLst/>
            <a:ahLst/>
            <a:rect l="0" t="0" r="r" b="b"/>
            <a:pathLst>
              <a:path w="13045" h="2647">
                <a:moveTo>
                  <a:pt x="0" y="0"/>
                </a:moveTo>
                <a:lnTo>
                  <a:pt x="13045" y="0"/>
                </a:lnTo>
                <a:lnTo>
                  <a:pt x="13045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5" name=""/>
          <p:cNvSpPr/>
          <p:nvPr/>
        </p:nvSpPr>
        <p:spPr>
          <a:xfrm>
            <a:off x="752400" y="5391000"/>
            <a:ext cx="1447920" cy="543240"/>
          </a:xfrm>
          <a:custGeom>
            <a:avLst/>
            <a:gdLst/>
            <a:ahLst/>
            <a:rect l="0" t="0" r="r" b="b"/>
            <a:pathLst>
              <a:path w="4022" h="1509">
                <a:moveTo>
                  <a:pt x="0" y="0"/>
                </a:moveTo>
                <a:lnTo>
                  <a:pt x="4022" y="0"/>
                </a:lnTo>
                <a:lnTo>
                  <a:pt x="402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6" name=""/>
          <p:cNvSpPr/>
          <p:nvPr/>
        </p:nvSpPr>
        <p:spPr>
          <a:xfrm>
            <a:off x="2199960" y="5391000"/>
            <a:ext cx="2648520" cy="543240"/>
          </a:xfrm>
          <a:custGeom>
            <a:avLst/>
            <a:gdLst/>
            <a:ahLst/>
            <a:rect l="0" t="0" r="r" b="b"/>
            <a:pathLst>
              <a:path w="7357" h="1509">
                <a:moveTo>
                  <a:pt x="0" y="0"/>
                </a:moveTo>
                <a:lnTo>
                  <a:pt x="7357" y="0"/>
                </a:lnTo>
                <a:lnTo>
                  <a:pt x="735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7" name=""/>
          <p:cNvSpPr/>
          <p:nvPr/>
        </p:nvSpPr>
        <p:spPr>
          <a:xfrm>
            <a:off x="4848120" y="5391000"/>
            <a:ext cx="1895760" cy="543240"/>
          </a:xfrm>
          <a:custGeom>
            <a:avLst/>
            <a:gdLst/>
            <a:ahLst/>
            <a:rect l="0" t="0" r="r" b="b"/>
            <a:pathLst>
              <a:path w="5266" h="1509">
                <a:moveTo>
                  <a:pt x="0" y="0"/>
                </a:moveTo>
                <a:lnTo>
                  <a:pt x="5266" y="0"/>
                </a:lnTo>
                <a:lnTo>
                  <a:pt x="5266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8" name=""/>
          <p:cNvSpPr/>
          <p:nvPr/>
        </p:nvSpPr>
        <p:spPr>
          <a:xfrm>
            <a:off x="6743520" y="5391000"/>
            <a:ext cx="4696200" cy="543240"/>
          </a:xfrm>
          <a:custGeom>
            <a:avLst/>
            <a:gdLst/>
            <a:ahLst/>
            <a:rect l="0" t="0" r="r" b="b"/>
            <a:pathLst>
              <a:path w="13045" h="1509">
                <a:moveTo>
                  <a:pt x="0" y="0"/>
                </a:moveTo>
                <a:lnTo>
                  <a:pt x="13045" y="0"/>
                </a:lnTo>
                <a:lnTo>
                  <a:pt x="13045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9" name=""/>
          <p:cNvSpPr/>
          <p:nvPr/>
        </p:nvSpPr>
        <p:spPr>
          <a:xfrm>
            <a:off x="752400" y="5933880"/>
            <a:ext cx="1447920" cy="952920"/>
          </a:xfrm>
          <a:custGeom>
            <a:avLst/>
            <a:gdLst/>
            <a:ahLst/>
            <a:rect l="0" t="0" r="r" b="b"/>
            <a:pathLst>
              <a:path w="4022" h="2647">
                <a:moveTo>
                  <a:pt x="0" y="0"/>
                </a:moveTo>
                <a:lnTo>
                  <a:pt x="4022" y="0"/>
                </a:lnTo>
                <a:lnTo>
                  <a:pt x="4022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0" name=""/>
          <p:cNvSpPr/>
          <p:nvPr/>
        </p:nvSpPr>
        <p:spPr>
          <a:xfrm>
            <a:off x="2199960" y="5933880"/>
            <a:ext cx="2648520" cy="952920"/>
          </a:xfrm>
          <a:custGeom>
            <a:avLst/>
            <a:gdLst/>
            <a:ahLst/>
            <a:rect l="0" t="0" r="r" b="b"/>
            <a:pathLst>
              <a:path w="7357" h="2647">
                <a:moveTo>
                  <a:pt x="0" y="0"/>
                </a:moveTo>
                <a:lnTo>
                  <a:pt x="7357" y="0"/>
                </a:lnTo>
                <a:lnTo>
                  <a:pt x="735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1" name=""/>
          <p:cNvSpPr/>
          <p:nvPr/>
        </p:nvSpPr>
        <p:spPr>
          <a:xfrm>
            <a:off x="4848120" y="5933880"/>
            <a:ext cx="1895760" cy="952920"/>
          </a:xfrm>
          <a:custGeom>
            <a:avLst/>
            <a:gdLst/>
            <a:ahLst/>
            <a:rect l="0" t="0" r="r" b="b"/>
            <a:pathLst>
              <a:path w="5266" h="2647">
                <a:moveTo>
                  <a:pt x="0" y="0"/>
                </a:moveTo>
                <a:lnTo>
                  <a:pt x="5266" y="0"/>
                </a:lnTo>
                <a:lnTo>
                  <a:pt x="5266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2" name=""/>
          <p:cNvSpPr/>
          <p:nvPr/>
        </p:nvSpPr>
        <p:spPr>
          <a:xfrm>
            <a:off x="6743520" y="5933880"/>
            <a:ext cx="4696200" cy="952920"/>
          </a:xfrm>
          <a:custGeom>
            <a:avLst/>
            <a:gdLst/>
            <a:ahLst/>
            <a:rect l="0" t="0" r="r" b="b"/>
            <a:pathLst>
              <a:path w="13045" h="2647">
                <a:moveTo>
                  <a:pt x="0" y="0"/>
                </a:moveTo>
                <a:lnTo>
                  <a:pt x="13045" y="0"/>
                </a:lnTo>
                <a:lnTo>
                  <a:pt x="13045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3" name=""/>
          <p:cNvSpPr/>
          <p:nvPr/>
        </p:nvSpPr>
        <p:spPr>
          <a:xfrm>
            <a:off x="75240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4" name=""/>
          <p:cNvSpPr/>
          <p:nvPr/>
        </p:nvSpPr>
        <p:spPr>
          <a:xfrm>
            <a:off x="752400" y="1457280"/>
            <a:ext cx="1447920" cy="9720"/>
          </a:xfrm>
          <a:custGeom>
            <a:avLst/>
            <a:gdLst/>
            <a:ahLst/>
            <a:rect l="0" t="0" r="r" b="b"/>
            <a:pathLst>
              <a:path w="4022" h="27">
                <a:moveTo>
                  <a:pt x="0" y="0"/>
                </a:moveTo>
                <a:lnTo>
                  <a:pt x="4022" y="0"/>
                </a:lnTo>
                <a:lnTo>
                  <a:pt x="402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5" name=""/>
          <p:cNvSpPr/>
          <p:nvPr/>
        </p:nvSpPr>
        <p:spPr>
          <a:xfrm>
            <a:off x="219060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6" name=""/>
          <p:cNvSpPr/>
          <p:nvPr/>
        </p:nvSpPr>
        <p:spPr>
          <a:xfrm>
            <a:off x="2199960" y="1457280"/>
            <a:ext cx="2657880" cy="9720"/>
          </a:xfrm>
          <a:custGeom>
            <a:avLst/>
            <a:gdLst/>
            <a:ahLst/>
            <a:rect l="0" t="0" r="r" b="b"/>
            <a:pathLst>
              <a:path w="7383" h="27">
                <a:moveTo>
                  <a:pt x="0" y="0"/>
                </a:moveTo>
                <a:lnTo>
                  <a:pt x="7383" y="0"/>
                </a:lnTo>
                <a:lnTo>
                  <a:pt x="7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7" name=""/>
          <p:cNvSpPr/>
          <p:nvPr/>
        </p:nvSpPr>
        <p:spPr>
          <a:xfrm>
            <a:off x="484812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8" name=""/>
          <p:cNvSpPr/>
          <p:nvPr/>
        </p:nvSpPr>
        <p:spPr>
          <a:xfrm>
            <a:off x="4857480" y="1457280"/>
            <a:ext cx="1895760" cy="9720"/>
          </a:xfrm>
          <a:custGeom>
            <a:avLst/>
            <a:gdLst/>
            <a:ahLst/>
            <a:rect l="0" t="0" r="r" b="b"/>
            <a:pathLst>
              <a:path w="5266" h="27">
                <a:moveTo>
                  <a:pt x="0" y="0"/>
                </a:moveTo>
                <a:lnTo>
                  <a:pt x="5266" y="0"/>
                </a:lnTo>
                <a:lnTo>
                  <a:pt x="526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9" name=""/>
          <p:cNvSpPr/>
          <p:nvPr/>
        </p:nvSpPr>
        <p:spPr>
          <a:xfrm>
            <a:off x="674352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0" name=""/>
          <p:cNvSpPr/>
          <p:nvPr/>
        </p:nvSpPr>
        <p:spPr>
          <a:xfrm>
            <a:off x="6752880" y="1457280"/>
            <a:ext cx="4696200" cy="9720"/>
          </a:xfrm>
          <a:custGeom>
            <a:avLst/>
            <a:gdLst/>
            <a:ahLst/>
            <a:rect l="0" t="0" r="r" b="b"/>
            <a:pathLst>
              <a:path w="13045" h="27">
                <a:moveTo>
                  <a:pt x="0" y="0"/>
                </a:moveTo>
                <a:lnTo>
                  <a:pt x="13045" y="0"/>
                </a:lnTo>
                <a:lnTo>
                  <a:pt x="1304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1" name=""/>
          <p:cNvSpPr/>
          <p:nvPr/>
        </p:nvSpPr>
        <p:spPr>
          <a:xfrm>
            <a:off x="1143936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2" name=""/>
          <p:cNvSpPr/>
          <p:nvPr/>
        </p:nvSpPr>
        <p:spPr>
          <a:xfrm>
            <a:off x="752400" y="1990440"/>
            <a:ext cx="1447920" cy="10080"/>
          </a:xfrm>
          <a:custGeom>
            <a:avLst/>
            <a:gdLst/>
            <a:ahLst/>
            <a:rect l="0" t="0" r="r" b="b"/>
            <a:pathLst>
              <a:path w="4022" h="28">
                <a:moveTo>
                  <a:pt x="0" y="0"/>
                </a:moveTo>
                <a:lnTo>
                  <a:pt x="4022" y="0"/>
                </a:lnTo>
                <a:lnTo>
                  <a:pt x="402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3" name=""/>
          <p:cNvSpPr/>
          <p:nvPr/>
        </p:nvSpPr>
        <p:spPr>
          <a:xfrm>
            <a:off x="2199960" y="1990440"/>
            <a:ext cx="2657880" cy="10080"/>
          </a:xfrm>
          <a:custGeom>
            <a:avLst/>
            <a:gdLst/>
            <a:ahLst/>
            <a:rect l="0" t="0" r="r" b="b"/>
            <a:pathLst>
              <a:path w="7383" h="28">
                <a:moveTo>
                  <a:pt x="0" y="0"/>
                </a:moveTo>
                <a:lnTo>
                  <a:pt x="7383" y="0"/>
                </a:lnTo>
                <a:lnTo>
                  <a:pt x="7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4" name=""/>
          <p:cNvSpPr/>
          <p:nvPr/>
        </p:nvSpPr>
        <p:spPr>
          <a:xfrm>
            <a:off x="4857480" y="1990440"/>
            <a:ext cx="1895760" cy="10080"/>
          </a:xfrm>
          <a:custGeom>
            <a:avLst/>
            <a:gdLst/>
            <a:ahLst/>
            <a:rect l="0" t="0" r="r" b="b"/>
            <a:pathLst>
              <a:path w="5266" h="28">
                <a:moveTo>
                  <a:pt x="0" y="0"/>
                </a:moveTo>
                <a:lnTo>
                  <a:pt x="5266" y="0"/>
                </a:lnTo>
                <a:lnTo>
                  <a:pt x="526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5" name=""/>
          <p:cNvSpPr/>
          <p:nvPr/>
        </p:nvSpPr>
        <p:spPr>
          <a:xfrm>
            <a:off x="6752880" y="1990440"/>
            <a:ext cx="4696200" cy="10080"/>
          </a:xfrm>
          <a:custGeom>
            <a:avLst/>
            <a:gdLst/>
            <a:ahLst/>
            <a:rect l="0" t="0" r="r" b="b"/>
            <a:pathLst>
              <a:path w="13045" h="28">
                <a:moveTo>
                  <a:pt x="0" y="0"/>
                </a:moveTo>
                <a:lnTo>
                  <a:pt x="13045" y="0"/>
                </a:lnTo>
                <a:lnTo>
                  <a:pt x="1304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6" name=""/>
          <p:cNvSpPr/>
          <p:nvPr/>
        </p:nvSpPr>
        <p:spPr>
          <a:xfrm>
            <a:off x="752400" y="20001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7" name=""/>
          <p:cNvSpPr/>
          <p:nvPr/>
        </p:nvSpPr>
        <p:spPr>
          <a:xfrm>
            <a:off x="2190600" y="20001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8" name=""/>
          <p:cNvSpPr/>
          <p:nvPr/>
        </p:nvSpPr>
        <p:spPr>
          <a:xfrm>
            <a:off x="4848120" y="20001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9" name=""/>
          <p:cNvSpPr/>
          <p:nvPr/>
        </p:nvSpPr>
        <p:spPr>
          <a:xfrm>
            <a:off x="6743520" y="20001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0" name=""/>
          <p:cNvSpPr/>
          <p:nvPr/>
        </p:nvSpPr>
        <p:spPr>
          <a:xfrm>
            <a:off x="11439360" y="20001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1" name=""/>
          <p:cNvSpPr/>
          <p:nvPr/>
        </p:nvSpPr>
        <p:spPr>
          <a:xfrm>
            <a:off x="752400" y="295272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2" name=""/>
          <p:cNvSpPr/>
          <p:nvPr/>
        </p:nvSpPr>
        <p:spPr>
          <a:xfrm>
            <a:off x="752400" y="2943000"/>
            <a:ext cx="1447920" cy="10080"/>
          </a:xfrm>
          <a:custGeom>
            <a:avLst/>
            <a:gdLst/>
            <a:ahLst/>
            <a:rect l="0" t="0" r="r" b="b"/>
            <a:pathLst>
              <a:path w="4022" h="28">
                <a:moveTo>
                  <a:pt x="0" y="0"/>
                </a:moveTo>
                <a:lnTo>
                  <a:pt x="4022" y="0"/>
                </a:lnTo>
                <a:lnTo>
                  <a:pt x="402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3" name=""/>
          <p:cNvSpPr/>
          <p:nvPr/>
        </p:nvSpPr>
        <p:spPr>
          <a:xfrm>
            <a:off x="2190600" y="295272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4" name=""/>
          <p:cNvSpPr/>
          <p:nvPr/>
        </p:nvSpPr>
        <p:spPr>
          <a:xfrm>
            <a:off x="2199960" y="2943000"/>
            <a:ext cx="2657880" cy="10080"/>
          </a:xfrm>
          <a:custGeom>
            <a:avLst/>
            <a:gdLst/>
            <a:ahLst/>
            <a:rect l="0" t="0" r="r" b="b"/>
            <a:pathLst>
              <a:path w="7383" h="28">
                <a:moveTo>
                  <a:pt x="0" y="0"/>
                </a:moveTo>
                <a:lnTo>
                  <a:pt x="7383" y="0"/>
                </a:lnTo>
                <a:lnTo>
                  <a:pt x="7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5" name=""/>
          <p:cNvSpPr/>
          <p:nvPr/>
        </p:nvSpPr>
        <p:spPr>
          <a:xfrm>
            <a:off x="4848120" y="295272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6" name=""/>
          <p:cNvSpPr/>
          <p:nvPr/>
        </p:nvSpPr>
        <p:spPr>
          <a:xfrm>
            <a:off x="4857480" y="2943000"/>
            <a:ext cx="1895760" cy="10080"/>
          </a:xfrm>
          <a:custGeom>
            <a:avLst/>
            <a:gdLst/>
            <a:ahLst/>
            <a:rect l="0" t="0" r="r" b="b"/>
            <a:pathLst>
              <a:path w="5266" h="28">
                <a:moveTo>
                  <a:pt x="0" y="0"/>
                </a:moveTo>
                <a:lnTo>
                  <a:pt x="5266" y="0"/>
                </a:lnTo>
                <a:lnTo>
                  <a:pt x="526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7" name=""/>
          <p:cNvSpPr/>
          <p:nvPr/>
        </p:nvSpPr>
        <p:spPr>
          <a:xfrm>
            <a:off x="6743520" y="295272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8" name=""/>
          <p:cNvSpPr/>
          <p:nvPr/>
        </p:nvSpPr>
        <p:spPr>
          <a:xfrm>
            <a:off x="6752880" y="2943000"/>
            <a:ext cx="4696200" cy="10080"/>
          </a:xfrm>
          <a:custGeom>
            <a:avLst/>
            <a:gdLst/>
            <a:ahLst/>
            <a:rect l="0" t="0" r="r" b="b"/>
            <a:pathLst>
              <a:path w="13045" h="28">
                <a:moveTo>
                  <a:pt x="0" y="0"/>
                </a:moveTo>
                <a:lnTo>
                  <a:pt x="13045" y="0"/>
                </a:lnTo>
                <a:lnTo>
                  <a:pt x="1304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9" name=""/>
          <p:cNvSpPr/>
          <p:nvPr/>
        </p:nvSpPr>
        <p:spPr>
          <a:xfrm>
            <a:off x="11439360" y="295272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0" name=""/>
          <p:cNvSpPr/>
          <p:nvPr/>
        </p:nvSpPr>
        <p:spPr>
          <a:xfrm>
            <a:off x="752400" y="3904920"/>
            <a:ext cx="9720" cy="543600"/>
          </a:xfrm>
          <a:custGeom>
            <a:avLst/>
            <a:gdLst/>
            <a:ahLst/>
            <a:rect l="0" t="0" r="r" b="b"/>
            <a:pathLst>
              <a:path w="27" h="1510">
                <a:moveTo>
                  <a:pt x="0" y="0"/>
                </a:moveTo>
                <a:lnTo>
                  <a:pt x="27" y="0"/>
                </a:lnTo>
                <a:lnTo>
                  <a:pt x="27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1" name=""/>
          <p:cNvSpPr/>
          <p:nvPr/>
        </p:nvSpPr>
        <p:spPr>
          <a:xfrm>
            <a:off x="752400" y="3895560"/>
            <a:ext cx="1447920" cy="9720"/>
          </a:xfrm>
          <a:custGeom>
            <a:avLst/>
            <a:gdLst/>
            <a:ahLst/>
            <a:rect l="0" t="0" r="r" b="b"/>
            <a:pathLst>
              <a:path w="4022" h="27">
                <a:moveTo>
                  <a:pt x="0" y="0"/>
                </a:moveTo>
                <a:lnTo>
                  <a:pt x="4022" y="0"/>
                </a:lnTo>
                <a:lnTo>
                  <a:pt x="402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2" name=""/>
          <p:cNvSpPr/>
          <p:nvPr/>
        </p:nvSpPr>
        <p:spPr>
          <a:xfrm>
            <a:off x="2190600" y="3904920"/>
            <a:ext cx="9720" cy="543600"/>
          </a:xfrm>
          <a:custGeom>
            <a:avLst/>
            <a:gdLst/>
            <a:ahLst/>
            <a:rect l="0" t="0" r="r" b="b"/>
            <a:pathLst>
              <a:path w="27" h="1510">
                <a:moveTo>
                  <a:pt x="0" y="0"/>
                </a:moveTo>
                <a:lnTo>
                  <a:pt x="27" y="0"/>
                </a:lnTo>
                <a:lnTo>
                  <a:pt x="27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3" name=""/>
          <p:cNvSpPr/>
          <p:nvPr/>
        </p:nvSpPr>
        <p:spPr>
          <a:xfrm>
            <a:off x="2199960" y="3895560"/>
            <a:ext cx="2657880" cy="9720"/>
          </a:xfrm>
          <a:custGeom>
            <a:avLst/>
            <a:gdLst/>
            <a:ahLst/>
            <a:rect l="0" t="0" r="r" b="b"/>
            <a:pathLst>
              <a:path w="7383" h="27">
                <a:moveTo>
                  <a:pt x="0" y="0"/>
                </a:moveTo>
                <a:lnTo>
                  <a:pt x="7383" y="0"/>
                </a:lnTo>
                <a:lnTo>
                  <a:pt x="7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4" name=""/>
          <p:cNvSpPr/>
          <p:nvPr/>
        </p:nvSpPr>
        <p:spPr>
          <a:xfrm>
            <a:off x="4848120" y="3904920"/>
            <a:ext cx="9720" cy="543600"/>
          </a:xfrm>
          <a:custGeom>
            <a:avLst/>
            <a:gdLst/>
            <a:ahLst/>
            <a:rect l="0" t="0" r="r" b="b"/>
            <a:pathLst>
              <a:path w="27" h="1510">
                <a:moveTo>
                  <a:pt x="0" y="0"/>
                </a:moveTo>
                <a:lnTo>
                  <a:pt x="27" y="0"/>
                </a:lnTo>
                <a:lnTo>
                  <a:pt x="27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5" name=""/>
          <p:cNvSpPr/>
          <p:nvPr/>
        </p:nvSpPr>
        <p:spPr>
          <a:xfrm>
            <a:off x="4857480" y="3895560"/>
            <a:ext cx="1895760" cy="9720"/>
          </a:xfrm>
          <a:custGeom>
            <a:avLst/>
            <a:gdLst/>
            <a:ahLst/>
            <a:rect l="0" t="0" r="r" b="b"/>
            <a:pathLst>
              <a:path w="5266" h="27">
                <a:moveTo>
                  <a:pt x="0" y="0"/>
                </a:moveTo>
                <a:lnTo>
                  <a:pt x="5266" y="0"/>
                </a:lnTo>
                <a:lnTo>
                  <a:pt x="526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6" name=""/>
          <p:cNvSpPr/>
          <p:nvPr/>
        </p:nvSpPr>
        <p:spPr>
          <a:xfrm>
            <a:off x="6743520" y="3904920"/>
            <a:ext cx="9720" cy="543600"/>
          </a:xfrm>
          <a:custGeom>
            <a:avLst/>
            <a:gdLst/>
            <a:ahLst/>
            <a:rect l="0" t="0" r="r" b="b"/>
            <a:pathLst>
              <a:path w="27" h="1510">
                <a:moveTo>
                  <a:pt x="0" y="0"/>
                </a:moveTo>
                <a:lnTo>
                  <a:pt x="27" y="0"/>
                </a:lnTo>
                <a:lnTo>
                  <a:pt x="27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7" name=""/>
          <p:cNvSpPr/>
          <p:nvPr/>
        </p:nvSpPr>
        <p:spPr>
          <a:xfrm>
            <a:off x="6752880" y="3895560"/>
            <a:ext cx="4696200" cy="9720"/>
          </a:xfrm>
          <a:custGeom>
            <a:avLst/>
            <a:gdLst/>
            <a:ahLst/>
            <a:rect l="0" t="0" r="r" b="b"/>
            <a:pathLst>
              <a:path w="13045" h="27">
                <a:moveTo>
                  <a:pt x="0" y="0"/>
                </a:moveTo>
                <a:lnTo>
                  <a:pt x="13045" y="0"/>
                </a:lnTo>
                <a:lnTo>
                  <a:pt x="1304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8" name=""/>
          <p:cNvSpPr/>
          <p:nvPr/>
        </p:nvSpPr>
        <p:spPr>
          <a:xfrm>
            <a:off x="11439360" y="3904920"/>
            <a:ext cx="9720" cy="543600"/>
          </a:xfrm>
          <a:custGeom>
            <a:avLst/>
            <a:gdLst/>
            <a:ahLst/>
            <a:rect l="0" t="0" r="r" b="b"/>
            <a:pathLst>
              <a:path w="27" h="1510">
                <a:moveTo>
                  <a:pt x="0" y="0"/>
                </a:moveTo>
                <a:lnTo>
                  <a:pt x="27" y="0"/>
                </a:lnTo>
                <a:lnTo>
                  <a:pt x="27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9" name=""/>
          <p:cNvSpPr/>
          <p:nvPr/>
        </p:nvSpPr>
        <p:spPr>
          <a:xfrm>
            <a:off x="752400" y="444816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0" name=""/>
          <p:cNvSpPr/>
          <p:nvPr/>
        </p:nvSpPr>
        <p:spPr>
          <a:xfrm>
            <a:off x="752400" y="4438440"/>
            <a:ext cx="1447920" cy="10080"/>
          </a:xfrm>
          <a:custGeom>
            <a:avLst/>
            <a:gdLst/>
            <a:ahLst/>
            <a:rect l="0" t="0" r="r" b="b"/>
            <a:pathLst>
              <a:path w="4022" h="28">
                <a:moveTo>
                  <a:pt x="0" y="0"/>
                </a:moveTo>
                <a:lnTo>
                  <a:pt x="4022" y="0"/>
                </a:lnTo>
                <a:lnTo>
                  <a:pt x="402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1" name=""/>
          <p:cNvSpPr/>
          <p:nvPr/>
        </p:nvSpPr>
        <p:spPr>
          <a:xfrm>
            <a:off x="2190600" y="444816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2" name=""/>
          <p:cNvSpPr/>
          <p:nvPr/>
        </p:nvSpPr>
        <p:spPr>
          <a:xfrm>
            <a:off x="2199960" y="4438440"/>
            <a:ext cx="2657880" cy="10080"/>
          </a:xfrm>
          <a:custGeom>
            <a:avLst/>
            <a:gdLst/>
            <a:ahLst/>
            <a:rect l="0" t="0" r="r" b="b"/>
            <a:pathLst>
              <a:path w="7383" h="28">
                <a:moveTo>
                  <a:pt x="0" y="0"/>
                </a:moveTo>
                <a:lnTo>
                  <a:pt x="7383" y="0"/>
                </a:lnTo>
                <a:lnTo>
                  <a:pt x="7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3" name=""/>
          <p:cNvSpPr/>
          <p:nvPr/>
        </p:nvSpPr>
        <p:spPr>
          <a:xfrm>
            <a:off x="4848120" y="444816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4" name=""/>
          <p:cNvSpPr/>
          <p:nvPr/>
        </p:nvSpPr>
        <p:spPr>
          <a:xfrm>
            <a:off x="4857480" y="4438440"/>
            <a:ext cx="1895760" cy="10080"/>
          </a:xfrm>
          <a:custGeom>
            <a:avLst/>
            <a:gdLst/>
            <a:ahLst/>
            <a:rect l="0" t="0" r="r" b="b"/>
            <a:pathLst>
              <a:path w="5266" h="28">
                <a:moveTo>
                  <a:pt x="0" y="0"/>
                </a:moveTo>
                <a:lnTo>
                  <a:pt x="5266" y="0"/>
                </a:lnTo>
                <a:lnTo>
                  <a:pt x="526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5" name=""/>
          <p:cNvSpPr/>
          <p:nvPr/>
        </p:nvSpPr>
        <p:spPr>
          <a:xfrm>
            <a:off x="6743520" y="444816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6" name=""/>
          <p:cNvSpPr/>
          <p:nvPr/>
        </p:nvSpPr>
        <p:spPr>
          <a:xfrm>
            <a:off x="6752880" y="4438440"/>
            <a:ext cx="4696200" cy="10080"/>
          </a:xfrm>
          <a:custGeom>
            <a:avLst/>
            <a:gdLst/>
            <a:ahLst/>
            <a:rect l="0" t="0" r="r" b="b"/>
            <a:pathLst>
              <a:path w="13045" h="28">
                <a:moveTo>
                  <a:pt x="0" y="0"/>
                </a:moveTo>
                <a:lnTo>
                  <a:pt x="13045" y="0"/>
                </a:lnTo>
                <a:lnTo>
                  <a:pt x="1304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7" name=""/>
          <p:cNvSpPr/>
          <p:nvPr/>
        </p:nvSpPr>
        <p:spPr>
          <a:xfrm>
            <a:off x="11439360" y="444816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8" name=""/>
          <p:cNvSpPr/>
          <p:nvPr/>
        </p:nvSpPr>
        <p:spPr>
          <a:xfrm>
            <a:off x="752400" y="54003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9" name=""/>
          <p:cNvSpPr/>
          <p:nvPr/>
        </p:nvSpPr>
        <p:spPr>
          <a:xfrm>
            <a:off x="752400" y="5391000"/>
            <a:ext cx="1447920" cy="9720"/>
          </a:xfrm>
          <a:custGeom>
            <a:avLst/>
            <a:gdLst/>
            <a:ahLst/>
            <a:rect l="0" t="0" r="r" b="b"/>
            <a:pathLst>
              <a:path w="4022" h="27">
                <a:moveTo>
                  <a:pt x="0" y="0"/>
                </a:moveTo>
                <a:lnTo>
                  <a:pt x="4022" y="0"/>
                </a:lnTo>
                <a:lnTo>
                  <a:pt x="402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0" name=""/>
          <p:cNvSpPr/>
          <p:nvPr/>
        </p:nvSpPr>
        <p:spPr>
          <a:xfrm>
            <a:off x="2190600" y="54003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1" name=""/>
          <p:cNvSpPr/>
          <p:nvPr/>
        </p:nvSpPr>
        <p:spPr>
          <a:xfrm>
            <a:off x="2199960" y="5391000"/>
            <a:ext cx="2657880" cy="9720"/>
          </a:xfrm>
          <a:custGeom>
            <a:avLst/>
            <a:gdLst/>
            <a:ahLst/>
            <a:rect l="0" t="0" r="r" b="b"/>
            <a:pathLst>
              <a:path w="7383" h="27">
                <a:moveTo>
                  <a:pt x="0" y="0"/>
                </a:moveTo>
                <a:lnTo>
                  <a:pt x="7383" y="0"/>
                </a:lnTo>
                <a:lnTo>
                  <a:pt x="7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2" name=""/>
          <p:cNvSpPr/>
          <p:nvPr/>
        </p:nvSpPr>
        <p:spPr>
          <a:xfrm>
            <a:off x="4848120" y="54003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3" name=""/>
          <p:cNvSpPr/>
          <p:nvPr/>
        </p:nvSpPr>
        <p:spPr>
          <a:xfrm>
            <a:off x="4857480" y="5391000"/>
            <a:ext cx="1895760" cy="9720"/>
          </a:xfrm>
          <a:custGeom>
            <a:avLst/>
            <a:gdLst/>
            <a:ahLst/>
            <a:rect l="0" t="0" r="r" b="b"/>
            <a:pathLst>
              <a:path w="5266" h="27">
                <a:moveTo>
                  <a:pt x="0" y="0"/>
                </a:moveTo>
                <a:lnTo>
                  <a:pt x="5266" y="0"/>
                </a:lnTo>
                <a:lnTo>
                  <a:pt x="526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4" name=""/>
          <p:cNvSpPr/>
          <p:nvPr/>
        </p:nvSpPr>
        <p:spPr>
          <a:xfrm>
            <a:off x="6743520" y="54003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5" name=""/>
          <p:cNvSpPr/>
          <p:nvPr/>
        </p:nvSpPr>
        <p:spPr>
          <a:xfrm>
            <a:off x="6752880" y="5391000"/>
            <a:ext cx="4696200" cy="9720"/>
          </a:xfrm>
          <a:custGeom>
            <a:avLst/>
            <a:gdLst/>
            <a:ahLst/>
            <a:rect l="0" t="0" r="r" b="b"/>
            <a:pathLst>
              <a:path w="13045" h="27">
                <a:moveTo>
                  <a:pt x="0" y="0"/>
                </a:moveTo>
                <a:lnTo>
                  <a:pt x="13045" y="0"/>
                </a:lnTo>
                <a:lnTo>
                  <a:pt x="1304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6" name=""/>
          <p:cNvSpPr/>
          <p:nvPr/>
        </p:nvSpPr>
        <p:spPr>
          <a:xfrm>
            <a:off x="11439360" y="54003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7" name=""/>
          <p:cNvSpPr/>
          <p:nvPr/>
        </p:nvSpPr>
        <p:spPr>
          <a:xfrm>
            <a:off x="752400" y="593388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8" name=""/>
          <p:cNvSpPr/>
          <p:nvPr/>
        </p:nvSpPr>
        <p:spPr>
          <a:xfrm>
            <a:off x="752400" y="5924520"/>
            <a:ext cx="1447920" cy="9720"/>
          </a:xfrm>
          <a:custGeom>
            <a:avLst/>
            <a:gdLst/>
            <a:ahLst/>
            <a:rect l="0" t="0" r="r" b="b"/>
            <a:pathLst>
              <a:path w="4022" h="27">
                <a:moveTo>
                  <a:pt x="0" y="0"/>
                </a:moveTo>
                <a:lnTo>
                  <a:pt x="4022" y="0"/>
                </a:lnTo>
                <a:lnTo>
                  <a:pt x="402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9" name=""/>
          <p:cNvSpPr/>
          <p:nvPr/>
        </p:nvSpPr>
        <p:spPr>
          <a:xfrm>
            <a:off x="2190600" y="593388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0" name=""/>
          <p:cNvSpPr/>
          <p:nvPr/>
        </p:nvSpPr>
        <p:spPr>
          <a:xfrm>
            <a:off x="2199960" y="5924520"/>
            <a:ext cx="2657880" cy="9720"/>
          </a:xfrm>
          <a:custGeom>
            <a:avLst/>
            <a:gdLst/>
            <a:ahLst/>
            <a:rect l="0" t="0" r="r" b="b"/>
            <a:pathLst>
              <a:path w="7383" h="27">
                <a:moveTo>
                  <a:pt x="0" y="0"/>
                </a:moveTo>
                <a:lnTo>
                  <a:pt x="7383" y="0"/>
                </a:lnTo>
                <a:lnTo>
                  <a:pt x="7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1" name=""/>
          <p:cNvSpPr/>
          <p:nvPr/>
        </p:nvSpPr>
        <p:spPr>
          <a:xfrm>
            <a:off x="4848120" y="593388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2" name=""/>
          <p:cNvSpPr/>
          <p:nvPr/>
        </p:nvSpPr>
        <p:spPr>
          <a:xfrm>
            <a:off x="4857480" y="5924520"/>
            <a:ext cx="1895760" cy="9720"/>
          </a:xfrm>
          <a:custGeom>
            <a:avLst/>
            <a:gdLst/>
            <a:ahLst/>
            <a:rect l="0" t="0" r="r" b="b"/>
            <a:pathLst>
              <a:path w="5266" h="27">
                <a:moveTo>
                  <a:pt x="0" y="0"/>
                </a:moveTo>
                <a:lnTo>
                  <a:pt x="5266" y="0"/>
                </a:lnTo>
                <a:lnTo>
                  <a:pt x="526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3" name=""/>
          <p:cNvSpPr/>
          <p:nvPr/>
        </p:nvSpPr>
        <p:spPr>
          <a:xfrm>
            <a:off x="6743520" y="593388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4" name=""/>
          <p:cNvSpPr/>
          <p:nvPr/>
        </p:nvSpPr>
        <p:spPr>
          <a:xfrm>
            <a:off x="6752880" y="5924520"/>
            <a:ext cx="4696200" cy="9720"/>
          </a:xfrm>
          <a:custGeom>
            <a:avLst/>
            <a:gdLst/>
            <a:ahLst/>
            <a:rect l="0" t="0" r="r" b="b"/>
            <a:pathLst>
              <a:path w="13045" h="27">
                <a:moveTo>
                  <a:pt x="0" y="0"/>
                </a:moveTo>
                <a:lnTo>
                  <a:pt x="13045" y="0"/>
                </a:lnTo>
                <a:lnTo>
                  <a:pt x="1304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5" name=""/>
          <p:cNvSpPr/>
          <p:nvPr/>
        </p:nvSpPr>
        <p:spPr>
          <a:xfrm>
            <a:off x="11439360" y="593388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6" name=""/>
          <p:cNvSpPr txBox="1"/>
          <p:nvPr/>
        </p:nvSpPr>
        <p:spPr>
          <a:xfrm>
            <a:off x="747720" y="770400"/>
            <a:ext cx="477684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0 — reading the crash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7" name=""/>
          <p:cNvSpPr txBox="1"/>
          <p:nvPr/>
        </p:nvSpPr>
        <p:spPr>
          <a:xfrm>
            <a:off x="1105920" y="1569240"/>
            <a:ext cx="735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Panel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8" name=""/>
          <p:cNvSpPr txBox="1"/>
          <p:nvPr/>
        </p:nvSpPr>
        <p:spPr>
          <a:xfrm>
            <a:off x="3117240" y="1569240"/>
            <a:ext cx="812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Metric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9" name=""/>
          <p:cNvSpPr txBox="1"/>
          <p:nvPr/>
        </p:nvSpPr>
        <p:spPr>
          <a:xfrm>
            <a:off x="5436720" y="1569240"/>
            <a:ext cx="735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Value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8155800" y="1569240"/>
            <a:ext cx="1869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What it means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1" name=""/>
          <p:cNvSpPr txBox="1"/>
          <p:nvPr/>
        </p:nvSpPr>
        <p:spPr>
          <a:xfrm>
            <a:off x="880920" y="2102760"/>
            <a:ext cx="643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VU &amp;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880920" y="2521800"/>
            <a:ext cx="613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req/s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3" name=""/>
          <p:cNvSpPr txBox="1"/>
          <p:nvPr/>
        </p:nvSpPr>
        <p:spPr>
          <a:xfrm>
            <a:off x="2325600" y="2102760"/>
            <a:ext cx="1916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req/s at 107 VU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4" name=""/>
          <p:cNvSpPr txBox="1"/>
          <p:nvPr/>
        </p:nvSpPr>
        <p:spPr>
          <a:xfrm>
            <a:off x="2325600" y="2521800"/>
            <a:ext cx="1532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(screenshot)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5" name=""/>
          <p:cNvSpPr txBox="1"/>
          <p:nvPr/>
        </p:nvSpPr>
        <p:spPr>
          <a:xfrm>
            <a:off x="4979880" y="2312280"/>
            <a:ext cx="1203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~40 req/s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6" name=""/>
          <p:cNvSpPr txBox="1"/>
          <p:nvPr/>
        </p:nvSpPr>
        <p:spPr>
          <a:xfrm>
            <a:off x="6872760" y="2102760"/>
            <a:ext cx="3985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Still serving — collapse happens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7" name=""/>
          <p:cNvSpPr txBox="1"/>
          <p:nvPr/>
        </p:nvSpPr>
        <p:spPr>
          <a:xfrm>
            <a:off x="6872760" y="2521800"/>
            <a:ext cx="1678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past ~200 VU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8" name=""/>
          <p:cNvSpPr txBox="1"/>
          <p:nvPr/>
        </p:nvSpPr>
        <p:spPr>
          <a:xfrm>
            <a:off x="880920" y="3055320"/>
            <a:ext cx="643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VU &amp;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9" name=""/>
          <p:cNvSpPr txBox="1"/>
          <p:nvPr/>
        </p:nvSpPr>
        <p:spPr>
          <a:xfrm>
            <a:off x="880920" y="3474360"/>
            <a:ext cx="613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req/s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0" name=""/>
          <p:cNvSpPr txBox="1"/>
          <p:nvPr/>
        </p:nvSpPr>
        <p:spPr>
          <a:xfrm>
            <a:off x="2325600" y="3264840"/>
            <a:ext cx="13190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req/s trend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1" name=""/>
          <p:cNvSpPr txBox="1"/>
          <p:nvPr/>
        </p:nvSpPr>
        <p:spPr>
          <a:xfrm>
            <a:off x="4979880" y="3055320"/>
            <a:ext cx="982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~40+ →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2" name=""/>
          <p:cNvSpPr txBox="1"/>
          <p:nvPr/>
        </p:nvSpPr>
        <p:spPr>
          <a:xfrm>
            <a:off x="4979880" y="3474360"/>
            <a:ext cx="1104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collapse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3" name=""/>
          <p:cNvSpPr txBox="1"/>
          <p:nvPr/>
        </p:nvSpPr>
        <p:spPr>
          <a:xfrm>
            <a:off x="6872760" y="3055320"/>
            <a:ext cx="3864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Screenshot captured mid-ramp;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4" name=""/>
          <p:cNvSpPr txBox="1"/>
          <p:nvPr/>
        </p:nvSpPr>
        <p:spPr>
          <a:xfrm>
            <a:off x="6872760" y="3474360"/>
            <a:ext cx="4309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peak-then-drop happens off-screen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5" name=""/>
          <p:cNvSpPr txBox="1"/>
          <p:nvPr/>
        </p:nvSpPr>
        <p:spPr>
          <a:xfrm>
            <a:off x="880920" y="4007520"/>
            <a:ext cx="965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6" name=""/>
          <p:cNvSpPr txBox="1"/>
          <p:nvPr/>
        </p:nvSpPr>
        <p:spPr>
          <a:xfrm>
            <a:off x="2325600" y="4007520"/>
            <a:ext cx="459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7" name=""/>
          <p:cNvSpPr txBox="1"/>
          <p:nvPr/>
        </p:nvSpPr>
        <p:spPr>
          <a:xfrm>
            <a:off x="4979880" y="4007520"/>
            <a:ext cx="8510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~3–6 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8" name=""/>
          <p:cNvSpPr txBox="1"/>
          <p:nvPr/>
        </p:nvSpPr>
        <p:spPr>
          <a:xfrm>
            <a:off x="6872760" y="4007520"/>
            <a:ext cx="3304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Many × worse than Level 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9" name=""/>
          <p:cNvSpPr txBox="1"/>
          <p:nvPr/>
        </p:nvSpPr>
        <p:spPr>
          <a:xfrm>
            <a:off x="880920" y="4760280"/>
            <a:ext cx="965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0" name=""/>
          <p:cNvSpPr txBox="1"/>
          <p:nvPr/>
        </p:nvSpPr>
        <p:spPr>
          <a:xfrm>
            <a:off x="2325600" y="4760280"/>
            <a:ext cx="459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p99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4979880" y="4550760"/>
            <a:ext cx="1263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~6 s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(hard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2" name=""/>
          <p:cNvSpPr txBox="1"/>
          <p:nvPr/>
        </p:nvSpPr>
        <p:spPr>
          <a:xfrm>
            <a:off x="4979880" y="4960080"/>
            <a:ext cx="874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ceiling)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3" name=""/>
          <p:cNvSpPr txBox="1"/>
          <p:nvPr/>
        </p:nvSpPr>
        <p:spPr>
          <a:xfrm>
            <a:off x="6872760" y="4760280"/>
            <a:ext cx="4231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Connections timing out at OS level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880920" y="5502960"/>
            <a:ext cx="965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5" name=""/>
          <p:cNvSpPr txBox="1"/>
          <p:nvPr/>
        </p:nvSpPr>
        <p:spPr>
          <a:xfrm>
            <a:off x="2325600" y="5502960"/>
            <a:ext cx="459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p50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6" name=""/>
          <p:cNvSpPr txBox="1"/>
          <p:nvPr/>
        </p:nvSpPr>
        <p:spPr>
          <a:xfrm>
            <a:off x="4979880" y="5502960"/>
            <a:ext cx="8510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~1–2 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6872760" y="5502960"/>
            <a:ext cx="3542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Even the median is unusable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8" name=""/>
          <p:cNvSpPr txBox="1"/>
          <p:nvPr/>
        </p:nvSpPr>
        <p:spPr>
          <a:xfrm>
            <a:off x="880920" y="624600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Apache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9" name=""/>
          <p:cNvSpPr txBox="1"/>
          <p:nvPr/>
        </p:nvSpPr>
        <p:spPr>
          <a:xfrm>
            <a:off x="2325600" y="6036480"/>
            <a:ext cx="1395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Connection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0" name=""/>
          <p:cNvSpPr txBox="1"/>
          <p:nvPr/>
        </p:nvSpPr>
        <p:spPr>
          <a:xfrm>
            <a:off x="2325600" y="6455520"/>
            <a:ext cx="9500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backlog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1" name=""/>
          <p:cNvSpPr txBox="1"/>
          <p:nvPr/>
        </p:nvSpPr>
        <p:spPr>
          <a:xfrm>
            <a:off x="4979880" y="6246000"/>
            <a:ext cx="782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~250+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2" name=""/>
          <p:cNvSpPr txBox="1"/>
          <p:nvPr/>
        </p:nvSpPr>
        <p:spPr>
          <a:xfrm>
            <a:off x="6872760" y="6036480"/>
            <a:ext cx="43700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OS listen queue overflowing — new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6872760" y="6455520"/>
            <a:ext cx="2468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connections refused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7" name=""/>
          <p:cNvSpPr txBox="1"/>
          <p:nvPr/>
        </p:nvSpPr>
        <p:spPr>
          <a:xfrm>
            <a:off x="747720" y="2106000"/>
            <a:ext cx="343800" cy="323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ColorEmoji"/>
                <a:ea typeface="NotoColorEmoji"/>
              </a:rPr>
              <a:t>🩹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8" name=""/>
          <p:cNvSpPr txBox="1"/>
          <p:nvPr/>
        </p:nvSpPr>
        <p:spPr>
          <a:xfrm>
            <a:off x="747720" y="2743200"/>
            <a:ext cx="1276200" cy="494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480" spc="-1" strike="noStrike">
                <a:solidFill>
                  <a:srgbClr val="224466"/>
                </a:solidFill>
                <a:latin typeface="Arial"/>
                <a:ea typeface="Arial"/>
              </a:rPr>
              <a:t>ACT II</a:t>
            </a:r>
            <a:endParaRPr b="0" lang="en-US" sz="34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9" name=""/>
          <p:cNvSpPr txBox="1"/>
          <p:nvPr/>
        </p:nvSpPr>
        <p:spPr>
          <a:xfrm>
            <a:off x="747720" y="3646800"/>
            <a:ext cx="305784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Stop the Bleeding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0" name=""/>
          <p:cNvSpPr txBox="1"/>
          <p:nvPr/>
        </p:nvSpPr>
        <p:spPr>
          <a:xfrm>
            <a:off x="747720" y="4420800"/>
            <a:ext cx="6867720" cy="33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Arial"/>
                <a:ea typeface="Arial"/>
              </a:rPr>
              <a:t>Level 1 — Nginx + PHP-FPM + OPcache + Redis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4" name=""/>
          <p:cNvSpPr/>
          <p:nvPr/>
        </p:nvSpPr>
        <p:spPr>
          <a:xfrm>
            <a:off x="757080" y="6700680"/>
            <a:ext cx="10687320" cy="590760"/>
          </a:xfrm>
          <a:custGeom>
            <a:avLst/>
            <a:gdLst/>
            <a:ahLst/>
            <a:rect l="0" t="0" r="r" b="b"/>
            <a:pathLst>
              <a:path w="29687" h="1641">
                <a:moveTo>
                  <a:pt x="0" y="1496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1496"/>
                </a:lnTo>
                <a:cubicBezTo>
                  <a:pt x="29687" y="1505"/>
                  <a:pt x="29686" y="1515"/>
                  <a:pt x="29684" y="1524"/>
                </a:cubicBezTo>
                <a:cubicBezTo>
                  <a:pt x="29683" y="1534"/>
                  <a:pt x="29680" y="1543"/>
                  <a:pt x="29676" y="1552"/>
                </a:cubicBezTo>
                <a:cubicBezTo>
                  <a:pt x="29672" y="1560"/>
                  <a:pt x="29668" y="1569"/>
                  <a:pt x="29663" y="1577"/>
                </a:cubicBezTo>
                <a:cubicBezTo>
                  <a:pt x="29657" y="1585"/>
                  <a:pt x="29651" y="1592"/>
                  <a:pt x="29645" y="1599"/>
                </a:cubicBezTo>
                <a:cubicBezTo>
                  <a:pt x="29638" y="1605"/>
                  <a:pt x="29630" y="1612"/>
                  <a:pt x="29623" y="1617"/>
                </a:cubicBezTo>
                <a:cubicBezTo>
                  <a:pt x="29615" y="1622"/>
                  <a:pt x="29606" y="1627"/>
                  <a:pt x="29597" y="1630"/>
                </a:cubicBezTo>
                <a:cubicBezTo>
                  <a:pt x="29589" y="1634"/>
                  <a:pt x="29579" y="1637"/>
                  <a:pt x="29570" y="1639"/>
                </a:cubicBezTo>
                <a:cubicBezTo>
                  <a:pt x="29561" y="1640"/>
                  <a:pt x="29551" y="1641"/>
                  <a:pt x="29542" y="1641"/>
                </a:cubicBezTo>
                <a:lnTo>
                  <a:pt x="145" y="1641"/>
                </a:lnTo>
                <a:cubicBezTo>
                  <a:pt x="136" y="1641"/>
                  <a:pt x="126" y="1640"/>
                  <a:pt x="117" y="1639"/>
                </a:cubicBezTo>
                <a:cubicBezTo>
                  <a:pt x="108" y="1637"/>
                  <a:pt x="99" y="1634"/>
                  <a:pt x="90" y="1630"/>
                </a:cubicBezTo>
                <a:cubicBezTo>
                  <a:pt x="81" y="1627"/>
                  <a:pt x="73" y="1622"/>
                  <a:pt x="65" y="1617"/>
                </a:cubicBezTo>
                <a:cubicBezTo>
                  <a:pt x="57" y="1612"/>
                  <a:pt x="49" y="1605"/>
                  <a:pt x="43" y="1599"/>
                </a:cubicBezTo>
                <a:cubicBezTo>
                  <a:pt x="36" y="1592"/>
                  <a:pt x="30" y="1585"/>
                  <a:pt x="24" y="1577"/>
                </a:cubicBezTo>
                <a:cubicBezTo>
                  <a:pt x="19" y="1569"/>
                  <a:pt x="15" y="1560"/>
                  <a:pt x="11" y="1552"/>
                </a:cubicBezTo>
                <a:cubicBezTo>
                  <a:pt x="7" y="1543"/>
                  <a:pt x="5" y="1534"/>
                  <a:pt x="3" y="1524"/>
                </a:cubicBezTo>
                <a:cubicBezTo>
                  <a:pt x="1" y="1515"/>
                  <a:pt x="0" y="1505"/>
                  <a:pt x="0" y="1496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5" name=""/>
          <p:cNvSpPr/>
          <p:nvPr/>
        </p:nvSpPr>
        <p:spPr>
          <a:xfrm>
            <a:off x="757080" y="6700680"/>
            <a:ext cx="10687320" cy="590760"/>
          </a:xfrm>
          <a:custGeom>
            <a:avLst/>
            <a:gdLst/>
            <a:ahLst/>
            <a:rect l="0" t="0" r="r" b="b"/>
            <a:pathLst>
              <a:path w="29687" h="1641">
                <a:moveTo>
                  <a:pt x="0" y="1496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1496"/>
                </a:lnTo>
                <a:cubicBezTo>
                  <a:pt x="29687" y="1505"/>
                  <a:pt x="29686" y="1515"/>
                  <a:pt x="29684" y="1524"/>
                </a:cubicBezTo>
                <a:cubicBezTo>
                  <a:pt x="29683" y="1534"/>
                  <a:pt x="29680" y="1543"/>
                  <a:pt x="29676" y="1552"/>
                </a:cubicBezTo>
                <a:cubicBezTo>
                  <a:pt x="29672" y="1560"/>
                  <a:pt x="29668" y="1569"/>
                  <a:pt x="29663" y="1577"/>
                </a:cubicBezTo>
                <a:cubicBezTo>
                  <a:pt x="29657" y="1585"/>
                  <a:pt x="29651" y="1592"/>
                  <a:pt x="29645" y="1599"/>
                </a:cubicBezTo>
                <a:cubicBezTo>
                  <a:pt x="29638" y="1605"/>
                  <a:pt x="29630" y="1612"/>
                  <a:pt x="29623" y="1617"/>
                </a:cubicBezTo>
                <a:cubicBezTo>
                  <a:pt x="29615" y="1622"/>
                  <a:pt x="29606" y="1627"/>
                  <a:pt x="29597" y="1630"/>
                </a:cubicBezTo>
                <a:cubicBezTo>
                  <a:pt x="29589" y="1634"/>
                  <a:pt x="29579" y="1637"/>
                  <a:pt x="29570" y="1639"/>
                </a:cubicBezTo>
                <a:cubicBezTo>
                  <a:pt x="29561" y="1640"/>
                  <a:pt x="29551" y="1641"/>
                  <a:pt x="29542" y="1641"/>
                </a:cubicBezTo>
                <a:lnTo>
                  <a:pt x="145" y="1641"/>
                </a:lnTo>
                <a:cubicBezTo>
                  <a:pt x="136" y="1641"/>
                  <a:pt x="126" y="1640"/>
                  <a:pt x="117" y="1639"/>
                </a:cubicBezTo>
                <a:cubicBezTo>
                  <a:pt x="108" y="1637"/>
                  <a:pt x="99" y="1634"/>
                  <a:pt x="90" y="1630"/>
                </a:cubicBezTo>
                <a:cubicBezTo>
                  <a:pt x="81" y="1627"/>
                  <a:pt x="73" y="1622"/>
                  <a:pt x="65" y="1617"/>
                </a:cubicBezTo>
                <a:cubicBezTo>
                  <a:pt x="57" y="1612"/>
                  <a:pt x="49" y="1605"/>
                  <a:pt x="43" y="1599"/>
                </a:cubicBezTo>
                <a:cubicBezTo>
                  <a:pt x="36" y="1592"/>
                  <a:pt x="30" y="1585"/>
                  <a:pt x="24" y="1577"/>
                </a:cubicBezTo>
                <a:cubicBezTo>
                  <a:pt x="19" y="1569"/>
                  <a:pt x="15" y="1560"/>
                  <a:pt x="11" y="1552"/>
                </a:cubicBezTo>
                <a:cubicBezTo>
                  <a:pt x="7" y="1543"/>
                  <a:pt x="5" y="1534"/>
                  <a:pt x="3" y="1524"/>
                </a:cubicBezTo>
                <a:cubicBezTo>
                  <a:pt x="1" y="1515"/>
                  <a:pt x="0" y="1505"/>
                  <a:pt x="0" y="1496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6" name=""/>
          <p:cNvSpPr txBox="1"/>
          <p:nvPr/>
        </p:nvSpPr>
        <p:spPr>
          <a:xfrm>
            <a:off x="747720" y="770400"/>
            <a:ext cx="609660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1 — Three changes, zero cost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7" name=""/>
          <p:cNvSpPr txBox="1"/>
          <p:nvPr/>
        </p:nvSpPr>
        <p:spPr>
          <a:xfrm>
            <a:off x="747720" y="1502640"/>
            <a:ext cx="2973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1. Nginx (event-driven)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8" name=""/>
          <p:cNvSpPr txBox="1"/>
          <p:nvPr/>
        </p:nvSpPr>
        <p:spPr>
          <a:xfrm>
            <a:off x="747720" y="1912320"/>
            <a:ext cx="5543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One thread, 10,000+ concurrent connections.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9" name=""/>
          <p:cNvSpPr txBox="1"/>
          <p:nvPr/>
        </p:nvSpPr>
        <p:spPr>
          <a:xfrm>
            <a:off x="747720" y="2331360"/>
            <a:ext cx="3725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Zero RAM per idle connection.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0" name=""/>
          <p:cNvSpPr txBox="1"/>
          <p:nvPr/>
        </p:nvSpPr>
        <p:spPr>
          <a:xfrm>
            <a:off x="747720" y="2893320"/>
            <a:ext cx="3845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2. PHP-FPM (decoupled pool)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1" name=""/>
          <p:cNvSpPr txBox="1"/>
          <p:nvPr/>
        </p:nvSpPr>
        <p:spPr>
          <a:xfrm>
            <a:off x="747720" y="3312360"/>
            <a:ext cx="4492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Workers handle PHP execution only.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2" name=""/>
          <p:cNvSpPr/>
          <p:nvPr/>
        </p:nvSpPr>
        <p:spPr>
          <a:xfrm>
            <a:off x="752400" y="4143240"/>
            <a:ext cx="3000600" cy="362160"/>
          </a:xfrm>
          <a:custGeom>
            <a:avLst/>
            <a:gdLst/>
            <a:ahLst/>
            <a:rect l="0" t="0" r="r" b="b"/>
            <a:pathLst>
              <a:path w="8335" h="1006">
                <a:moveTo>
                  <a:pt x="0" y="848"/>
                </a:move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8"/>
                  <a:pt x="8" y="109"/>
                  <a:pt x="12" y="99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3"/>
                  <a:pt x="39" y="55"/>
                  <a:pt x="46" y="46"/>
                </a:cubicBezTo>
                <a:cubicBezTo>
                  <a:pt x="54" y="39"/>
                  <a:pt x="62" y="32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8176" y="0"/>
                </a:lnTo>
                <a:cubicBezTo>
                  <a:pt x="8187" y="0"/>
                  <a:pt x="8197" y="1"/>
                  <a:pt x="8207" y="3"/>
                </a:cubicBezTo>
                <a:cubicBezTo>
                  <a:pt x="8218" y="5"/>
                  <a:pt x="8227" y="8"/>
                  <a:pt x="8237" y="12"/>
                </a:cubicBezTo>
                <a:cubicBezTo>
                  <a:pt x="8247" y="16"/>
                  <a:pt x="8256" y="21"/>
                  <a:pt x="8265" y="27"/>
                </a:cubicBezTo>
                <a:cubicBezTo>
                  <a:pt x="8273" y="32"/>
                  <a:pt x="8281" y="39"/>
                  <a:pt x="8289" y="46"/>
                </a:cubicBezTo>
                <a:cubicBezTo>
                  <a:pt x="8296" y="55"/>
                  <a:pt x="8303" y="63"/>
                  <a:pt x="8308" y="71"/>
                </a:cubicBezTo>
                <a:cubicBezTo>
                  <a:pt x="8314" y="80"/>
                  <a:pt x="8319" y="89"/>
                  <a:pt x="8323" y="99"/>
                </a:cubicBezTo>
                <a:cubicBezTo>
                  <a:pt x="8327" y="109"/>
                  <a:pt x="8330" y="118"/>
                  <a:pt x="8332" y="129"/>
                </a:cubicBezTo>
                <a:cubicBezTo>
                  <a:pt x="8334" y="139"/>
                  <a:pt x="8335" y="149"/>
                  <a:pt x="8335" y="160"/>
                </a:cubicBezTo>
                <a:lnTo>
                  <a:pt x="8335" y="848"/>
                </a:lnTo>
                <a:cubicBezTo>
                  <a:pt x="8335" y="858"/>
                  <a:pt x="8334" y="868"/>
                  <a:pt x="8332" y="879"/>
                </a:cubicBezTo>
                <a:cubicBezTo>
                  <a:pt x="8330" y="889"/>
                  <a:pt x="8327" y="899"/>
                  <a:pt x="8323" y="908"/>
                </a:cubicBezTo>
                <a:cubicBezTo>
                  <a:pt x="8319" y="918"/>
                  <a:pt x="8314" y="927"/>
                  <a:pt x="8308" y="936"/>
                </a:cubicBezTo>
                <a:cubicBezTo>
                  <a:pt x="8303" y="944"/>
                  <a:pt x="8296" y="952"/>
                  <a:pt x="8289" y="960"/>
                </a:cubicBezTo>
                <a:cubicBezTo>
                  <a:pt x="8281" y="967"/>
                  <a:pt x="8273" y="974"/>
                  <a:pt x="8265" y="980"/>
                </a:cubicBezTo>
                <a:cubicBezTo>
                  <a:pt x="8256" y="985"/>
                  <a:pt x="8247" y="990"/>
                  <a:pt x="8237" y="994"/>
                </a:cubicBezTo>
                <a:cubicBezTo>
                  <a:pt x="8227" y="998"/>
                  <a:pt x="8218" y="1001"/>
                  <a:pt x="8207" y="1003"/>
                </a:cubicBezTo>
                <a:cubicBezTo>
                  <a:pt x="8197" y="1005"/>
                  <a:pt x="8187" y="1006"/>
                  <a:pt x="8176" y="1006"/>
                </a:cubicBezTo>
                <a:lnTo>
                  <a:pt x="158" y="1006"/>
                </a:lnTo>
                <a:cubicBezTo>
                  <a:pt x="148" y="1006"/>
                  <a:pt x="138" y="1005"/>
                  <a:pt x="127" y="1003"/>
                </a:cubicBezTo>
                <a:cubicBezTo>
                  <a:pt x="117" y="1001"/>
                  <a:pt x="107" y="998"/>
                  <a:pt x="98" y="994"/>
                </a:cubicBezTo>
                <a:cubicBezTo>
                  <a:pt x="88" y="990"/>
                  <a:pt x="79" y="985"/>
                  <a:pt x="70" y="980"/>
                </a:cubicBezTo>
                <a:cubicBezTo>
                  <a:pt x="62" y="974"/>
                  <a:pt x="54" y="967"/>
                  <a:pt x="46" y="960"/>
                </a:cubicBezTo>
                <a:cubicBezTo>
                  <a:pt x="39" y="952"/>
                  <a:pt x="32" y="944"/>
                  <a:pt x="26" y="936"/>
                </a:cubicBezTo>
                <a:cubicBezTo>
                  <a:pt x="21" y="927"/>
                  <a:pt x="16" y="918"/>
                  <a:pt x="12" y="908"/>
                </a:cubicBezTo>
                <a:cubicBezTo>
                  <a:pt x="8" y="899"/>
                  <a:pt x="5" y="889"/>
                  <a:pt x="3" y="879"/>
                </a:cubicBezTo>
                <a:cubicBezTo>
                  <a:pt x="1" y="868"/>
                  <a:pt x="0" y="858"/>
                  <a:pt x="0" y="848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3" name=""/>
          <p:cNvSpPr txBox="1"/>
          <p:nvPr/>
        </p:nvSpPr>
        <p:spPr>
          <a:xfrm>
            <a:off x="747720" y="3722040"/>
            <a:ext cx="4569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Nginx queues connections externally.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4" name=""/>
          <p:cNvSpPr txBox="1"/>
          <p:nvPr/>
        </p:nvSpPr>
        <p:spPr>
          <a:xfrm>
            <a:off x="841680" y="4194720"/>
            <a:ext cx="28170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pm.max_children = 20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5" name=""/>
          <p:cNvSpPr txBox="1"/>
          <p:nvPr/>
        </p:nvSpPr>
        <p:spPr>
          <a:xfrm>
            <a:off x="3752640" y="4141080"/>
            <a:ext cx="3247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—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hard limit,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never OOM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6" name=""/>
          <p:cNvSpPr/>
          <p:nvPr/>
        </p:nvSpPr>
        <p:spPr>
          <a:xfrm>
            <a:off x="1076040" y="54003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1"/>
                  <a:pt x="215" y="193"/>
                  <a:pt x="204" y="205"/>
                </a:cubicBezTo>
                <a:cubicBezTo>
                  <a:pt x="192" y="216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81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4"/>
                </a:cubicBezTo>
                <a:cubicBezTo>
                  <a:pt x="236" y="88"/>
                  <a:pt x="239" y="104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7" name=""/>
          <p:cNvSpPr txBox="1"/>
          <p:nvPr/>
        </p:nvSpPr>
        <p:spPr>
          <a:xfrm>
            <a:off x="747720" y="4703040"/>
            <a:ext cx="4299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3. OPcache + Redis object cache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8" name=""/>
          <p:cNvSpPr/>
          <p:nvPr/>
        </p:nvSpPr>
        <p:spPr>
          <a:xfrm>
            <a:off x="1076040" y="58863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4"/>
                </a:cubicBezTo>
                <a:cubicBezTo>
                  <a:pt x="223" y="179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79"/>
                  <a:pt x="9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3"/>
                  <a:pt x="204" y="35"/>
                </a:cubicBezTo>
                <a:cubicBezTo>
                  <a:pt x="215" y="46"/>
                  <a:pt x="223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9" name=""/>
          <p:cNvSpPr txBox="1"/>
          <p:nvPr/>
        </p:nvSpPr>
        <p:spPr>
          <a:xfrm>
            <a:off x="1300320" y="5274360"/>
            <a:ext cx="8815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OPcache: compiled PHP bytecode in shared memory — zero disk reads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0" name=""/>
          <p:cNvSpPr txBox="1"/>
          <p:nvPr/>
        </p:nvSpPr>
        <p:spPr>
          <a:xfrm>
            <a:off x="1300320" y="5760360"/>
            <a:ext cx="8859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Redis: DB query results in RAM — 82% of DB calls served from memory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4" name=""/>
          <p:cNvSpPr/>
          <p:nvPr/>
        </p:nvSpPr>
        <p:spPr>
          <a:xfrm>
            <a:off x="757080" y="2071440"/>
            <a:ext cx="10687320" cy="2476800"/>
          </a:xfrm>
          <a:custGeom>
            <a:avLst/>
            <a:gdLst/>
            <a:ahLst/>
            <a:rect l="0" t="0" r="r" b="b"/>
            <a:pathLst>
              <a:path w="29687" h="6880">
                <a:moveTo>
                  <a:pt x="0" y="673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6735"/>
                </a:lnTo>
                <a:cubicBezTo>
                  <a:pt x="29687" y="6744"/>
                  <a:pt x="29686" y="6754"/>
                  <a:pt x="29684" y="6763"/>
                </a:cubicBezTo>
                <a:cubicBezTo>
                  <a:pt x="29683" y="6773"/>
                  <a:pt x="29680" y="6782"/>
                  <a:pt x="29676" y="6791"/>
                </a:cubicBezTo>
                <a:cubicBezTo>
                  <a:pt x="29672" y="6799"/>
                  <a:pt x="29668" y="6808"/>
                  <a:pt x="29663" y="6816"/>
                </a:cubicBezTo>
                <a:cubicBezTo>
                  <a:pt x="29657" y="6824"/>
                  <a:pt x="29651" y="6831"/>
                  <a:pt x="29645" y="6838"/>
                </a:cubicBezTo>
                <a:cubicBezTo>
                  <a:pt x="29638" y="6844"/>
                  <a:pt x="29630" y="6851"/>
                  <a:pt x="29623" y="6856"/>
                </a:cubicBezTo>
                <a:cubicBezTo>
                  <a:pt x="29615" y="6861"/>
                  <a:pt x="29606" y="6866"/>
                  <a:pt x="29597" y="6869"/>
                </a:cubicBezTo>
                <a:cubicBezTo>
                  <a:pt x="29589" y="6873"/>
                  <a:pt x="29579" y="6876"/>
                  <a:pt x="29570" y="6878"/>
                </a:cubicBezTo>
                <a:cubicBezTo>
                  <a:pt x="29561" y="6879"/>
                  <a:pt x="29551" y="6880"/>
                  <a:pt x="29542" y="6880"/>
                </a:cubicBezTo>
                <a:lnTo>
                  <a:pt x="145" y="6880"/>
                </a:lnTo>
                <a:cubicBezTo>
                  <a:pt x="136" y="6880"/>
                  <a:pt x="126" y="6879"/>
                  <a:pt x="117" y="6878"/>
                </a:cubicBezTo>
                <a:cubicBezTo>
                  <a:pt x="108" y="6876"/>
                  <a:pt x="99" y="6873"/>
                  <a:pt x="90" y="6869"/>
                </a:cubicBezTo>
                <a:cubicBezTo>
                  <a:pt x="81" y="6866"/>
                  <a:pt x="73" y="6861"/>
                  <a:pt x="65" y="6856"/>
                </a:cubicBezTo>
                <a:cubicBezTo>
                  <a:pt x="57" y="6851"/>
                  <a:pt x="49" y="6844"/>
                  <a:pt x="43" y="6838"/>
                </a:cubicBezTo>
                <a:cubicBezTo>
                  <a:pt x="36" y="6831"/>
                  <a:pt x="30" y="6824"/>
                  <a:pt x="24" y="6816"/>
                </a:cubicBezTo>
                <a:cubicBezTo>
                  <a:pt x="19" y="6808"/>
                  <a:pt x="15" y="6799"/>
                  <a:pt x="11" y="6791"/>
                </a:cubicBezTo>
                <a:cubicBezTo>
                  <a:pt x="7" y="6782"/>
                  <a:pt x="5" y="6773"/>
                  <a:pt x="3" y="6763"/>
                </a:cubicBezTo>
                <a:cubicBezTo>
                  <a:pt x="1" y="6754"/>
                  <a:pt x="0" y="6744"/>
                  <a:pt x="0" y="6735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5" name=""/>
          <p:cNvSpPr/>
          <p:nvPr/>
        </p:nvSpPr>
        <p:spPr>
          <a:xfrm>
            <a:off x="757080" y="2071440"/>
            <a:ext cx="10687320" cy="2476800"/>
          </a:xfrm>
          <a:custGeom>
            <a:avLst/>
            <a:gdLst/>
            <a:ahLst/>
            <a:rect l="0" t="0" r="r" b="b"/>
            <a:pathLst>
              <a:path w="29687" h="6880">
                <a:moveTo>
                  <a:pt x="0" y="673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6735"/>
                </a:lnTo>
                <a:cubicBezTo>
                  <a:pt x="29687" y="6744"/>
                  <a:pt x="29686" y="6754"/>
                  <a:pt x="29684" y="6763"/>
                </a:cubicBezTo>
                <a:cubicBezTo>
                  <a:pt x="29683" y="6773"/>
                  <a:pt x="29680" y="6782"/>
                  <a:pt x="29676" y="6791"/>
                </a:cubicBezTo>
                <a:cubicBezTo>
                  <a:pt x="29672" y="6799"/>
                  <a:pt x="29668" y="6808"/>
                  <a:pt x="29663" y="6816"/>
                </a:cubicBezTo>
                <a:cubicBezTo>
                  <a:pt x="29657" y="6824"/>
                  <a:pt x="29651" y="6831"/>
                  <a:pt x="29645" y="6838"/>
                </a:cubicBezTo>
                <a:cubicBezTo>
                  <a:pt x="29638" y="6844"/>
                  <a:pt x="29630" y="6851"/>
                  <a:pt x="29623" y="6856"/>
                </a:cubicBezTo>
                <a:cubicBezTo>
                  <a:pt x="29615" y="6861"/>
                  <a:pt x="29606" y="6866"/>
                  <a:pt x="29597" y="6869"/>
                </a:cubicBezTo>
                <a:cubicBezTo>
                  <a:pt x="29589" y="6873"/>
                  <a:pt x="29579" y="6876"/>
                  <a:pt x="29570" y="6878"/>
                </a:cubicBezTo>
                <a:cubicBezTo>
                  <a:pt x="29561" y="6879"/>
                  <a:pt x="29551" y="6880"/>
                  <a:pt x="29542" y="6880"/>
                </a:cubicBezTo>
                <a:lnTo>
                  <a:pt x="145" y="6880"/>
                </a:lnTo>
                <a:cubicBezTo>
                  <a:pt x="136" y="6880"/>
                  <a:pt x="126" y="6879"/>
                  <a:pt x="117" y="6878"/>
                </a:cubicBezTo>
                <a:cubicBezTo>
                  <a:pt x="108" y="6876"/>
                  <a:pt x="99" y="6873"/>
                  <a:pt x="90" y="6869"/>
                </a:cubicBezTo>
                <a:cubicBezTo>
                  <a:pt x="81" y="6866"/>
                  <a:pt x="73" y="6861"/>
                  <a:pt x="65" y="6856"/>
                </a:cubicBezTo>
                <a:cubicBezTo>
                  <a:pt x="57" y="6851"/>
                  <a:pt x="49" y="6844"/>
                  <a:pt x="43" y="6838"/>
                </a:cubicBezTo>
                <a:cubicBezTo>
                  <a:pt x="36" y="6831"/>
                  <a:pt x="30" y="6824"/>
                  <a:pt x="24" y="6816"/>
                </a:cubicBezTo>
                <a:cubicBezTo>
                  <a:pt x="19" y="6808"/>
                  <a:pt x="15" y="6799"/>
                  <a:pt x="11" y="6791"/>
                </a:cubicBezTo>
                <a:cubicBezTo>
                  <a:pt x="7" y="6782"/>
                  <a:pt x="5" y="6773"/>
                  <a:pt x="3" y="6763"/>
                </a:cubicBezTo>
                <a:cubicBezTo>
                  <a:pt x="1" y="6754"/>
                  <a:pt x="0" y="6744"/>
                  <a:pt x="0" y="6735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6" name=""/>
          <p:cNvSpPr/>
          <p:nvPr/>
        </p:nvSpPr>
        <p:spPr>
          <a:xfrm>
            <a:off x="757080" y="5319360"/>
            <a:ext cx="10687320" cy="2753280"/>
          </a:xfrm>
          <a:custGeom>
            <a:avLst/>
            <a:gdLst/>
            <a:ahLst/>
            <a:rect l="0" t="0" r="r" b="b"/>
            <a:pathLst>
              <a:path w="29687" h="7648">
                <a:moveTo>
                  <a:pt x="0" y="7502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2"/>
                </a:cubicBezTo>
                <a:cubicBezTo>
                  <a:pt x="29606" y="15"/>
                  <a:pt x="29615" y="20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8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7502"/>
                </a:lnTo>
                <a:cubicBezTo>
                  <a:pt x="29687" y="7512"/>
                  <a:pt x="29686" y="7521"/>
                  <a:pt x="29684" y="7531"/>
                </a:cubicBezTo>
                <a:cubicBezTo>
                  <a:pt x="29683" y="7540"/>
                  <a:pt x="29680" y="7549"/>
                  <a:pt x="29676" y="7558"/>
                </a:cubicBezTo>
                <a:cubicBezTo>
                  <a:pt x="29672" y="7567"/>
                  <a:pt x="29668" y="7575"/>
                  <a:pt x="29663" y="7583"/>
                </a:cubicBezTo>
                <a:cubicBezTo>
                  <a:pt x="29657" y="7591"/>
                  <a:pt x="29651" y="7599"/>
                  <a:pt x="29645" y="7605"/>
                </a:cubicBezTo>
                <a:cubicBezTo>
                  <a:pt x="29638" y="7612"/>
                  <a:pt x="29630" y="7618"/>
                  <a:pt x="29623" y="7623"/>
                </a:cubicBezTo>
                <a:cubicBezTo>
                  <a:pt x="29615" y="7629"/>
                  <a:pt x="29606" y="7633"/>
                  <a:pt x="29597" y="7637"/>
                </a:cubicBezTo>
                <a:cubicBezTo>
                  <a:pt x="29589" y="7641"/>
                  <a:pt x="29579" y="7643"/>
                  <a:pt x="29570" y="7645"/>
                </a:cubicBezTo>
                <a:cubicBezTo>
                  <a:pt x="29561" y="7647"/>
                  <a:pt x="29551" y="7648"/>
                  <a:pt x="29542" y="7648"/>
                </a:cubicBezTo>
                <a:lnTo>
                  <a:pt x="145" y="7648"/>
                </a:lnTo>
                <a:cubicBezTo>
                  <a:pt x="136" y="7648"/>
                  <a:pt x="126" y="7647"/>
                  <a:pt x="117" y="7645"/>
                </a:cubicBezTo>
                <a:cubicBezTo>
                  <a:pt x="108" y="7643"/>
                  <a:pt x="99" y="7641"/>
                  <a:pt x="90" y="7637"/>
                </a:cubicBezTo>
                <a:cubicBezTo>
                  <a:pt x="81" y="7633"/>
                  <a:pt x="73" y="7629"/>
                  <a:pt x="65" y="7623"/>
                </a:cubicBezTo>
                <a:cubicBezTo>
                  <a:pt x="57" y="7618"/>
                  <a:pt x="49" y="7612"/>
                  <a:pt x="43" y="7605"/>
                </a:cubicBezTo>
                <a:cubicBezTo>
                  <a:pt x="36" y="7599"/>
                  <a:pt x="30" y="7591"/>
                  <a:pt x="24" y="7583"/>
                </a:cubicBezTo>
                <a:cubicBezTo>
                  <a:pt x="19" y="7575"/>
                  <a:pt x="15" y="7567"/>
                  <a:pt x="11" y="7558"/>
                </a:cubicBezTo>
                <a:cubicBezTo>
                  <a:pt x="7" y="7549"/>
                  <a:pt x="5" y="7540"/>
                  <a:pt x="3" y="7531"/>
                </a:cubicBezTo>
                <a:cubicBezTo>
                  <a:pt x="1" y="7521"/>
                  <a:pt x="0" y="7512"/>
                  <a:pt x="0" y="7502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7" name=""/>
          <p:cNvSpPr/>
          <p:nvPr/>
        </p:nvSpPr>
        <p:spPr>
          <a:xfrm>
            <a:off x="757080" y="5319360"/>
            <a:ext cx="10687320" cy="2753280"/>
          </a:xfrm>
          <a:custGeom>
            <a:avLst/>
            <a:gdLst/>
            <a:ahLst/>
            <a:rect l="0" t="0" r="r" b="b"/>
            <a:pathLst>
              <a:path w="29687" h="7648">
                <a:moveTo>
                  <a:pt x="0" y="7502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2"/>
                </a:cubicBezTo>
                <a:cubicBezTo>
                  <a:pt x="29606" y="15"/>
                  <a:pt x="29615" y="20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8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7502"/>
                </a:lnTo>
                <a:cubicBezTo>
                  <a:pt x="29687" y="7512"/>
                  <a:pt x="29686" y="7521"/>
                  <a:pt x="29684" y="7531"/>
                </a:cubicBezTo>
                <a:cubicBezTo>
                  <a:pt x="29683" y="7540"/>
                  <a:pt x="29680" y="7549"/>
                  <a:pt x="29676" y="7558"/>
                </a:cubicBezTo>
                <a:cubicBezTo>
                  <a:pt x="29672" y="7567"/>
                  <a:pt x="29668" y="7575"/>
                  <a:pt x="29663" y="7583"/>
                </a:cubicBezTo>
                <a:cubicBezTo>
                  <a:pt x="29657" y="7591"/>
                  <a:pt x="29651" y="7599"/>
                  <a:pt x="29645" y="7605"/>
                </a:cubicBezTo>
                <a:cubicBezTo>
                  <a:pt x="29638" y="7612"/>
                  <a:pt x="29630" y="7618"/>
                  <a:pt x="29623" y="7623"/>
                </a:cubicBezTo>
                <a:cubicBezTo>
                  <a:pt x="29615" y="7629"/>
                  <a:pt x="29606" y="7633"/>
                  <a:pt x="29597" y="7637"/>
                </a:cubicBezTo>
                <a:cubicBezTo>
                  <a:pt x="29589" y="7641"/>
                  <a:pt x="29579" y="7643"/>
                  <a:pt x="29570" y="7645"/>
                </a:cubicBezTo>
                <a:cubicBezTo>
                  <a:pt x="29561" y="7647"/>
                  <a:pt x="29551" y="7648"/>
                  <a:pt x="29542" y="7648"/>
                </a:cubicBezTo>
                <a:lnTo>
                  <a:pt x="145" y="7648"/>
                </a:lnTo>
                <a:cubicBezTo>
                  <a:pt x="136" y="7648"/>
                  <a:pt x="126" y="7647"/>
                  <a:pt x="117" y="7645"/>
                </a:cubicBezTo>
                <a:cubicBezTo>
                  <a:pt x="108" y="7643"/>
                  <a:pt x="99" y="7641"/>
                  <a:pt x="90" y="7637"/>
                </a:cubicBezTo>
                <a:cubicBezTo>
                  <a:pt x="81" y="7633"/>
                  <a:pt x="73" y="7629"/>
                  <a:pt x="65" y="7623"/>
                </a:cubicBezTo>
                <a:cubicBezTo>
                  <a:pt x="57" y="7618"/>
                  <a:pt x="49" y="7612"/>
                  <a:pt x="43" y="7605"/>
                </a:cubicBezTo>
                <a:cubicBezTo>
                  <a:pt x="36" y="7599"/>
                  <a:pt x="30" y="7591"/>
                  <a:pt x="24" y="7583"/>
                </a:cubicBezTo>
                <a:cubicBezTo>
                  <a:pt x="19" y="7575"/>
                  <a:pt x="15" y="7567"/>
                  <a:pt x="11" y="7558"/>
                </a:cubicBezTo>
                <a:cubicBezTo>
                  <a:pt x="7" y="7549"/>
                  <a:pt x="5" y="7540"/>
                  <a:pt x="3" y="7531"/>
                </a:cubicBezTo>
                <a:cubicBezTo>
                  <a:pt x="1" y="7521"/>
                  <a:pt x="0" y="7512"/>
                  <a:pt x="0" y="7502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8" name=""/>
          <p:cNvSpPr/>
          <p:nvPr/>
        </p:nvSpPr>
        <p:spPr>
          <a:xfrm>
            <a:off x="793440" y="1555560"/>
            <a:ext cx="280080" cy="280080"/>
          </a:xfrm>
          <a:custGeom>
            <a:avLst/>
            <a:gdLst/>
            <a:ahLst/>
            <a:rect l="0" t="0" r="r" b="b"/>
            <a:pathLst>
              <a:path w="778" h="778">
                <a:moveTo>
                  <a:pt x="472" y="388"/>
                </a:moveTo>
                <a:lnTo>
                  <a:pt x="760" y="100"/>
                </a:lnTo>
                <a:cubicBezTo>
                  <a:pt x="783" y="77"/>
                  <a:pt x="783" y="40"/>
                  <a:pt x="760" y="17"/>
                </a:cubicBezTo>
                <a:cubicBezTo>
                  <a:pt x="737" y="-6"/>
                  <a:pt x="700" y="-6"/>
                  <a:pt x="677" y="17"/>
                </a:cubicBezTo>
                <a:lnTo>
                  <a:pt x="388" y="305"/>
                </a:lnTo>
                <a:lnTo>
                  <a:pt x="101" y="17"/>
                </a:lnTo>
                <a:cubicBezTo>
                  <a:pt x="78" y="-6"/>
                  <a:pt x="40" y="-6"/>
                  <a:pt x="18" y="17"/>
                </a:cubicBezTo>
                <a:cubicBezTo>
                  <a:pt x="-5" y="40"/>
                  <a:pt x="-5" y="77"/>
                  <a:pt x="18" y="100"/>
                </a:cubicBezTo>
                <a:lnTo>
                  <a:pt x="305" y="388"/>
                </a:lnTo>
                <a:lnTo>
                  <a:pt x="17" y="677"/>
                </a:lnTo>
                <a:cubicBezTo>
                  <a:pt x="-6" y="700"/>
                  <a:pt x="-6" y="738"/>
                  <a:pt x="17" y="761"/>
                </a:cubicBezTo>
                <a:cubicBezTo>
                  <a:pt x="28" y="772"/>
                  <a:pt x="43" y="778"/>
                  <a:pt x="58" y="778"/>
                </a:cubicBezTo>
                <a:cubicBezTo>
                  <a:pt x="73" y="778"/>
                  <a:pt x="89" y="772"/>
                  <a:pt x="100" y="761"/>
                </a:cubicBezTo>
                <a:lnTo>
                  <a:pt x="388" y="471"/>
                </a:lnTo>
                <a:lnTo>
                  <a:pt x="677" y="760"/>
                </a:lnTo>
                <a:cubicBezTo>
                  <a:pt x="689" y="771"/>
                  <a:pt x="704" y="777"/>
                  <a:pt x="719" y="777"/>
                </a:cubicBezTo>
                <a:cubicBezTo>
                  <a:pt x="734" y="777"/>
                  <a:pt x="749" y="771"/>
                  <a:pt x="760" y="760"/>
                </a:cubicBezTo>
                <a:cubicBezTo>
                  <a:pt x="783" y="737"/>
                  <a:pt x="783" y="699"/>
                  <a:pt x="760" y="676"/>
                </a:cubicBezTo>
                <a:lnTo>
                  <a:pt x="472" y="388"/>
                </a:ln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9" name=""/>
          <p:cNvSpPr txBox="1"/>
          <p:nvPr/>
        </p:nvSpPr>
        <p:spPr>
          <a:xfrm>
            <a:off x="747720" y="770400"/>
            <a:ext cx="547632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OPcache — the biggest free win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0" name=""/>
          <p:cNvSpPr txBox="1"/>
          <p:nvPr/>
        </p:nvSpPr>
        <p:spPr>
          <a:xfrm>
            <a:off x="1096920" y="1544400"/>
            <a:ext cx="3909960" cy="33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390" spc="-1" strike="noStrike">
                <a:solidFill>
                  <a:srgbClr val="1f2328"/>
                </a:solidFill>
                <a:latin typeface="Arial"/>
                <a:ea typeface="Arial"/>
              </a:rPr>
              <a:t>Without OPcache (Level 0)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1" name=""/>
          <p:cNvSpPr txBox="1"/>
          <p:nvPr/>
        </p:nvSpPr>
        <p:spPr>
          <a:xfrm>
            <a:off x="914400" y="2233440"/>
            <a:ext cx="29574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Every single request: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2" name=""/>
          <p:cNvSpPr txBox="1"/>
          <p:nvPr/>
        </p:nvSpPr>
        <p:spPr>
          <a:xfrm>
            <a:off x="914400" y="2499840"/>
            <a:ext cx="36597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disk read  → parse → lex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3" name=""/>
          <p:cNvSpPr txBox="1"/>
          <p:nvPr/>
        </p:nvSpPr>
        <p:spPr>
          <a:xfrm>
            <a:off x="914400" y="2776320"/>
            <a:ext cx="38016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→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AST → compile → opcodes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4" name=""/>
          <p:cNvSpPr txBox="1"/>
          <p:nvPr/>
        </p:nvSpPr>
        <p:spPr>
          <a:xfrm>
            <a:off x="914400" y="3043080"/>
            <a:ext cx="30974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→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execute → response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5" name=""/>
          <p:cNvSpPr txBox="1"/>
          <p:nvPr/>
        </p:nvSpPr>
        <p:spPr>
          <a:xfrm>
            <a:off x="914400" y="3585960"/>
            <a:ext cx="36612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Repeat for 300+ PHP files.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6" name=""/>
          <p:cNvSpPr txBox="1"/>
          <p:nvPr/>
        </p:nvSpPr>
        <p:spPr>
          <a:xfrm>
            <a:off x="914400" y="3852720"/>
            <a:ext cx="29574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wp-settings.php alone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7" name=""/>
          <p:cNvSpPr/>
          <p:nvPr/>
        </p:nvSpPr>
        <p:spPr>
          <a:xfrm>
            <a:off x="780840" y="4790880"/>
            <a:ext cx="305280" cy="305280"/>
          </a:xfrm>
          <a:custGeom>
            <a:avLst/>
            <a:gdLst/>
            <a:ahLst/>
            <a:rect l="0" t="0" r="r" b="b"/>
            <a:pathLst>
              <a:path w="848" h="848">
                <a:moveTo>
                  <a:pt x="848" y="754"/>
                </a:moveTo>
                <a:cubicBezTo>
                  <a:pt x="848" y="806"/>
                  <a:pt x="806" y="848"/>
                  <a:pt x="753" y="848"/>
                </a:cubicBezTo>
                <a:lnTo>
                  <a:pt x="94" y="848"/>
                </a:lnTo>
                <a:cubicBezTo>
                  <a:pt x="42" y="848"/>
                  <a:pt x="0" y="806"/>
                  <a:pt x="0" y="754"/>
                </a:cubicBezTo>
                <a:lnTo>
                  <a:pt x="0" y="94"/>
                </a:lnTo>
                <a:cubicBezTo>
                  <a:pt x="0" y="42"/>
                  <a:pt x="42" y="0"/>
                  <a:pt x="94" y="0"/>
                </a:cubicBezTo>
                <a:lnTo>
                  <a:pt x="753" y="0"/>
                </a:lnTo>
                <a:cubicBezTo>
                  <a:pt x="806" y="0"/>
                  <a:pt x="848" y="42"/>
                  <a:pt x="848" y="94"/>
                </a:cubicBezTo>
                <a:lnTo>
                  <a:pt x="848" y="754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8" name=""/>
          <p:cNvSpPr/>
          <p:nvPr/>
        </p:nvSpPr>
        <p:spPr>
          <a:xfrm>
            <a:off x="829080" y="4841280"/>
            <a:ext cx="209520" cy="205920"/>
          </a:xfrm>
          <a:custGeom>
            <a:avLst/>
            <a:gdLst/>
            <a:ahLst/>
            <a:rect l="0" t="0" r="r" b="b"/>
            <a:pathLst>
              <a:path w="582" h="572">
                <a:moveTo>
                  <a:pt x="556" y="10"/>
                </a:moveTo>
                <a:cubicBezTo>
                  <a:pt x="529" y="-8"/>
                  <a:pt x="492" y="0"/>
                  <a:pt x="474" y="27"/>
                </a:cubicBezTo>
                <a:lnTo>
                  <a:pt x="217" y="422"/>
                </a:lnTo>
                <a:lnTo>
                  <a:pt x="99" y="312"/>
                </a:lnTo>
                <a:cubicBezTo>
                  <a:pt x="75" y="290"/>
                  <a:pt x="38" y="292"/>
                  <a:pt x="16" y="315"/>
                </a:cubicBezTo>
                <a:cubicBezTo>
                  <a:pt x="-6" y="339"/>
                  <a:pt x="-5" y="377"/>
                  <a:pt x="19" y="399"/>
                </a:cubicBezTo>
                <a:lnTo>
                  <a:pt x="189" y="556"/>
                </a:lnTo>
                <a:cubicBezTo>
                  <a:pt x="200" y="567"/>
                  <a:pt x="214" y="572"/>
                  <a:pt x="229" y="572"/>
                </a:cubicBezTo>
                <a:cubicBezTo>
                  <a:pt x="245" y="572"/>
                  <a:pt x="265" y="565"/>
                  <a:pt x="278" y="545"/>
                </a:cubicBezTo>
                <a:cubicBezTo>
                  <a:pt x="286" y="533"/>
                  <a:pt x="573" y="91"/>
                  <a:pt x="573" y="91"/>
                </a:cubicBezTo>
                <a:cubicBezTo>
                  <a:pt x="591" y="64"/>
                  <a:pt x="583" y="27"/>
                  <a:pt x="556" y="1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9" name=""/>
          <p:cNvSpPr txBox="1"/>
          <p:nvPr/>
        </p:nvSpPr>
        <p:spPr>
          <a:xfrm>
            <a:off x="914400" y="4119120"/>
            <a:ext cx="28170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includes 100+ files.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0" name=""/>
          <p:cNvSpPr txBox="1"/>
          <p:nvPr/>
        </p:nvSpPr>
        <p:spPr>
          <a:xfrm>
            <a:off x="1096920" y="4792320"/>
            <a:ext cx="3614040" cy="33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390" spc="-1" strike="noStrike">
                <a:solidFill>
                  <a:srgbClr val="1f2328"/>
                </a:solidFill>
                <a:latin typeface="Arial"/>
                <a:ea typeface="Arial"/>
              </a:rPr>
              <a:t>With OPcache (Level 1+)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1" name=""/>
          <p:cNvSpPr txBox="1"/>
          <p:nvPr/>
        </p:nvSpPr>
        <p:spPr>
          <a:xfrm>
            <a:off x="914400" y="5481360"/>
            <a:ext cx="26755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First request only: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2" name=""/>
          <p:cNvSpPr txBox="1"/>
          <p:nvPr/>
        </p:nvSpPr>
        <p:spPr>
          <a:xfrm>
            <a:off x="914400" y="5748120"/>
            <a:ext cx="43653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compile → store in shared RAM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3" name=""/>
          <p:cNvSpPr txBox="1"/>
          <p:nvPr/>
        </p:nvSpPr>
        <p:spPr>
          <a:xfrm>
            <a:off x="914400" y="6291000"/>
            <a:ext cx="28170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Every request after: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4" name=""/>
          <p:cNvSpPr txBox="1"/>
          <p:nvPr/>
        </p:nvSpPr>
        <p:spPr>
          <a:xfrm>
            <a:off x="914400" y="6557760"/>
            <a:ext cx="32378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read opcodes from RAM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8" name=""/>
          <p:cNvSpPr/>
          <p:nvPr/>
        </p:nvSpPr>
        <p:spPr>
          <a:xfrm>
            <a:off x="780840" y="830160"/>
            <a:ext cx="362160" cy="254880"/>
          </a:xfrm>
          <a:custGeom>
            <a:avLst/>
            <a:gdLst/>
            <a:ahLst/>
            <a:rect l="0" t="0" r="r" b="b"/>
            <a:pathLst>
              <a:path w="1006" h="708">
                <a:moveTo>
                  <a:pt x="0" y="109"/>
                </a:moveTo>
                <a:cubicBezTo>
                  <a:pt x="0" y="109"/>
                  <a:pt x="0" y="0"/>
                  <a:pt x="112" y="0"/>
                </a:cubicBezTo>
                <a:lnTo>
                  <a:pt x="895" y="0"/>
                </a:lnTo>
                <a:cubicBezTo>
                  <a:pt x="895" y="0"/>
                  <a:pt x="1006" y="0"/>
                  <a:pt x="1006" y="109"/>
                </a:cubicBezTo>
                <a:lnTo>
                  <a:pt x="1006" y="599"/>
                </a:lnTo>
                <a:cubicBezTo>
                  <a:pt x="1006" y="599"/>
                  <a:pt x="1006" y="708"/>
                  <a:pt x="895" y="708"/>
                </a:cubicBezTo>
                <a:lnTo>
                  <a:pt x="112" y="708"/>
                </a:lnTo>
                <a:cubicBezTo>
                  <a:pt x="112" y="708"/>
                  <a:pt x="0" y="708"/>
                  <a:pt x="0" y="599"/>
                </a:cubicBezTo>
                <a:lnTo>
                  <a:pt x="0" y="109"/>
                </a:ln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59" name=""/>
          <p:cNvSpPr/>
          <p:nvPr/>
        </p:nvSpPr>
        <p:spPr>
          <a:xfrm>
            <a:off x="891360" y="859320"/>
            <a:ext cx="201600" cy="196200"/>
          </a:xfrm>
          <a:custGeom>
            <a:avLst/>
            <a:gdLst/>
            <a:ahLst/>
            <a:rect l="0" t="0" r="r" b="b"/>
            <a:pathLst>
              <a:path w="560" h="545">
                <a:moveTo>
                  <a:pt x="560" y="273"/>
                </a:moveTo>
                <a:cubicBezTo>
                  <a:pt x="560" y="291"/>
                  <a:pt x="558" y="309"/>
                  <a:pt x="554" y="326"/>
                </a:cubicBezTo>
                <a:cubicBezTo>
                  <a:pt x="551" y="344"/>
                  <a:pt x="546" y="361"/>
                  <a:pt x="539" y="377"/>
                </a:cubicBezTo>
                <a:cubicBezTo>
                  <a:pt x="532" y="394"/>
                  <a:pt x="523" y="410"/>
                  <a:pt x="513" y="424"/>
                </a:cubicBezTo>
                <a:cubicBezTo>
                  <a:pt x="503" y="439"/>
                  <a:pt x="491" y="453"/>
                  <a:pt x="478" y="466"/>
                </a:cubicBezTo>
                <a:cubicBezTo>
                  <a:pt x="465" y="478"/>
                  <a:pt x="451" y="489"/>
                  <a:pt x="436" y="499"/>
                </a:cubicBezTo>
                <a:cubicBezTo>
                  <a:pt x="420" y="509"/>
                  <a:pt x="404" y="518"/>
                  <a:pt x="387" y="525"/>
                </a:cubicBezTo>
                <a:cubicBezTo>
                  <a:pt x="371" y="531"/>
                  <a:pt x="353" y="537"/>
                  <a:pt x="335" y="540"/>
                </a:cubicBezTo>
                <a:cubicBezTo>
                  <a:pt x="317" y="543"/>
                  <a:pt x="299" y="545"/>
                  <a:pt x="281" y="545"/>
                </a:cubicBezTo>
                <a:cubicBezTo>
                  <a:pt x="262" y="545"/>
                  <a:pt x="244" y="543"/>
                  <a:pt x="226" y="540"/>
                </a:cubicBezTo>
                <a:cubicBezTo>
                  <a:pt x="208" y="537"/>
                  <a:pt x="191" y="531"/>
                  <a:pt x="174" y="525"/>
                </a:cubicBezTo>
                <a:cubicBezTo>
                  <a:pt x="157" y="518"/>
                  <a:pt x="141" y="509"/>
                  <a:pt x="125" y="499"/>
                </a:cubicBezTo>
                <a:cubicBezTo>
                  <a:pt x="110" y="489"/>
                  <a:pt x="96" y="478"/>
                  <a:pt x="83" y="466"/>
                </a:cubicBezTo>
                <a:cubicBezTo>
                  <a:pt x="70" y="453"/>
                  <a:pt x="59" y="439"/>
                  <a:pt x="48" y="424"/>
                </a:cubicBezTo>
                <a:cubicBezTo>
                  <a:pt x="38" y="410"/>
                  <a:pt x="29" y="394"/>
                  <a:pt x="22" y="377"/>
                </a:cubicBezTo>
                <a:cubicBezTo>
                  <a:pt x="15" y="361"/>
                  <a:pt x="9" y="344"/>
                  <a:pt x="6" y="326"/>
                </a:cubicBezTo>
                <a:cubicBezTo>
                  <a:pt x="2" y="309"/>
                  <a:pt x="0" y="291"/>
                  <a:pt x="0" y="273"/>
                </a:cubicBezTo>
                <a:cubicBezTo>
                  <a:pt x="0" y="255"/>
                  <a:pt x="2" y="238"/>
                  <a:pt x="6" y="220"/>
                </a:cubicBezTo>
                <a:cubicBezTo>
                  <a:pt x="9" y="203"/>
                  <a:pt x="15" y="186"/>
                  <a:pt x="22" y="169"/>
                </a:cubicBezTo>
                <a:cubicBezTo>
                  <a:pt x="29" y="153"/>
                  <a:pt x="38" y="137"/>
                  <a:pt x="48" y="122"/>
                </a:cubicBezTo>
                <a:cubicBezTo>
                  <a:pt x="59" y="107"/>
                  <a:pt x="70" y="94"/>
                  <a:pt x="83" y="81"/>
                </a:cubicBezTo>
                <a:cubicBezTo>
                  <a:pt x="96" y="68"/>
                  <a:pt x="110" y="56"/>
                  <a:pt x="125" y="46"/>
                </a:cubicBezTo>
                <a:cubicBezTo>
                  <a:pt x="141" y="36"/>
                  <a:pt x="157" y="28"/>
                  <a:pt x="174" y="21"/>
                </a:cubicBezTo>
                <a:cubicBezTo>
                  <a:pt x="191" y="14"/>
                  <a:pt x="208" y="9"/>
                  <a:pt x="226" y="6"/>
                </a:cubicBezTo>
                <a:cubicBezTo>
                  <a:pt x="244" y="2"/>
                  <a:pt x="262" y="0"/>
                  <a:pt x="281" y="0"/>
                </a:cubicBezTo>
                <a:cubicBezTo>
                  <a:pt x="299" y="0"/>
                  <a:pt x="317" y="2"/>
                  <a:pt x="335" y="6"/>
                </a:cubicBezTo>
                <a:cubicBezTo>
                  <a:pt x="353" y="9"/>
                  <a:pt x="371" y="14"/>
                  <a:pt x="387" y="21"/>
                </a:cubicBezTo>
                <a:cubicBezTo>
                  <a:pt x="404" y="28"/>
                  <a:pt x="420" y="36"/>
                  <a:pt x="436" y="46"/>
                </a:cubicBezTo>
                <a:cubicBezTo>
                  <a:pt x="451" y="56"/>
                  <a:pt x="465" y="68"/>
                  <a:pt x="478" y="81"/>
                </a:cubicBezTo>
                <a:cubicBezTo>
                  <a:pt x="491" y="94"/>
                  <a:pt x="503" y="107"/>
                  <a:pt x="513" y="122"/>
                </a:cubicBezTo>
                <a:cubicBezTo>
                  <a:pt x="523" y="137"/>
                  <a:pt x="532" y="153"/>
                  <a:pt x="539" y="169"/>
                </a:cubicBezTo>
                <a:cubicBezTo>
                  <a:pt x="546" y="186"/>
                  <a:pt x="551" y="203"/>
                  <a:pt x="554" y="220"/>
                </a:cubicBezTo>
                <a:cubicBezTo>
                  <a:pt x="558" y="238"/>
                  <a:pt x="560" y="255"/>
                  <a:pt x="560" y="273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0" name=""/>
          <p:cNvSpPr/>
          <p:nvPr/>
        </p:nvSpPr>
        <p:spPr>
          <a:xfrm>
            <a:off x="911520" y="879120"/>
            <a:ext cx="161280" cy="156960"/>
          </a:xfrm>
          <a:custGeom>
            <a:avLst/>
            <a:gdLst/>
            <a:ahLst/>
            <a:rect l="0" t="0" r="r" b="b"/>
            <a:pathLst>
              <a:path w="448" h="436">
                <a:moveTo>
                  <a:pt x="448" y="217"/>
                </a:moveTo>
                <a:cubicBezTo>
                  <a:pt x="448" y="232"/>
                  <a:pt x="447" y="246"/>
                  <a:pt x="444" y="260"/>
                </a:cubicBezTo>
                <a:cubicBezTo>
                  <a:pt x="441" y="274"/>
                  <a:pt x="437" y="287"/>
                  <a:pt x="431" y="301"/>
                </a:cubicBezTo>
                <a:cubicBezTo>
                  <a:pt x="425" y="314"/>
                  <a:pt x="418" y="326"/>
                  <a:pt x="410" y="338"/>
                </a:cubicBezTo>
                <a:cubicBezTo>
                  <a:pt x="402" y="350"/>
                  <a:pt x="393" y="361"/>
                  <a:pt x="383" y="371"/>
                </a:cubicBezTo>
                <a:cubicBezTo>
                  <a:pt x="372" y="381"/>
                  <a:pt x="360" y="391"/>
                  <a:pt x="348" y="399"/>
                </a:cubicBezTo>
                <a:cubicBezTo>
                  <a:pt x="336" y="407"/>
                  <a:pt x="323" y="414"/>
                  <a:pt x="309" y="419"/>
                </a:cubicBezTo>
                <a:cubicBezTo>
                  <a:pt x="296" y="425"/>
                  <a:pt x="282" y="429"/>
                  <a:pt x="267" y="432"/>
                </a:cubicBezTo>
                <a:cubicBezTo>
                  <a:pt x="253" y="434"/>
                  <a:pt x="238" y="436"/>
                  <a:pt x="224" y="436"/>
                </a:cubicBezTo>
                <a:cubicBezTo>
                  <a:pt x="209" y="436"/>
                  <a:pt x="194" y="434"/>
                  <a:pt x="180" y="432"/>
                </a:cubicBezTo>
                <a:cubicBezTo>
                  <a:pt x="166" y="429"/>
                  <a:pt x="152" y="425"/>
                  <a:pt x="138" y="419"/>
                </a:cubicBezTo>
                <a:cubicBezTo>
                  <a:pt x="125" y="414"/>
                  <a:pt x="112" y="407"/>
                  <a:pt x="99" y="399"/>
                </a:cubicBezTo>
                <a:cubicBezTo>
                  <a:pt x="87" y="391"/>
                  <a:pt x="76" y="381"/>
                  <a:pt x="66" y="371"/>
                </a:cubicBezTo>
                <a:cubicBezTo>
                  <a:pt x="55" y="361"/>
                  <a:pt x="46" y="350"/>
                  <a:pt x="38" y="338"/>
                </a:cubicBezTo>
                <a:cubicBezTo>
                  <a:pt x="30" y="326"/>
                  <a:pt x="23" y="314"/>
                  <a:pt x="17" y="301"/>
                </a:cubicBezTo>
                <a:cubicBezTo>
                  <a:pt x="12" y="287"/>
                  <a:pt x="7" y="274"/>
                  <a:pt x="4" y="260"/>
                </a:cubicBezTo>
                <a:cubicBezTo>
                  <a:pt x="2" y="246"/>
                  <a:pt x="0" y="232"/>
                  <a:pt x="0" y="217"/>
                </a:cubicBezTo>
                <a:cubicBezTo>
                  <a:pt x="0" y="203"/>
                  <a:pt x="2" y="189"/>
                  <a:pt x="4" y="175"/>
                </a:cubicBezTo>
                <a:cubicBezTo>
                  <a:pt x="7" y="161"/>
                  <a:pt x="12" y="147"/>
                  <a:pt x="17" y="134"/>
                </a:cubicBezTo>
                <a:cubicBezTo>
                  <a:pt x="23" y="121"/>
                  <a:pt x="30" y="108"/>
                  <a:pt x="38" y="96"/>
                </a:cubicBezTo>
                <a:cubicBezTo>
                  <a:pt x="46" y="85"/>
                  <a:pt x="55" y="74"/>
                  <a:pt x="66" y="63"/>
                </a:cubicBezTo>
                <a:cubicBezTo>
                  <a:pt x="76" y="53"/>
                  <a:pt x="87" y="44"/>
                  <a:pt x="99" y="36"/>
                </a:cubicBezTo>
                <a:cubicBezTo>
                  <a:pt x="112" y="28"/>
                  <a:pt x="125" y="22"/>
                  <a:pt x="138" y="16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4" y="1"/>
                  <a:pt x="209" y="0"/>
                  <a:pt x="224" y="0"/>
                </a:cubicBezTo>
                <a:cubicBezTo>
                  <a:pt x="238" y="0"/>
                  <a:pt x="253" y="1"/>
                  <a:pt x="267" y="4"/>
                </a:cubicBezTo>
                <a:cubicBezTo>
                  <a:pt x="282" y="7"/>
                  <a:pt x="296" y="11"/>
                  <a:pt x="309" y="16"/>
                </a:cubicBezTo>
                <a:cubicBezTo>
                  <a:pt x="323" y="22"/>
                  <a:pt x="336" y="28"/>
                  <a:pt x="348" y="36"/>
                </a:cubicBezTo>
                <a:cubicBezTo>
                  <a:pt x="360" y="44"/>
                  <a:pt x="372" y="53"/>
                  <a:pt x="383" y="63"/>
                </a:cubicBezTo>
                <a:cubicBezTo>
                  <a:pt x="393" y="74"/>
                  <a:pt x="402" y="85"/>
                  <a:pt x="410" y="96"/>
                </a:cubicBezTo>
                <a:cubicBezTo>
                  <a:pt x="418" y="108"/>
                  <a:pt x="425" y="121"/>
                  <a:pt x="431" y="134"/>
                </a:cubicBezTo>
                <a:cubicBezTo>
                  <a:pt x="437" y="147"/>
                  <a:pt x="441" y="161"/>
                  <a:pt x="444" y="175"/>
                </a:cubicBezTo>
                <a:cubicBezTo>
                  <a:pt x="447" y="189"/>
                  <a:pt x="448" y="203"/>
                  <a:pt x="448" y="217"/>
                </a:cubicBez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1" name=""/>
          <p:cNvSpPr/>
          <p:nvPr/>
        </p:nvSpPr>
        <p:spPr>
          <a:xfrm>
            <a:off x="941760" y="908280"/>
            <a:ext cx="100800" cy="98280"/>
          </a:xfrm>
          <a:custGeom>
            <a:avLst/>
            <a:gdLst/>
            <a:ahLst/>
            <a:rect l="0" t="0" r="r" b="b"/>
            <a:pathLst>
              <a:path w="280" h="273">
                <a:moveTo>
                  <a:pt x="280" y="137"/>
                </a:moveTo>
                <a:cubicBezTo>
                  <a:pt x="280" y="155"/>
                  <a:pt x="277" y="173"/>
                  <a:pt x="270" y="189"/>
                </a:cubicBezTo>
                <a:cubicBezTo>
                  <a:pt x="263" y="206"/>
                  <a:pt x="252" y="221"/>
                  <a:pt x="239" y="233"/>
                </a:cubicBezTo>
                <a:cubicBezTo>
                  <a:pt x="226" y="246"/>
                  <a:pt x="211" y="256"/>
                  <a:pt x="194" y="263"/>
                </a:cubicBezTo>
                <a:cubicBezTo>
                  <a:pt x="177" y="270"/>
                  <a:pt x="159" y="273"/>
                  <a:pt x="141" y="273"/>
                </a:cubicBezTo>
                <a:cubicBezTo>
                  <a:pt x="122" y="273"/>
                  <a:pt x="104" y="270"/>
                  <a:pt x="87" y="263"/>
                </a:cubicBezTo>
                <a:cubicBezTo>
                  <a:pt x="70" y="256"/>
                  <a:pt x="55" y="246"/>
                  <a:pt x="42" y="233"/>
                </a:cubicBezTo>
                <a:cubicBezTo>
                  <a:pt x="28" y="221"/>
                  <a:pt x="18" y="206"/>
                  <a:pt x="11" y="189"/>
                </a:cubicBezTo>
                <a:cubicBezTo>
                  <a:pt x="3" y="173"/>
                  <a:pt x="0" y="155"/>
                  <a:pt x="0" y="137"/>
                </a:cubicBezTo>
                <a:cubicBezTo>
                  <a:pt x="0" y="119"/>
                  <a:pt x="3" y="102"/>
                  <a:pt x="11" y="85"/>
                </a:cubicBezTo>
                <a:cubicBezTo>
                  <a:pt x="18" y="69"/>
                  <a:pt x="28" y="54"/>
                  <a:pt x="42" y="40"/>
                </a:cubicBezTo>
                <a:cubicBezTo>
                  <a:pt x="55" y="27"/>
                  <a:pt x="70" y="18"/>
                  <a:pt x="87" y="11"/>
                </a:cubicBezTo>
                <a:cubicBezTo>
                  <a:pt x="104" y="4"/>
                  <a:pt x="122" y="0"/>
                  <a:pt x="141" y="0"/>
                </a:cubicBezTo>
                <a:cubicBezTo>
                  <a:pt x="159" y="0"/>
                  <a:pt x="177" y="4"/>
                  <a:pt x="194" y="11"/>
                </a:cubicBezTo>
                <a:cubicBezTo>
                  <a:pt x="211" y="18"/>
                  <a:pt x="226" y="27"/>
                  <a:pt x="239" y="40"/>
                </a:cubicBezTo>
                <a:cubicBezTo>
                  <a:pt x="252" y="54"/>
                  <a:pt x="263" y="69"/>
                  <a:pt x="270" y="85"/>
                </a:cubicBezTo>
                <a:cubicBezTo>
                  <a:pt x="277" y="102"/>
                  <a:pt x="280" y="119"/>
                  <a:pt x="280" y="137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2" name=""/>
          <p:cNvSpPr/>
          <p:nvPr/>
        </p:nvSpPr>
        <p:spPr>
          <a:xfrm>
            <a:off x="1092600" y="849600"/>
            <a:ext cx="30600" cy="29880"/>
          </a:xfrm>
          <a:custGeom>
            <a:avLst/>
            <a:gdLst/>
            <a:ahLst/>
            <a:rect l="0" t="0" r="r" b="b"/>
            <a:pathLst>
              <a:path w="85" h="83">
                <a:moveTo>
                  <a:pt x="85" y="42"/>
                </a:moveTo>
                <a:cubicBezTo>
                  <a:pt x="85" y="47"/>
                  <a:pt x="84" y="53"/>
                  <a:pt x="81" y="58"/>
                </a:cubicBezTo>
                <a:cubicBezTo>
                  <a:pt x="79" y="63"/>
                  <a:pt x="75" y="67"/>
                  <a:pt x="71" y="71"/>
                </a:cubicBezTo>
                <a:cubicBezTo>
                  <a:pt x="67" y="75"/>
                  <a:pt x="63" y="78"/>
                  <a:pt x="58" y="80"/>
                </a:cubicBezTo>
                <a:cubicBezTo>
                  <a:pt x="53" y="82"/>
                  <a:pt x="47" y="83"/>
                  <a:pt x="42" y="83"/>
                </a:cubicBezTo>
                <a:cubicBezTo>
                  <a:pt x="36" y="83"/>
                  <a:pt x="31" y="82"/>
                  <a:pt x="26" y="80"/>
                </a:cubicBezTo>
                <a:cubicBezTo>
                  <a:pt x="21" y="78"/>
                  <a:pt x="16" y="75"/>
                  <a:pt x="12" y="71"/>
                </a:cubicBezTo>
                <a:cubicBezTo>
                  <a:pt x="8" y="67"/>
                  <a:pt x="5" y="63"/>
                  <a:pt x="3" y="58"/>
                </a:cubicBezTo>
                <a:cubicBezTo>
                  <a:pt x="1" y="53"/>
                  <a:pt x="0" y="47"/>
                  <a:pt x="0" y="42"/>
                </a:cubicBezTo>
                <a:cubicBezTo>
                  <a:pt x="0" y="37"/>
                  <a:pt x="1" y="31"/>
                  <a:pt x="3" y="25"/>
                </a:cubicBezTo>
                <a:cubicBezTo>
                  <a:pt x="5" y="20"/>
                  <a:pt x="8" y="16"/>
                  <a:pt x="12" y="12"/>
                </a:cubicBezTo>
                <a:cubicBezTo>
                  <a:pt x="16" y="8"/>
                  <a:pt x="21" y="5"/>
                  <a:pt x="26" y="3"/>
                </a:cubicBezTo>
                <a:cubicBezTo>
                  <a:pt x="31" y="1"/>
                  <a:pt x="36" y="0"/>
                  <a:pt x="42" y="0"/>
                </a:cubicBezTo>
                <a:cubicBezTo>
                  <a:pt x="47" y="0"/>
                  <a:pt x="53" y="1"/>
                  <a:pt x="58" y="3"/>
                </a:cubicBezTo>
                <a:cubicBezTo>
                  <a:pt x="63" y="5"/>
                  <a:pt x="67" y="8"/>
                  <a:pt x="71" y="12"/>
                </a:cubicBezTo>
                <a:cubicBezTo>
                  <a:pt x="75" y="16"/>
                  <a:pt x="79" y="20"/>
                  <a:pt x="81" y="25"/>
                </a:cubicBezTo>
                <a:cubicBezTo>
                  <a:pt x="84" y="31"/>
                  <a:pt x="85" y="37"/>
                  <a:pt x="85" y="4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3" name=""/>
          <p:cNvSpPr/>
          <p:nvPr/>
        </p:nvSpPr>
        <p:spPr>
          <a:xfrm>
            <a:off x="780840" y="771480"/>
            <a:ext cx="211680" cy="215640"/>
          </a:xfrm>
          <a:custGeom>
            <a:avLst/>
            <a:gdLst/>
            <a:ahLst/>
            <a:rect l="0" t="0" r="r" b="b"/>
            <a:pathLst>
              <a:path w="588" h="599">
                <a:moveTo>
                  <a:pt x="447" y="244"/>
                </a:moveTo>
                <a:lnTo>
                  <a:pt x="532" y="81"/>
                </a:lnTo>
                <a:lnTo>
                  <a:pt x="363" y="136"/>
                </a:lnTo>
                <a:lnTo>
                  <a:pt x="251" y="0"/>
                </a:lnTo>
                <a:lnTo>
                  <a:pt x="196" y="136"/>
                </a:lnTo>
                <a:lnTo>
                  <a:pt x="28" y="108"/>
                </a:lnTo>
                <a:lnTo>
                  <a:pt x="140" y="272"/>
                </a:lnTo>
                <a:lnTo>
                  <a:pt x="0" y="380"/>
                </a:lnTo>
                <a:lnTo>
                  <a:pt x="168" y="380"/>
                </a:lnTo>
                <a:lnTo>
                  <a:pt x="112" y="543"/>
                </a:lnTo>
                <a:lnTo>
                  <a:pt x="279" y="462"/>
                </a:lnTo>
                <a:lnTo>
                  <a:pt x="447" y="599"/>
                </a:lnTo>
                <a:lnTo>
                  <a:pt x="419" y="380"/>
                </a:lnTo>
                <a:lnTo>
                  <a:pt x="588" y="353"/>
                </a:lnTo>
                <a:lnTo>
                  <a:pt x="447" y="244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4" name=""/>
          <p:cNvSpPr/>
          <p:nvPr/>
        </p:nvSpPr>
        <p:spPr>
          <a:xfrm>
            <a:off x="831240" y="810360"/>
            <a:ext cx="110880" cy="127800"/>
          </a:xfrm>
          <a:custGeom>
            <a:avLst/>
            <a:gdLst/>
            <a:ahLst/>
            <a:rect l="0" t="0" r="r" b="b"/>
            <a:pathLst>
              <a:path w="308" h="355">
                <a:moveTo>
                  <a:pt x="139" y="273"/>
                </a:moveTo>
                <a:lnTo>
                  <a:pt x="56" y="328"/>
                </a:lnTo>
                <a:lnTo>
                  <a:pt x="84" y="246"/>
                </a:lnTo>
                <a:lnTo>
                  <a:pt x="0" y="219"/>
                </a:lnTo>
                <a:lnTo>
                  <a:pt x="84" y="165"/>
                </a:lnTo>
                <a:lnTo>
                  <a:pt x="0" y="83"/>
                </a:lnTo>
                <a:lnTo>
                  <a:pt x="111" y="83"/>
                </a:lnTo>
                <a:lnTo>
                  <a:pt x="139" y="0"/>
                </a:lnTo>
                <a:lnTo>
                  <a:pt x="195" y="83"/>
                </a:lnTo>
                <a:lnTo>
                  <a:pt x="279" y="56"/>
                </a:lnTo>
                <a:lnTo>
                  <a:pt x="223" y="137"/>
                </a:lnTo>
                <a:lnTo>
                  <a:pt x="308" y="219"/>
                </a:lnTo>
                <a:lnTo>
                  <a:pt x="223" y="246"/>
                </a:lnTo>
                <a:lnTo>
                  <a:pt x="251" y="355"/>
                </a:lnTo>
                <a:lnTo>
                  <a:pt x="139" y="273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665" name="" descr=""/>
          <p:cNvPicPr/>
          <p:nvPr/>
        </p:nvPicPr>
        <p:blipFill>
          <a:blip r:embed="rId1"/>
          <a:stretch/>
        </p:blipFill>
        <p:spPr>
          <a:xfrm>
            <a:off x="752400" y="1457280"/>
            <a:ext cx="10096200" cy="5676480"/>
          </a:xfrm>
          <a:prstGeom prst="rect">
            <a:avLst/>
          </a:prstGeom>
          <a:ln w="0">
            <a:noFill/>
          </a:ln>
        </p:spPr>
      </p:pic>
      <p:sp>
        <p:nvSpPr>
          <p:cNvPr id="666" name=""/>
          <p:cNvSpPr txBox="1"/>
          <p:nvPr/>
        </p:nvSpPr>
        <p:spPr>
          <a:xfrm>
            <a:off x="1160280" y="770400"/>
            <a:ext cx="791496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1 — Demo Dashboard (50 Virtual Users)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0" name=""/>
          <p:cNvSpPr/>
          <p:nvPr/>
        </p:nvSpPr>
        <p:spPr>
          <a:xfrm>
            <a:off x="752400" y="1457280"/>
            <a:ext cx="2276640" cy="543240"/>
          </a:xfrm>
          <a:custGeom>
            <a:avLst/>
            <a:gdLst/>
            <a:ahLst/>
            <a:rect l="0" t="0" r="r" b="b"/>
            <a:pathLst>
              <a:path w="6324" h="1509">
                <a:moveTo>
                  <a:pt x="0" y="0"/>
                </a:moveTo>
                <a:lnTo>
                  <a:pt x="6324" y="0"/>
                </a:lnTo>
                <a:lnTo>
                  <a:pt x="632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1" name=""/>
          <p:cNvSpPr/>
          <p:nvPr/>
        </p:nvSpPr>
        <p:spPr>
          <a:xfrm>
            <a:off x="3028680" y="1457280"/>
            <a:ext cx="1933920" cy="543240"/>
          </a:xfrm>
          <a:custGeom>
            <a:avLst/>
            <a:gdLst/>
            <a:ahLst/>
            <a:rect l="0" t="0" r="r" b="b"/>
            <a:pathLst>
              <a:path w="5372" h="1509">
                <a:moveTo>
                  <a:pt x="0" y="0"/>
                </a:moveTo>
                <a:lnTo>
                  <a:pt x="5372" y="0"/>
                </a:lnTo>
                <a:lnTo>
                  <a:pt x="537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2" name=""/>
          <p:cNvSpPr/>
          <p:nvPr/>
        </p:nvSpPr>
        <p:spPr>
          <a:xfrm>
            <a:off x="4962240" y="1457280"/>
            <a:ext cx="2381760" cy="543240"/>
          </a:xfrm>
          <a:custGeom>
            <a:avLst/>
            <a:gdLst/>
            <a:ahLst/>
            <a:rect l="0" t="0" r="r" b="b"/>
            <a:pathLst>
              <a:path w="6616" h="1509">
                <a:moveTo>
                  <a:pt x="0" y="0"/>
                </a:moveTo>
                <a:lnTo>
                  <a:pt x="6616" y="0"/>
                </a:lnTo>
                <a:lnTo>
                  <a:pt x="6616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3" name=""/>
          <p:cNvSpPr/>
          <p:nvPr/>
        </p:nvSpPr>
        <p:spPr>
          <a:xfrm>
            <a:off x="7343640" y="1457280"/>
            <a:ext cx="4096080" cy="543240"/>
          </a:xfrm>
          <a:custGeom>
            <a:avLst/>
            <a:gdLst/>
            <a:ahLst/>
            <a:rect l="0" t="0" r="r" b="b"/>
            <a:pathLst>
              <a:path w="11378" h="1509">
                <a:moveTo>
                  <a:pt x="0" y="0"/>
                </a:moveTo>
                <a:lnTo>
                  <a:pt x="11378" y="0"/>
                </a:lnTo>
                <a:lnTo>
                  <a:pt x="1137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4" name=""/>
          <p:cNvSpPr/>
          <p:nvPr/>
        </p:nvSpPr>
        <p:spPr>
          <a:xfrm>
            <a:off x="752400" y="2000160"/>
            <a:ext cx="2276640" cy="533520"/>
          </a:xfrm>
          <a:custGeom>
            <a:avLst/>
            <a:gdLst/>
            <a:ahLst/>
            <a:rect l="0" t="0" r="r" b="b"/>
            <a:pathLst>
              <a:path w="6324" h="1482">
                <a:moveTo>
                  <a:pt x="0" y="0"/>
                </a:moveTo>
                <a:lnTo>
                  <a:pt x="6324" y="0"/>
                </a:lnTo>
                <a:lnTo>
                  <a:pt x="6324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5" name=""/>
          <p:cNvSpPr/>
          <p:nvPr/>
        </p:nvSpPr>
        <p:spPr>
          <a:xfrm>
            <a:off x="3028680" y="2000160"/>
            <a:ext cx="1933920" cy="533520"/>
          </a:xfrm>
          <a:custGeom>
            <a:avLst/>
            <a:gdLst/>
            <a:ahLst/>
            <a:rect l="0" t="0" r="r" b="b"/>
            <a:pathLst>
              <a:path w="5372" h="1482">
                <a:moveTo>
                  <a:pt x="0" y="0"/>
                </a:moveTo>
                <a:lnTo>
                  <a:pt x="5372" y="0"/>
                </a:lnTo>
                <a:lnTo>
                  <a:pt x="5372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6" name=""/>
          <p:cNvSpPr/>
          <p:nvPr/>
        </p:nvSpPr>
        <p:spPr>
          <a:xfrm>
            <a:off x="4962240" y="2000160"/>
            <a:ext cx="2381760" cy="533520"/>
          </a:xfrm>
          <a:custGeom>
            <a:avLst/>
            <a:gdLst/>
            <a:ahLst/>
            <a:rect l="0" t="0" r="r" b="b"/>
            <a:pathLst>
              <a:path w="6616" h="1482">
                <a:moveTo>
                  <a:pt x="0" y="0"/>
                </a:moveTo>
                <a:lnTo>
                  <a:pt x="6616" y="0"/>
                </a:lnTo>
                <a:lnTo>
                  <a:pt x="6616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7" name=""/>
          <p:cNvSpPr/>
          <p:nvPr/>
        </p:nvSpPr>
        <p:spPr>
          <a:xfrm>
            <a:off x="7343640" y="2000160"/>
            <a:ext cx="4096080" cy="533520"/>
          </a:xfrm>
          <a:custGeom>
            <a:avLst/>
            <a:gdLst/>
            <a:ahLst/>
            <a:rect l="0" t="0" r="r" b="b"/>
            <a:pathLst>
              <a:path w="11378" h="1482">
                <a:moveTo>
                  <a:pt x="0" y="0"/>
                </a:moveTo>
                <a:lnTo>
                  <a:pt x="11378" y="0"/>
                </a:lnTo>
                <a:lnTo>
                  <a:pt x="1137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8" name=""/>
          <p:cNvSpPr/>
          <p:nvPr/>
        </p:nvSpPr>
        <p:spPr>
          <a:xfrm>
            <a:off x="752400" y="2533320"/>
            <a:ext cx="2276640" cy="543600"/>
          </a:xfrm>
          <a:custGeom>
            <a:avLst/>
            <a:gdLst/>
            <a:ahLst/>
            <a:rect l="0" t="0" r="r" b="b"/>
            <a:pathLst>
              <a:path w="6324" h="1510">
                <a:moveTo>
                  <a:pt x="0" y="0"/>
                </a:moveTo>
                <a:lnTo>
                  <a:pt x="6324" y="0"/>
                </a:lnTo>
                <a:lnTo>
                  <a:pt x="6324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9" name=""/>
          <p:cNvSpPr/>
          <p:nvPr/>
        </p:nvSpPr>
        <p:spPr>
          <a:xfrm>
            <a:off x="3028680" y="2533320"/>
            <a:ext cx="1933920" cy="543600"/>
          </a:xfrm>
          <a:custGeom>
            <a:avLst/>
            <a:gdLst/>
            <a:ahLst/>
            <a:rect l="0" t="0" r="r" b="b"/>
            <a:pathLst>
              <a:path w="5372" h="1510">
                <a:moveTo>
                  <a:pt x="0" y="0"/>
                </a:moveTo>
                <a:lnTo>
                  <a:pt x="5372" y="0"/>
                </a:lnTo>
                <a:lnTo>
                  <a:pt x="5372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0" name=""/>
          <p:cNvSpPr/>
          <p:nvPr/>
        </p:nvSpPr>
        <p:spPr>
          <a:xfrm>
            <a:off x="4962240" y="2533320"/>
            <a:ext cx="2381760" cy="543600"/>
          </a:xfrm>
          <a:custGeom>
            <a:avLst/>
            <a:gdLst/>
            <a:ahLst/>
            <a:rect l="0" t="0" r="r" b="b"/>
            <a:pathLst>
              <a:path w="6616" h="1510">
                <a:moveTo>
                  <a:pt x="0" y="0"/>
                </a:moveTo>
                <a:lnTo>
                  <a:pt x="6616" y="0"/>
                </a:lnTo>
                <a:lnTo>
                  <a:pt x="6616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1" name=""/>
          <p:cNvSpPr/>
          <p:nvPr/>
        </p:nvSpPr>
        <p:spPr>
          <a:xfrm>
            <a:off x="7343640" y="2533320"/>
            <a:ext cx="4096080" cy="543600"/>
          </a:xfrm>
          <a:custGeom>
            <a:avLst/>
            <a:gdLst/>
            <a:ahLst/>
            <a:rect l="0" t="0" r="r" b="b"/>
            <a:pathLst>
              <a:path w="11378" h="1510">
                <a:moveTo>
                  <a:pt x="0" y="0"/>
                </a:moveTo>
                <a:lnTo>
                  <a:pt x="11378" y="0"/>
                </a:lnTo>
                <a:lnTo>
                  <a:pt x="11378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2" name=""/>
          <p:cNvSpPr/>
          <p:nvPr/>
        </p:nvSpPr>
        <p:spPr>
          <a:xfrm>
            <a:off x="752400" y="3076560"/>
            <a:ext cx="2276640" cy="952560"/>
          </a:xfrm>
          <a:custGeom>
            <a:avLst/>
            <a:gdLst/>
            <a:ahLst/>
            <a:rect l="0" t="0" r="r" b="b"/>
            <a:pathLst>
              <a:path w="6324" h="2646">
                <a:moveTo>
                  <a:pt x="0" y="0"/>
                </a:moveTo>
                <a:lnTo>
                  <a:pt x="6324" y="0"/>
                </a:lnTo>
                <a:lnTo>
                  <a:pt x="6324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3" name=""/>
          <p:cNvSpPr/>
          <p:nvPr/>
        </p:nvSpPr>
        <p:spPr>
          <a:xfrm>
            <a:off x="3028680" y="3076560"/>
            <a:ext cx="1933920" cy="952560"/>
          </a:xfrm>
          <a:custGeom>
            <a:avLst/>
            <a:gdLst/>
            <a:ahLst/>
            <a:rect l="0" t="0" r="r" b="b"/>
            <a:pathLst>
              <a:path w="5372" h="2646">
                <a:moveTo>
                  <a:pt x="0" y="0"/>
                </a:moveTo>
                <a:lnTo>
                  <a:pt x="5372" y="0"/>
                </a:lnTo>
                <a:lnTo>
                  <a:pt x="5372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4" name=""/>
          <p:cNvSpPr/>
          <p:nvPr/>
        </p:nvSpPr>
        <p:spPr>
          <a:xfrm>
            <a:off x="4962240" y="3076560"/>
            <a:ext cx="2381760" cy="952560"/>
          </a:xfrm>
          <a:custGeom>
            <a:avLst/>
            <a:gdLst/>
            <a:ahLst/>
            <a:rect l="0" t="0" r="r" b="b"/>
            <a:pathLst>
              <a:path w="6616" h="2646">
                <a:moveTo>
                  <a:pt x="0" y="0"/>
                </a:moveTo>
                <a:lnTo>
                  <a:pt x="6616" y="0"/>
                </a:lnTo>
                <a:lnTo>
                  <a:pt x="6616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5" name=""/>
          <p:cNvSpPr/>
          <p:nvPr/>
        </p:nvSpPr>
        <p:spPr>
          <a:xfrm>
            <a:off x="7343640" y="3076560"/>
            <a:ext cx="4096080" cy="952560"/>
          </a:xfrm>
          <a:custGeom>
            <a:avLst/>
            <a:gdLst/>
            <a:ahLst/>
            <a:rect l="0" t="0" r="r" b="b"/>
            <a:pathLst>
              <a:path w="11378" h="2646">
                <a:moveTo>
                  <a:pt x="0" y="0"/>
                </a:moveTo>
                <a:lnTo>
                  <a:pt x="11378" y="0"/>
                </a:lnTo>
                <a:lnTo>
                  <a:pt x="11378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6" name=""/>
          <p:cNvSpPr/>
          <p:nvPr/>
        </p:nvSpPr>
        <p:spPr>
          <a:xfrm>
            <a:off x="752400" y="4028760"/>
            <a:ext cx="2276640" cy="533880"/>
          </a:xfrm>
          <a:custGeom>
            <a:avLst/>
            <a:gdLst/>
            <a:ahLst/>
            <a:rect l="0" t="0" r="r" b="b"/>
            <a:pathLst>
              <a:path w="6324" h="1483">
                <a:moveTo>
                  <a:pt x="0" y="0"/>
                </a:moveTo>
                <a:lnTo>
                  <a:pt x="6324" y="0"/>
                </a:lnTo>
                <a:lnTo>
                  <a:pt x="6324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7" name=""/>
          <p:cNvSpPr/>
          <p:nvPr/>
        </p:nvSpPr>
        <p:spPr>
          <a:xfrm>
            <a:off x="3028680" y="4028760"/>
            <a:ext cx="1933920" cy="533880"/>
          </a:xfrm>
          <a:custGeom>
            <a:avLst/>
            <a:gdLst/>
            <a:ahLst/>
            <a:rect l="0" t="0" r="r" b="b"/>
            <a:pathLst>
              <a:path w="5372" h="1483">
                <a:moveTo>
                  <a:pt x="0" y="0"/>
                </a:moveTo>
                <a:lnTo>
                  <a:pt x="5372" y="0"/>
                </a:lnTo>
                <a:lnTo>
                  <a:pt x="5372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8" name=""/>
          <p:cNvSpPr/>
          <p:nvPr/>
        </p:nvSpPr>
        <p:spPr>
          <a:xfrm>
            <a:off x="4962240" y="4028760"/>
            <a:ext cx="2381760" cy="533880"/>
          </a:xfrm>
          <a:custGeom>
            <a:avLst/>
            <a:gdLst/>
            <a:ahLst/>
            <a:rect l="0" t="0" r="r" b="b"/>
            <a:pathLst>
              <a:path w="6616" h="1483">
                <a:moveTo>
                  <a:pt x="0" y="0"/>
                </a:moveTo>
                <a:lnTo>
                  <a:pt x="6616" y="0"/>
                </a:lnTo>
                <a:lnTo>
                  <a:pt x="6616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9" name=""/>
          <p:cNvSpPr/>
          <p:nvPr/>
        </p:nvSpPr>
        <p:spPr>
          <a:xfrm>
            <a:off x="7343640" y="4028760"/>
            <a:ext cx="4096080" cy="533880"/>
          </a:xfrm>
          <a:custGeom>
            <a:avLst/>
            <a:gdLst/>
            <a:ahLst/>
            <a:rect l="0" t="0" r="r" b="b"/>
            <a:pathLst>
              <a:path w="11378" h="1483">
                <a:moveTo>
                  <a:pt x="0" y="0"/>
                </a:moveTo>
                <a:lnTo>
                  <a:pt x="11378" y="0"/>
                </a:lnTo>
                <a:lnTo>
                  <a:pt x="1137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0" name=""/>
          <p:cNvSpPr/>
          <p:nvPr/>
        </p:nvSpPr>
        <p:spPr>
          <a:xfrm>
            <a:off x="752400" y="4562280"/>
            <a:ext cx="2276640" cy="952920"/>
          </a:xfrm>
          <a:custGeom>
            <a:avLst/>
            <a:gdLst/>
            <a:ahLst/>
            <a:rect l="0" t="0" r="r" b="b"/>
            <a:pathLst>
              <a:path w="6324" h="2647">
                <a:moveTo>
                  <a:pt x="0" y="0"/>
                </a:moveTo>
                <a:lnTo>
                  <a:pt x="6324" y="0"/>
                </a:lnTo>
                <a:lnTo>
                  <a:pt x="6324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1" name=""/>
          <p:cNvSpPr/>
          <p:nvPr/>
        </p:nvSpPr>
        <p:spPr>
          <a:xfrm>
            <a:off x="3028680" y="4562280"/>
            <a:ext cx="1933920" cy="952920"/>
          </a:xfrm>
          <a:custGeom>
            <a:avLst/>
            <a:gdLst/>
            <a:ahLst/>
            <a:rect l="0" t="0" r="r" b="b"/>
            <a:pathLst>
              <a:path w="5372" h="2647">
                <a:moveTo>
                  <a:pt x="0" y="0"/>
                </a:moveTo>
                <a:lnTo>
                  <a:pt x="5372" y="0"/>
                </a:lnTo>
                <a:lnTo>
                  <a:pt x="5372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2" name=""/>
          <p:cNvSpPr/>
          <p:nvPr/>
        </p:nvSpPr>
        <p:spPr>
          <a:xfrm>
            <a:off x="4962240" y="4562280"/>
            <a:ext cx="2381760" cy="952920"/>
          </a:xfrm>
          <a:custGeom>
            <a:avLst/>
            <a:gdLst/>
            <a:ahLst/>
            <a:rect l="0" t="0" r="r" b="b"/>
            <a:pathLst>
              <a:path w="6616" h="2647">
                <a:moveTo>
                  <a:pt x="0" y="0"/>
                </a:moveTo>
                <a:lnTo>
                  <a:pt x="6616" y="0"/>
                </a:lnTo>
                <a:lnTo>
                  <a:pt x="6616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3" name=""/>
          <p:cNvSpPr/>
          <p:nvPr/>
        </p:nvSpPr>
        <p:spPr>
          <a:xfrm>
            <a:off x="7343640" y="4562280"/>
            <a:ext cx="4096080" cy="952920"/>
          </a:xfrm>
          <a:custGeom>
            <a:avLst/>
            <a:gdLst/>
            <a:ahLst/>
            <a:rect l="0" t="0" r="r" b="b"/>
            <a:pathLst>
              <a:path w="11378" h="2647">
                <a:moveTo>
                  <a:pt x="0" y="0"/>
                </a:moveTo>
                <a:lnTo>
                  <a:pt x="11378" y="0"/>
                </a:lnTo>
                <a:lnTo>
                  <a:pt x="1137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4" name=""/>
          <p:cNvSpPr/>
          <p:nvPr/>
        </p:nvSpPr>
        <p:spPr>
          <a:xfrm>
            <a:off x="752400" y="5514840"/>
            <a:ext cx="2276640" cy="952920"/>
          </a:xfrm>
          <a:custGeom>
            <a:avLst/>
            <a:gdLst/>
            <a:ahLst/>
            <a:rect l="0" t="0" r="r" b="b"/>
            <a:pathLst>
              <a:path w="6324" h="2647">
                <a:moveTo>
                  <a:pt x="0" y="0"/>
                </a:moveTo>
                <a:lnTo>
                  <a:pt x="6324" y="0"/>
                </a:lnTo>
                <a:lnTo>
                  <a:pt x="6324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5" name=""/>
          <p:cNvSpPr/>
          <p:nvPr/>
        </p:nvSpPr>
        <p:spPr>
          <a:xfrm>
            <a:off x="3028680" y="5514840"/>
            <a:ext cx="1933920" cy="952920"/>
          </a:xfrm>
          <a:custGeom>
            <a:avLst/>
            <a:gdLst/>
            <a:ahLst/>
            <a:rect l="0" t="0" r="r" b="b"/>
            <a:pathLst>
              <a:path w="5372" h="2647">
                <a:moveTo>
                  <a:pt x="0" y="0"/>
                </a:moveTo>
                <a:lnTo>
                  <a:pt x="5372" y="0"/>
                </a:lnTo>
                <a:lnTo>
                  <a:pt x="5372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6" name=""/>
          <p:cNvSpPr/>
          <p:nvPr/>
        </p:nvSpPr>
        <p:spPr>
          <a:xfrm>
            <a:off x="4962240" y="5514840"/>
            <a:ext cx="2381760" cy="952920"/>
          </a:xfrm>
          <a:custGeom>
            <a:avLst/>
            <a:gdLst/>
            <a:ahLst/>
            <a:rect l="0" t="0" r="r" b="b"/>
            <a:pathLst>
              <a:path w="6616" h="2647">
                <a:moveTo>
                  <a:pt x="0" y="0"/>
                </a:moveTo>
                <a:lnTo>
                  <a:pt x="6616" y="0"/>
                </a:lnTo>
                <a:lnTo>
                  <a:pt x="6616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7" name=""/>
          <p:cNvSpPr/>
          <p:nvPr/>
        </p:nvSpPr>
        <p:spPr>
          <a:xfrm>
            <a:off x="7343640" y="5514840"/>
            <a:ext cx="4096080" cy="952920"/>
          </a:xfrm>
          <a:custGeom>
            <a:avLst/>
            <a:gdLst/>
            <a:ahLst/>
            <a:rect l="0" t="0" r="r" b="b"/>
            <a:pathLst>
              <a:path w="11378" h="2647">
                <a:moveTo>
                  <a:pt x="0" y="0"/>
                </a:moveTo>
                <a:lnTo>
                  <a:pt x="11378" y="0"/>
                </a:lnTo>
                <a:lnTo>
                  <a:pt x="1137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8" name=""/>
          <p:cNvSpPr/>
          <p:nvPr/>
        </p:nvSpPr>
        <p:spPr>
          <a:xfrm>
            <a:off x="752400" y="6467400"/>
            <a:ext cx="2276640" cy="952920"/>
          </a:xfrm>
          <a:custGeom>
            <a:avLst/>
            <a:gdLst/>
            <a:ahLst/>
            <a:rect l="0" t="0" r="r" b="b"/>
            <a:pathLst>
              <a:path w="6324" h="2647">
                <a:moveTo>
                  <a:pt x="0" y="0"/>
                </a:moveTo>
                <a:lnTo>
                  <a:pt x="6324" y="0"/>
                </a:lnTo>
                <a:lnTo>
                  <a:pt x="6324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9" name=""/>
          <p:cNvSpPr/>
          <p:nvPr/>
        </p:nvSpPr>
        <p:spPr>
          <a:xfrm>
            <a:off x="3028680" y="6467400"/>
            <a:ext cx="1933920" cy="952920"/>
          </a:xfrm>
          <a:custGeom>
            <a:avLst/>
            <a:gdLst/>
            <a:ahLst/>
            <a:rect l="0" t="0" r="r" b="b"/>
            <a:pathLst>
              <a:path w="5372" h="2647">
                <a:moveTo>
                  <a:pt x="0" y="0"/>
                </a:moveTo>
                <a:lnTo>
                  <a:pt x="5372" y="0"/>
                </a:lnTo>
                <a:lnTo>
                  <a:pt x="5372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0" name=""/>
          <p:cNvSpPr/>
          <p:nvPr/>
        </p:nvSpPr>
        <p:spPr>
          <a:xfrm>
            <a:off x="4962240" y="6467400"/>
            <a:ext cx="2381760" cy="952920"/>
          </a:xfrm>
          <a:custGeom>
            <a:avLst/>
            <a:gdLst/>
            <a:ahLst/>
            <a:rect l="0" t="0" r="r" b="b"/>
            <a:pathLst>
              <a:path w="6616" h="2647">
                <a:moveTo>
                  <a:pt x="0" y="0"/>
                </a:moveTo>
                <a:lnTo>
                  <a:pt x="6616" y="0"/>
                </a:lnTo>
                <a:lnTo>
                  <a:pt x="6616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1" name=""/>
          <p:cNvSpPr/>
          <p:nvPr/>
        </p:nvSpPr>
        <p:spPr>
          <a:xfrm>
            <a:off x="7343640" y="6467400"/>
            <a:ext cx="4096080" cy="952920"/>
          </a:xfrm>
          <a:custGeom>
            <a:avLst/>
            <a:gdLst/>
            <a:ahLst/>
            <a:rect l="0" t="0" r="r" b="b"/>
            <a:pathLst>
              <a:path w="11378" h="2647">
                <a:moveTo>
                  <a:pt x="0" y="0"/>
                </a:moveTo>
                <a:lnTo>
                  <a:pt x="11378" y="0"/>
                </a:lnTo>
                <a:lnTo>
                  <a:pt x="1137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2" name=""/>
          <p:cNvSpPr/>
          <p:nvPr/>
        </p:nvSpPr>
        <p:spPr>
          <a:xfrm>
            <a:off x="75240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3" name=""/>
          <p:cNvSpPr/>
          <p:nvPr/>
        </p:nvSpPr>
        <p:spPr>
          <a:xfrm>
            <a:off x="752400" y="1457280"/>
            <a:ext cx="2286360" cy="9720"/>
          </a:xfrm>
          <a:custGeom>
            <a:avLst/>
            <a:gdLst/>
            <a:ahLst/>
            <a:rect l="0" t="0" r="r" b="b"/>
            <a:pathLst>
              <a:path w="6351" h="27">
                <a:moveTo>
                  <a:pt x="0" y="0"/>
                </a:moveTo>
                <a:lnTo>
                  <a:pt x="6351" y="0"/>
                </a:lnTo>
                <a:lnTo>
                  <a:pt x="635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4" name=""/>
          <p:cNvSpPr/>
          <p:nvPr/>
        </p:nvSpPr>
        <p:spPr>
          <a:xfrm>
            <a:off x="302868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5" name=""/>
          <p:cNvSpPr/>
          <p:nvPr/>
        </p:nvSpPr>
        <p:spPr>
          <a:xfrm>
            <a:off x="3038400" y="1457280"/>
            <a:ext cx="1933920" cy="9720"/>
          </a:xfrm>
          <a:custGeom>
            <a:avLst/>
            <a:gdLst/>
            <a:ahLst/>
            <a:rect l="0" t="0" r="r" b="b"/>
            <a:pathLst>
              <a:path w="5372" h="27">
                <a:moveTo>
                  <a:pt x="0" y="0"/>
                </a:moveTo>
                <a:lnTo>
                  <a:pt x="5372" y="0"/>
                </a:lnTo>
                <a:lnTo>
                  <a:pt x="537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6" name=""/>
          <p:cNvSpPr/>
          <p:nvPr/>
        </p:nvSpPr>
        <p:spPr>
          <a:xfrm>
            <a:off x="496224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7" name=""/>
          <p:cNvSpPr/>
          <p:nvPr/>
        </p:nvSpPr>
        <p:spPr>
          <a:xfrm>
            <a:off x="4971960" y="1457280"/>
            <a:ext cx="2372040" cy="9720"/>
          </a:xfrm>
          <a:custGeom>
            <a:avLst/>
            <a:gdLst/>
            <a:ahLst/>
            <a:rect l="0" t="0" r="r" b="b"/>
            <a:pathLst>
              <a:path w="6589" h="27">
                <a:moveTo>
                  <a:pt x="0" y="0"/>
                </a:moveTo>
                <a:lnTo>
                  <a:pt x="6589" y="0"/>
                </a:lnTo>
                <a:lnTo>
                  <a:pt x="65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8" name=""/>
          <p:cNvSpPr/>
          <p:nvPr/>
        </p:nvSpPr>
        <p:spPr>
          <a:xfrm>
            <a:off x="733392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9" name=""/>
          <p:cNvSpPr/>
          <p:nvPr/>
        </p:nvSpPr>
        <p:spPr>
          <a:xfrm>
            <a:off x="7343640" y="1457280"/>
            <a:ext cx="4105440" cy="9720"/>
          </a:xfrm>
          <a:custGeom>
            <a:avLst/>
            <a:gdLst/>
            <a:ahLst/>
            <a:rect l="0" t="0" r="r" b="b"/>
            <a:pathLst>
              <a:path w="11404" h="27">
                <a:moveTo>
                  <a:pt x="0" y="0"/>
                </a:moveTo>
                <a:lnTo>
                  <a:pt x="11404" y="0"/>
                </a:lnTo>
                <a:lnTo>
                  <a:pt x="1140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0" name=""/>
          <p:cNvSpPr/>
          <p:nvPr/>
        </p:nvSpPr>
        <p:spPr>
          <a:xfrm>
            <a:off x="1143936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1" name=""/>
          <p:cNvSpPr/>
          <p:nvPr/>
        </p:nvSpPr>
        <p:spPr>
          <a:xfrm>
            <a:off x="752400" y="1990440"/>
            <a:ext cx="2286360" cy="10080"/>
          </a:xfrm>
          <a:custGeom>
            <a:avLst/>
            <a:gdLst/>
            <a:ahLst/>
            <a:rect l="0" t="0" r="r" b="b"/>
            <a:pathLst>
              <a:path w="6351" h="28">
                <a:moveTo>
                  <a:pt x="0" y="0"/>
                </a:moveTo>
                <a:lnTo>
                  <a:pt x="6351" y="0"/>
                </a:lnTo>
                <a:lnTo>
                  <a:pt x="635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2" name=""/>
          <p:cNvSpPr/>
          <p:nvPr/>
        </p:nvSpPr>
        <p:spPr>
          <a:xfrm>
            <a:off x="3038400" y="1990440"/>
            <a:ext cx="1933920" cy="10080"/>
          </a:xfrm>
          <a:custGeom>
            <a:avLst/>
            <a:gdLst/>
            <a:ahLst/>
            <a:rect l="0" t="0" r="r" b="b"/>
            <a:pathLst>
              <a:path w="5372" h="28">
                <a:moveTo>
                  <a:pt x="0" y="0"/>
                </a:moveTo>
                <a:lnTo>
                  <a:pt x="5372" y="0"/>
                </a:lnTo>
                <a:lnTo>
                  <a:pt x="537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3" name=""/>
          <p:cNvSpPr/>
          <p:nvPr/>
        </p:nvSpPr>
        <p:spPr>
          <a:xfrm>
            <a:off x="4971960" y="1990440"/>
            <a:ext cx="2372040" cy="10080"/>
          </a:xfrm>
          <a:custGeom>
            <a:avLst/>
            <a:gdLst/>
            <a:ahLst/>
            <a:rect l="0" t="0" r="r" b="b"/>
            <a:pathLst>
              <a:path w="6589" h="28">
                <a:moveTo>
                  <a:pt x="0" y="0"/>
                </a:moveTo>
                <a:lnTo>
                  <a:pt x="6589" y="0"/>
                </a:lnTo>
                <a:lnTo>
                  <a:pt x="658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4" name=""/>
          <p:cNvSpPr/>
          <p:nvPr/>
        </p:nvSpPr>
        <p:spPr>
          <a:xfrm>
            <a:off x="7343640" y="1990440"/>
            <a:ext cx="4105440" cy="10080"/>
          </a:xfrm>
          <a:custGeom>
            <a:avLst/>
            <a:gdLst/>
            <a:ahLst/>
            <a:rect l="0" t="0" r="r" b="b"/>
            <a:pathLst>
              <a:path w="11404" h="28">
                <a:moveTo>
                  <a:pt x="0" y="0"/>
                </a:moveTo>
                <a:lnTo>
                  <a:pt x="11404" y="0"/>
                </a:lnTo>
                <a:lnTo>
                  <a:pt x="1140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5" name=""/>
          <p:cNvSpPr/>
          <p:nvPr/>
        </p:nvSpPr>
        <p:spPr>
          <a:xfrm>
            <a:off x="75240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6" name=""/>
          <p:cNvSpPr/>
          <p:nvPr/>
        </p:nvSpPr>
        <p:spPr>
          <a:xfrm>
            <a:off x="3028680" y="20001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7" name=""/>
          <p:cNvSpPr/>
          <p:nvPr/>
        </p:nvSpPr>
        <p:spPr>
          <a:xfrm>
            <a:off x="4962240" y="20001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8" name=""/>
          <p:cNvSpPr/>
          <p:nvPr/>
        </p:nvSpPr>
        <p:spPr>
          <a:xfrm>
            <a:off x="7333920" y="20001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9" name=""/>
          <p:cNvSpPr/>
          <p:nvPr/>
        </p:nvSpPr>
        <p:spPr>
          <a:xfrm>
            <a:off x="1143936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0" name=""/>
          <p:cNvSpPr/>
          <p:nvPr/>
        </p:nvSpPr>
        <p:spPr>
          <a:xfrm>
            <a:off x="75240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1" name=""/>
          <p:cNvSpPr/>
          <p:nvPr/>
        </p:nvSpPr>
        <p:spPr>
          <a:xfrm>
            <a:off x="752400" y="2533320"/>
            <a:ext cx="2286360" cy="10080"/>
          </a:xfrm>
          <a:custGeom>
            <a:avLst/>
            <a:gdLst/>
            <a:ahLst/>
            <a:rect l="0" t="0" r="r" b="b"/>
            <a:pathLst>
              <a:path w="6351" h="28">
                <a:moveTo>
                  <a:pt x="0" y="0"/>
                </a:moveTo>
                <a:lnTo>
                  <a:pt x="6351" y="0"/>
                </a:lnTo>
                <a:lnTo>
                  <a:pt x="635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2" name=""/>
          <p:cNvSpPr/>
          <p:nvPr/>
        </p:nvSpPr>
        <p:spPr>
          <a:xfrm>
            <a:off x="3028680" y="254304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3" name=""/>
          <p:cNvSpPr/>
          <p:nvPr/>
        </p:nvSpPr>
        <p:spPr>
          <a:xfrm>
            <a:off x="3038400" y="2533320"/>
            <a:ext cx="1933920" cy="10080"/>
          </a:xfrm>
          <a:custGeom>
            <a:avLst/>
            <a:gdLst/>
            <a:ahLst/>
            <a:rect l="0" t="0" r="r" b="b"/>
            <a:pathLst>
              <a:path w="5372" h="28">
                <a:moveTo>
                  <a:pt x="0" y="0"/>
                </a:moveTo>
                <a:lnTo>
                  <a:pt x="5372" y="0"/>
                </a:lnTo>
                <a:lnTo>
                  <a:pt x="537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4" name=""/>
          <p:cNvSpPr/>
          <p:nvPr/>
        </p:nvSpPr>
        <p:spPr>
          <a:xfrm>
            <a:off x="4962240" y="254304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5" name=""/>
          <p:cNvSpPr/>
          <p:nvPr/>
        </p:nvSpPr>
        <p:spPr>
          <a:xfrm>
            <a:off x="4971960" y="2533320"/>
            <a:ext cx="2372040" cy="10080"/>
          </a:xfrm>
          <a:custGeom>
            <a:avLst/>
            <a:gdLst/>
            <a:ahLst/>
            <a:rect l="0" t="0" r="r" b="b"/>
            <a:pathLst>
              <a:path w="6589" h="28">
                <a:moveTo>
                  <a:pt x="0" y="0"/>
                </a:moveTo>
                <a:lnTo>
                  <a:pt x="6589" y="0"/>
                </a:lnTo>
                <a:lnTo>
                  <a:pt x="658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6" name=""/>
          <p:cNvSpPr/>
          <p:nvPr/>
        </p:nvSpPr>
        <p:spPr>
          <a:xfrm>
            <a:off x="7333920" y="254304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7" name=""/>
          <p:cNvSpPr/>
          <p:nvPr/>
        </p:nvSpPr>
        <p:spPr>
          <a:xfrm>
            <a:off x="7343640" y="2533320"/>
            <a:ext cx="4105440" cy="10080"/>
          </a:xfrm>
          <a:custGeom>
            <a:avLst/>
            <a:gdLst/>
            <a:ahLst/>
            <a:rect l="0" t="0" r="r" b="b"/>
            <a:pathLst>
              <a:path w="11404" h="28">
                <a:moveTo>
                  <a:pt x="0" y="0"/>
                </a:moveTo>
                <a:lnTo>
                  <a:pt x="11404" y="0"/>
                </a:lnTo>
                <a:lnTo>
                  <a:pt x="1140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8" name=""/>
          <p:cNvSpPr/>
          <p:nvPr/>
        </p:nvSpPr>
        <p:spPr>
          <a:xfrm>
            <a:off x="1143936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9" name=""/>
          <p:cNvSpPr/>
          <p:nvPr/>
        </p:nvSpPr>
        <p:spPr>
          <a:xfrm>
            <a:off x="752400" y="307656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0" name=""/>
          <p:cNvSpPr/>
          <p:nvPr/>
        </p:nvSpPr>
        <p:spPr>
          <a:xfrm>
            <a:off x="752400" y="3066840"/>
            <a:ext cx="2286360" cy="10080"/>
          </a:xfrm>
          <a:custGeom>
            <a:avLst/>
            <a:gdLst/>
            <a:ahLst/>
            <a:rect l="0" t="0" r="r" b="b"/>
            <a:pathLst>
              <a:path w="6351" h="28">
                <a:moveTo>
                  <a:pt x="0" y="0"/>
                </a:moveTo>
                <a:lnTo>
                  <a:pt x="6351" y="0"/>
                </a:lnTo>
                <a:lnTo>
                  <a:pt x="635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1" name=""/>
          <p:cNvSpPr/>
          <p:nvPr/>
        </p:nvSpPr>
        <p:spPr>
          <a:xfrm>
            <a:off x="3028680" y="3076560"/>
            <a:ext cx="10080" cy="952560"/>
          </a:xfrm>
          <a:custGeom>
            <a:avLst/>
            <a:gdLst/>
            <a:ahLst/>
            <a:rect l="0" t="0" r="r" b="b"/>
            <a:pathLst>
              <a:path w="28" h="2646">
                <a:moveTo>
                  <a:pt x="0" y="0"/>
                </a:moveTo>
                <a:lnTo>
                  <a:pt x="28" y="0"/>
                </a:lnTo>
                <a:lnTo>
                  <a:pt x="28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2" name=""/>
          <p:cNvSpPr/>
          <p:nvPr/>
        </p:nvSpPr>
        <p:spPr>
          <a:xfrm>
            <a:off x="3038400" y="3066840"/>
            <a:ext cx="1933920" cy="10080"/>
          </a:xfrm>
          <a:custGeom>
            <a:avLst/>
            <a:gdLst/>
            <a:ahLst/>
            <a:rect l="0" t="0" r="r" b="b"/>
            <a:pathLst>
              <a:path w="5372" h="28">
                <a:moveTo>
                  <a:pt x="0" y="0"/>
                </a:moveTo>
                <a:lnTo>
                  <a:pt x="5372" y="0"/>
                </a:lnTo>
                <a:lnTo>
                  <a:pt x="537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3" name=""/>
          <p:cNvSpPr/>
          <p:nvPr/>
        </p:nvSpPr>
        <p:spPr>
          <a:xfrm>
            <a:off x="4962240" y="3076560"/>
            <a:ext cx="10080" cy="952560"/>
          </a:xfrm>
          <a:custGeom>
            <a:avLst/>
            <a:gdLst/>
            <a:ahLst/>
            <a:rect l="0" t="0" r="r" b="b"/>
            <a:pathLst>
              <a:path w="28" h="2646">
                <a:moveTo>
                  <a:pt x="0" y="0"/>
                </a:moveTo>
                <a:lnTo>
                  <a:pt x="28" y="0"/>
                </a:lnTo>
                <a:lnTo>
                  <a:pt x="28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4" name=""/>
          <p:cNvSpPr/>
          <p:nvPr/>
        </p:nvSpPr>
        <p:spPr>
          <a:xfrm>
            <a:off x="4971960" y="3066840"/>
            <a:ext cx="2372040" cy="10080"/>
          </a:xfrm>
          <a:custGeom>
            <a:avLst/>
            <a:gdLst/>
            <a:ahLst/>
            <a:rect l="0" t="0" r="r" b="b"/>
            <a:pathLst>
              <a:path w="6589" h="28">
                <a:moveTo>
                  <a:pt x="0" y="0"/>
                </a:moveTo>
                <a:lnTo>
                  <a:pt x="6589" y="0"/>
                </a:lnTo>
                <a:lnTo>
                  <a:pt x="658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5" name=""/>
          <p:cNvSpPr/>
          <p:nvPr/>
        </p:nvSpPr>
        <p:spPr>
          <a:xfrm>
            <a:off x="7333920" y="3076560"/>
            <a:ext cx="10080" cy="952560"/>
          </a:xfrm>
          <a:custGeom>
            <a:avLst/>
            <a:gdLst/>
            <a:ahLst/>
            <a:rect l="0" t="0" r="r" b="b"/>
            <a:pathLst>
              <a:path w="28" h="2646">
                <a:moveTo>
                  <a:pt x="0" y="0"/>
                </a:moveTo>
                <a:lnTo>
                  <a:pt x="28" y="0"/>
                </a:lnTo>
                <a:lnTo>
                  <a:pt x="28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6" name=""/>
          <p:cNvSpPr/>
          <p:nvPr/>
        </p:nvSpPr>
        <p:spPr>
          <a:xfrm>
            <a:off x="7343640" y="3066840"/>
            <a:ext cx="4105440" cy="10080"/>
          </a:xfrm>
          <a:custGeom>
            <a:avLst/>
            <a:gdLst/>
            <a:ahLst/>
            <a:rect l="0" t="0" r="r" b="b"/>
            <a:pathLst>
              <a:path w="11404" h="28">
                <a:moveTo>
                  <a:pt x="0" y="0"/>
                </a:moveTo>
                <a:lnTo>
                  <a:pt x="11404" y="0"/>
                </a:lnTo>
                <a:lnTo>
                  <a:pt x="1140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7" name=""/>
          <p:cNvSpPr/>
          <p:nvPr/>
        </p:nvSpPr>
        <p:spPr>
          <a:xfrm>
            <a:off x="11439360" y="307656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8" name=""/>
          <p:cNvSpPr/>
          <p:nvPr/>
        </p:nvSpPr>
        <p:spPr>
          <a:xfrm>
            <a:off x="752400" y="40287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9" name=""/>
          <p:cNvSpPr/>
          <p:nvPr/>
        </p:nvSpPr>
        <p:spPr>
          <a:xfrm>
            <a:off x="752400" y="4019400"/>
            <a:ext cx="2286360" cy="9720"/>
          </a:xfrm>
          <a:custGeom>
            <a:avLst/>
            <a:gdLst/>
            <a:ahLst/>
            <a:rect l="0" t="0" r="r" b="b"/>
            <a:pathLst>
              <a:path w="6351" h="27">
                <a:moveTo>
                  <a:pt x="0" y="0"/>
                </a:moveTo>
                <a:lnTo>
                  <a:pt x="6351" y="0"/>
                </a:lnTo>
                <a:lnTo>
                  <a:pt x="635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0" name=""/>
          <p:cNvSpPr/>
          <p:nvPr/>
        </p:nvSpPr>
        <p:spPr>
          <a:xfrm>
            <a:off x="3028680" y="40287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1" name=""/>
          <p:cNvSpPr/>
          <p:nvPr/>
        </p:nvSpPr>
        <p:spPr>
          <a:xfrm>
            <a:off x="3038400" y="4019400"/>
            <a:ext cx="1933920" cy="9720"/>
          </a:xfrm>
          <a:custGeom>
            <a:avLst/>
            <a:gdLst/>
            <a:ahLst/>
            <a:rect l="0" t="0" r="r" b="b"/>
            <a:pathLst>
              <a:path w="5372" h="27">
                <a:moveTo>
                  <a:pt x="0" y="0"/>
                </a:moveTo>
                <a:lnTo>
                  <a:pt x="5372" y="0"/>
                </a:lnTo>
                <a:lnTo>
                  <a:pt x="537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2" name=""/>
          <p:cNvSpPr/>
          <p:nvPr/>
        </p:nvSpPr>
        <p:spPr>
          <a:xfrm>
            <a:off x="4962240" y="40287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3" name=""/>
          <p:cNvSpPr/>
          <p:nvPr/>
        </p:nvSpPr>
        <p:spPr>
          <a:xfrm>
            <a:off x="4971960" y="4019400"/>
            <a:ext cx="2372040" cy="9720"/>
          </a:xfrm>
          <a:custGeom>
            <a:avLst/>
            <a:gdLst/>
            <a:ahLst/>
            <a:rect l="0" t="0" r="r" b="b"/>
            <a:pathLst>
              <a:path w="6589" h="27">
                <a:moveTo>
                  <a:pt x="0" y="0"/>
                </a:moveTo>
                <a:lnTo>
                  <a:pt x="6589" y="0"/>
                </a:lnTo>
                <a:lnTo>
                  <a:pt x="65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4" name=""/>
          <p:cNvSpPr/>
          <p:nvPr/>
        </p:nvSpPr>
        <p:spPr>
          <a:xfrm>
            <a:off x="7333920" y="40287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5" name=""/>
          <p:cNvSpPr/>
          <p:nvPr/>
        </p:nvSpPr>
        <p:spPr>
          <a:xfrm>
            <a:off x="7343640" y="4019400"/>
            <a:ext cx="4105440" cy="9720"/>
          </a:xfrm>
          <a:custGeom>
            <a:avLst/>
            <a:gdLst/>
            <a:ahLst/>
            <a:rect l="0" t="0" r="r" b="b"/>
            <a:pathLst>
              <a:path w="11404" h="27">
                <a:moveTo>
                  <a:pt x="0" y="0"/>
                </a:moveTo>
                <a:lnTo>
                  <a:pt x="11404" y="0"/>
                </a:lnTo>
                <a:lnTo>
                  <a:pt x="1140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6" name=""/>
          <p:cNvSpPr/>
          <p:nvPr/>
        </p:nvSpPr>
        <p:spPr>
          <a:xfrm>
            <a:off x="11439360" y="40287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7" name=""/>
          <p:cNvSpPr/>
          <p:nvPr/>
        </p:nvSpPr>
        <p:spPr>
          <a:xfrm>
            <a:off x="752400" y="457164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8" name=""/>
          <p:cNvSpPr/>
          <p:nvPr/>
        </p:nvSpPr>
        <p:spPr>
          <a:xfrm>
            <a:off x="752400" y="4562280"/>
            <a:ext cx="2286360" cy="9720"/>
          </a:xfrm>
          <a:custGeom>
            <a:avLst/>
            <a:gdLst/>
            <a:ahLst/>
            <a:rect l="0" t="0" r="r" b="b"/>
            <a:pathLst>
              <a:path w="6351" h="27">
                <a:moveTo>
                  <a:pt x="0" y="0"/>
                </a:moveTo>
                <a:lnTo>
                  <a:pt x="6351" y="0"/>
                </a:lnTo>
                <a:lnTo>
                  <a:pt x="635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9" name=""/>
          <p:cNvSpPr/>
          <p:nvPr/>
        </p:nvSpPr>
        <p:spPr>
          <a:xfrm>
            <a:off x="3028680" y="457164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0" name=""/>
          <p:cNvSpPr/>
          <p:nvPr/>
        </p:nvSpPr>
        <p:spPr>
          <a:xfrm>
            <a:off x="3038400" y="4562280"/>
            <a:ext cx="1933920" cy="9720"/>
          </a:xfrm>
          <a:custGeom>
            <a:avLst/>
            <a:gdLst/>
            <a:ahLst/>
            <a:rect l="0" t="0" r="r" b="b"/>
            <a:pathLst>
              <a:path w="5372" h="27">
                <a:moveTo>
                  <a:pt x="0" y="0"/>
                </a:moveTo>
                <a:lnTo>
                  <a:pt x="5372" y="0"/>
                </a:lnTo>
                <a:lnTo>
                  <a:pt x="537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1" name=""/>
          <p:cNvSpPr/>
          <p:nvPr/>
        </p:nvSpPr>
        <p:spPr>
          <a:xfrm>
            <a:off x="4962240" y="457164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2" name=""/>
          <p:cNvSpPr/>
          <p:nvPr/>
        </p:nvSpPr>
        <p:spPr>
          <a:xfrm>
            <a:off x="4971960" y="4562280"/>
            <a:ext cx="2372040" cy="9720"/>
          </a:xfrm>
          <a:custGeom>
            <a:avLst/>
            <a:gdLst/>
            <a:ahLst/>
            <a:rect l="0" t="0" r="r" b="b"/>
            <a:pathLst>
              <a:path w="6589" h="27">
                <a:moveTo>
                  <a:pt x="0" y="0"/>
                </a:moveTo>
                <a:lnTo>
                  <a:pt x="6589" y="0"/>
                </a:lnTo>
                <a:lnTo>
                  <a:pt x="65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3" name=""/>
          <p:cNvSpPr/>
          <p:nvPr/>
        </p:nvSpPr>
        <p:spPr>
          <a:xfrm>
            <a:off x="7333920" y="457164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4" name=""/>
          <p:cNvSpPr/>
          <p:nvPr/>
        </p:nvSpPr>
        <p:spPr>
          <a:xfrm>
            <a:off x="7343640" y="4562280"/>
            <a:ext cx="4105440" cy="9720"/>
          </a:xfrm>
          <a:custGeom>
            <a:avLst/>
            <a:gdLst/>
            <a:ahLst/>
            <a:rect l="0" t="0" r="r" b="b"/>
            <a:pathLst>
              <a:path w="11404" h="27">
                <a:moveTo>
                  <a:pt x="0" y="0"/>
                </a:moveTo>
                <a:lnTo>
                  <a:pt x="11404" y="0"/>
                </a:lnTo>
                <a:lnTo>
                  <a:pt x="1140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5" name=""/>
          <p:cNvSpPr/>
          <p:nvPr/>
        </p:nvSpPr>
        <p:spPr>
          <a:xfrm>
            <a:off x="11439360" y="457164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6" name=""/>
          <p:cNvSpPr/>
          <p:nvPr/>
        </p:nvSpPr>
        <p:spPr>
          <a:xfrm>
            <a:off x="752400" y="5524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7" name=""/>
          <p:cNvSpPr/>
          <p:nvPr/>
        </p:nvSpPr>
        <p:spPr>
          <a:xfrm>
            <a:off x="752400" y="5514840"/>
            <a:ext cx="2286360" cy="9720"/>
          </a:xfrm>
          <a:custGeom>
            <a:avLst/>
            <a:gdLst/>
            <a:ahLst/>
            <a:rect l="0" t="0" r="r" b="b"/>
            <a:pathLst>
              <a:path w="6351" h="27">
                <a:moveTo>
                  <a:pt x="0" y="0"/>
                </a:moveTo>
                <a:lnTo>
                  <a:pt x="6351" y="0"/>
                </a:lnTo>
                <a:lnTo>
                  <a:pt x="635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8" name=""/>
          <p:cNvSpPr/>
          <p:nvPr/>
        </p:nvSpPr>
        <p:spPr>
          <a:xfrm>
            <a:off x="3028680" y="552420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9" name=""/>
          <p:cNvSpPr/>
          <p:nvPr/>
        </p:nvSpPr>
        <p:spPr>
          <a:xfrm>
            <a:off x="3038400" y="5514840"/>
            <a:ext cx="1933920" cy="9720"/>
          </a:xfrm>
          <a:custGeom>
            <a:avLst/>
            <a:gdLst/>
            <a:ahLst/>
            <a:rect l="0" t="0" r="r" b="b"/>
            <a:pathLst>
              <a:path w="5372" h="27">
                <a:moveTo>
                  <a:pt x="0" y="0"/>
                </a:moveTo>
                <a:lnTo>
                  <a:pt x="5372" y="0"/>
                </a:lnTo>
                <a:lnTo>
                  <a:pt x="537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0" name=""/>
          <p:cNvSpPr/>
          <p:nvPr/>
        </p:nvSpPr>
        <p:spPr>
          <a:xfrm>
            <a:off x="4962240" y="552420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1" name=""/>
          <p:cNvSpPr/>
          <p:nvPr/>
        </p:nvSpPr>
        <p:spPr>
          <a:xfrm>
            <a:off x="4971960" y="5514840"/>
            <a:ext cx="2372040" cy="9720"/>
          </a:xfrm>
          <a:custGeom>
            <a:avLst/>
            <a:gdLst/>
            <a:ahLst/>
            <a:rect l="0" t="0" r="r" b="b"/>
            <a:pathLst>
              <a:path w="6589" h="27">
                <a:moveTo>
                  <a:pt x="0" y="0"/>
                </a:moveTo>
                <a:lnTo>
                  <a:pt x="6589" y="0"/>
                </a:lnTo>
                <a:lnTo>
                  <a:pt x="65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2" name=""/>
          <p:cNvSpPr/>
          <p:nvPr/>
        </p:nvSpPr>
        <p:spPr>
          <a:xfrm>
            <a:off x="7333920" y="552420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3" name=""/>
          <p:cNvSpPr/>
          <p:nvPr/>
        </p:nvSpPr>
        <p:spPr>
          <a:xfrm>
            <a:off x="7343640" y="5514840"/>
            <a:ext cx="4105440" cy="9720"/>
          </a:xfrm>
          <a:custGeom>
            <a:avLst/>
            <a:gdLst/>
            <a:ahLst/>
            <a:rect l="0" t="0" r="r" b="b"/>
            <a:pathLst>
              <a:path w="11404" h="27">
                <a:moveTo>
                  <a:pt x="0" y="0"/>
                </a:moveTo>
                <a:lnTo>
                  <a:pt x="11404" y="0"/>
                </a:lnTo>
                <a:lnTo>
                  <a:pt x="1140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4" name=""/>
          <p:cNvSpPr/>
          <p:nvPr/>
        </p:nvSpPr>
        <p:spPr>
          <a:xfrm>
            <a:off x="11439360" y="5524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5" name=""/>
          <p:cNvSpPr/>
          <p:nvPr/>
        </p:nvSpPr>
        <p:spPr>
          <a:xfrm>
            <a:off x="752400" y="64767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6" name=""/>
          <p:cNvSpPr/>
          <p:nvPr/>
        </p:nvSpPr>
        <p:spPr>
          <a:xfrm>
            <a:off x="752400" y="6467400"/>
            <a:ext cx="2286360" cy="9720"/>
          </a:xfrm>
          <a:custGeom>
            <a:avLst/>
            <a:gdLst/>
            <a:ahLst/>
            <a:rect l="0" t="0" r="r" b="b"/>
            <a:pathLst>
              <a:path w="6351" h="27">
                <a:moveTo>
                  <a:pt x="0" y="0"/>
                </a:moveTo>
                <a:lnTo>
                  <a:pt x="6351" y="0"/>
                </a:lnTo>
                <a:lnTo>
                  <a:pt x="635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7" name=""/>
          <p:cNvSpPr/>
          <p:nvPr/>
        </p:nvSpPr>
        <p:spPr>
          <a:xfrm>
            <a:off x="3028680" y="647676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8" name=""/>
          <p:cNvSpPr/>
          <p:nvPr/>
        </p:nvSpPr>
        <p:spPr>
          <a:xfrm>
            <a:off x="3038400" y="6467400"/>
            <a:ext cx="1933920" cy="9720"/>
          </a:xfrm>
          <a:custGeom>
            <a:avLst/>
            <a:gdLst/>
            <a:ahLst/>
            <a:rect l="0" t="0" r="r" b="b"/>
            <a:pathLst>
              <a:path w="5372" h="27">
                <a:moveTo>
                  <a:pt x="0" y="0"/>
                </a:moveTo>
                <a:lnTo>
                  <a:pt x="5372" y="0"/>
                </a:lnTo>
                <a:lnTo>
                  <a:pt x="537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9" name=""/>
          <p:cNvSpPr/>
          <p:nvPr/>
        </p:nvSpPr>
        <p:spPr>
          <a:xfrm>
            <a:off x="4962240" y="647676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0" name=""/>
          <p:cNvSpPr/>
          <p:nvPr/>
        </p:nvSpPr>
        <p:spPr>
          <a:xfrm>
            <a:off x="4971960" y="6467400"/>
            <a:ext cx="2372040" cy="9720"/>
          </a:xfrm>
          <a:custGeom>
            <a:avLst/>
            <a:gdLst/>
            <a:ahLst/>
            <a:rect l="0" t="0" r="r" b="b"/>
            <a:pathLst>
              <a:path w="6589" h="27">
                <a:moveTo>
                  <a:pt x="0" y="0"/>
                </a:moveTo>
                <a:lnTo>
                  <a:pt x="6589" y="0"/>
                </a:lnTo>
                <a:lnTo>
                  <a:pt x="65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1" name=""/>
          <p:cNvSpPr/>
          <p:nvPr/>
        </p:nvSpPr>
        <p:spPr>
          <a:xfrm>
            <a:off x="7333920" y="647676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2" name=""/>
          <p:cNvSpPr/>
          <p:nvPr/>
        </p:nvSpPr>
        <p:spPr>
          <a:xfrm>
            <a:off x="7343640" y="6467400"/>
            <a:ext cx="4105440" cy="9720"/>
          </a:xfrm>
          <a:custGeom>
            <a:avLst/>
            <a:gdLst/>
            <a:ahLst/>
            <a:rect l="0" t="0" r="r" b="b"/>
            <a:pathLst>
              <a:path w="11404" h="27">
                <a:moveTo>
                  <a:pt x="0" y="0"/>
                </a:moveTo>
                <a:lnTo>
                  <a:pt x="11404" y="0"/>
                </a:lnTo>
                <a:lnTo>
                  <a:pt x="1140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3" name=""/>
          <p:cNvSpPr/>
          <p:nvPr/>
        </p:nvSpPr>
        <p:spPr>
          <a:xfrm>
            <a:off x="11439360" y="64767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4" name=""/>
          <p:cNvSpPr txBox="1"/>
          <p:nvPr/>
        </p:nvSpPr>
        <p:spPr>
          <a:xfrm>
            <a:off x="747720" y="770400"/>
            <a:ext cx="565632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1 — reading the dashboard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5" name=""/>
          <p:cNvSpPr txBox="1"/>
          <p:nvPr/>
        </p:nvSpPr>
        <p:spPr>
          <a:xfrm>
            <a:off x="1523520" y="1569240"/>
            <a:ext cx="735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Panel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6" name=""/>
          <p:cNvSpPr txBox="1"/>
          <p:nvPr/>
        </p:nvSpPr>
        <p:spPr>
          <a:xfrm>
            <a:off x="3590640" y="1569240"/>
            <a:ext cx="812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Metric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7" name=""/>
          <p:cNvSpPr txBox="1"/>
          <p:nvPr/>
        </p:nvSpPr>
        <p:spPr>
          <a:xfrm>
            <a:off x="5792040" y="1569240"/>
            <a:ext cx="735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Value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8" name=""/>
          <p:cNvSpPr txBox="1"/>
          <p:nvPr/>
        </p:nvSpPr>
        <p:spPr>
          <a:xfrm>
            <a:off x="8454600" y="1569240"/>
            <a:ext cx="1869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What it means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9" name=""/>
          <p:cNvSpPr txBox="1"/>
          <p:nvPr/>
        </p:nvSpPr>
        <p:spPr>
          <a:xfrm>
            <a:off x="880920" y="2102760"/>
            <a:ext cx="1578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Virtual Users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0" name=""/>
          <p:cNvSpPr txBox="1"/>
          <p:nvPr/>
        </p:nvSpPr>
        <p:spPr>
          <a:xfrm>
            <a:off x="3160080" y="2102760"/>
            <a:ext cx="628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Peak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1" name=""/>
          <p:cNvSpPr txBox="1"/>
          <p:nvPr/>
        </p:nvSpPr>
        <p:spPr>
          <a:xfrm>
            <a:off x="5092200" y="210276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50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2" name=""/>
          <p:cNvSpPr txBox="1"/>
          <p:nvPr/>
        </p:nvSpPr>
        <p:spPr>
          <a:xfrm>
            <a:off x="7470720" y="2102760"/>
            <a:ext cx="2146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Steady-state load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3" name=""/>
          <p:cNvSpPr txBox="1"/>
          <p:nvPr/>
        </p:nvSpPr>
        <p:spPr>
          <a:xfrm>
            <a:off x="880920" y="2645640"/>
            <a:ext cx="1379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Requests/s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4" name=""/>
          <p:cNvSpPr txBox="1"/>
          <p:nvPr/>
        </p:nvSpPr>
        <p:spPr>
          <a:xfrm>
            <a:off x="3160080" y="2645640"/>
            <a:ext cx="628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Peak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5" name=""/>
          <p:cNvSpPr/>
          <p:nvPr/>
        </p:nvSpPr>
        <p:spPr>
          <a:xfrm>
            <a:off x="6874920" y="2664000"/>
            <a:ext cx="261000" cy="249840"/>
          </a:xfrm>
          <a:custGeom>
            <a:avLst/>
            <a:gdLst/>
            <a:ahLst/>
            <a:rect l="0" t="0" r="r" b="b"/>
            <a:pathLst>
              <a:path w="725" h="694">
                <a:moveTo>
                  <a:pt x="562" y="694"/>
                </a:moveTo>
                <a:cubicBezTo>
                  <a:pt x="553" y="694"/>
                  <a:pt x="544" y="691"/>
                  <a:pt x="537" y="686"/>
                </a:cubicBezTo>
                <a:lnTo>
                  <a:pt x="364" y="561"/>
                </a:lnTo>
                <a:lnTo>
                  <a:pt x="190" y="686"/>
                </a:lnTo>
                <a:cubicBezTo>
                  <a:pt x="175" y="697"/>
                  <a:pt x="156" y="697"/>
                  <a:pt x="141" y="686"/>
                </a:cubicBezTo>
                <a:cubicBezTo>
                  <a:pt x="126" y="675"/>
                  <a:pt x="120" y="656"/>
                  <a:pt x="126" y="639"/>
                </a:cubicBezTo>
                <a:lnTo>
                  <a:pt x="190" y="429"/>
                </a:lnTo>
                <a:lnTo>
                  <a:pt x="17" y="308"/>
                </a:lnTo>
                <a:cubicBezTo>
                  <a:pt x="3" y="298"/>
                  <a:pt x="-3" y="279"/>
                  <a:pt x="2" y="261"/>
                </a:cubicBezTo>
                <a:cubicBezTo>
                  <a:pt x="8" y="244"/>
                  <a:pt x="24" y="232"/>
                  <a:pt x="42" y="232"/>
                </a:cubicBezTo>
                <a:lnTo>
                  <a:pt x="256" y="232"/>
                </a:lnTo>
                <a:lnTo>
                  <a:pt x="324" y="28"/>
                </a:lnTo>
                <a:cubicBezTo>
                  <a:pt x="329" y="11"/>
                  <a:pt x="345" y="0"/>
                  <a:pt x="364" y="0"/>
                </a:cubicBezTo>
                <a:cubicBezTo>
                  <a:pt x="382" y="0"/>
                  <a:pt x="398" y="11"/>
                  <a:pt x="404" y="28"/>
                </a:cubicBezTo>
                <a:lnTo>
                  <a:pt x="470" y="232"/>
                </a:lnTo>
                <a:lnTo>
                  <a:pt x="684" y="232"/>
                </a:lnTo>
                <a:cubicBezTo>
                  <a:pt x="702" y="232"/>
                  <a:pt x="718" y="244"/>
                  <a:pt x="724" y="261"/>
                </a:cubicBezTo>
                <a:cubicBezTo>
                  <a:pt x="729" y="279"/>
                  <a:pt x="723" y="298"/>
                  <a:pt x="709" y="308"/>
                </a:cubicBezTo>
                <a:lnTo>
                  <a:pt x="537" y="429"/>
                </a:lnTo>
                <a:lnTo>
                  <a:pt x="602" y="639"/>
                </a:lnTo>
                <a:cubicBezTo>
                  <a:pt x="607" y="656"/>
                  <a:pt x="601" y="675"/>
                  <a:pt x="586" y="686"/>
                </a:cubicBezTo>
                <a:cubicBezTo>
                  <a:pt x="579" y="691"/>
                  <a:pt x="570" y="694"/>
                  <a:pt x="562" y="694"/>
                </a:cubicBez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6" name=""/>
          <p:cNvSpPr txBox="1"/>
          <p:nvPr/>
        </p:nvSpPr>
        <p:spPr>
          <a:xfrm>
            <a:off x="5092200" y="2645640"/>
            <a:ext cx="1740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~50–55 req/s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7" name=""/>
          <p:cNvSpPr txBox="1"/>
          <p:nvPr/>
        </p:nvSpPr>
        <p:spPr>
          <a:xfrm>
            <a:off x="7470720" y="2645640"/>
            <a:ext cx="2606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Stable — no collapse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8" name=""/>
          <p:cNvSpPr txBox="1"/>
          <p:nvPr/>
        </p:nvSpPr>
        <p:spPr>
          <a:xfrm>
            <a:off x="880920" y="3388680"/>
            <a:ext cx="965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9" name=""/>
          <p:cNvSpPr txBox="1"/>
          <p:nvPr/>
        </p:nvSpPr>
        <p:spPr>
          <a:xfrm>
            <a:off x="3160080" y="3388680"/>
            <a:ext cx="459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0" name=""/>
          <p:cNvSpPr/>
          <p:nvPr/>
        </p:nvSpPr>
        <p:spPr>
          <a:xfrm>
            <a:off x="6303600" y="3406680"/>
            <a:ext cx="261360" cy="250200"/>
          </a:xfrm>
          <a:custGeom>
            <a:avLst/>
            <a:gdLst/>
            <a:ahLst/>
            <a:rect l="0" t="0" r="r" b="b"/>
            <a:pathLst>
              <a:path w="726" h="695">
                <a:moveTo>
                  <a:pt x="561" y="695"/>
                </a:moveTo>
                <a:cubicBezTo>
                  <a:pt x="552" y="695"/>
                  <a:pt x="544" y="692"/>
                  <a:pt x="536" y="687"/>
                </a:cubicBezTo>
                <a:lnTo>
                  <a:pt x="363" y="561"/>
                </a:lnTo>
                <a:lnTo>
                  <a:pt x="189" y="687"/>
                </a:lnTo>
                <a:cubicBezTo>
                  <a:pt x="174" y="697"/>
                  <a:pt x="154" y="697"/>
                  <a:pt x="139" y="687"/>
                </a:cubicBezTo>
                <a:cubicBezTo>
                  <a:pt x="125" y="676"/>
                  <a:pt x="119" y="657"/>
                  <a:pt x="124" y="640"/>
                </a:cubicBezTo>
                <a:lnTo>
                  <a:pt x="189" y="430"/>
                </a:lnTo>
                <a:lnTo>
                  <a:pt x="17" y="309"/>
                </a:lnTo>
                <a:cubicBezTo>
                  <a:pt x="2" y="298"/>
                  <a:pt x="-4" y="279"/>
                  <a:pt x="2" y="262"/>
                </a:cubicBezTo>
                <a:cubicBezTo>
                  <a:pt x="7" y="245"/>
                  <a:pt x="23" y="233"/>
                  <a:pt x="42" y="233"/>
                </a:cubicBezTo>
                <a:lnTo>
                  <a:pt x="255" y="233"/>
                </a:lnTo>
                <a:lnTo>
                  <a:pt x="323" y="29"/>
                </a:lnTo>
                <a:cubicBezTo>
                  <a:pt x="329" y="12"/>
                  <a:pt x="345" y="0"/>
                  <a:pt x="363" y="0"/>
                </a:cubicBezTo>
                <a:cubicBezTo>
                  <a:pt x="381" y="0"/>
                  <a:pt x="397" y="12"/>
                  <a:pt x="403" y="29"/>
                </a:cubicBezTo>
                <a:lnTo>
                  <a:pt x="470" y="233"/>
                </a:lnTo>
                <a:lnTo>
                  <a:pt x="684" y="233"/>
                </a:lnTo>
                <a:cubicBezTo>
                  <a:pt x="702" y="233"/>
                  <a:pt x="718" y="245"/>
                  <a:pt x="723" y="262"/>
                </a:cubicBezTo>
                <a:cubicBezTo>
                  <a:pt x="729" y="279"/>
                  <a:pt x="723" y="298"/>
                  <a:pt x="708" y="309"/>
                </a:cubicBezTo>
                <a:lnTo>
                  <a:pt x="536" y="430"/>
                </a:lnTo>
                <a:lnTo>
                  <a:pt x="601" y="640"/>
                </a:lnTo>
                <a:cubicBezTo>
                  <a:pt x="607" y="657"/>
                  <a:pt x="600" y="676"/>
                  <a:pt x="586" y="687"/>
                </a:cubicBezTo>
                <a:cubicBezTo>
                  <a:pt x="578" y="692"/>
                  <a:pt x="570" y="695"/>
                  <a:pt x="561" y="695"/>
                </a:cubicBez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1" name=""/>
          <p:cNvSpPr txBox="1"/>
          <p:nvPr/>
        </p:nvSpPr>
        <p:spPr>
          <a:xfrm>
            <a:off x="5092200" y="3388680"/>
            <a:ext cx="1172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~130 ms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2" name=""/>
          <p:cNvSpPr txBox="1"/>
          <p:nvPr/>
        </p:nvSpPr>
        <p:spPr>
          <a:xfrm>
            <a:off x="7470720" y="3179160"/>
            <a:ext cx="3105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Was 3+ s — now human-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3" name=""/>
          <p:cNvSpPr txBox="1"/>
          <p:nvPr/>
        </p:nvSpPr>
        <p:spPr>
          <a:xfrm>
            <a:off x="7470720" y="3598200"/>
            <a:ext cx="1349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perceptible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4" name=""/>
          <p:cNvSpPr txBox="1"/>
          <p:nvPr/>
        </p:nvSpPr>
        <p:spPr>
          <a:xfrm>
            <a:off x="880920" y="4131360"/>
            <a:ext cx="1686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FPM Workers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5" name=""/>
          <p:cNvSpPr txBox="1"/>
          <p:nvPr/>
        </p:nvSpPr>
        <p:spPr>
          <a:xfrm>
            <a:off x="3160080" y="4131360"/>
            <a:ext cx="1425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Peak active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6" name=""/>
          <p:cNvSpPr txBox="1"/>
          <p:nvPr/>
        </p:nvSpPr>
        <p:spPr>
          <a:xfrm>
            <a:off x="5092200" y="4131360"/>
            <a:ext cx="8510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~8 / 20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7" name=""/>
          <p:cNvSpPr txBox="1"/>
          <p:nvPr/>
        </p:nvSpPr>
        <p:spPr>
          <a:xfrm>
            <a:off x="7470720" y="4131360"/>
            <a:ext cx="1731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Headroom left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8" name=""/>
          <p:cNvSpPr txBox="1"/>
          <p:nvPr/>
        </p:nvSpPr>
        <p:spPr>
          <a:xfrm>
            <a:off x="880920" y="4884120"/>
            <a:ext cx="1486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FPM Queue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9" name=""/>
          <p:cNvSpPr txBox="1"/>
          <p:nvPr/>
        </p:nvSpPr>
        <p:spPr>
          <a:xfrm>
            <a:off x="3160080" y="4884120"/>
            <a:ext cx="735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Depth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0" name=""/>
          <p:cNvSpPr/>
          <p:nvPr/>
        </p:nvSpPr>
        <p:spPr>
          <a:xfrm>
            <a:off x="5360400" y="4902120"/>
            <a:ext cx="261360" cy="250200"/>
          </a:xfrm>
          <a:custGeom>
            <a:avLst/>
            <a:gdLst/>
            <a:ahLst/>
            <a:rect l="0" t="0" r="r" b="b"/>
            <a:pathLst>
              <a:path w="726" h="695">
                <a:moveTo>
                  <a:pt x="561" y="695"/>
                </a:moveTo>
                <a:cubicBezTo>
                  <a:pt x="552" y="695"/>
                  <a:pt x="543" y="692"/>
                  <a:pt x="536" y="687"/>
                </a:cubicBezTo>
                <a:lnTo>
                  <a:pt x="363" y="561"/>
                </a:lnTo>
                <a:lnTo>
                  <a:pt x="189" y="687"/>
                </a:lnTo>
                <a:cubicBezTo>
                  <a:pt x="175" y="697"/>
                  <a:pt x="155" y="697"/>
                  <a:pt x="140" y="687"/>
                </a:cubicBezTo>
                <a:cubicBezTo>
                  <a:pt x="125" y="676"/>
                  <a:pt x="119" y="657"/>
                  <a:pt x="125" y="640"/>
                </a:cubicBezTo>
                <a:lnTo>
                  <a:pt x="189" y="430"/>
                </a:lnTo>
                <a:lnTo>
                  <a:pt x="18" y="309"/>
                </a:lnTo>
                <a:cubicBezTo>
                  <a:pt x="3" y="298"/>
                  <a:pt x="-3" y="279"/>
                  <a:pt x="2" y="262"/>
                </a:cubicBezTo>
                <a:cubicBezTo>
                  <a:pt x="8" y="245"/>
                  <a:pt x="24" y="233"/>
                  <a:pt x="42" y="233"/>
                </a:cubicBezTo>
                <a:lnTo>
                  <a:pt x="255" y="233"/>
                </a:lnTo>
                <a:lnTo>
                  <a:pt x="323" y="29"/>
                </a:lnTo>
                <a:cubicBezTo>
                  <a:pt x="328" y="12"/>
                  <a:pt x="345" y="0"/>
                  <a:pt x="363" y="0"/>
                </a:cubicBezTo>
                <a:cubicBezTo>
                  <a:pt x="381" y="0"/>
                  <a:pt x="397" y="12"/>
                  <a:pt x="403" y="29"/>
                </a:cubicBezTo>
                <a:lnTo>
                  <a:pt x="469" y="233"/>
                </a:lnTo>
                <a:lnTo>
                  <a:pt x="684" y="233"/>
                </a:lnTo>
                <a:cubicBezTo>
                  <a:pt x="702" y="233"/>
                  <a:pt x="718" y="245"/>
                  <a:pt x="724" y="262"/>
                </a:cubicBezTo>
                <a:cubicBezTo>
                  <a:pt x="730" y="279"/>
                  <a:pt x="724" y="298"/>
                  <a:pt x="709" y="309"/>
                </a:cubicBezTo>
                <a:lnTo>
                  <a:pt x="536" y="430"/>
                </a:lnTo>
                <a:lnTo>
                  <a:pt x="601" y="640"/>
                </a:lnTo>
                <a:cubicBezTo>
                  <a:pt x="606" y="657"/>
                  <a:pt x="600" y="676"/>
                  <a:pt x="585" y="687"/>
                </a:cubicBezTo>
                <a:cubicBezTo>
                  <a:pt x="578" y="692"/>
                  <a:pt x="569" y="695"/>
                  <a:pt x="561" y="695"/>
                </a:cubicBez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1" name=""/>
          <p:cNvSpPr txBox="1"/>
          <p:nvPr/>
        </p:nvSpPr>
        <p:spPr>
          <a:xfrm>
            <a:off x="5092200" y="48841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2" name=""/>
          <p:cNvSpPr txBox="1"/>
          <p:nvPr/>
        </p:nvSpPr>
        <p:spPr>
          <a:xfrm>
            <a:off x="7470720" y="4674600"/>
            <a:ext cx="3141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Crash eliminated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was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3" name=""/>
          <p:cNvSpPr txBox="1"/>
          <p:nvPr/>
        </p:nvSpPr>
        <p:spPr>
          <a:xfrm>
            <a:off x="7470720" y="5083920"/>
            <a:ext cx="621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~250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4" name=""/>
          <p:cNvSpPr txBox="1"/>
          <p:nvPr/>
        </p:nvSpPr>
        <p:spPr>
          <a:xfrm>
            <a:off x="880920" y="5836320"/>
            <a:ext cx="1073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MariaDB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5" name=""/>
          <p:cNvSpPr txBox="1"/>
          <p:nvPr/>
        </p:nvSpPr>
        <p:spPr>
          <a:xfrm>
            <a:off x="3160080" y="5836320"/>
            <a:ext cx="1625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Peak threads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6" name=""/>
          <p:cNvSpPr/>
          <p:nvPr/>
        </p:nvSpPr>
        <p:spPr>
          <a:xfrm>
            <a:off x="5131800" y="6054840"/>
            <a:ext cx="261360" cy="249840"/>
          </a:xfrm>
          <a:custGeom>
            <a:avLst/>
            <a:gdLst/>
            <a:ahLst/>
            <a:rect l="0" t="0" r="r" b="b"/>
            <a:pathLst>
              <a:path w="726" h="694">
                <a:moveTo>
                  <a:pt x="561" y="694"/>
                </a:moveTo>
                <a:cubicBezTo>
                  <a:pt x="552" y="694"/>
                  <a:pt x="543" y="691"/>
                  <a:pt x="536" y="686"/>
                </a:cubicBezTo>
                <a:lnTo>
                  <a:pt x="363" y="562"/>
                </a:lnTo>
                <a:lnTo>
                  <a:pt x="189" y="686"/>
                </a:lnTo>
                <a:cubicBezTo>
                  <a:pt x="175" y="697"/>
                  <a:pt x="155" y="697"/>
                  <a:pt x="140" y="686"/>
                </a:cubicBezTo>
                <a:cubicBezTo>
                  <a:pt x="125" y="675"/>
                  <a:pt x="119" y="657"/>
                  <a:pt x="125" y="639"/>
                </a:cubicBezTo>
                <a:lnTo>
                  <a:pt x="189" y="431"/>
                </a:lnTo>
                <a:lnTo>
                  <a:pt x="18" y="309"/>
                </a:lnTo>
                <a:cubicBezTo>
                  <a:pt x="3" y="299"/>
                  <a:pt x="-3" y="280"/>
                  <a:pt x="2" y="263"/>
                </a:cubicBezTo>
                <a:cubicBezTo>
                  <a:pt x="8" y="245"/>
                  <a:pt x="24" y="234"/>
                  <a:pt x="42" y="233"/>
                </a:cubicBezTo>
                <a:lnTo>
                  <a:pt x="255" y="233"/>
                </a:lnTo>
                <a:lnTo>
                  <a:pt x="323" y="29"/>
                </a:lnTo>
                <a:cubicBezTo>
                  <a:pt x="328" y="11"/>
                  <a:pt x="345" y="0"/>
                  <a:pt x="363" y="0"/>
                </a:cubicBezTo>
                <a:cubicBezTo>
                  <a:pt x="381" y="0"/>
                  <a:pt x="397" y="11"/>
                  <a:pt x="403" y="29"/>
                </a:cubicBezTo>
                <a:lnTo>
                  <a:pt x="469" y="233"/>
                </a:lnTo>
                <a:lnTo>
                  <a:pt x="684" y="233"/>
                </a:lnTo>
                <a:cubicBezTo>
                  <a:pt x="702" y="234"/>
                  <a:pt x="718" y="245"/>
                  <a:pt x="724" y="263"/>
                </a:cubicBezTo>
                <a:cubicBezTo>
                  <a:pt x="730" y="280"/>
                  <a:pt x="724" y="299"/>
                  <a:pt x="709" y="309"/>
                </a:cubicBezTo>
                <a:lnTo>
                  <a:pt x="536" y="431"/>
                </a:lnTo>
                <a:lnTo>
                  <a:pt x="602" y="639"/>
                </a:lnTo>
                <a:cubicBezTo>
                  <a:pt x="607" y="657"/>
                  <a:pt x="601" y="675"/>
                  <a:pt x="585" y="686"/>
                </a:cubicBezTo>
                <a:cubicBezTo>
                  <a:pt x="578" y="691"/>
                  <a:pt x="569" y="694"/>
                  <a:pt x="561" y="694"/>
                </a:cubicBez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7" name=""/>
          <p:cNvSpPr txBox="1"/>
          <p:nvPr/>
        </p:nvSpPr>
        <p:spPr>
          <a:xfrm>
            <a:off x="5092200" y="5626800"/>
            <a:ext cx="2001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~15–20 threads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8" name=""/>
          <p:cNvSpPr txBox="1"/>
          <p:nvPr/>
        </p:nvSpPr>
        <p:spPr>
          <a:xfrm>
            <a:off x="7470720" y="5626800"/>
            <a:ext cx="2989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Every request still hitting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9" name=""/>
          <p:cNvSpPr txBox="1"/>
          <p:nvPr/>
        </p:nvSpPr>
        <p:spPr>
          <a:xfrm>
            <a:off x="7470720" y="6036480"/>
            <a:ext cx="919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MySQL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0" name=""/>
          <p:cNvSpPr txBox="1"/>
          <p:nvPr/>
        </p:nvSpPr>
        <p:spPr>
          <a:xfrm>
            <a:off x="880920" y="6579360"/>
            <a:ext cx="15170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Requests vs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1" name=""/>
          <p:cNvSpPr txBox="1"/>
          <p:nvPr/>
        </p:nvSpPr>
        <p:spPr>
          <a:xfrm>
            <a:off x="3160080" y="6788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G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2" name=""/>
          <p:cNvSpPr txBox="1"/>
          <p:nvPr/>
        </p:nvSpPr>
        <p:spPr>
          <a:xfrm>
            <a:off x="7470720" y="6579360"/>
            <a:ext cx="3312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No page cache yet — all to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6" name=""/>
          <p:cNvSpPr/>
          <p:nvPr/>
        </p:nvSpPr>
        <p:spPr>
          <a:xfrm>
            <a:off x="752400" y="1457280"/>
            <a:ext cx="2924280" cy="543240"/>
          </a:xfrm>
          <a:custGeom>
            <a:avLst/>
            <a:gdLst/>
            <a:ahLst/>
            <a:rect l="0" t="0" r="r" b="b"/>
            <a:pathLst>
              <a:path w="8123" h="1509">
                <a:moveTo>
                  <a:pt x="0" y="0"/>
                </a:moveTo>
                <a:lnTo>
                  <a:pt x="8123" y="0"/>
                </a:lnTo>
                <a:lnTo>
                  <a:pt x="8123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7" name=""/>
          <p:cNvSpPr/>
          <p:nvPr/>
        </p:nvSpPr>
        <p:spPr>
          <a:xfrm>
            <a:off x="3676320" y="1457280"/>
            <a:ext cx="3124800" cy="543240"/>
          </a:xfrm>
          <a:custGeom>
            <a:avLst/>
            <a:gdLst/>
            <a:ahLst/>
            <a:rect l="0" t="0" r="r" b="b"/>
            <a:pathLst>
              <a:path w="8680" h="1509">
                <a:moveTo>
                  <a:pt x="0" y="0"/>
                </a:moveTo>
                <a:lnTo>
                  <a:pt x="8680" y="0"/>
                </a:lnTo>
                <a:lnTo>
                  <a:pt x="868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8" name=""/>
          <p:cNvSpPr/>
          <p:nvPr/>
        </p:nvSpPr>
        <p:spPr>
          <a:xfrm>
            <a:off x="6800760" y="1457280"/>
            <a:ext cx="2086200" cy="543240"/>
          </a:xfrm>
          <a:custGeom>
            <a:avLst/>
            <a:gdLst/>
            <a:ahLst/>
            <a:rect l="0" t="0" r="r" b="b"/>
            <a:pathLst>
              <a:path w="5795" h="1509">
                <a:moveTo>
                  <a:pt x="0" y="0"/>
                </a:moveTo>
                <a:lnTo>
                  <a:pt x="5795" y="0"/>
                </a:lnTo>
                <a:lnTo>
                  <a:pt x="5795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9" name=""/>
          <p:cNvSpPr/>
          <p:nvPr/>
        </p:nvSpPr>
        <p:spPr>
          <a:xfrm>
            <a:off x="8886600" y="1457280"/>
            <a:ext cx="2553120" cy="543240"/>
          </a:xfrm>
          <a:custGeom>
            <a:avLst/>
            <a:gdLst/>
            <a:ahLst/>
            <a:rect l="0" t="0" r="r" b="b"/>
            <a:pathLst>
              <a:path w="7092" h="1509">
                <a:moveTo>
                  <a:pt x="0" y="0"/>
                </a:moveTo>
                <a:lnTo>
                  <a:pt x="7092" y="0"/>
                </a:lnTo>
                <a:lnTo>
                  <a:pt x="709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0" name=""/>
          <p:cNvSpPr/>
          <p:nvPr/>
        </p:nvSpPr>
        <p:spPr>
          <a:xfrm>
            <a:off x="752400" y="2000160"/>
            <a:ext cx="2924280" cy="952920"/>
          </a:xfrm>
          <a:custGeom>
            <a:avLst/>
            <a:gdLst/>
            <a:ahLst/>
            <a:rect l="0" t="0" r="r" b="b"/>
            <a:pathLst>
              <a:path w="8123" h="2647">
                <a:moveTo>
                  <a:pt x="0" y="0"/>
                </a:moveTo>
                <a:lnTo>
                  <a:pt x="8123" y="0"/>
                </a:lnTo>
                <a:lnTo>
                  <a:pt x="812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1" name=""/>
          <p:cNvSpPr/>
          <p:nvPr/>
        </p:nvSpPr>
        <p:spPr>
          <a:xfrm>
            <a:off x="3676320" y="2000160"/>
            <a:ext cx="3124800" cy="952920"/>
          </a:xfrm>
          <a:custGeom>
            <a:avLst/>
            <a:gdLst/>
            <a:ahLst/>
            <a:rect l="0" t="0" r="r" b="b"/>
            <a:pathLst>
              <a:path w="8680" h="2647">
                <a:moveTo>
                  <a:pt x="0" y="0"/>
                </a:moveTo>
                <a:lnTo>
                  <a:pt x="8680" y="0"/>
                </a:lnTo>
                <a:lnTo>
                  <a:pt x="8680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2" name=""/>
          <p:cNvSpPr/>
          <p:nvPr/>
        </p:nvSpPr>
        <p:spPr>
          <a:xfrm>
            <a:off x="6800760" y="2000160"/>
            <a:ext cx="2086200" cy="952920"/>
          </a:xfrm>
          <a:custGeom>
            <a:avLst/>
            <a:gdLst/>
            <a:ahLst/>
            <a:rect l="0" t="0" r="r" b="b"/>
            <a:pathLst>
              <a:path w="5795" h="2647">
                <a:moveTo>
                  <a:pt x="0" y="0"/>
                </a:moveTo>
                <a:lnTo>
                  <a:pt x="5795" y="0"/>
                </a:lnTo>
                <a:lnTo>
                  <a:pt x="5795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3" name=""/>
          <p:cNvSpPr/>
          <p:nvPr/>
        </p:nvSpPr>
        <p:spPr>
          <a:xfrm>
            <a:off x="8886600" y="2000160"/>
            <a:ext cx="2553120" cy="952920"/>
          </a:xfrm>
          <a:custGeom>
            <a:avLst/>
            <a:gdLst/>
            <a:ahLst/>
            <a:rect l="0" t="0" r="r" b="b"/>
            <a:pathLst>
              <a:path w="7092" h="2647">
                <a:moveTo>
                  <a:pt x="0" y="0"/>
                </a:moveTo>
                <a:lnTo>
                  <a:pt x="7092" y="0"/>
                </a:lnTo>
                <a:lnTo>
                  <a:pt x="7092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4" name=""/>
          <p:cNvSpPr/>
          <p:nvPr/>
        </p:nvSpPr>
        <p:spPr>
          <a:xfrm>
            <a:off x="752400" y="2952720"/>
            <a:ext cx="2924280" cy="533520"/>
          </a:xfrm>
          <a:custGeom>
            <a:avLst/>
            <a:gdLst/>
            <a:ahLst/>
            <a:rect l="0" t="0" r="r" b="b"/>
            <a:pathLst>
              <a:path w="8123" h="1482">
                <a:moveTo>
                  <a:pt x="0" y="0"/>
                </a:moveTo>
                <a:lnTo>
                  <a:pt x="8123" y="0"/>
                </a:lnTo>
                <a:lnTo>
                  <a:pt x="8123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5" name=""/>
          <p:cNvSpPr/>
          <p:nvPr/>
        </p:nvSpPr>
        <p:spPr>
          <a:xfrm>
            <a:off x="3676320" y="2952720"/>
            <a:ext cx="3124800" cy="533520"/>
          </a:xfrm>
          <a:custGeom>
            <a:avLst/>
            <a:gdLst/>
            <a:ahLst/>
            <a:rect l="0" t="0" r="r" b="b"/>
            <a:pathLst>
              <a:path w="8680" h="1482">
                <a:moveTo>
                  <a:pt x="0" y="0"/>
                </a:moveTo>
                <a:lnTo>
                  <a:pt x="8680" y="0"/>
                </a:lnTo>
                <a:lnTo>
                  <a:pt x="8680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6" name=""/>
          <p:cNvSpPr/>
          <p:nvPr/>
        </p:nvSpPr>
        <p:spPr>
          <a:xfrm>
            <a:off x="6800760" y="2952720"/>
            <a:ext cx="2086200" cy="533520"/>
          </a:xfrm>
          <a:custGeom>
            <a:avLst/>
            <a:gdLst/>
            <a:ahLst/>
            <a:rect l="0" t="0" r="r" b="b"/>
            <a:pathLst>
              <a:path w="5795" h="1482">
                <a:moveTo>
                  <a:pt x="0" y="0"/>
                </a:moveTo>
                <a:lnTo>
                  <a:pt x="5795" y="0"/>
                </a:lnTo>
                <a:lnTo>
                  <a:pt x="5795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7" name=""/>
          <p:cNvSpPr/>
          <p:nvPr/>
        </p:nvSpPr>
        <p:spPr>
          <a:xfrm>
            <a:off x="8886600" y="2952720"/>
            <a:ext cx="2553120" cy="533520"/>
          </a:xfrm>
          <a:custGeom>
            <a:avLst/>
            <a:gdLst/>
            <a:ahLst/>
            <a:rect l="0" t="0" r="r" b="b"/>
            <a:pathLst>
              <a:path w="7092" h="1482">
                <a:moveTo>
                  <a:pt x="0" y="0"/>
                </a:moveTo>
                <a:lnTo>
                  <a:pt x="7092" y="0"/>
                </a:lnTo>
                <a:lnTo>
                  <a:pt x="7092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8" name=""/>
          <p:cNvSpPr/>
          <p:nvPr/>
        </p:nvSpPr>
        <p:spPr>
          <a:xfrm>
            <a:off x="752400" y="3485880"/>
            <a:ext cx="2924280" cy="543240"/>
          </a:xfrm>
          <a:custGeom>
            <a:avLst/>
            <a:gdLst/>
            <a:ahLst/>
            <a:rect l="0" t="0" r="r" b="b"/>
            <a:pathLst>
              <a:path w="8123" h="1509">
                <a:moveTo>
                  <a:pt x="0" y="0"/>
                </a:moveTo>
                <a:lnTo>
                  <a:pt x="8123" y="0"/>
                </a:lnTo>
                <a:lnTo>
                  <a:pt x="8123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9" name=""/>
          <p:cNvSpPr/>
          <p:nvPr/>
        </p:nvSpPr>
        <p:spPr>
          <a:xfrm>
            <a:off x="3676320" y="3485880"/>
            <a:ext cx="3124800" cy="543240"/>
          </a:xfrm>
          <a:custGeom>
            <a:avLst/>
            <a:gdLst/>
            <a:ahLst/>
            <a:rect l="0" t="0" r="r" b="b"/>
            <a:pathLst>
              <a:path w="8680" h="1509">
                <a:moveTo>
                  <a:pt x="0" y="0"/>
                </a:moveTo>
                <a:lnTo>
                  <a:pt x="8680" y="0"/>
                </a:lnTo>
                <a:lnTo>
                  <a:pt x="868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0" name=""/>
          <p:cNvSpPr/>
          <p:nvPr/>
        </p:nvSpPr>
        <p:spPr>
          <a:xfrm>
            <a:off x="6800760" y="3485880"/>
            <a:ext cx="2086200" cy="543240"/>
          </a:xfrm>
          <a:custGeom>
            <a:avLst/>
            <a:gdLst/>
            <a:ahLst/>
            <a:rect l="0" t="0" r="r" b="b"/>
            <a:pathLst>
              <a:path w="5795" h="1509">
                <a:moveTo>
                  <a:pt x="0" y="0"/>
                </a:moveTo>
                <a:lnTo>
                  <a:pt x="5795" y="0"/>
                </a:lnTo>
                <a:lnTo>
                  <a:pt x="5795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1" name=""/>
          <p:cNvSpPr/>
          <p:nvPr/>
        </p:nvSpPr>
        <p:spPr>
          <a:xfrm>
            <a:off x="8886600" y="3485880"/>
            <a:ext cx="2553120" cy="543240"/>
          </a:xfrm>
          <a:custGeom>
            <a:avLst/>
            <a:gdLst/>
            <a:ahLst/>
            <a:rect l="0" t="0" r="r" b="b"/>
            <a:pathLst>
              <a:path w="7092" h="1509">
                <a:moveTo>
                  <a:pt x="0" y="0"/>
                </a:moveTo>
                <a:lnTo>
                  <a:pt x="7092" y="0"/>
                </a:lnTo>
                <a:lnTo>
                  <a:pt x="709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2" name=""/>
          <p:cNvSpPr/>
          <p:nvPr/>
        </p:nvSpPr>
        <p:spPr>
          <a:xfrm>
            <a:off x="752400" y="4028760"/>
            <a:ext cx="2924280" cy="533880"/>
          </a:xfrm>
          <a:custGeom>
            <a:avLst/>
            <a:gdLst/>
            <a:ahLst/>
            <a:rect l="0" t="0" r="r" b="b"/>
            <a:pathLst>
              <a:path w="8123" h="1483">
                <a:moveTo>
                  <a:pt x="0" y="0"/>
                </a:moveTo>
                <a:lnTo>
                  <a:pt x="8123" y="0"/>
                </a:lnTo>
                <a:lnTo>
                  <a:pt x="8123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3" name=""/>
          <p:cNvSpPr/>
          <p:nvPr/>
        </p:nvSpPr>
        <p:spPr>
          <a:xfrm>
            <a:off x="3676320" y="4028760"/>
            <a:ext cx="3124800" cy="533880"/>
          </a:xfrm>
          <a:custGeom>
            <a:avLst/>
            <a:gdLst/>
            <a:ahLst/>
            <a:rect l="0" t="0" r="r" b="b"/>
            <a:pathLst>
              <a:path w="8680" h="1483">
                <a:moveTo>
                  <a:pt x="0" y="0"/>
                </a:moveTo>
                <a:lnTo>
                  <a:pt x="8680" y="0"/>
                </a:lnTo>
                <a:lnTo>
                  <a:pt x="8680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4" name=""/>
          <p:cNvSpPr/>
          <p:nvPr/>
        </p:nvSpPr>
        <p:spPr>
          <a:xfrm>
            <a:off x="6800760" y="4028760"/>
            <a:ext cx="2086200" cy="533880"/>
          </a:xfrm>
          <a:custGeom>
            <a:avLst/>
            <a:gdLst/>
            <a:ahLst/>
            <a:rect l="0" t="0" r="r" b="b"/>
            <a:pathLst>
              <a:path w="5795" h="1483">
                <a:moveTo>
                  <a:pt x="0" y="0"/>
                </a:moveTo>
                <a:lnTo>
                  <a:pt x="5795" y="0"/>
                </a:lnTo>
                <a:lnTo>
                  <a:pt x="5795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5" name=""/>
          <p:cNvSpPr/>
          <p:nvPr/>
        </p:nvSpPr>
        <p:spPr>
          <a:xfrm>
            <a:off x="8886600" y="4028760"/>
            <a:ext cx="2553120" cy="533880"/>
          </a:xfrm>
          <a:custGeom>
            <a:avLst/>
            <a:gdLst/>
            <a:ahLst/>
            <a:rect l="0" t="0" r="r" b="b"/>
            <a:pathLst>
              <a:path w="7092" h="1483">
                <a:moveTo>
                  <a:pt x="0" y="0"/>
                </a:moveTo>
                <a:lnTo>
                  <a:pt x="7092" y="0"/>
                </a:lnTo>
                <a:lnTo>
                  <a:pt x="7092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6" name=""/>
          <p:cNvSpPr/>
          <p:nvPr/>
        </p:nvSpPr>
        <p:spPr>
          <a:xfrm>
            <a:off x="752400" y="4562280"/>
            <a:ext cx="2924280" cy="952920"/>
          </a:xfrm>
          <a:custGeom>
            <a:avLst/>
            <a:gdLst/>
            <a:ahLst/>
            <a:rect l="0" t="0" r="r" b="b"/>
            <a:pathLst>
              <a:path w="8123" h="2647">
                <a:moveTo>
                  <a:pt x="0" y="0"/>
                </a:moveTo>
                <a:lnTo>
                  <a:pt x="8123" y="0"/>
                </a:lnTo>
                <a:lnTo>
                  <a:pt x="812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7" name=""/>
          <p:cNvSpPr/>
          <p:nvPr/>
        </p:nvSpPr>
        <p:spPr>
          <a:xfrm>
            <a:off x="3676320" y="4562280"/>
            <a:ext cx="3124800" cy="952920"/>
          </a:xfrm>
          <a:custGeom>
            <a:avLst/>
            <a:gdLst/>
            <a:ahLst/>
            <a:rect l="0" t="0" r="r" b="b"/>
            <a:pathLst>
              <a:path w="8680" h="2647">
                <a:moveTo>
                  <a:pt x="0" y="0"/>
                </a:moveTo>
                <a:lnTo>
                  <a:pt x="8680" y="0"/>
                </a:lnTo>
                <a:lnTo>
                  <a:pt x="8680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8" name=""/>
          <p:cNvSpPr/>
          <p:nvPr/>
        </p:nvSpPr>
        <p:spPr>
          <a:xfrm>
            <a:off x="6800760" y="4562280"/>
            <a:ext cx="2086200" cy="952920"/>
          </a:xfrm>
          <a:custGeom>
            <a:avLst/>
            <a:gdLst/>
            <a:ahLst/>
            <a:rect l="0" t="0" r="r" b="b"/>
            <a:pathLst>
              <a:path w="5795" h="2647">
                <a:moveTo>
                  <a:pt x="0" y="0"/>
                </a:moveTo>
                <a:lnTo>
                  <a:pt x="5795" y="0"/>
                </a:lnTo>
                <a:lnTo>
                  <a:pt x="5795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9" name=""/>
          <p:cNvSpPr/>
          <p:nvPr/>
        </p:nvSpPr>
        <p:spPr>
          <a:xfrm>
            <a:off x="8886600" y="4562280"/>
            <a:ext cx="2553120" cy="952920"/>
          </a:xfrm>
          <a:custGeom>
            <a:avLst/>
            <a:gdLst/>
            <a:ahLst/>
            <a:rect l="0" t="0" r="r" b="b"/>
            <a:pathLst>
              <a:path w="7092" h="2647">
                <a:moveTo>
                  <a:pt x="0" y="0"/>
                </a:moveTo>
                <a:lnTo>
                  <a:pt x="7092" y="0"/>
                </a:lnTo>
                <a:lnTo>
                  <a:pt x="7092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0" name=""/>
          <p:cNvSpPr/>
          <p:nvPr/>
        </p:nvSpPr>
        <p:spPr>
          <a:xfrm>
            <a:off x="752400" y="5514840"/>
            <a:ext cx="2924280" cy="952920"/>
          </a:xfrm>
          <a:custGeom>
            <a:avLst/>
            <a:gdLst/>
            <a:ahLst/>
            <a:rect l="0" t="0" r="r" b="b"/>
            <a:pathLst>
              <a:path w="8123" h="2647">
                <a:moveTo>
                  <a:pt x="0" y="0"/>
                </a:moveTo>
                <a:lnTo>
                  <a:pt x="8123" y="0"/>
                </a:lnTo>
                <a:lnTo>
                  <a:pt x="812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1" name=""/>
          <p:cNvSpPr/>
          <p:nvPr/>
        </p:nvSpPr>
        <p:spPr>
          <a:xfrm>
            <a:off x="3676320" y="5514840"/>
            <a:ext cx="3124800" cy="952920"/>
          </a:xfrm>
          <a:custGeom>
            <a:avLst/>
            <a:gdLst/>
            <a:ahLst/>
            <a:rect l="0" t="0" r="r" b="b"/>
            <a:pathLst>
              <a:path w="8680" h="2647">
                <a:moveTo>
                  <a:pt x="0" y="0"/>
                </a:moveTo>
                <a:lnTo>
                  <a:pt x="8680" y="0"/>
                </a:lnTo>
                <a:lnTo>
                  <a:pt x="8680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2" name=""/>
          <p:cNvSpPr/>
          <p:nvPr/>
        </p:nvSpPr>
        <p:spPr>
          <a:xfrm>
            <a:off x="6800760" y="5514840"/>
            <a:ext cx="2086200" cy="952920"/>
          </a:xfrm>
          <a:custGeom>
            <a:avLst/>
            <a:gdLst/>
            <a:ahLst/>
            <a:rect l="0" t="0" r="r" b="b"/>
            <a:pathLst>
              <a:path w="5795" h="2647">
                <a:moveTo>
                  <a:pt x="0" y="0"/>
                </a:moveTo>
                <a:lnTo>
                  <a:pt x="5795" y="0"/>
                </a:lnTo>
                <a:lnTo>
                  <a:pt x="5795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3" name=""/>
          <p:cNvSpPr/>
          <p:nvPr/>
        </p:nvSpPr>
        <p:spPr>
          <a:xfrm>
            <a:off x="8886600" y="5514840"/>
            <a:ext cx="2553120" cy="952920"/>
          </a:xfrm>
          <a:custGeom>
            <a:avLst/>
            <a:gdLst/>
            <a:ahLst/>
            <a:rect l="0" t="0" r="r" b="b"/>
            <a:pathLst>
              <a:path w="7092" h="2647">
                <a:moveTo>
                  <a:pt x="0" y="0"/>
                </a:moveTo>
                <a:lnTo>
                  <a:pt x="7092" y="0"/>
                </a:lnTo>
                <a:lnTo>
                  <a:pt x="7092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4" name=""/>
          <p:cNvSpPr/>
          <p:nvPr/>
        </p:nvSpPr>
        <p:spPr>
          <a:xfrm>
            <a:off x="752400" y="6467400"/>
            <a:ext cx="2924280" cy="543240"/>
          </a:xfrm>
          <a:custGeom>
            <a:avLst/>
            <a:gdLst/>
            <a:ahLst/>
            <a:rect l="0" t="0" r="r" b="b"/>
            <a:pathLst>
              <a:path w="8123" h="1509">
                <a:moveTo>
                  <a:pt x="0" y="0"/>
                </a:moveTo>
                <a:lnTo>
                  <a:pt x="8123" y="0"/>
                </a:lnTo>
                <a:lnTo>
                  <a:pt x="8123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5" name=""/>
          <p:cNvSpPr/>
          <p:nvPr/>
        </p:nvSpPr>
        <p:spPr>
          <a:xfrm>
            <a:off x="3676320" y="6467400"/>
            <a:ext cx="3124800" cy="543240"/>
          </a:xfrm>
          <a:custGeom>
            <a:avLst/>
            <a:gdLst/>
            <a:ahLst/>
            <a:rect l="0" t="0" r="r" b="b"/>
            <a:pathLst>
              <a:path w="8680" h="1509">
                <a:moveTo>
                  <a:pt x="0" y="0"/>
                </a:moveTo>
                <a:lnTo>
                  <a:pt x="8680" y="0"/>
                </a:lnTo>
                <a:lnTo>
                  <a:pt x="868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6" name=""/>
          <p:cNvSpPr/>
          <p:nvPr/>
        </p:nvSpPr>
        <p:spPr>
          <a:xfrm>
            <a:off x="6800760" y="6467400"/>
            <a:ext cx="2086200" cy="543240"/>
          </a:xfrm>
          <a:custGeom>
            <a:avLst/>
            <a:gdLst/>
            <a:ahLst/>
            <a:rect l="0" t="0" r="r" b="b"/>
            <a:pathLst>
              <a:path w="5795" h="1509">
                <a:moveTo>
                  <a:pt x="0" y="0"/>
                </a:moveTo>
                <a:lnTo>
                  <a:pt x="5795" y="0"/>
                </a:lnTo>
                <a:lnTo>
                  <a:pt x="5795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7" name=""/>
          <p:cNvSpPr/>
          <p:nvPr/>
        </p:nvSpPr>
        <p:spPr>
          <a:xfrm>
            <a:off x="8886600" y="6467400"/>
            <a:ext cx="2553120" cy="543240"/>
          </a:xfrm>
          <a:custGeom>
            <a:avLst/>
            <a:gdLst/>
            <a:ahLst/>
            <a:rect l="0" t="0" r="r" b="b"/>
            <a:pathLst>
              <a:path w="7092" h="1509">
                <a:moveTo>
                  <a:pt x="0" y="0"/>
                </a:moveTo>
                <a:lnTo>
                  <a:pt x="7092" y="0"/>
                </a:lnTo>
                <a:lnTo>
                  <a:pt x="709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8" name=""/>
          <p:cNvSpPr/>
          <p:nvPr/>
        </p:nvSpPr>
        <p:spPr>
          <a:xfrm>
            <a:off x="75240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9" name=""/>
          <p:cNvSpPr/>
          <p:nvPr/>
        </p:nvSpPr>
        <p:spPr>
          <a:xfrm>
            <a:off x="752400" y="1457280"/>
            <a:ext cx="2924280" cy="9720"/>
          </a:xfrm>
          <a:custGeom>
            <a:avLst/>
            <a:gdLst/>
            <a:ahLst/>
            <a:rect l="0" t="0" r="r" b="b"/>
            <a:pathLst>
              <a:path w="8123" h="27">
                <a:moveTo>
                  <a:pt x="0" y="0"/>
                </a:moveTo>
                <a:lnTo>
                  <a:pt x="8123" y="0"/>
                </a:lnTo>
                <a:lnTo>
                  <a:pt x="812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0" name=""/>
          <p:cNvSpPr/>
          <p:nvPr/>
        </p:nvSpPr>
        <p:spPr>
          <a:xfrm>
            <a:off x="366696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1" name=""/>
          <p:cNvSpPr/>
          <p:nvPr/>
        </p:nvSpPr>
        <p:spPr>
          <a:xfrm>
            <a:off x="3676320" y="1457280"/>
            <a:ext cx="3124800" cy="9720"/>
          </a:xfrm>
          <a:custGeom>
            <a:avLst/>
            <a:gdLst/>
            <a:ahLst/>
            <a:rect l="0" t="0" r="r" b="b"/>
            <a:pathLst>
              <a:path w="8680" h="27">
                <a:moveTo>
                  <a:pt x="0" y="0"/>
                </a:moveTo>
                <a:lnTo>
                  <a:pt x="8680" y="0"/>
                </a:lnTo>
                <a:lnTo>
                  <a:pt x="86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2" name=""/>
          <p:cNvSpPr/>
          <p:nvPr/>
        </p:nvSpPr>
        <p:spPr>
          <a:xfrm>
            <a:off x="679104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3" name=""/>
          <p:cNvSpPr/>
          <p:nvPr/>
        </p:nvSpPr>
        <p:spPr>
          <a:xfrm>
            <a:off x="6800760" y="1457280"/>
            <a:ext cx="2086200" cy="9720"/>
          </a:xfrm>
          <a:custGeom>
            <a:avLst/>
            <a:gdLst/>
            <a:ahLst/>
            <a:rect l="0" t="0" r="r" b="b"/>
            <a:pathLst>
              <a:path w="5795" h="27">
                <a:moveTo>
                  <a:pt x="0" y="0"/>
                </a:moveTo>
                <a:lnTo>
                  <a:pt x="5795" y="0"/>
                </a:lnTo>
                <a:lnTo>
                  <a:pt x="57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4" name=""/>
          <p:cNvSpPr/>
          <p:nvPr/>
        </p:nvSpPr>
        <p:spPr>
          <a:xfrm>
            <a:off x="887724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5" name=""/>
          <p:cNvSpPr/>
          <p:nvPr/>
        </p:nvSpPr>
        <p:spPr>
          <a:xfrm>
            <a:off x="8886600" y="1457280"/>
            <a:ext cx="2562480" cy="9720"/>
          </a:xfrm>
          <a:custGeom>
            <a:avLst/>
            <a:gdLst/>
            <a:ahLst/>
            <a:rect l="0" t="0" r="r" b="b"/>
            <a:pathLst>
              <a:path w="7118" h="27">
                <a:moveTo>
                  <a:pt x="0" y="0"/>
                </a:moveTo>
                <a:lnTo>
                  <a:pt x="7118" y="0"/>
                </a:lnTo>
                <a:lnTo>
                  <a:pt x="711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6" name=""/>
          <p:cNvSpPr/>
          <p:nvPr/>
        </p:nvSpPr>
        <p:spPr>
          <a:xfrm>
            <a:off x="1143936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7" name=""/>
          <p:cNvSpPr/>
          <p:nvPr/>
        </p:nvSpPr>
        <p:spPr>
          <a:xfrm>
            <a:off x="752400" y="1990440"/>
            <a:ext cx="2924280" cy="10080"/>
          </a:xfrm>
          <a:custGeom>
            <a:avLst/>
            <a:gdLst/>
            <a:ahLst/>
            <a:rect l="0" t="0" r="r" b="b"/>
            <a:pathLst>
              <a:path w="8123" h="28">
                <a:moveTo>
                  <a:pt x="0" y="0"/>
                </a:moveTo>
                <a:lnTo>
                  <a:pt x="8123" y="0"/>
                </a:lnTo>
                <a:lnTo>
                  <a:pt x="812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8" name=""/>
          <p:cNvSpPr/>
          <p:nvPr/>
        </p:nvSpPr>
        <p:spPr>
          <a:xfrm>
            <a:off x="3676320" y="1990440"/>
            <a:ext cx="3124800" cy="10080"/>
          </a:xfrm>
          <a:custGeom>
            <a:avLst/>
            <a:gdLst/>
            <a:ahLst/>
            <a:rect l="0" t="0" r="r" b="b"/>
            <a:pathLst>
              <a:path w="8680" h="28">
                <a:moveTo>
                  <a:pt x="0" y="0"/>
                </a:moveTo>
                <a:lnTo>
                  <a:pt x="8680" y="0"/>
                </a:lnTo>
                <a:lnTo>
                  <a:pt x="868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9" name=""/>
          <p:cNvSpPr/>
          <p:nvPr/>
        </p:nvSpPr>
        <p:spPr>
          <a:xfrm>
            <a:off x="6800760" y="1990440"/>
            <a:ext cx="2086200" cy="10080"/>
          </a:xfrm>
          <a:custGeom>
            <a:avLst/>
            <a:gdLst/>
            <a:ahLst/>
            <a:rect l="0" t="0" r="r" b="b"/>
            <a:pathLst>
              <a:path w="5795" h="28">
                <a:moveTo>
                  <a:pt x="0" y="0"/>
                </a:moveTo>
                <a:lnTo>
                  <a:pt x="5795" y="0"/>
                </a:lnTo>
                <a:lnTo>
                  <a:pt x="57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0" name=""/>
          <p:cNvSpPr/>
          <p:nvPr/>
        </p:nvSpPr>
        <p:spPr>
          <a:xfrm>
            <a:off x="8886600" y="1990440"/>
            <a:ext cx="2562480" cy="10080"/>
          </a:xfrm>
          <a:custGeom>
            <a:avLst/>
            <a:gdLst/>
            <a:ahLst/>
            <a:rect l="0" t="0" r="r" b="b"/>
            <a:pathLst>
              <a:path w="7118" h="28">
                <a:moveTo>
                  <a:pt x="0" y="0"/>
                </a:moveTo>
                <a:lnTo>
                  <a:pt x="7118" y="0"/>
                </a:lnTo>
                <a:lnTo>
                  <a:pt x="711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1" name=""/>
          <p:cNvSpPr/>
          <p:nvPr/>
        </p:nvSpPr>
        <p:spPr>
          <a:xfrm>
            <a:off x="752400" y="20001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2" name=""/>
          <p:cNvSpPr/>
          <p:nvPr/>
        </p:nvSpPr>
        <p:spPr>
          <a:xfrm>
            <a:off x="3666960" y="20001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3" name=""/>
          <p:cNvSpPr/>
          <p:nvPr/>
        </p:nvSpPr>
        <p:spPr>
          <a:xfrm>
            <a:off x="6791040" y="200016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4" name=""/>
          <p:cNvSpPr/>
          <p:nvPr/>
        </p:nvSpPr>
        <p:spPr>
          <a:xfrm>
            <a:off x="8877240" y="20001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5" name=""/>
          <p:cNvSpPr/>
          <p:nvPr/>
        </p:nvSpPr>
        <p:spPr>
          <a:xfrm>
            <a:off x="11439360" y="20001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6" name=""/>
          <p:cNvSpPr/>
          <p:nvPr/>
        </p:nvSpPr>
        <p:spPr>
          <a:xfrm>
            <a:off x="752400" y="295272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7" name=""/>
          <p:cNvSpPr/>
          <p:nvPr/>
        </p:nvSpPr>
        <p:spPr>
          <a:xfrm>
            <a:off x="752400" y="2943000"/>
            <a:ext cx="2924280" cy="10080"/>
          </a:xfrm>
          <a:custGeom>
            <a:avLst/>
            <a:gdLst/>
            <a:ahLst/>
            <a:rect l="0" t="0" r="r" b="b"/>
            <a:pathLst>
              <a:path w="8123" h="28">
                <a:moveTo>
                  <a:pt x="0" y="0"/>
                </a:moveTo>
                <a:lnTo>
                  <a:pt x="8123" y="0"/>
                </a:lnTo>
                <a:lnTo>
                  <a:pt x="812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8" name=""/>
          <p:cNvSpPr/>
          <p:nvPr/>
        </p:nvSpPr>
        <p:spPr>
          <a:xfrm>
            <a:off x="3666960" y="295272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9" name=""/>
          <p:cNvSpPr/>
          <p:nvPr/>
        </p:nvSpPr>
        <p:spPr>
          <a:xfrm>
            <a:off x="3676320" y="2943000"/>
            <a:ext cx="3124800" cy="10080"/>
          </a:xfrm>
          <a:custGeom>
            <a:avLst/>
            <a:gdLst/>
            <a:ahLst/>
            <a:rect l="0" t="0" r="r" b="b"/>
            <a:pathLst>
              <a:path w="8680" h="28">
                <a:moveTo>
                  <a:pt x="0" y="0"/>
                </a:moveTo>
                <a:lnTo>
                  <a:pt x="8680" y="0"/>
                </a:lnTo>
                <a:lnTo>
                  <a:pt x="868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0" name=""/>
          <p:cNvSpPr/>
          <p:nvPr/>
        </p:nvSpPr>
        <p:spPr>
          <a:xfrm>
            <a:off x="6791040" y="295272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1" name=""/>
          <p:cNvSpPr/>
          <p:nvPr/>
        </p:nvSpPr>
        <p:spPr>
          <a:xfrm>
            <a:off x="6800760" y="2943000"/>
            <a:ext cx="2086200" cy="10080"/>
          </a:xfrm>
          <a:custGeom>
            <a:avLst/>
            <a:gdLst/>
            <a:ahLst/>
            <a:rect l="0" t="0" r="r" b="b"/>
            <a:pathLst>
              <a:path w="5795" h="28">
                <a:moveTo>
                  <a:pt x="0" y="0"/>
                </a:moveTo>
                <a:lnTo>
                  <a:pt x="5795" y="0"/>
                </a:lnTo>
                <a:lnTo>
                  <a:pt x="57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2" name=""/>
          <p:cNvSpPr/>
          <p:nvPr/>
        </p:nvSpPr>
        <p:spPr>
          <a:xfrm>
            <a:off x="8877240" y="295272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3" name=""/>
          <p:cNvSpPr/>
          <p:nvPr/>
        </p:nvSpPr>
        <p:spPr>
          <a:xfrm>
            <a:off x="8886600" y="2943000"/>
            <a:ext cx="2562480" cy="10080"/>
          </a:xfrm>
          <a:custGeom>
            <a:avLst/>
            <a:gdLst/>
            <a:ahLst/>
            <a:rect l="0" t="0" r="r" b="b"/>
            <a:pathLst>
              <a:path w="7118" h="28">
                <a:moveTo>
                  <a:pt x="0" y="0"/>
                </a:moveTo>
                <a:lnTo>
                  <a:pt x="7118" y="0"/>
                </a:lnTo>
                <a:lnTo>
                  <a:pt x="711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4" name=""/>
          <p:cNvSpPr/>
          <p:nvPr/>
        </p:nvSpPr>
        <p:spPr>
          <a:xfrm>
            <a:off x="11439360" y="295272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5" name=""/>
          <p:cNvSpPr/>
          <p:nvPr/>
        </p:nvSpPr>
        <p:spPr>
          <a:xfrm>
            <a:off x="752400" y="349560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6" name=""/>
          <p:cNvSpPr/>
          <p:nvPr/>
        </p:nvSpPr>
        <p:spPr>
          <a:xfrm>
            <a:off x="752400" y="3485880"/>
            <a:ext cx="2924280" cy="10080"/>
          </a:xfrm>
          <a:custGeom>
            <a:avLst/>
            <a:gdLst/>
            <a:ahLst/>
            <a:rect l="0" t="0" r="r" b="b"/>
            <a:pathLst>
              <a:path w="8123" h="28">
                <a:moveTo>
                  <a:pt x="0" y="0"/>
                </a:moveTo>
                <a:lnTo>
                  <a:pt x="8123" y="0"/>
                </a:lnTo>
                <a:lnTo>
                  <a:pt x="812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7" name=""/>
          <p:cNvSpPr/>
          <p:nvPr/>
        </p:nvSpPr>
        <p:spPr>
          <a:xfrm>
            <a:off x="3666960" y="349560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8" name=""/>
          <p:cNvSpPr/>
          <p:nvPr/>
        </p:nvSpPr>
        <p:spPr>
          <a:xfrm>
            <a:off x="3676320" y="3485880"/>
            <a:ext cx="3124800" cy="10080"/>
          </a:xfrm>
          <a:custGeom>
            <a:avLst/>
            <a:gdLst/>
            <a:ahLst/>
            <a:rect l="0" t="0" r="r" b="b"/>
            <a:pathLst>
              <a:path w="8680" h="28">
                <a:moveTo>
                  <a:pt x="0" y="0"/>
                </a:moveTo>
                <a:lnTo>
                  <a:pt x="8680" y="0"/>
                </a:lnTo>
                <a:lnTo>
                  <a:pt x="868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9" name=""/>
          <p:cNvSpPr/>
          <p:nvPr/>
        </p:nvSpPr>
        <p:spPr>
          <a:xfrm>
            <a:off x="6791040" y="349560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0" name=""/>
          <p:cNvSpPr/>
          <p:nvPr/>
        </p:nvSpPr>
        <p:spPr>
          <a:xfrm>
            <a:off x="6800760" y="3485880"/>
            <a:ext cx="2086200" cy="10080"/>
          </a:xfrm>
          <a:custGeom>
            <a:avLst/>
            <a:gdLst/>
            <a:ahLst/>
            <a:rect l="0" t="0" r="r" b="b"/>
            <a:pathLst>
              <a:path w="5795" h="28">
                <a:moveTo>
                  <a:pt x="0" y="0"/>
                </a:moveTo>
                <a:lnTo>
                  <a:pt x="5795" y="0"/>
                </a:lnTo>
                <a:lnTo>
                  <a:pt x="57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1" name=""/>
          <p:cNvSpPr/>
          <p:nvPr/>
        </p:nvSpPr>
        <p:spPr>
          <a:xfrm>
            <a:off x="8877240" y="349560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2" name=""/>
          <p:cNvSpPr/>
          <p:nvPr/>
        </p:nvSpPr>
        <p:spPr>
          <a:xfrm>
            <a:off x="8886600" y="3485880"/>
            <a:ext cx="2562480" cy="10080"/>
          </a:xfrm>
          <a:custGeom>
            <a:avLst/>
            <a:gdLst/>
            <a:ahLst/>
            <a:rect l="0" t="0" r="r" b="b"/>
            <a:pathLst>
              <a:path w="7118" h="28">
                <a:moveTo>
                  <a:pt x="0" y="0"/>
                </a:moveTo>
                <a:lnTo>
                  <a:pt x="7118" y="0"/>
                </a:lnTo>
                <a:lnTo>
                  <a:pt x="711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3" name=""/>
          <p:cNvSpPr/>
          <p:nvPr/>
        </p:nvSpPr>
        <p:spPr>
          <a:xfrm>
            <a:off x="11439360" y="349560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4" name=""/>
          <p:cNvSpPr/>
          <p:nvPr/>
        </p:nvSpPr>
        <p:spPr>
          <a:xfrm>
            <a:off x="752400" y="40287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5" name=""/>
          <p:cNvSpPr/>
          <p:nvPr/>
        </p:nvSpPr>
        <p:spPr>
          <a:xfrm>
            <a:off x="752400" y="4019400"/>
            <a:ext cx="2924280" cy="9720"/>
          </a:xfrm>
          <a:custGeom>
            <a:avLst/>
            <a:gdLst/>
            <a:ahLst/>
            <a:rect l="0" t="0" r="r" b="b"/>
            <a:pathLst>
              <a:path w="8123" h="27">
                <a:moveTo>
                  <a:pt x="0" y="0"/>
                </a:moveTo>
                <a:lnTo>
                  <a:pt x="8123" y="0"/>
                </a:lnTo>
                <a:lnTo>
                  <a:pt x="812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6" name=""/>
          <p:cNvSpPr/>
          <p:nvPr/>
        </p:nvSpPr>
        <p:spPr>
          <a:xfrm>
            <a:off x="3666960" y="40287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7" name=""/>
          <p:cNvSpPr/>
          <p:nvPr/>
        </p:nvSpPr>
        <p:spPr>
          <a:xfrm>
            <a:off x="3676320" y="4019400"/>
            <a:ext cx="3124800" cy="9720"/>
          </a:xfrm>
          <a:custGeom>
            <a:avLst/>
            <a:gdLst/>
            <a:ahLst/>
            <a:rect l="0" t="0" r="r" b="b"/>
            <a:pathLst>
              <a:path w="8680" h="27">
                <a:moveTo>
                  <a:pt x="0" y="0"/>
                </a:moveTo>
                <a:lnTo>
                  <a:pt x="8680" y="0"/>
                </a:lnTo>
                <a:lnTo>
                  <a:pt x="86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8" name=""/>
          <p:cNvSpPr/>
          <p:nvPr/>
        </p:nvSpPr>
        <p:spPr>
          <a:xfrm>
            <a:off x="6791040" y="40287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9" name=""/>
          <p:cNvSpPr/>
          <p:nvPr/>
        </p:nvSpPr>
        <p:spPr>
          <a:xfrm>
            <a:off x="6800760" y="4019400"/>
            <a:ext cx="2086200" cy="9720"/>
          </a:xfrm>
          <a:custGeom>
            <a:avLst/>
            <a:gdLst/>
            <a:ahLst/>
            <a:rect l="0" t="0" r="r" b="b"/>
            <a:pathLst>
              <a:path w="5795" h="27">
                <a:moveTo>
                  <a:pt x="0" y="0"/>
                </a:moveTo>
                <a:lnTo>
                  <a:pt x="5795" y="0"/>
                </a:lnTo>
                <a:lnTo>
                  <a:pt x="57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0" name=""/>
          <p:cNvSpPr/>
          <p:nvPr/>
        </p:nvSpPr>
        <p:spPr>
          <a:xfrm>
            <a:off x="8877240" y="40287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1" name=""/>
          <p:cNvSpPr/>
          <p:nvPr/>
        </p:nvSpPr>
        <p:spPr>
          <a:xfrm>
            <a:off x="8886600" y="4019400"/>
            <a:ext cx="2562480" cy="9720"/>
          </a:xfrm>
          <a:custGeom>
            <a:avLst/>
            <a:gdLst/>
            <a:ahLst/>
            <a:rect l="0" t="0" r="r" b="b"/>
            <a:pathLst>
              <a:path w="7118" h="27">
                <a:moveTo>
                  <a:pt x="0" y="0"/>
                </a:moveTo>
                <a:lnTo>
                  <a:pt x="7118" y="0"/>
                </a:lnTo>
                <a:lnTo>
                  <a:pt x="711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2" name=""/>
          <p:cNvSpPr/>
          <p:nvPr/>
        </p:nvSpPr>
        <p:spPr>
          <a:xfrm>
            <a:off x="11439360" y="40287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3" name=""/>
          <p:cNvSpPr/>
          <p:nvPr/>
        </p:nvSpPr>
        <p:spPr>
          <a:xfrm>
            <a:off x="752400" y="457164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4" name=""/>
          <p:cNvSpPr/>
          <p:nvPr/>
        </p:nvSpPr>
        <p:spPr>
          <a:xfrm>
            <a:off x="752400" y="4562280"/>
            <a:ext cx="2924280" cy="9720"/>
          </a:xfrm>
          <a:custGeom>
            <a:avLst/>
            <a:gdLst/>
            <a:ahLst/>
            <a:rect l="0" t="0" r="r" b="b"/>
            <a:pathLst>
              <a:path w="8123" h="27">
                <a:moveTo>
                  <a:pt x="0" y="0"/>
                </a:moveTo>
                <a:lnTo>
                  <a:pt x="8123" y="0"/>
                </a:lnTo>
                <a:lnTo>
                  <a:pt x="812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5" name=""/>
          <p:cNvSpPr/>
          <p:nvPr/>
        </p:nvSpPr>
        <p:spPr>
          <a:xfrm>
            <a:off x="3666960" y="457164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6" name=""/>
          <p:cNvSpPr/>
          <p:nvPr/>
        </p:nvSpPr>
        <p:spPr>
          <a:xfrm>
            <a:off x="3676320" y="4562280"/>
            <a:ext cx="3124800" cy="9720"/>
          </a:xfrm>
          <a:custGeom>
            <a:avLst/>
            <a:gdLst/>
            <a:ahLst/>
            <a:rect l="0" t="0" r="r" b="b"/>
            <a:pathLst>
              <a:path w="8680" h="27">
                <a:moveTo>
                  <a:pt x="0" y="0"/>
                </a:moveTo>
                <a:lnTo>
                  <a:pt x="8680" y="0"/>
                </a:lnTo>
                <a:lnTo>
                  <a:pt x="86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7" name=""/>
          <p:cNvSpPr/>
          <p:nvPr/>
        </p:nvSpPr>
        <p:spPr>
          <a:xfrm>
            <a:off x="6791040" y="457164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8" name=""/>
          <p:cNvSpPr/>
          <p:nvPr/>
        </p:nvSpPr>
        <p:spPr>
          <a:xfrm>
            <a:off x="6800760" y="4562280"/>
            <a:ext cx="2086200" cy="9720"/>
          </a:xfrm>
          <a:custGeom>
            <a:avLst/>
            <a:gdLst/>
            <a:ahLst/>
            <a:rect l="0" t="0" r="r" b="b"/>
            <a:pathLst>
              <a:path w="5795" h="27">
                <a:moveTo>
                  <a:pt x="0" y="0"/>
                </a:moveTo>
                <a:lnTo>
                  <a:pt x="5795" y="0"/>
                </a:lnTo>
                <a:lnTo>
                  <a:pt x="57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9" name=""/>
          <p:cNvSpPr/>
          <p:nvPr/>
        </p:nvSpPr>
        <p:spPr>
          <a:xfrm>
            <a:off x="8877240" y="457164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0" name=""/>
          <p:cNvSpPr/>
          <p:nvPr/>
        </p:nvSpPr>
        <p:spPr>
          <a:xfrm>
            <a:off x="8886600" y="4562280"/>
            <a:ext cx="2562480" cy="9720"/>
          </a:xfrm>
          <a:custGeom>
            <a:avLst/>
            <a:gdLst/>
            <a:ahLst/>
            <a:rect l="0" t="0" r="r" b="b"/>
            <a:pathLst>
              <a:path w="7118" h="27">
                <a:moveTo>
                  <a:pt x="0" y="0"/>
                </a:moveTo>
                <a:lnTo>
                  <a:pt x="7118" y="0"/>
                </a:lnTo>
                <a:lnTo>
                  <a:pt x="711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1" name=""/>
          <p:cNvSpPr/>
          <p:nvPr/>
        </p:nvSpPr>
        <p:spPr>
          <a:xfrm>
            <a:off x="11439360" y="457164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2" name=""/>
          <p:cNvSpPr/>
          <p:nvPr/>
        </p:nvSpPr>
        <p:spPr>
          <a:xfrm>
            <a:off x="752400" y="5524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3" name=""/>
          <p:cNvSpPr/>
          <p:nvPr/>
        </p:nvSpPr>
        <p:spPr>
          <a:xfrm>
            <a:off x="752400" y="5514840"/>
            <a:ext cx="2924280" cy="9720"/>
          </a:xfrm>
          <a:custGeom>
            <a:avLst/>
            <a:gdLst/>
            <a:ahLst/>
            <a:rect l="0" t="0" r="r" b="b"/>
            <a:pathLst>
              <a:path w="8123" h="27">
                <a:moveTo>
                  <a:pt x="0" y="0"/>
                </a:moveTo>
                <a:lnTo>
                  <a:pt x="8123" y="0"/>
                </a:lnTo>
                <a:lnTo>
                  <a:pt x="812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4" name=""/>
          <p:cNvSpPr/>
          <p:nvPr/>
        </p:nvSpPr>
        <p:spPr>
          <a:xfrm>
            <a:off x="3666960" y="5524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5" name=""/>
          <p:cNvSpPr/>
          <p:nvPr/>
        </p:nvSpPr>
        <p:spPr>
          <a:xfrm>
            <a:off x="3676320" y="5514840"/>
            <a:ext cx="3124800" cy="9720"/>
          </a:xfrm>
          <a:custGeom>
            <a:avLst/>
            <a:gdLst/>
            <a:ahLst/>
            <a:rect l="0" t="0" r="r" b="b"/>
            <a:pathLst>
              <a:path w="8680" h="27">
                <a:moveTo>
                  <a:pt x="0" y="0"/>
                </a:moveTo>
                <a:lnTo>
                  <a:pt x="8680" y="0"/>
                </a:lnTo>
                <a:lnTo>
                  <a:pt x="86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6" name=""/>
          <p:cNvSpPr/>
          <p:nvPr/>
        </p:nvSpPr>
        <p:spPr>
          <a:xfrm>
            <a:off x="6791040" y="552420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7" name=""/>
          <p:cNvSpPr/>
          <p:nvPr/>
        </p:nvSpPr>
        <p:spPr>
          <a:xfrm>
            <a:off x="6800760" y="5514840"/>
            <a:ext cx="2086200" cy="9720"/>
          </a:xfrm>
          <a:custGeom>
            <a:avLst/>
            <a:gdLst/>
            <a:ahLst/>
            <a:rect l="0" t="0" r="r" b="b"/>
            <a:pathLst>
              <a:path w="5795" h="27">
                <a:moveTo>
                  <a:pt x="0" y="0"/>
                </a:moveTo>
                <a:lnTo>
                  <a:pt x="5795" y="0"/>
                </a:lnTo>
                <a:lnTo>
                  <a:pt x="57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8" name=""/>
          <p:cNvSpPr/>
          <p:nvPr/>
        </p:nvSpPr>
        <p:spPr>
          <a:xfrm>
            <a:off x="8877240" y="5524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9" name=""/>
          <p:cNvSpPr/>
          <p:nvPr/>
        </p:nvSpPr>
        <p:spPr>
          <a:xfrm>
            <a:off x="8886600" y="5514840"/>
            <a:ext cx="2562480" cy="9720"/>
          </a:xfrm>
          <a:custGeom>
            <a:avLst/>
            <a:gdLst/>
            <a:ahLst/>
            <a:rect l="0" t="0" r="r" b="b"/>
            <a:pathLst>
              <a:path w="7118" h="27">
                <a:moveTo>
                  <a:pt x="0" y="0"/>
                </a:moveTo>
                <a:lnTo>
                  <a:pt x="7118" y="0"/>
                </a:lnTo>
                <a:lnTo>
                  <a:pt x="711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0" name=""/>
          <p:cNvSpPr/>
          <p:nvPr/>
        </p:nvSpPr>
        <p:spPr>
          <a:xfrm>
            <a:off x="11439360" y="5524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1" name=""/>
          <p:cNvSpPr/>
          <p:nvPr/>
        </p:nvSpPr>
        <p:spPr>
          <a:xfrm>
            <a:off x="752400" y="64767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2" name=""/>
          <p:cNvSpPr/>
          <p:nvPr/>
        </p:nvSpPr>
        <p:spPr>
          <a:xfrm>
            <a:off x="752400" y="6467400"/>
            <a:ext cx="2924280" cy="9720"/>
          </a:xfrm>
          <a:custGeom>
            <a:avLst/>
            <a:gdLst/>
            <a:ahLst/>
            <a:rect l="0" t="0" r="r" b="b"/>
            <a:pathLst>
              <a:path w="8123" h="27">
                <a:moveTo>
                  <a:pt x="0" y="0"/>
                </a:moveTo>
                <a:lnTo>
                  <a:pt x="8123" y="0"/>
                </a:lnTo>
                <a:lnTo>
                  <a:pt x="812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3" name=""/>
          <p:cNvSpPr/>
          <p:nvPr/>
        </p:nvSpPr>
        <p:spPr>
          <a:xfrm>
            <a:off x="3666960" y="64767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4" name=""/>
          <p:cNvSpPr/>
          <p:nvPr/>
        </p:nvSpPr>
        <p:spPr>
          <a:xfrm>
            <a:off x="3676320" y="6467400"/>
            <a:ext cx="3124800" cy="9720"/>
          </a:xfrm>
          <a:custGeom>
            <a:avLst/>
            <a:gdLst/>
            <a:ahLst/>
            <a:rect l="0" t="0" r="r" b="b"/>
            <a:pathLst>
              <a:path w="8680" h="27">
                <a:moveTo>
                  <a:pt x="0" y="0"/>
                </a:moveTo>
                <a:lnTo>
                  <a:pt x="8680" y="0"/>
                </a:lnTo>
                <a:lnTo>
                  <a:pt x="86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5" name=""/>
          <p:cNvSpPr/>
          <p:nvPr/>
        </p:nvSpPr>
        <p:spPr>
          <a:xfrm>
            <a:off x="6791040" y="647676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6" name=""/>
          <p:cNvSpPr/>
          <p:nvPr/>
        </p:nvSpPr>
        <p:spPr>
          <a:xfrm>
            <a:off x="6800760" y="6467400"/>
            <a:ext cx="2086200" cy="9720"/>
          </a:xfrm>
          <a:custGeom>
            <a:avLst/>
            <a:gdLst/>
            <a:ahLst/>
            <a:rect l="0" t="0" r="r" b="b"/>
            <a:pathLst>
              <a:path w="5795" h="27">
                <a:moveTo>
                  <a:pt x="0" y="0"/>
                </a:moveTo>
                <a:lnTo>
                  <a:pt x="5795" y="0"/>
                </a:lnTo>
                <a:lnTo>
                  <a:pt x="57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7" name=""/>
          <p:cNvSpPr/>
          <p:nvPr/>
        </p:nvSpPr>
        <p:spPr>
          <a:xfrm>
            <a:off x="8877240" y="64767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8" name=""/>
          <p:cNvSpPr/>
          <p:nvPr/>
        </p:nvSpPr>
        <p:spPr>
          <a:xfrm>
            <a:off x="8886600" y="6467400"/>
            <a:ext cx="2562480" cy="9720"/>
          </a:xfrm>
          <a:custGeom>
            <a:avLst/>
            <a:gdLst/>
            <a:ahLst/>
            <a:rect l="0" t="0" r="r" b="b"/>
            <a:pathLst>
              <a:path w="7118" h="27">
                <a:moveTo>
                  <a:pt x="0" y="0"/>
                </a:moveTo>
                <a:lnTo>
                  <a:pt x="7118" y="0"/>
                </a:lnTo>
                <a:lnTo>
                  <a:pt x="711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9" name=""/>
          <p:cNvSpPr/>
          <p:nvPr/>
        </p:nvSpPr>
        <p:spPr>
          <a:xfrm>
            <a:off x="11439360" y="64767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0" name=""/>
          <p:cNvSpPr txBox="1"/>
          <p:nvPr/>
        </p:nvSpPr>
        <p:spPr>
          <a:xfrm>
            <a:off x="747720" y="770400"/>
            <a:ext cx="311724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L0 → L1: the jump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1" name=""/>
          <p:cNvSpPr txBox="1"/>
          <p:nvPr/>
        </p:nvSpPr>
        <p:spPr>
          <a:xfrm>
            <a:off x="1807200" y="1569240"/>
            <a:ext cx="812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Metric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2" name=""/>
          <p:cNvSpPr txBox="1"/>
          <p:nvPr/>
        </p:nvSpPr>
        <p:spPr>
          <a:xfrm>
            <a:off x="4767480" y="156924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3" name=""/>
          <p:cNvSpPr txBox="1"/>
          <p:nvPr/>
        </p:nvSpPr>
        <p:spPr>
          <a:xfrm>
            <a:off x="7372080" y="156924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10062720" y="15692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Δ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5" name=""/>
          <p:cNvSpPr txBox="1"/>
          <p:nvPr/>
        </p:nvSpPr>
        <p:spPr>
          <a:xfrm>
            <a:off x="880920" y="2102760"/>
            <a:ext cx="2283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Crash at 50 Virtual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6" name=""/>
          <p:cNvSpPr/>
          <p:nvPr/>
        </p:nvSpPr>
        <p:spPr>
          <a:xfrm>
            <a:off x="3840120" y="2325960"/>
            <a:ext cx="253800" cy="253800"/>
          </a:xfrm>
          <a:custGeom>
            <a:avLst/>
            <a:gdLst/>
            <a:ahLst/>
            <a:rect l="0" t="0" r="r" b="b"/>
            <a:pathLst>
              <a:path w="705" h="705">
                <a:moveTo>
                  <a:pt x="429" y="353"/>
                </a:moveTo>
                <a:lnTo>
                  <a:pt x="689" y="91"/>
                </a:lnTo>
                <a:cubicBezTo>
                  <a:pt x="710" y="70"/>
                  <a:pt x="710" y="36"/>
                  <a:pt x="689" y="15"/>
                </a:cubicBezTo>
                <a:cubicBezTo>
                  <a:pt x="669" y="-5"/>
                  <a:pt x="635" y="-5"/>
                  <a:pt x="614" y="15"/>
                </a:cubicBezTo>
                <a:lnTo>
                  <a:pt x="353" y="277"/>
                </a:lnTo>
                <a:lnTo>
                  <a:pt x="92" y="15"/>
                </a:lnTo>
                <a:cubicBezTo>
                  <a:pt x="71" y="-5"/>
                  <a:pt x="37" y="-5"/>
                  <a:pt x="16" y="15"/>
                </a:cubicBezTo>
                <a:cubicBezTo>
                  <a:pt x="-5" y="36"/>
                  <a:pt x="-5" y="70"/>
                  <a:pt x="16" y="91"/>
                </a:cubicBezTo>
                <a:lnTo>
                  <a:pt x="278" y="353"/>
                </a:lnTo>
                <a:lnTo>
                  <a:pt x="16" y="614"/>
                </a:lnTo>
                <a:cubicBezTo>
                  <a:pt x="-5" y="635"/>
                  <a:pt x="-5" y="668"/>
                  <a:pt x="16" y="689"/>
                </a:cubicBezTo>
                <a:cubicBezTo>
                  <a:pt x="26" y="700"/>
                  <a:pt x="40" y="705"/>
                  <a:pt x="53" y="705"/>
                </a:cubicBezTo>
                <a:cubicBezTo>
                  <a:pt x="67" y="705"/>
                  <a:pt x="81" y="700"/>
                  <a:pt x="91" y="689"/>
                </a:cubicBezTo>
                <a:lnTo>
                  <a:pt x="353" y="428"/>
                </a:lnTo>
                <a:lnTo>
                  <a:pt x="614" y="689"/>
                </a:lnTo>
                <a:cubicBezTo>
                  <a:pt x="625" y="699"/>
                  <a:pt x="638" y="704"/>
                  <a:pt x="652" y="704"/>
                </a:cubicBezTo>
                <a:cubicBezTo>
                  <a:pt x="665" y="704"/>
                  <a:pt x="679" y="699"/>
                  <a:pt x="689" y="689"/>
                </a:cubicBezTo>
                <a:cubicBezTo>
                  <a:pt x="710" y="668"/>
                  <a:pt x="710" y="634"/>
                  <a:pt x="689" y="613"/>
                </a:cubicBezTo>
                <a:lnTo>
                  <a:pt x="429" y="353"/>
                </a:ln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7" name=""/>
          <p:cNvSpPr txBox="1"/>
          <p:nvPr/>
        </p:nvSpPr>
        <p:spPr>
          <a:xfrm>
            <a:off x="880920" y="2521800"/>
            <a:ext cx="720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Users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8" name=""/>
          <p:cNvSpPr/>
          <p:nvPr/>
        </p:nvSpPr>
        <p:spPr>
          <a:xfrm>
            <a:off x="6953040" y="2314440"/>
            <a:ext cx="276480" cy="276480"/>
          </a:xfrm>
          <a:custGeom>
            <a:avLst/>
            <a:gdLst/>
            <a:ahLst/>
            <a:rect l="0" t="0" r="r" b="b"/>
            <a:pathLst>
              <a:path w="768" h="768">
                <a:moveTo>
                  <a:pt x="768" y="683"/>
                </a:moveTo>
                <a:cubicBezTo>
                  <a:pt x="768" y="730"/>
                  <a:pt x="730" y="768"/>
                  <a:pt x="683" y="768"/>
                </a:cubicBezTo>
                <a:lnTo>
                  <a:pt x="85" y="768"/>
                </a:lnTo>
                <a:cubicBezTo>
                  <a:pt x="38" y="768"/>
                  <a:pt x="0" y="730"/>
                  <a:pt x="0" y="683"/>
                </a:cubicBezTo>
                <a:lnTo>
                  <a:pt x="0" y="85"/>
                </a:lnTo>
                <a:cubicBezTo>
                  <a:pt x="0" y="38"/>
                  <a:pt x="38" y="0"/>
                  <a:pt x="85" y="0"/>
                </a:cubicBezTo>
                <a:lnTo>
                  <a:pt x="683" y="0"/>
                </a:lnTo>
                <a:cubicBezTo>
                  <a:pt x="730" y="0"/>
                  <a:pt x="768" y="38"/>
                  <a:pt x="768" y="85"/>
                </a:cubicBezTo>
                <a:lnTo>
                  <a:pt x="768" y="683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9" name=""/>
          <p:cNvSpPr/>
          <p:nvPr/>
        </p:nvSpPr>
        <p:spPr>
          <a:xfrm>
            <a:off x="6996960" y="2360160"/>
            <a:ext cx="190080" cy="186840"/>
          </a:xfrm>
          <a:custGeom>
            <a:avLst/>
            <a:gdLst/>
            <a:ahLst/>
            <a:rect l="0" t="0" r="r" b="b"/>
            <a:pathLst>
              <a:path w="528" h="519">
                <a:moveTo>
                  <a:pt x="503" y="9"/>
                </a:moveTo>
                <a:cubicBezTo>
                  <a:pt x="479" y="-7"/>
                  <a:pt x="446" y="0"/>
                  <a:pt x="429" y="25"/>
                </a:cubicBezTo>
                <a:lnTo>
                  <a:pt x="196" y="383"/>
                </a:lnTo>
                <a:lnTo>
                  <a:pt x="89" y="284"/>
                </a:lnTo>
                <a:cubicBezTo>
                  <a:pt x="68" y="264"/>
                  <a:pt x="34" y="265"/>
                  <a:pt x="14" y="287"/>
                </a:cubicBezTo>
                <a:cubicBezTo>
                  <a:pt x="-6" y="308"/>
                  <a:pt x="-5" y="342"/>
                  <a:pt x="17" y="362"/>
                </a:cubicBezTo>
                <a:lnTo>
                  <a:pt x="171" y="505"/>
                </a:lnTo>
                <a:cubicBezTo>
                  <a:pt x="181" y="514"/>
                  <a:pt x="194" y="519"/>
                  <a:pt x="207" y="519"/>
                </a:cubicBezTo>
                <a:cubicBezTo>
                  <a:pt x="221" y="519"/>
                  <a:pt x="239" y="513"/>
                  <a:pt x="251" y="495"/>
                </a:cubicBezTo>
                <a:cubicBezTo>
                  <a:pt x="259" y="484"/>
                  <a:pt x="519" y="83"/>
                  <a:pt x="519" y="83"/>
                </a:cubicBezTo>
                <a:cubicBezTo>
                  <a:pt x="535" y="58"/>
                  <a:pt x="528" y="25"/>
                  <a:pt x="503" y="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4122000" y="2312280"/>
            <a:ext cx="1854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server buckles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1" name=""/>
          <p:cNvSpPr/>
          <p:nvPr/>
        </p:nvSpPr>
        <p:spPr>
          <a:xfrm>
            <a:off x="9046800" y="2121120"/>
            <a:ext cx="261360" cy="249840"/>
          </a:xfrm>
          <a:custGeom>
            <a:avLst/>
            <a:gdLst/>
            <a:ahLst/>
            <a:rect l="0" t="0" r="r" b="b"/>
            <a:pathLst>
              <a:path w="726" h="694">
                <a:moveTo>
                  <a:pt x="560" y="694"/>
                </a:moveTo>
                <a:cubicBezTo>
                  <a:pt x="551" y="694"/>
                  <a:pt x="543" y="690"/>
                  <a:pt x="535" y="685"/>
                </a:cubicBezTo>
                <a:lnTo>
                  <a:pt x="362" y="561"/>
                </a:lnTo>
                <a:lnTo>
                  <a:pt x="189" y="685"/>
                </a:lnTo>
                <a:cubicBezTo>
                  <a:pt x="174" y="696"/>
                  <a:pt x="154" y="696"/>
                  <a:pt x="139" y="685"/>
                </a:cubicBezTo>
                <a:cubicBezTo>
                  <a:pt x="125" y="674"/>
                  <a:pt x="119" y="655"/>
                  <a:pt x="124" y="638"/>
                </a:cubicBezTo>
                <a:lnTo>
                  <a:pt x="189" y="429"/>
                </a:lnTo>
                <a:lnTo>
                  <a:pt x="17" y="308"/>
                </a:lnTo>
                <a:cubicBezTo>
                  <a:pt x="2" y="297"/>
                  <a:pt x="-4" y="279"/>
                  <a:pt x="2" y="261"/>
                </a:cubicBezTo>
                <a:cubicBezTo>
                  <a:pt x="7" y="244"/>
                  <a:pt x="23" y="232"/>
                  <a:pt x="42" y="232"/>
                </a:cubicBezTo>
                <a:lnTo>
                  <a:pt x="254" y="232"/>
                </a:lnTo>
                <a:lnTo>
                  <a:pt x="322" y="28"/>
                </a:lnTo>
                <a:cubicBezTo>
                  <a:pt x="328" y="11"/>
                  <a:pt x="344" y="0"/>
                  <a:pt x="362" y="0"/>
                </a:cubicBezTo>
                <a:cubicBezTo>
                  <a:pt x="380" y="0"/>
                  <a:pt x="396" y="11"/>
                  <a:pt x="402" y="28"/>
                </a:cubicBezTo>
                <a:lnTo>
                  <a:pt x="469" y="232"/>
                </a:lnTo>
                <a:lnTo>
                  <a:pt x="684" y="232"/>
                </a:lnTo>
                <a:cubicBezTo>
                  <a:pt x="702" y="232"/>
                  <a:pt x="718" y="244"/>
                  <a:pt x="723" y="261"/>
                </a:cubicBezTo>
                <a:cubicBezTo>
                  <a:pt x="729" y="279"/>
                  <a:pt x="723" y="297"/>
                  <a:pt x="708" y="308"/>
                </a:cubicBezTo>
                <a:lnTo>
                  <a:pt x="535" y="429"/>
                </a:lnTo>
                <a:lnTo>
                  <a:pt x="601" y="638"/>
                </a:lnTo>
                <a:cubicBezTo>
                  <a:pt x="607" y="655"/>
                  <a:pt x="600" y="674"/>
                  <a:pt x="586" y="685"/>
                </a:cubicBezTo>
                <a:cubicBezTo>
                  <a:pt x="578" y="690"/>
                  <a:pt x="569" y="694"/>
                  <a:pt x="560" y="694"/>
                </a:cubicBez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7242120" y="2312280"/>
            <a:ext cx="811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stable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3" name=""/>
          <p:cNvSpPr txBox="1"/>
          <p:nvPr/>
        </p:nvSpPr>
        <p:spPr>
          <a:xfrm>
            <a:off x="9330840" y="2102760"/>
            <a:ext cx="811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crash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4" name=""/>
          <p:cNvSpPr txBox="1"/>
          <p:nvPr/>
        </p:nvSpPr>
        <p:spPr>
          <a:xfrm>
            <a:off x="9013320" y="2521800"/>
            <a:ext cx="1364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eliminated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5" name=""/>
          <p:cNvSpPr txBox="1"/>
          <p:nvPr/>
        </p:nvSpPr>
        <p:spPr>
          <a:xfrm>
            <a:off x="880920" y="3055320"/>
            <a:ext cx="1977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Peak requests/s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6" name=""/>
          <p:cNvSpPr txBox="1"/>
          <p:nvPr/>
        </p:nvSpPr>
        <p:spPr>
          <a:xfrm>
            <a:off x="3804480" y="3055320"/>
            <a:ext cx="2161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~40+ →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collapse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7" name=""/>
          <p:cNvSpPr txBox="1"/>
          <p:nvPr/>
        </p:nvSpPr>
        <p:spPr>
          <a:xfrm>
            <a:off x="6924600" y="3055320"/>
            <a:ext cx="1663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~50–55 req/s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8" name=""/>
          <p:cNvSpPr txBox="1"/>
          <p:nvPr/>
        </p:nvSpPr>
        <p:spPr>
          <a:xfrm>
            <a:off x="9013320" y="3055320"/>
            <a:ext cx="2131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stable throughput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9" name=""/>
          <p:cNvSpPr txBox="1"/>
          <p:nvPr/>
        </p:nvSpPr>
        <p:spPr>
          <a:xfrm>
            <a:off x="880920" y="3598200"/>
            <a:ext cx="1503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p95 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0" name=""/>
          <p:cNvSpPr txBox="1"/>
          <p:nvPr/>
        </p:nvSpPr>
        <p:spPr>
          <a:xfrm>
            <a:off x="3804480" y="3598200"/>
            <a:ext cx="529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~3 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1" name=""/>
          <p:cNvSpPr/>
          <p:nvPr/>
        </p:nvSpPr>
        <p:spPr>
          <a:xfrm>
            <a:off x="9046800" y="3616200"/>
            <a:ext cx="261360" cy="250200"/>
          </a:xfrm>
          <a:custGeom>
            <a:avLst/>
            <a:gdLst/>
            <a:ahLst/>
            <a:rect l="0" t="0" r="r" b="b"/>
            <a:pathLst>
              <a:path w="726" h="695">
                <a:moveTo>
                  <a:pt x="560" y="695"/>
                </a:moveTo>
                <a:cubicBezTo>
                  <a:pt x="551" y="695"/>
                  <a:pt x="543" y="692"/>
                  <a:pt x="535" y="687"/>
                </a:cubicBezTo>
                <a:lnTo>
                  <a:pt x="362" y="563"/>
                </a:lnTo>
                <a:lnTo>
                  <a:pt x="189" y="687"/>
                </a:lnTo>
                <a:cubicBezTo>
                  <a:pt x="174" y="697"/>
                  <a:pt x="154" y="697"/>
                  <a:pt x="139" y="687"/>
                </a:cubicBezTo>
                <a:cubicBezTo>
                  <a:pt x="125" y="676"/>
                  <a:pt x="119" y="657"/>
                  <a:pt x="124" y="640"/>
                </a:cubicBezTo>
                <a:lnTo>
                  <a:pt x="189" y="431"/>
                </a:lnTo>
                <a:lnTo>
                  <a:pt x="17" y="310"/>
                </a:lnTo>
                <a:cubicBezTo>
                  <a:pt x="2" y="299"/>
                  <a:pt x="-4" y="280"/>
                  <a:pt x="2" y="263"/>
                </a:cubicBezTo>
                <a:cubicBezTo>
                  <a:pt x="7" y="246"/>
                  <a:pt x="23" y="234"/>
                  <a:pt x="42" y="234"/>
                </a:cubicBezTo>
                <a:lnTo>
                  <a:pt x="254" y="234"/>
                </a:lnTo>
                <a:lnTo>
                  <a:pt x="322" y="30"/>
                </a:lnTo>
                <a:cubicBezTo>
                  <a:pt x="328" y="13"/>
                  <a:pt x="344" y="0"/>
                  <a:pt x="362" y="0"/>
                </a:cubicBezTo>
                <a:cubicBezTo>
                  <a:pt x="380" y="0"/>
                  <a:pt x="396" y="13"/>
                  <a:pt x="402" y="30"/>
                </a:cubicBezTo>
                <a:lnTo>
                  <a:pt x="469" y="234"/>
                </a:lnTo>
                <a:lnTo>
                  <a:pt x="684" y="234"/>
                </a:lnTo>
                <a:cubicBezTo>
                  <a:pt x="702" y="234"/>
                  <a:pt x="718" y="246"/>
                  <a:pt x="723" y="263"/>
                </a:cubicBezTo>
                <a:cubicBezTo>
                  <a:pt x="729" y="280"/>
                  <a:pt x="723" y="299"/>
                  <a:pt x="708" y="310"/>
                </a:cubicBezTo>
                <a:lnTo>
                  <a:pt x="535" y="431"/>
                </a:lnTo>
                <a:lnTo>
                  <a:pt x="601" y="640"/>
                </a:lnTo>
                <a:cubicBezTo>
                  <a:pt x="607" y="657"/>
                  <a:pt x="600" y="676"/>
                  <a:pt x="586" y="687"/>
                </a:cubicBezTo>
                <a:cubicBezTo>
                  <a:pt x="578" y="692"/>
                  <a:pt x="569" y="695"/>
                  <a:pt x="560" y="695"/>
                </a:cubicBez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2" name=""/>
          <p:cNvSpPr txBox="1"/>
          <p:nvPr/>
        </p:nvSpPr>
        <p:spPr>
          <a:xfrm>
            <a:off x="6924600" y="3598200"/>
            <a:ext cx="1096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~130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3" name=""/>
          <p:cNvSpPr txBox="1"/>
          <p:nvPr/>
        </p:nvSpPr>
        <p:spPr>
          <a:xfrm>
            <a:off x="9330840" y="3598200"/>
            <a:ext cx="788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−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96%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4" name=""/>
          <p:cNvSpPr txBox="1"/>
          <p:nvPr/>
        </p:nvSpPr>
        <p:spPr>
          <a:xfrm>
            <a:off x="880920" y="4131360"/>
            <a:ext cx="1503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p99 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5" name=""/>
          <p:cNvSpPr txBox="1"/>
          <p:nvPr/>
        </p:nvSpPr>
        <p:spPr>
          <a:xfrm>
            <a:off x="3804480" y="4131360"/>
            <a:ext cx="1832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~6 s flat ceiling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6" name=""/>
          <p:cNvSpPr txBox="1"/>
          <p:nvPr/>
        </p:nvSpPr>
        <p:spPr>
          <a:xfrm>
            <a:off x="6924600" y="4131360"/>
            <a:ext cx="1096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~350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7" name=""/>
          <p:cNvSpPr txBox="1"/>
          <p:nvPr/>
        </p:nvSpPr>
        <p:spPr>
          <a:xfrm>
            <a:off x="9013320" y="413136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−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94%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8" name=""/>
          <p:cNvSpPr txBox="1"/>
          <p:nvPr/>
        </p:nvSpPr>
        <p:spPr>
          <a:xfrm>
            <a:off x="880920" y="4674600"/>
            <a:ext cx="2181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CPU @ 50 Virtual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9" name=""/>
          <p:cNvSpPr txBox="1"/>
          <p:nvPr/>
        </p:nvSpPr>
        <p:spPr>
          <a:xfrm>
            <a:off x="880920" y="5083920"/>
            <a:ext cx="720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Users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0" name=""/>
          <p:cNvSpPr txBox="1"/>
          <p:nvPr/>
        </p:nvSpPr>
        <p:spPr>
          <a:xfrm>
            <a:off x="3804480" y="4884120"/>
            <a:ext cx="866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~100%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1" name=""/>
          <p:cNvSpPr/>
          <p:nvPr/>
        </p:nvSpPr>
        <p:spPr>
          <a:xfrm>
            <a:off x="9046800" y="4902120"/>
            <a:ext cx="261360" cy="250200"/>
          </a:xfrm>
          <a:custGeom>
            <a:avLst/>
            <a:gdLst/>
            <a:ahLst/>
            <a:rect l="0" t="0" r="r" b="b"/>
            <a:pathLst>
              <a:path w="726" h="695">
                <a:moveTo>
                  <a:pt x="560" y="695"/>
                </a:moveTo>
                <a:cubicBezTo>
                  <a:pt x="551" y="695"/>
                  <a:pt x="543" y="692"/>
                  <a:pt x="535" y="687"/>
                </a:cubicBezTo>
                <a:lnTo>
                  <a:pt x="362" y="561"/>
                </a:lnTo>
                <a:lnTo>
                  <a:pt x="189" y="687"/>
                </a:lnTo>
                <a:cubicBezTo>
                  <a:pt x="174" y="697"/>
                  <a:pt x="154" y="697"/>
                  <a:pt x="139" y="687"/>
                </a:cubicBezTo>
                <a:cubicBezTo>
                  <a:pt x="125" y="676"/>
                  <a:pt x="119" y="657"/>
                  <a:pt x="124" y="640"/>
                </a:cubicBezTo>
                <a:lnTo>
                  <a:pt x="189" y="430"/>
                </a:lnTo>
                <a:lnTo>
                  <a:pt x="17" y="309"/>
                </a:lnTo>
                <a:cubicBezTo>
                  <a:pt x="2" y="298"/>
                  <a:pt x="-4" y="279"/>
                  <a:pt x="2" y="262"/>
                </a:cubicBezTo>
                <a:cubicBezTo>
                  <a:pt x="7" y="245"/>
                  <a:pt x="23" y="233"/>
                  <a:pt x="42" y="233"/>
                </a:cubicBezTo>
                <a:lnTo>
                  <a:pt x="254" y="233"/>
                </a:lnTo>
                <a:lnTo>
                  <a:pt x="322" y="29"/>
                </a:lnTo>
                <a:cubicBezTo>
                  <a:pt x="328" y="12"/>
                  <a:pt x="344" y="0"/>
                  <a:pt x="362" y="0"/>
                </a:cubicBezTo>
                <a:cubicBezTo>
                  <a:pt x="380" y="0"/>
                  <a:pt x="396" y="12"/>
                  <a:pt x="402" y="29"/>
                </a:cubicBezTo>
                <a:lnTo>
                  <a:pt x="469" y="233"/>
                </a:lnTo>
                <a:lnTo>
                  <a:pt x="684" y="233"/>
                </a:lnTo>
                <a:cubicBezTo>
                  <a:pt x="702" y="233"/>
                  <a:pt x="718" y="245"/>
                  <a:pt x="723" y="262"/>
                </a:cubicBezTo>
                <a:cubicBezTo>
                  <a:pt x="729" y="279"/>
                  <a:pt x="723" y="298"/>
                  <a:pt x="708" y="309"/>
                </a:cubicBezTo>
                <a:lnTo>
                  <a:pt x="535" y="430"/>
                </a:lnTo>
                <a:lnTo>
                  <a:pt x="601" y="640"/>
                </a:lnTo>
                <a:cubicBezTo>
                  <a:pt x="607" y="657"/>
                  <a:pt x="600" y="676"/>
                  <a:pt x="586" y="687"/>
                </a:cubicBezTo>
                <a:cubicBezTo>
                  <a:pt x="578" y="692"/>
                  <a:pt x="569" y="695"/>
                  <a:pt x="560" y="695"/>
                </a:cubicBez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2" name=""/>
          <p:cNvSpPr txBox="1"/>
          <p:nvPr/>
        </p:nvSpPr>
        <p:spPr>
          <a:xfrm>
            <a:off x="6924600" y="488412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~25%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3" name=""/>
          <p:cNvSpPr txBox="1"/>
          <p:nvPr/>
        </p:nvSpPr>
        <p:spPr>
          <a:xfrm>
            <a:off x="9330840" y="4884120"/>
            <a:ext cx="788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−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75%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4" name=""/>
          <p:cNvSpPr txBox="1"/>
          <p:nvPr/>
        </p:nvSpPr>
        <p:spPr>
          <a:xfrm>
            <a:off x="880920" y="5836320"/>
            <a:ext cx="2055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Request backlog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5" name=""/>
          <p:cNvSpPr txBox="1"/>
          <p:nvPr/>
        </p:nvSpPr>
        <p:spPr>
          <a:xfrm>
            <a:off x="3804480" y="5626800"/>
            <a:ext cx="2445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~250 (Apache listen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6" name=""/>
          <p:cNvSpPr txBox="1"/>
          <p:nvPr/>
        </p:nvSpPr>
        <p:spPr>
          <a:xfrm>
            <a:off x="3804480" y="6036480"/>
            <a:ext cx="858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queue)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7" name=""/>
          <p:cNvSpPr txBox="1"/>
          <p:nvPr/>
        </p:nvSpPr>
        <p:spPr>
          <a:xfrm>
            <a:off x="6924600" y="5626800"/>
            <a:ext cx="902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(FPM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8" name=""/>
          <p:cNvSpPr/>
          <p:nvPr/>
        </p:nvSpPr>
        <p:spPr>
          <a:xfrm>
            <a:off x="9046800" y="5854680"/>
            <a:ext cx="261360" cy="249840"/>
          </a:xfrm>
          <a:custGeom>
            <a:avLst/>
            <a:gdLst/>
            <a:ahLst/>
            <a:rect l="0" t="0" r="r" b="b"/>
            <a:pathLst>
              <a:path w="726" h="694">
                <a:moveTo>
                  <a:pt x="560" y="694"/>
                </a:moveTo>
                <a:cubicBezTo>
                  <a:pt x="551" y="694"/>
                  <a:pt x="543" y="692"/>
                  <a:pt x="535" y="687"/>
                </a:cubicBezTo>
                <a:lnTo>
                  <a:pt x="362" y="562"/>
                </a:lnTo>
                <a:lnTo>
                  <a:pt x="189" y="687"/>
                </a:lnTo>
                <a:cubicBezTo>
                  <a:pt x="174" y="697"/>
                  <a:pt x="154" y="697"/>
                  <a:pt x="139" y="686"/>
                </a:cubicBezTo>
                <a:cubicBezTo>
                  <a:pt x="125" y="676"/>
                  <a:pt x="119" y="657"/>
                  <a:pt x="124" y="640"/>
                </a:cubicBezTo>
                <a:lnTo>
                  <a:pt x="189" y="431"/>
                </a:lnTo>
                <a:lnTo>
                  <a:pt x="17" y="310"/>
                </a:lnTo>
                <a:cubicBezTo>
                  <a:pt x="2" y="299"/>
                  <a:pt x="-4" y="280"/>
                  <a:pt x="2" y="263"/>
                </a:cubicBezTo>
                <a:cubicBezTo>
                  <a:pt x="7" y="246"/>
                  <a:pt x="23" y="234"/>
                  <a:pt x="42" y="234"/>
                </a:cubicBezTo>
                <a:lnTo>
                  <a:pt x="254" y="234"/>
                </a:lnTo>
                <a:lnTo>
                  <a:pt x="322" y="30"/>
                </a:lnTo>
                <a:cubicBezTo>
                  <a:pt x="328" y="12"/>
                  <a:pt x="344" y="0"/>
                  <a:pt x="362" y="0"/>
                </a:cubicBezTo>
                <a:cubicBezTo>
                  <a:pt x="380" y="0"/>
                  <a:pt x="396" y="12"/>
                  <a:pt x="402" y="30"/>
                </a:cubicBezTo>
                <a:lnTo>
                  <a:pt x="469" y="234"/>
                </a:lnTo>
                <a:lnTo>
                  <a:pt x="684" y="234"/>
                </a:lnTo>
                <a:cubicBezTo>
                  <a:pt x="702" y="234"/>
                  <a:pt x="718" y="246"/>
                  <a:pt x="723" y="263"/>
                </a:cubicBezTo>
                <a:cubicBezTo>
                  <a:pt x="729" y="280"/>
                  <a:pt x="723" y="299"/>
                  <a:pt x="708" y="310"/>
                </a:cubicBezTo>
                <a:lnTo>
                  <a:pt x="535" y="431"/>
                </a:lnTo>
                <a:lnTo>
                  <a:pt x="601" y="640"/>
                </a:lnTo>
                <a:cubicBezTo>
                  <a:pt x="607" y="657"/>
                  <a:pt x="600" y="676"/>
                  <a:pt x="586" y="686"/>
                </a:cubicBezTo>
                <a:cubicBezTo>
                  <a:pt x="578" y="692"/>
                  <a:pt x="569" y="694"/>
                  <a:pt x="560" y="694"/>
                </a:cubicBez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9" name=""/>
          <p:cNvSpPr txBox="1"/>
          <p:nvPr/>
        </p:nvSpPr>
        <p:spPr>
          <a:xfrm>
            <a:off x="6924600" y="6036480"/>
            <a:ext cx="1073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absorbs)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0" name=""/>
          <p:cNvSpPr txBox="1"/>
          <p:nvPr/>
        </p:nvSpPr>
        <p:spPr>
          <a:xfrm>
            <a:off x="9330840" y="5836320"/>
            <a:ext cx="1623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queue gone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1" name=""/>
          <p:cNvSpPr txBox="1"/>
          <p:nvPr/>
        </p:nvSpPr>
        <p:spPr>
          <a:xfrm>
            <a:off x="880920" y="6579360"/>
            <a:ext cx="2146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DB Threads peak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2" name=""/>
          <p:cNvSpPr txBox="1"/>
          <p:nvPr/>
        </p:nvSpPr>
        <p:spPr>
          <a:xfrm>
            <a:off x="3804480" y="6579360"/>
            <a:ext cx="468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30+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3" name=""/>
          <p:cNvSpPr txBox="1"/>
          <p:nvPr/>
        </p:nvSpPr>
        <p:spPr>
          <a:xfrm>
            <a:off x="6924600" y="6579360"/>
            <a:ext cx="928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~15–20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4" name=""/>
          <p:cNvSpPr txBox="1"/>
          <p:nvPr/>
        </p:nvSpPr>
        <p:spPr>
          <a:xfrm>
            <a:off x="9013320" y="6579360"/>
            <a:ext cx="2222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still MySQL-heavy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8" name=""/>
          <p:cNvSpPr/>
          <p:nvPr/>
        </p:nvSpPr>
        <p:spPr>
          <a:xfrm>
            <a:off x="780840" y="830160"/>
            <a:ext cx="362160" cy="254880"/>
          </a:xfrm>
          <a:custGeom>
            <a:avLst/>
            <a:gdLst/>
            <a:ahLst/>
            <a:rect l="0" t="0" r="r" b="b"/>
            <a:pathLst>
              <a:path w="1006" h="708">
                <a:moveTo>
                  <a:pt x="0" y="109"/>
                </a:moveTo>
                <a:cubicBezTo>
                  <a:pt x="0" y="109"/>
                  <a:pt x="0" y="0"/>
                  <a:pt x="112" y="0"/>
                </a:cubicBezTo>
                <a:lnTo>
                  <a:pt x="895" y="0"/>
                </a:lnTo>
                <a:cubicBezTo>
                  <a:pt x="895" y="0"/>
                  <a:pt x="1006" y="0"/>
                  <a:pt x="1006" y="109"/>
                </a:cubicBezTo>
                <a:lnTo>
                  <a:pt x="1006" y="599"/>
                </a:lnTo>
                <a:cubicBezTo>
                  <a:pt x="1006" y="599"/>
                  <a:pt x="1006" y="708"/>
                  <a:pt x="895" y="708"/>
                </a:cubicBezTo>
                <a:lnTo>
                  <a:pt x="112" y="708"/>
                </a:lnTo>
                <a:cubicBezTo>
                  <a:pt x="112" y="708"/>
                  <a:pt x="0" y="708"/>
                  <a:pt x="0" y="599"/>
                </a:cubicBezTo>
                <a:lnTo>
                  <a:pt x="0" y="109"/>
                </a:ln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69" name=""/>
          <p:cNvSpPr/>
          <p:nvPr/>
        </p:nvSpPr>
        <p:spPr>
          <a:xfrm>
            <a:off x="891360" y="859320"/>
            <a:ext cx="201600" cy="196200"/>
          </a:xfrm>
          <a:custGeom>
            <a:avLst/>
            <a:gdLst/>
            <a:ahLst/>
            <a:rect l="0" t="0" r="r" b="b"/>
            <a:pathLst>
              <a:path w="560" h="545">
                <a:moveTo>
                  <a:pt x="560" y="273"/>
                </a:moveTo>
                <a:cubicBezTo>
                  <a:pt x="560" y="291"/>
                  <a:pt x="558" y="309"/>
                  <a:pt x="554" y="326"/>
                </a:cubicBezTo>
                <a:cubicBezTo>
                  <a:pt x="551" y="344"/>
                  <a:pt x="546" y="361"/>
                  <a:pt x="539" y="377"/>
                </a:cubicBezTo>
                <a:cubicBezTo>
                  <a:pt x="532" y="394"/>
                  <a:pt x="523" y="410"/>
                  <a:pt x="513" y="424"/>
                </a:cubicBezTo>
                <a:cubicBezTo>
                  <a:pt x="503" y="439"/>
                  <a:pt x="491" y="453"/>
                  <a:pt x="478" y="466"/>
                </a:cubicBezTo>
                <a:cubicBezTo>
                  <a:pt x="465" y="478"/>
                  <a:pt x="451" y="489"/>
                  <a:pt x="436" y="499"/>
                </a:cubicBezTo>
                <a:cubicBezTo>
                  <a:pt x="420" y="509"/>
                  <a:pt x="404" y="518"/>
                  <a:pt x="387" y="525"/>
                </a:cubicBezTo>
                <a:cubicBezTo>
                  <a:pt x="371" y="531"/>
                  <a:pt x="353" y="537"/>
                  <a:pt x="335" y="540"/>
                </a:cubicBezTo>
                <a:cubicBezTo>
                  <a:pt x="317" y="543"/>
                  <a:pt x="299" y="545"/>
                  <a:pt x="281" y="545"/>
                </a:cubicBezTo>
                <a:cubicBezTo>
                  <a:pt x="262" y="545"/>
                  <a:pt x="244" y="543"/>
                  <a:pt x="226" y="540"/>
                </a:cubicBezTo>
                <a:cubicBezTo>
                  <a:pt x="208" y="537"/>
                  <a:pt x="191" y="531"/>
                  <a:pt x="174" y="525"/>
                </a:cubicBezTo>
                <a:cubicBezTo>
                  <a:pt x="157" y="518"/>
                  <a:pt x="141" y="509"/>
                  <a:pt x="125" y="499"/>
                </a:cubicBezTo>
                <a:cubicBezTo>
                  <a:pt x="110" y="489"/>
                  <a:pt x="96" y="478"/>
                  <a:pt x="83" y="466"/>
                </a:cubicBezTo>
                <a:cubicBezTo>
                  <a:pt x="70" y="453"/>
                  <a:pt x="59" y="439"/>
                  <a:pt x="48" y="424"/>
                </a:cubicBezTo>
                <a:cubicBezTo>
                  <a:pt x="38" y="410"/>
                  <a:pt x="29" y="394"/>
                  <a:pt x="22" y="377"/>
                </a:cubicBezTo>
                <a:cubicBezTo>
                  <a:pt x="15" y="361"/>
                  <a:pt x="9" y="344"/>
                  <a:pt x="6" y="326"/>
                </a:cubicBezTo>
                <a:cubicBezTo>
                  <a:pt x="2" y="309"/>
                  <a:pt x="0" y="291"/>
                  <a:pt x="0" y="273"/>
                </a:cubicBezTo>
                <a:cubicBezTo>
                  <a:pt x="0" y="255"/>
                  <a:pt x="2" y="238"/>
                  <a:pt x="6" y="220"/>
                </a:cubicBezTo>
                <a:cubicBezTo>
                  <a:pt x="9" y="203"/>
                  <a:pt x="15" y="186"/>
                  <a:pt x="22" y="169"/>
                </a:cubicBezTo>
                <a:cubicBezTo>
                  <a:pt x="29" y="153"/>
                  <a:pt x="38" y="137"/>
                  <a:pt x="48" y="122"/>
                </a:cubicBezTo>
                <a:cubicBezTo>
                  <a:pt x="59" y="107"/>
                  <a:pt x="70" y="94"/>
                  <a:pt x="83" y="81"/>
                </a:cubicBezTo>
                <a:cubicBezTo>
                  <a:pt x="96" y="68"/>
                  <a:pt x="110" y="56"/>
                  <a:pt x="125" y="46"/>
                </a:cubicBezTo>
                <a:cubicBezTo>
                  <a:pt x="141" y="36"/>
                  <a:pt x="157" y="28"/>
                  <a:pt x="174" y="21"/>
                </a:cubicBezTo>
                <a:cubicBezTo>
                  <a:pt x="191" y="14"/>
                  <a:pt x="208" y="9"/>
                  <a:pt x="226" y="6"/>
                </a:cubicBezTo>
                <a:cubicBezTo>
                  <a:pt x="244" y="2"/>
                  <a:pt x="262" y="0"/>
                  <a:pt x="281" y="0"/>
                </a:cubicBezTo>
                <a:cubicBezTo>
                  <a:pt x="299" y="0"/>
                  <a:pt x="317" y="2"/>
                  <a:pt x="335" y="6"/>
                </a:cubicBezTo>
                <a:cubicBezTo>
                  <a:pt x="353" y="9"/>
                  <a:pt x="371" y="14"/>
                  <a:pt x="387" y="21"/>
                </a:cubicBezTo>
                <a:cubicBezTo>
                  <a:pt x="404" y="28"/>
                  <a:pt x="420" y="36"/>
                  <a:pt x="436" y="46"/>
                </a:cubicBezTo>
                <a:cubicBezTo>
                  <a:pt x="451" y="56"/>
                  <a:pt x="465" y="68"/>
                  <a:pt x="478" y="81"/>
                </a:cubicBezTo>
                <a:cubicBezTo>
                  <a:pt x="491" y="94"/>
                  <a:pt x="503" y="107"/>
                  <a:pt x="513" y="122"/>
                </a:cubicBezTo>
                <a:cubicBezTo>
                  <a:pt x="523" y="137"/>
                  <a:pt x="532" y="153"/>
                  <a:pt x="539" y="169"/>
                </a:cubicBezTo>
                <a:cubicBezTo>
                  <a:pt x="546" y="186"/>
                  <a:pt x="551" y="203"/>
                  <a:pt x="554" y="220"/>
                </a:cubicBezTo>
                <a:cubicBezTo>
                  <a:pt x="558" y="238"/>
                  <a:pt x="560" y="255"/>
                  <a:pt x="560" y="273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0" name=""/>
          <p:cNvSpPr/>
          <p:nvPr/>
        </p:nvSpPr>
        <p:spPr>
          <a:xfrm>
            <a:off x="911520" y="879120"/>
            <a:ext cx="161280" cy="156960"/>
          </a:xfrm>
          <a:custGeom>
            <a:avLst/>
            <a:gdLst/>
            <a:ahLst/>
            <a:rect l="0" t="0" r="r" b="b"/>
            <a:pathLst>
              <a:path w="448" h="436">
                <a:moveTo>
                  <a:pt x="448" y="217"/>
                </a:moveTo>
                <a:cubicBezTo>
                  <a:pt x="448" y="232"/>
                  <a:pt x="447" y="246"/>
                  <a:pt x="444" y="260"/>
                </a:cubicBezTo>
                <a:cubicBezTo>
                  <a:pt x="441" y="274"/>
                  <a:pt x="437" y="287"/>
                  <a:pt x="431" y="301"/>
                </a:cubicBezTo>
                <a:cubicBezTo>
                  <a:pt x="425" y="314"/>
                  <a:pt x="418" y="326"/>
                  <a:pt x="410" y="338"/>
                </a:cubicBezTo>
                <a:cubicBezTo>
                  <a:pt x="402" y="350"/>
                  <a:pt x="393" y="361"/>
                  <a:pt x="383" y="371"/>
                </a:cubicBezTo>
                <a:cubicBezTo>
                  <a:pt x="372" y="381"/>
                  <a:pt x="360" y="391"/>
                  <a:pt x="348" y="399"/>
                </a:cubicBezTo>
                <a:cubicBezTo>
                  <a:pt x="336" y="407"/>
                  <a:pt x="323" y="414"/>
                  <a:pt x="309" y="419"/>
                </a:cubicBezTo>
                <a:cubicBezTo>
                  <a:pt x="296" y="425"/>
                  <a:pt x="282" y="429"/>
                  <a:pt x="267" y="432"/>
                </a:cubicBezTo>
                <a:cubicBezTo>
                  <a:pt x="253" y="434"/>
                  <a:pt x="238" y="436"/>
                  <a:pt x="224" y="436"/>
                </a:cubicBezTo>
                <a:cubicBezTo>
                  <a:pt x="209" y="436"/>
                  <a:pt x="194" y="434"/>
                  <a:pt x="180" y="432"/>
                </a:cubicBezTo>
                <a:cubicBezTo>
                  <a:pt x="166" y="429"/>
                  <a:pt x="152" y="425"/>
                  <a:pt x="138" y="419"/>
                </a:cubicBezTo>
                <a:cubicBezTo>
                  <a:pt x="125" y="414"/>
                  <a:pt x="112" y="407"/>
                  <a:pt x="99" y="399"/>
                </a:cubicBezTo>
                <a:cubicBezTo>
                  <a:pt x="87" y="391"/>
                  <a:pt x="76" y="381"/>
                  <a:pt x="66" y="371"/>
                </a:cubicBezTo>
                <a:cubicBezTo>
                  <a:pt x="55" y="361"/>
                  <a:pt x="46" y="350"/>
                  <a:pt x="38" y="338"/>
                </a:cubicBezTo>
                <a:cubicBezTo>
                  <a:pt x="30" y="326"/>
                  <a:pt x="23" y="314"/>
                  <a:pt x="17" y="301"/>
                </a:cubicBezTo>
                <a:cubicBezTo>
                  <a:pt x="12" y="287"/>
                  <a:pt x="7" y="274"/>
                  <a:pt x="4" y="260"/>
                </a:cubicBezTo>
                <a:cubicBezTo>
                  <a:pt x="2" y="246"/>
                  <a:pt x="0" y="232"/>
                  <a:pt x="0" y="217"/>
                </a:cubicBezTo>
                <a:cubicBezTo>
                  <a:pt x="0" y="203"/>
                  <a:pt x="2" y="189"/>
                  <a:pt x="4" y="175"/>
                </a:cubicBezTo>
                <a:cubicBezTo>
                  <a:pt x="7" y="161"/>
                  <a:pt x="12" y="147"/>
                  <a:pt x="17" y="134"/>
                </a:cubicBezTo>
                <a:cubicBezTo>
                  <a:pt x="23" y="121"/>
                  <a:pt x="30" y="108"/>
                  <a:pt x="38" y="96"/>
                </a:cubicBezTo>
                <a:cubicBezTo>
                  <a:pt x="46" y="85"/>
                  <a:pt x="55" y="74"/>
                  <a:pt x="66" y="63"/>
                </a:cubicBezTo>
                <a:cubicBezTo>
                  <a:pt x="76" y="53"/>
                  <a:pt x="87" y="44"/>
                  <a:pt x="99" y="36"/>
                </a:cubicBezTo>
                <a:cubicBezTo>
                  <a:pt x="112" y="28"/>
                  <a:pt x="125" y="22"/>
                  <a:pt x="138" y="16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4" y="1"/>
                  <a:pt x="209" y="0"/>
                  <a:pt x="224" y="0"/>
                </a:cubicBezTo>
                <a:cubicBezTo>
                  <a:pt x="238" y="0"/>
                  <a:pt x="253" y="1"/>
                  <a:pt x="267" y="4"/>
                </a:cubicBezTo>
                <a:cubicBezTo>
                  <a:pt x="282" y="7"/>
                  <a:pt x="296" y="11"/>
                  <a:pt x="309" y="16"/>
                </a:cubicBezTo>
                <a:cubicBezTo>
                  <a:pt x="323" y="22"/>
                  <a:pt x="336" y="28"/>
                  <a:pt x="348" y="36"/>
                </a:cubicBezTo>
                <a:cubicBezTo>
                  <a:pt x="360" y="44"/>
                  <a:pt x="372" y="53"/>
                  <a:pt x="383" y="63"/>
                </a:cubicBezTo>
                <a:cubicBezTo>
                  <a:pt x="393" y="74"/>
                  <a:pt x="402" y="85"/>
                  <a:pt x="410" y="96"/>
                </a:cubicBezTo>
                <a:cubicBezTo>
                  <a:pt x="418" y="108"/>
                  <a:pt x="425" y="121"/>
                  <a:pt x="431" y="134"/>
                </a:cubicBezTo>
                <a:cubicBezTo>
                  <a:pt x="437" y="147"/>
                  <a:pt x="441" y="161"/>
                  <a:pt x="444" y="175"/>
                </a:cubicBezTo>
                <a:cubicBezTo>
                  <a:pt x="447" y="189"/>
                  <a:pt x="448" y="203"/>
                  <a:pt x="448" y="217"/>
                </a:cubicBez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1" name=""/>
          <p:cNvSpPr/>
          <p:nvPr/>
        </p:nvSpPr>
        <p:spPr>
          <a:xfrm>
            <a:off x="941760" y="908280"/>
            <a:ext cx="100800" cy="98280"/>
          </a:xfrm>
          <a:custGeom>
            <a:avLst/>
            <a:gdLst/>
            <a:ahLst/>
            <a:rect l="0" t="0" r="r" b="b"/>
            <a:pathLst>
              <a:path w="280" h="273">
                <a:moveTo>
                  <a:pt x="280" y="137"/>
                </a:moveTo>
                <a:cubicBezTo>
                  <a:pt x="280" y="155"/>
                  <a:pt x="277" y="173"/>
                  <a:pt x="270" y="189"/>
                </a:cubicBezTo>
                <a:cubicBezTo>
                  <a:pt x="263" y="206"/>
                  <a:pt x="252" y="221"/>
                  <a:pt x="239" y="233"/>
                </a:cubicBezTo>
                <a:cubicBezTo>
                  <a:pt x="226" y="246"/>
                  <a:pt x="211" y="256"/>
                  <a:pt x="194" y="263"/>
                </a:cubicBezTo>
                <a:cubicBezTo>
                  <a:pt x="177" y="270"/>
                  <a:pt x="159" y="273"/>
                  <a:pt x="141" y="273"/>
                </a:cubicBezTo>
                <a:cubicBezTo>
                  <a:pt x="122" y="273"/>
                  <a:pt x="104" y="270"/>
                  <a:pt x="87" y="263"/>
                </a:cubicBezTo>
                <a:cubicBezTo>
                  <a:pt x="70" y="256"/>
                  <a:pt x="55" y="246"/>
                  <a:pt x="42" y="233"/>
                </a:cubicBezTo>
                <a:cubicBezTo>
                  <a:pt x="28" y="221"/>
                  <a:pt x="18" y="206"/>
                  <a:pt x="11" y="189"/>
                </a:cubicBezTo>
                <a:cubicBezTo>
                  <a:pt x="3" y="173"/>
                  <a:pt x="0" y="155"/>
                  <a:pt x="0" y="137"/>
                </a:cubicBezTo>
                <a:cubicBezTo>
                  <a:pt x="0" y="119"/>
                  <a:pt x="3" y="102"/>
                  <a:pt x="11" y="85"/>
                </a:cubicBezTo>
                <a:cubicBezTo>
                  <a:pt x="18" y="69"/>
                  <a:pt x="28" y="54"/>
                  <a:pt x="42" y="40"/>
                </a:cubicBezTo>
                <a:cubicBezTo>
                  <a:pt x="55" y="27"/>
                  <a:pt x="70" y="18"/>
                  <a:pt x="87" y="11"/>
                </a:cubicBezTo>
                <a:cubicBezTo>
                  <a:pt x="104" y="4"/>
                  <a:pt x="122" y="0"/>
                  <a:pt x="141" y="0"/>
                </a:cubicBezTo>
                <a:cubicBezTo>
                  <a:pt x="159" y="0"/>
                  <a:pt x="177" y="4"/>
                  <a:pt x="194" y="11"/>
                </a:cubicBezTo>
                <a:cubicBezTo>
                  <a:pt x="211" y="18"/>
                  <a:pt x="226" y="27"/>
                  <a:pt x="239" y="40"/>
                </a:cubicBezTo>
                <a:cubicBezTo>
                  <a:pt x="252" y="54"/>
                  <a:pt x="263" y="69"/>
                  <a:pt x="270" y="85"/>
                </a:cubicBezTo>
                <a:cubicBezTo>
                  <a:pt x="277" y="102"/>
                  <a:pt x="280" y="119"/>
                  <a:pt x="280" y="137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2" name=""/>
          <p:cNvSpPr/>
          <p:nvPr/>
        </p:nvSpPr>
        <p:spPr>
          <a:xfrm>
            <a:off x="1092600" y="849600"/>
            <a:ext cx="30600" cy="29880"/>
          </a:xfrm>
          <a:custGeom>
            <a:avLst/>
            <a:gdLst/>
            <a:ahLst/>
            <a:rect l="0" t="0" r="r" b="b"/>
            <a:pathLst>
              <a:path w="85" h="83">
                <a:moveTo>
                  <a:pt x="85" y="42"/>
                </a:moveTo>
                <a:cubicBezTo>
                  <a:pt x="85" y="47"/>
                  <a:pt x="84" y="53"/>
                  <a:pt x="81" y="58"/>
                </a:cubicBezTo>
                <a:cubicBezTo>
                  <a:pt x="79" y="63"/>
                  <a:pt x="75" y="67"/>
                  <a:pt x="71" y="71"/>
                </a:cubicBezTo>
                <a:cubicBezTo>
                  <a:pt x="67" y="75"/>
                  <a:pt x="63" y="78"/>
                  <a:pt x="58" y="80"/>
                </a:cubicBezTo>
                <a:cubicBezTo>
                  <a:pt x="53" y="82"/>
                  <a:pt x="47" y="83"/>
                  <a:pt x="42" y="83"/>
                </a:cubicBezTo>
                <a:cubicBezTo>
                  <a:pt x="36" y="83"/>
                  <a:pt x="31" y="82"/>
                  <a:pt x="26" y="80"/>
                </a:cubicBezTo>
                <a:cubicBezTo>
                  <a:pt x="21" y="78"/>
                  <a:pt x="16" y="75"/>
                  <a:pt x="12" y="71"/>
                </a:cubicBezTo>
                <a:cubicBezTo>
                  <a:pt x="8" y="67"/>
                  <a:pt x="5" y="63"/>
                  <a:pt x="3" y="58"/>
                </a:cubicBezTo>
                <a:cubicBezTo>
                  <a:pt x="1" y="53"/>
                  <a:pt x="0" y="47"/>
                  <a:pt x="0" y="42"/>
                </a:cubicBezTo>
                <a:cubicBezTo>
                  <a:pt x="0" y="37"/>
                  <a:pt x="1" y="31"/>
                  <a:pt x="3" y="25"/>
                </a:cubicBezTo>
                <a:cubicBezTo>
                  <a:pt x="5" y="20"/>
                  <a:pt x="8" y="16"/>
                  <a:pt x="12" y="12"/>
                </a:cubicBezTo>
                <a:cubicBezTo>
                  <a:pt x="16" y="8"/>
                  <a:pt x="21" y="5"/>
                  <a:pt x="26" y="3"/>
                </a:cubicBezTo>
                <a:cubicBezTo>
                  <a:pt x="31" y="1"/>
                  <a:pt x="36" y="0"/>
                  <a:pt x="42" y="0"/>
                </a:cubicBezTo>
                <a:cubicBezTo>
                  <a:pt x="47" y="0"/>
                  <a:pt x="53" y="1"/>
                  <a:pt x="58" y="3"/>
                </a:cubicBezTo>
                <a:cubicBezTo>
                  <a:pt x="63" y="5"/>
                  <a:pt x="67" y="8"/>
                  <a:pt x="71" y="12"/>
                </a:cubicBezTo>
                <a:cubicBezTo>
                  <a:pt x="75" y="16"/>
                  <a:pt x="79" y="20"/>
                  <a:pt x="81" y="25"/>
                </a:cubicBezTo>
                <a:cubicBezTo>
                  <a:pt x="84" y="31"/>
                  <a:pt x="85" y="37"/>
                  <a:pt x="85" y="4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3" name=""/>
          <p:cNvSpPr/>
          <p:nvPr/>
        </p:nvSpPr>
        <p:spPr>
          <a:xfrm>
            <a:off x="780840" y="771480"/>
            <a:ext cx="211680" cy="215640"/>
          </a:xfrm>
          <a:custGeom>
            <a:avLst/>
            <a:gdLst/>
            <a:ahLst/>
            <a:rect l="0" t="0" r="r" b="b"/>
            <a:pathLst>
              <a:path w="588" h="599">
                <a:moveTo>
                  <a:pt x="447" y="244"/>
                </a:moveTo>
                <a:lnTo>
                  <a:pt x="532" y="81"/>
                </a:lnTo>
                <a:lnTo>
                  <a:pt x="363" y="136"/>
                </a:lnTo>
                <a:lnTo>
                  <a:pt x="251" y="0"/>
                </a:lnTo>
                <a:lnTo>
                  <a:pt x="196" y="136"/>
                </a:lnTo>
                <a:lnTo>
                  <a:pt x="28" y="108"/>
                </a:lnTo>
                <a:lnTo>
                  <a:pt x="140" y="272"/>
                </a:lnTo>
                <a:lnTo>
                  <a:pt x="0" y="380"/>
                </a:lnTo>
                <a:lnTo>
                  <a:pt x="168" y="380"/>
                </a:lnTo>
                <a:lnTo>
                  <a:pt x="112" y="543"/>
                </a:lnTo>
                <a:lnTo>
                  <a:pt x="279" y="462"/>
                </a:lnTo>
                <a:lnTo>
                  <a:pt x="447" y="599"/>
                </a:lnTo>
                <a:lnTo>
                  <a:pt x="419" y="380"/>
                </a:lnTo>
                <a:lnTo>
                  <a:pt x="588" y="353"/>
                </a:lnTo>
                <a:lnTo>
                  <a:pt x="447" y="244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4" name=""/>
          <p:cNvSpPr/>
          <p:nvPr/>
        </p:nvSpPr>
        <p:spPr>
          <a:xfrm>
            <a:off x="831240" y="810360"/>
            <a:ext cx="110880" cy="127800"/>
          </a:xfrm>
          <a:custGeom>
            <a:avLst/>
            <a:gdLst/>
            <a:ahLst/>
            <a:rect l="0" t="0" r="r" b="b"/>
            <a:pathLst>
              <a:path w="308" h="355">
                <a:moveTo>
                  <a:pt x="139" y="273"/>
                </a:moveTo>
                <a:lnTo>
                  <a:pt x="56" y="328"/>
                </a:lnTo>
                <a:lnTo>
                  <a:pt x="84" y="246"/>
                </a:lnTo>
                <a:lnTo>
                  <a:pt x="0" y="219"/>
                </a:lnTo>
                <a:lnTo>
                  <a:pt x="84" y="165"/>
                </a:lnTo>
                <a:lnTo>
                  <a:pt x="0" y="83"/>
                </a:lnTo>
                <a:lnTo>
                  <a:pt x="111" y="83"/>
                </a:lnTo>
                <a:lnTo>
                  <a:pt x="139" y="0"/>
                </a:lnTo>
                <a:lnTo>
                  <a:pt x="195" y="83"/>
                </a:lnTo>
                <a:lnTo>
                  <a:pt x="279" y="56"/>
                </a:lnTo>
                <a:lnTo>
                  <a:pt x="223" y="137"/>
                </a:lnTo>
                <a:lnTo>
                  <a:pt x="308" y="219"/>
                </a:lnTo>
                <a:lnTo>
                  <a:pt x="223" y="246"/>
                </a:lnTo>
                <a:lnTo>
                  <a:pt x="251" y="355"/>
                </a:lnTo>
                <a:lnTo>
                  <a:pt x="139" y="273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975" name="" descr=""/>
          <p:cNvPicPr/>
          <p:nvPr/>
        </p:nvPicPr>
        <p:blipFill>
          <a:blip r:embed="rId1"/>
          <a:stretch/>
        </p:blipFill>
        <p:spPr>
          <a:xfrm>
            <a:off x="752400" y="1457280"/>
            <a:ext cx="10096200" cy="5676480"/>
          </a:xfrm>
          <a:prstGeom prst="rect">
            <a:avLst/>
          </a:prstGeom>
          <a:ln w="0">
            <a:noFill/>
          </a:ln>
        </p:spPr>
      </p:pic>
      <p:sp>
        <p:nvSpPr>
          <p:cNvPr id="976" name=""/>
          <p:cNvSpPr txBox="1"/>
          <p:nvPr/>
        </p:nvSpPr>
        <p:spPr>
          <a:xfrm>
            <a:off x="1160280" y="770400"/>
            <a:ext cx="779436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1 — PHP-FPM Workers &amp; Request Rate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0" name=""/>
          <p:cNvSpPr/>
          <p:nvPr/>
        </p:nvSpPr>
        <p:spPr>
          <a:xfrm>
            <a:off x="780840" y="830160"/>
            <a:ext cx="362160" cy="254880"/>
          </a:xfrm>
          <a:custGeom>
            <a:avLst/>
            <a:gdLst/>
            <a:ahLst/>
            <a:rect l="0" t="0" r="r" b="b"/>
            <a:pathLst>
              <a:path w="1006" h="708">
                <a:moveTo>
                  <a:pt x="0" y="109"/>
                </a:moveTo>
                <a:cubicBezTo>
                  <a:pt x="0" y="109"/>
                  <a:pt x="0" y="0"/>
                  <a:pt x="112" y="0"/>
                </a:cubicBezTo>
                <a:lnTo>
                  <a:pt x="895" y="0"/>
                </a:lnTo>
                <a:cubicBezTo>
                  <a:pt x="895" y="0"/>
                  <a:pt x="1006" y="0"/>
                  <a:pt x="1006" y="109"/>
                </a:cubicBezTo>
                <a:lnTo>
                  <a:pt x="1006" y="599"/>
                </a:lnTo>
                <a:cubicBezTo>
                  <a:pt x="1006" y="599"/>
                  <a:pt x="1006" y="708"/>
                  <a:pt x="895" y="708"/>
                </a:cubicBezTo>
                <a:lnTo>
                  <a:pt x="112" y="708"/>
                </a:lnTo>
                <a:cubicBezTo>
                  <a:pt x="112" y="708"/>
                  <a:pt x="0" y="708"/>
                  <a:pt x="0" y="599"/>
                </a:cubicBezTo>
                <a:lnTo>
                  <a:pt x="0" y="109"/>
                </a:ln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81" name=""/>
          <p:cNvSpPr/>
          <p:nvPr/>
        </p:nvSpPr>
        <p:spPr>
          <a:xfrm>
            <a:off x="891360" y="859320"/>
            <a:ext cx="201600" cy="196200"/>
          </a:xfrm>
          <a:custGeom>
            <a:avLst/>
            <a:gdLst/>
            <a:ahLst/>
            <a:rect l="0" t="0" r="r" b="b"/>
            <a:pathLst>
              <a:path w="560" h="545">
                <a:moveTo>
                  <a:pt x="560" y="273"/>
                </a:moveTo>
                <a:cubicBezTo>
                  <a:pt x="560" y="291"/>
                  <a:pt x="558" y="309"/>
                  <a:pt x="554" y="326"/>
                </a:cubicBezTo>
                <a:cubicBezTo>
                  <a:pt x="551" y="344"/>
                  <a:pt x="546" y="361"/>
                  <a:pt x="539" y="377"/>
                </a:cubicBezTo>
                <a:cubicBezTo>
                  <a:pt x="532" y="394"/>
                  <a:pt x="523" y="410"/>
                  <a:pt x="513" y="424"/>
                </a:cubicBezTo>
                <a:cubicBezTo>
                  <a:pt x="503" y="439"/>
                  <a:pt x="491" y="453"/>
                  <a:pt x="478" y="466"/>
                </a:cubicBezTo>
                <a:cubicBezTo>
                  <a:pt x="465" y="478"/>
                  <a:pt x="451" y="489"/>
                  <a:pt x="436" y="499"/>
                </a:cubicBezTo>
                <a:cubicBezTo>
                  <a:pt x="420" y="509"/>
                  <a:pt x="404" y="518"/>
                  <a:pt x="387" y="525"/>
                </a:cubicBezTo>
                <a:cubicBezTo>
                  <a:pt x="371" y="531"/>
                  <a:pt x="353" y="537"/>
                  <a:pt x="335" y="540"/>
                </a:cubicBezTo>
                <a:cubicBezTo>
                  <a:pt x="317" y="543"/>
                  <a:pt x="299" y="545"/>
                  <a:pt x="281" y="545"/>
                </a:cubicBezTo>
                <a:cubicBezTo>
                  <a:pt x="262" y="545"/>
                  <a:pt x="244" y="543"/>
                  <a:pt x="226" y="540"/>
                </a:cubicBezTo>
                <a:cubicBezTo>
                  <a:pt x="208" y="537"/>
                  <a:pt x="191" y="531"/>
                  <a:pt x="174" y="525"/>
                </a:cubicBezTo>
                <a:cubicBezTo>
                  <a:pt x="157" y="518"/>
                  <a:pt x="141" y="509"/>
                  <a:pt x="125" y="499"/>
                </a:cubicBezTo>
                <a:cubicBezTo>
                  <a:pt x="110" y="489"/>
                  <a:pt x="96" y="478"/>
                  <a:pt x="83" y="466"/>
                </a:cubicBezTo>
                <a:cubicBezTo>
                  <a:pt x="70" y="453"/>
                  <a:pt x="59" y="439"/>
                  <a:pt x="48" y="424"/>
                </a:cubicBezTo>
                <a:cubicBezTo>
                  <a:pt x="38" y="410"/>
                  <a:pt x="29" y="394"/>
                  <a:pt x="22" y="377"/>
                </a:cubicBezTo>
                <a:cubicBezTo>
                  <a:pt x="15" y="361"/>
                  <a:pt x="9" y="344"/>
                  <a:pt x="6" y="326"/>
                </a:cubicBezTo>
                <a:cubicBezTo>
                  <a:pt x="2" y="309"/>
                  <a:pt x="0" y="291"/>
                  <a:pt x="0" y="273"/>
                </a:cubicBezTo>
                <a:cubicBezTo>
                  <a:pt x="0" y="255"/>
                  <a:pt x="2" y="238"/>
                  <a:pt x="6" y="220"/>
                </a:cubicBezTo>
                <a:cubicBezTo>
                  <a:pt x="9" y="203"/>
                  <a:pt x="15" y="186"/>
                  <a:pt x="22" y="169"/>
                </a:cubicBezTo>
                <a:cubicBezTo>
                  <a:pt x="29" y="153"/>
                  <a:pt x="38" y="137"/>
                  <a:pt x="48" y="122"/>
                </a:cubicBezTo>
                <a:cubicBezTo>
                  <a:pt x="59" y="107"/>
                  <a:pt x="70" y="94"/>
                  <a:pt x="83" y="81"/>
                </a:cubicBezTo>
                <a:cubicBezTo>
                  <a:pt x="96" y="68"/>
                  <a:pt x="110" y="56"/>
                  <a:pt x="125" y="46"/>
                </a:cubicBezTo>
                <a:cubicBezTo>
                  <a:pt x="141" y="36"/>
                  <a:pt x="157" y="28"/>
                  <a:pt x="174" y="21"/>
                </a:cubicBezTo>
                <a:cubicBezTo>
                  <a:pt x="191" y="14"/>
                  <a:pt x="208" y="9"/>
                  <a:pt x="226" y="6"/>
                </a:cubicBezTo>
                <a:cubicBezTo>
                  <a:pt x="244" y="2"/>
                  <a:pt x="262" y="0"/>
                  <a:pt x="281" y="0"/>
                </a:cubicBezTo>
                <a:cubicBezTo>
                  <a:pt x="299" y="0"/>
                  <a:pt x="317" y="2"/>
                  <a:pt x="335" y="6"/>
                </a:cubicBezTo>
                <a:cubicBezTo>
                  <a:pt x="353" y="9"/>
                  <a:pt x="371" y="14"/>
                  <a:pt x="387" y="21"/>
                </a:cubicBezTo>
                <a:cubicBezTo>
                  <a:pt x="404" y="28"/>
                  <a:pt x="420" y="36"/>
                  <a:pt x="436" y="46"/>
                </a:cubicBezTo>
                <a:cubicBezTo>
                  <a:pt x="451" y="56"/>
                  <a:pt x="465" y="68"/>
                  <a:pt x="478" y="81"/>
                </a:cubicBezTo>
                <a:cubicBezTo>
                  <a:pt x="491" y="94"/>
                  <a:pt x="503" y="107"/>
                  <a:pt x="513" y="122"/>
                </a:cubicBezTo>
                <a:cubicBezTo>
                  <a:pt x="523" y="137"/>
                  <a:pt x="532" y="153"/>
                  <a:pt x="539" y="169"/>
                </a:cubicBezTo>
                <a:cubicBezTo>
                  <a:pt x="546" y="186"/>
                  <a:pt x="551" y="203"/>
                  <a:pt x="554" y="220"/>
                </a:cubicBezTo>
                <a:cubicBezTo>
                  <a:pt x="558" y="238"/>
                  <a:pt x="560" y="255"/>
                  <a:pt x="560" y="273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2" name=""/>
          <p:cNvSpPr/>
          <p:nvPr/>
        </p:nvSpPr>
        <p:spPr>
          <a:xfrm>
            <a:off x="911520" y="879120"/>
            <a:ext cx="161280" cy="156960"/>
          </a:xfrm>
          <a:custGeom>
            <a:avLst/>
            <a:gdLst/>
            <a:ahLst/>
            <a:rect l="0" t="0" r="r" b="b"/>
            <a:pathLst>
              <a:path w="448" h="436">
                <a:moveTo>
                  <a:pt x="448" y="217"/>
                </a:moveTo>
                <a:cubicBezTo>
                  <a:pt x="448" y="232"/>
                  <a:pt x="447" y="246"/>
                  <a:pt x="444" y="260"/>
                </a:cubicBezTo>
                <a:cubicBezTo>
                  <a:pt x="441" y="274"/>
                  <a:pt x="437" y="287"/>
                  <a:pt x="431" y="301"/>
                </a:cubicBezTo>
                <a:cubicBezTo>
                  <a:pt x="425" y="314"/>
                  <a:pt x="418" y="326"/>
                  <a:pt x="410" y="338"/>
                </a:cubicBezTo>
                <a:cubicBezTo>
                  <a:pt x="402" y="350"/>
                  <a:pt x="393" y="361"/>
                  <a:pt x="383" y="371"/>
                </a:cubicBezTo>
                <a:cubicBezTo>
                  <a:pt x="372" y="381"/>
                  <a:pt x="360" y="391"/>
                  <a:pt x="348" y="399"/>
                </a:cubicBezTo>
                <a:cubicBezTo>
                  <a:pt x="336" y="407"/>
                  <a:pt x="323" y="414"/>
                  <a:pt x="309" y="419"/>
                </a:cubicBezTo>
                <a:cubicBezTo>
                  <a:pt x="296" y="425"/>
                  <a:pt x="282" y="429"/>
                  <a:pt x="267" y="432"/>
                </a:cubicBezTo>
                <a:cubicBezTo>
                  <a:pt x="253" y="434"/>
                  <a:pt x="238" y="436"/>
                  <a:pt x="224" y="436"/>
                </a:cubicBezTo>
                <a:cubicBezTo>
                  <a:pt x="209" y="436"/>
                  <a:pt x="194" y="434"/>
                  <a:pt x="180" y="432"/>
                </a:cubicBezTo>
                <a:cubicBezTo>
                  <a:pt x="166" y="429"/>
                  <a:pt x="152" y="425"/>
                  <a:pt x="138" y="419"/>
                </a:cubicBezTo>
                <a:cubicBezTo>
                  <a:pt x="125" y="414"/>
                  <a:pt x="112" y="407"/>
                  <a:pt x="99" y="399"/>
                </a:cubicBezTo>
                <a:cubicBezTo>
                  <a:pt x="87" y="391"/>
                  <a:pt x="76" y="381"/>
                  <a:pt x="66" y="371"/>
                </a:cubicBezTo>
                <a:cubicBezTo>
                  <a:pt x="55" y="361"/>
                  <a:pt x="46" y="350"/>
                  <a:pt x="38" y="338"/>
                </a:cubicBezTo>
                <a:cubicBezTo>
                  <a:pt x="30" y="326"/>
                  <a:pt x="23" y="314"/>
                  <a:pt x="17" y="301"/>
                </a:cubicBezTo>
                <a:cubicBezTo>
                  <a:pt x="12" y="287"/>
                  <a:pt x="7" y="274"/>
                  <a:pt x="4" y="260"/>
                </a:cubicBezTo>
                <a:cubicBezTo>
                  <a:pt x="2" y="246"/>
                  <a:pt x="0" y="232"/>
                  <a:pt x="0" y="217"/>
                </a:cubicBezTo>
                <a:cubicBezTo>
                  <a:pt x="0" y="203"/>
                  <a:pt x="2" y="189"/>
                  <a:pt x="4" y="175"/>
                </a:cubicBezTo>
                <a:cubicBezTo>
                  <a:pt x="7" y="161"/>
                  <a:pt x="12" y="147"/>
                  <a:pt x="17" y="134"/>
                </a:cubicBezTo>
                <a:cubicBezTo>
                  <a:pt x="23" y="121"/>
                  <a:pt x="30" y="108"/>
                  <a:pt x="38" y="96"/>
                </a:cubicBezTo>
                <a:cubicBezTo>
                  <a:pt x="46" y="85"/>
                  <a:pt x="55" y="74"/>
                  <a:pt x="66" y="63"/>
                </a:cubicBezTo>
                <a:cubicBezTo>
                  <a:pt x="76" y="53"/>
                  <a:pt x="87" y="44"/>
                  <a:pt x="99" y="36"/>
                </a:cubicBezTo>
                <a:cubicBezTo>
                  <a:pt x="112" y="28"/>
                  <a:pt x="125" y="22"/>
                  <a:pt x="138" y="16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4" y="1"/>
                  <a:pt x="209" y="0"/>
                  <a:pt x="224" y="0"/>
                </a:cubicBezTo>
                <a:cubicBezTo>
                  <a:pt x="238" y="0"/>
                  <a:pt x="253" y="1"/>
                  <a:pt x="267" y="4"/>
                </a:cubicBezTo>
                <a:cubicBezTo>
                  <a:pt x="282" y="7"/>
                  <a:pt x="296" y="11"/>
                  <a:pt x="309" y="16"/>
                </a:cubicBezTo>
                <a:cubicBezTo>
                  <a:pt x="323" y="22"/>
                  <a:pt x="336" y="28"/>
                  <a:pt x="348" y="36"/>
                </a:cubicBezTo>
                <a:cubicBezTo>
                  <a:pt x="360" y="44"/>
                  <a:pt x="372" y="53"/>
                  <a:pt x="383" y="63"/>
                </a:cubicBezTo>
                <a:cubicBezTo>
                  <a:pt x="393" y="74"/>
                  <a:pt x="402" y="85"/>
                  <a:pt x="410" y="96"/>
                </a:cubicBezTo>
                <a:cubicBezTo>
                  <a:pt x="418" y="108"/>
                  <a:pt x="425" y="121"/>
                  <a:pt x="431" y="134"/>
                </a:cubicBezTo>
                <a:cubicBezTo>
                  <a:pt x="437" y="147"/>
                  <a:pt x="441" y="161"/>
                  <a:pt x="444" y="175"/>
                </a:cubicBezTo>
                <a:cubicBezTo>
                  <a:pt x="447" y="189"/>
                  <a:pt x="448" y="203"/>
                  <a:pt x="448" y="217"/>
                </a:cubicBez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83" name=""/>
          <p:cNvSpPr/>
          <p:nvPr/>
        </p:nvSpPr>
        <p:spPr>
          <a:xfrm>
            <a:off x="941760" y="908280"/>
            <a:ext cx="100800" cy="98280"/>
          </a:xfrm>
          <a:custGeom>
            <a:avLst/>
            <a:gdLst/>
            <a:ahLst/>
            <a:rect l="0" t="0" r="r" b="b"/>
            <a:pathLst>
              <a:path w="280" h="273">
                <a:moveTo>
                  <a:pt x="280" y="137"/>
                </a:moveTo>
                <a:cubicBezTo>
                  <a:pt x="280" y="155"/>
                  <a:pt x="277" y="173"/>
                  <a:pt x="270" y="189"/>
                </a:cubicBezTo>
                <a:cubicBezTo>
                  <a:pt x="263" y="206"/>
                  <a:pt x="252" y="221"/>
                  <a:pt x="239" y="233"/>
                </a:cubicBezTo>
                <a:cubicBezTo>
                  <a:pt x="226" y="246"/>
                  <a:pt x="211" y="256"/>
                  <a:pt x="194" y="263"/>
                </a:cubicBezTo>
                <a:cubicBezTo>
                  <a:pt x="177" y="270"/>
                  <a:pt x="159" y="273"/>
                  <a:pt x="141" y="273"/>
                </a:cubicBezTo>
                <a:cubicBezTo>
                  <a:pt x="122" y="273"/>
                  <a:pt x="104" y="270"/>
                  <a:pt x="87" y="263"/>
                </a:cubicBezTo>
                <a:cubicBezTo>
                  <a:pt x="70" y="256"/>
                  <a:pt x="55" y="246"/>
                  <a:pt x="42" y="233"/>
                </a:cubicBezTo>
                <a:cubicBezTo>
                  <a:pt x="28" y="221"/>
                  <a:pt x="18" y="206"/>
                  <a:pt x="11" y="189"/>
                </a:cubicBezTo>
                <a:cubicBezTo>
                  <a:pt x="3" y="173"/>
                  <a:pt x="0" y="155"/>
                  <a:pt x="0" y="137"/>
                </a:cubicBezTo>
                <a:cubicBezTo>
                  <a:pt x="0" y="119"/>
                  <a:pt x="3" y="102"/>
                  <a:pt x="11" y="85"/>
                </a:cubicBezTo>
                <a:cubicBezTo>
                  <a:pt x="18" y="69"/>
                  <a:pt x="28" y="54"/>
                  <a:pt x="42" y="40"/>
                </a:cubicBezTo>
                <a:cubicBezTo>
                  <a:pt x="55" y="27"/>
                  <a:pt x="70" y="18"/>
                  <a:pt x="87" y="11"/>
                </a:cubicBezTo>
                <a:cubicBezTo>
                  <a:pt x="104" y="4"/>
                  <a:pt x="122" y="0"/>
                  <a:pt x="141" y="0"/>
                </a:cubicBezTo>
                <a:cubicBezTo>
                  <a:pt x="159" y="0"/>
                  <a:pt x="177" y="4"/>
                  <a:pt x="194" y="11"/>
                </a:cubicBezTo>
                <a:cubicBezTo>
                  <a:pt x="211" y="18"/>
                  <a:pt x="226" y="27"/>
                  <a:pt x="239" y="40"/>
                </a:cubicBezTo>
                <a:cubicBezTo>
                  <a:pt x="252" y="54"/>
                  <a:pt x="263" y="69"/>
                  <a:pt x="270" y="85"/>
                </a:cubicBezTo>
                <a:cubicBezTo>
                  <a:pt x="277" y="102"/>
                  <a:pt x="280" y="119"/>
                  <a:pt x="280" y="137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84" name=""/>
          <p:cNvSpPr/>
          <p:nvPr/>
        </p:nvSpPr>
        <p:spPr>
          <a:xfrm>
            <a:off x="1092600" y="849600"/>
            <a:ext cx="30600" cy="29880"/>
          </a:xfrm>
          <a:custGeom>
            <a:avLst/>
            <a:gdLst/>
            <a:ahLst/>
            <a:rect l="0" t="0" r="r" b="b"/>
            <a:pathLst>
              <a:path w="85" h="83">
                <a:moveTo>
                  <a:pt x="85" y="42"/>
                </a:moveTo>
                <a:cubicBezTo>
                  <a:pt x="85" y="47"/>
                  <a:pt x="84" y="53"/>
                  <a:pt x="81" y="58"/>
                </a:cubicBezTo>
                <a:cubicBezTo>
                  <a:pt x="79" y="63"/>
                  <a:pt x="75" y="67"/>
                  <a:pt x="71" y="71"/>
                </a:cubicBezTo>
                <a:cubicBezTo>
                  <a:pt x="67" y="75"/>
                  <a:pt x="63" y="78"/>
                  <a:pt x="58" y="80"/>
                </a:cubicBezTo>
                <a:cubicBezTo>
                  <a:pt x="53" y="82"/>
                  <a:pt x="47" y="83"/>
                  <a:pt x="42" y="83"/>
                </a:cubicBezTo>
                <a:cubicBezTo>
                  <a:pt x="36" y="83"/>
                  <a:pt x="31" y="82"/>
                  <a:pt x="26" y="80"/>
                </a:cubicBezTo>
                <a:cubicBezTo>
                  <a:pt x="21" y="78"/>
                  <a:pt x="16" y="75"/>
                  <a:pt x="12" y="71"/>
                </a:cubicBezTo>
                <a:cubicBezTo>
                  <a:pt x="8" y="67"/>
                  <a:pt x="5" y="63"/>
                  <a:pt x="3" y="58"/>
                </a:cubicBezTo>
                <a:cubicBezTo>
                  <a:pt x="1" y="53"/>
                  <a:pt x="0" y="47"/>
                  <a:pt x="0" y="42"/>
                </a:cubicBezTo>
                <a:cubicBezTo>
                  <a:pt x="0" y="37"/>
                  <a:pt x="1" y="31"/>
                  <a:pt x="3" y="25"/>
                </a:cubicBezTo>
                <a:cubicBezTo>
                  <a:pt x="5" y="20"/>
                  <a:pt x="8" y="16"/>
                  <a:pt x="12" y="12"/>
                </a:cubicBezTo>
                <a:cubicBezTo>
                  <a:pt x="16" y="8"/>
                  <a:pt x="21" y="5"/>
                  <a:pt x="26" y="3"/>
                </a:cubicBezTo>
                <a:cubicBezTo>
                  <a:pt x="31" y="1"/>
                  <a:pt x="36" y="0"/>
                  <a:pt x="42" y="0"/>
                </a:cubicBezTo>
                <a:cubicBezTo>
                  <a:pt x="47" y="0"/>
                  <a:pt x="53" y="1"/>
                  <a:pt x="58" y="3"/>
                </a:cubicBezTo>
                <a:cubicBezTo>
                  <a:pt x="63" y="5"/>
                  <a:pt x="67" y="8"/>
                  <a:pt x="71" y="12"/>
                </a:cubicBezTo>
                <a:cubicBezTo>
                  <a:pt x="75" y="16"/>
                  <a:pt x="79" y="20"/>
                  <a:pt x="81" y="25"/>
                </a:cubicBezTo>
                <a:cubicBezTo>
                  <a:pt x="84" y="31"/>
                  <a:pt x="85" y="37"/>
                  <a:pt x="85" y="4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5" name=""/>
          <p:cNvSpPr/>
          <p:nvPr/>
        </p:nvSpPr>
        <p:spPr>
          <a:xfrm>
            <a:off x="780840" y="771480"/>
            <a:ext cx="211680" cy="215640"/>
          </a:xfrm>
          <a:custGeom>
            <a:avLst/>
            <a:gdLst/>
            <a:ahLst/>
            <a:rect l="0" t="0" r="r" b="b"/>
            <a:pathLst>
              <a:path w="588" h="599">
                <a:moveTo>
                  <a:pt x="447" y="244"/>
                </a:moveTo>
                <a:lnTo>
                  <a:pt x="532" y="81"/>
                </a:lnTo>
                <a:lnTo>
                  <a:pt x="363" y="136"/>
                </a:lnTo>
                <a:lnTo>
                  <a:pt x="251" y="0"/>
                </a:lnTo>
                <a:lnTo>
                  <a:pt x="196" y="136"/>
                </a:lnTo>
                <a:lnTo>
                  <a:pt x="28" y="108"/>
                </a:lnTo>
                <a:lnTo>
                  <a:pt x="140" y="272"/>
                </a:lnTo>
                <a:lnTo>
                  <a:pt x="0" y="380"/>
                </a:lnTo>
                <a:lnTo>
                  <a:pt x="168" y="380"/>
                </a:lnTo>
                <a:lnTo>
                  <a:pt x="112" y="543"/>
                </a:lnTo>
                <a:lnTo>
                  <a:pt x="279" y="462"/>
                </a:lnTo>
                <a:lnTo>
                  <a:pt x="447" y="599"/>
                </a:lnTo>
                <a:lnTo>
                  <a:pt x="419" y="380"/>
                </a:lnTo>
                <a:lnTo>
                  <a:pt x="588" y="353"/>
                </a:lnTo>
                <a:lnTo>
                  <a:pt x="447" y="244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6" name=""/>
          <p:cNvSpPr/>
          <p:nvPr/>
        </p:nvSpPr>
        <p:spPr>
          <a:xfrm>
            <a:off x="831240" y="810360"/>
            <a:ext cx="110880" cy="127800"/>
          </a:xfrm>
          <a:custGeom>
            <a:avLst/>
            <a:gdLst/>
            <a:ahLst/>
            <a:rect l="0" t="0" r="r" b="b"/>
            <a:pathLst>
              <a:path w="308" h="355">
                <a:moveTo>
                  <a:pt x="139" y="273"/>
                </a:moveTo>
                <a:lnTo>
                  <a:pt x="56" y="328"/>
                </a:lnTo>
                <a:lnTo>
                  <a:pt x="84" y="246"/>
                </a:lnTo>
                <a:lnTo>
                  <a:pt x="0" y="219"/>
                </a:lnTo>
                <a:lnTo>
                  <a:pt x="84" y="165"/>
                </a:lnTo>
                <a:lnTo>
                  <a:pt x="0" y="83"/>
                </a:lnTo>
                <a:lnTo>
                  <a:pt x="111" y="83"/>
                </a:lnTo>
                <a:lnTo>
                  <a:pt x="139" y="0"/>
                </a:lnTo>
                <a:lnTo>
                  <a:pt x="195" y="83"/>
                </a:lnTo>
                <a:lnTo>
                  <a:pt x="279" y="56"/>
                </a:lnTo>
                <a:lnTo>
                  <a:pt x="223" y="137"/>
                </a:lnTo>
                <a:lnTo>
                  <a:pt x="308" y="219"/>
                </a:lnTo>
                <a:lnTo>
                  <a:pt x="223" y="246"/>
                </a:lnTo>
                <a:lnTo>
                  <a:pt x="251" y="355"/>
                </a:lnTo>
                <a:lnTo>
                  <a:pt x="139" y="273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987" name="" descr=""/>
          <p:cNvPicPr/>
          <p:nvPr/>
        </p:nvPicPr>
        <p:blipFill>
          <a:blip r:embed="rId1"/>
          <a:stretch/>
        </p:blipFill>
        <p:spPr>
          <a:xfrm>
            <a:off x="752400" y="1457280"/>
            <a:ext cx="10096200" cy="5676480"/>
          </a:xfrm>
          <a:prstGeom prst="rect">
            <a:avLst/>
          </a:prstGeom>
          <a:ln w="0">
            <a:noFill/>
          </a:ln>
        </p:spPr>
      </p:pic>
      <p:sp>
        <p:nvSpPr>
          <p:cNvPr id="988" name=""/>
          <p:cNvSpPr txBox="1"/>
          <p:nvPr/>
        </p:nvSpPr>
        <p:spPr>
          <a:xfrm>
            <a:off x="1160280" y="770400"/>
            <a:ext cx="746532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1 — Redis: 97% Hit Rate, ~2.5K ops/s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2" name=""/>
          <p:cNvSpPr txBox="1"/>
          <p:nvPr/>
        </p:nvSpPr>
        <p:spPr>
          <a:xfrm>
            <a:off x="747720" y="770400"/>
            <a:ext cx="659520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1 — what Redis is actually doing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993" name="" descr=""/>
          <p:cNvPicPr/>
          <p:nvPr/>
        </p:nvPicPr>
        <p:blipFill>
          <a:blip r:embed="rId1"/>
          <a:stretch/>
        </p:blipFill>
        <p:spPr>
          <a:xfrm>
            <a:off x="752400" y="2019240"/>
            <a:ext cx="8571960" cy="5886000"/>
          </a:xfrm>
          <a:prstGeom prst="rect">
            <a:avLst/>
          </a:prstGeom>
          <a:ln w="0">
            <a:noFill/>
          </a:ln>
        </p:spPr>
      </p:pic>
      <p:sp>
        <p:nvSpPr>
          <p:cNvPr id="994" name=""/>
          <p:cNvSpPr txBox="1"/>
          <p:nvPr/>
        </p:nvSpPr>
        <p:spPr>
          <a:xfrm>
            <a:off x="747720" y="1502640"/>
            <a:ext cx="6700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~43,000 cached keys · 23 MB · ~2,500 ops/s at peak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8" name=""/>
          <p:cNvSpPr txBox="1"/>
          <p:nvPr/>
        </p:nvSpPr>
        <p:spPr>
          <a:xfrm>
            <a:off x="747720" y="2106000"/>
            <a:ext cx="343800" cy="323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ColorEmoji"/>
                <a:ea typeface="NotoColorEmoji"/>
              </a:rPr>
              <a:t>🚀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9" name=""/>
          <p:cNvSpPr txBox="1"/>
          <p:nvPr/>
        </p:nvSpPr>
        <p:spPr>
          <a:xfrm>
            <a:off x="747720" y="2743200"/>
            <a:ext cx="1399680" cy="494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480" spc="-1" strike="noStrike">
                <a:solidFill>
                  <a:srgbClr val="224466"/>
                </a:solidFill>
                <a:latin typeface="Arial"/>
                <a:ea typeface="Arial"/>
              </a:rPr>
              <a:t>ACT III</a:t>
            </a:r>
            <a:endParaRPr b="0" lang="en-US" sz="34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0" name=""/>
          <p:cNvSpPr txBox="1"/>
          <p:nvPr/>
        </p:nvSpPr>
        <p:spPr>
          <a:xfrm>
            <a:off x="747720" y="3646800"/>
            <a:ext cx="303804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Cache Everything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1" name=""/>
          <p:cNvSpPr txBox="1"/>
          <p:nvPr/>
        </p:nvSpPr>
        <p:spPr>
          <a:xfrm>
            <a:off x="747720" y="4420800"/>
            <a:ext cx="6985080" cy="33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Arial"/>
                <a:ea typeface="Arial"/>
              </a:rPr>
              <a:t>Level 2 — FastCGI page cache + MariaDB tuning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3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5" name=""/>
          <p:cNvSpPr/>
          <p:nvPr/>
        </p:nvSpPr>
        <p:spPr>
          <a:xfrm>
            <a:off x="752400" y="1457280"/>
            <a:ext cx="66960" cy="2067120"/>
          </a:xfrm>
          <a:custGeom>
            <a:avLst/>
            <a:gdLst/>
            <a:ahLst/>
            <a:rect l="0" t="0" r="r" b="b"/>
            <a:pathLst>
              <a:path w="186" h="5742">
                <a:moveTo>
                  <a:pt x="0" y="0"/>
                </a:moveTo>
                <a:lnTo>
                  <a:pt x="186" y="0"/>
                </a:lnTo>
                <a:lnTo>
                  <a:pt x="186" y="5742"/>
                </a:lnTo>
                <a:lnTo>
                  <a:pt x="0" y="574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6" name=""/>
          <p:cNvSpPr/>
          <p:nvPr/>
        </p:nvSpPr>
        <p:spPr>
          <a:xfrm>
            <a:off x="757080" y="4252680"/>
            <a:ext cx="10687320" cy="1667160"/>
          </a:xfrm>
          <a:custGeom>
            <a:avLst/>
            <a:gdLst/>
            <a:ahLst/>
            <a:rect l="0" t="0" r="r" b="b"/>
            <a:pathLst>
              <a:path w="29687" h="4631">
                <a:moveTo>
                  <a:pt x="0" y="4486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4486"/>
                </a:lnTo>
                <a:cubicBezTo>
                  <a:pt x="29687" y="4495"/>
                  <a:pt x="29686" y="4505"/>
                  <a:pt x="29684" y="4514"/>
                </a:cubicBezTo>
                <a:cubicBezTo>
                  <a:pt x="29683" y="4524"/>
                  <a:pt x="29680" y="4533"/>
                  <a:pt x="29676" y="4542"/>
                </a:cubicBezTo>
                <a:cubicBezTo>
                  <a:pt x="29672" y="4550"/>
                  <a:pt x="29668" y="4559"/>
                  <a:pt x="29663" y="4567"/>
                </a:cubicBezTo>
                <a:cubicBezTo>
                  <a:pt x="29657" y="4575"/>
                  <a:pt x="29651" y="4582"/>
                  <a:pt x="29645" y="4589"/>
                </a:cubicBezTo>
                <a:cubicBezTo>
                  <a:pt x="29638" y="4595"/>
                  <a:pt x="29630" y="4602"/>
                  <a:pt x="29623" y="4607"/>
                </a:cubicBezTo>
                <a:cubicBezTo>
                  <a:pt x="29615" y="4612"/>
                  <a:pt x="29606" y="4617"/>
                  <a:pt x="29597" y="4620"/>
                </a:cubicBezTo>
                <a:cubicBezTo>
                  <a:pt x="29589" y="4624"/>
                  <a:pt x="29579" y="4627"/>
                  <a:pt x="29570" y="4629"/>
                </a:cubicBezTo>
                <a:cubicBezTo>
                  <a:pt x="29561" y="4630"/>
                  <a:pt x="29551" y="4631"/>
                  <a:pt x="29542" y="4631"/>
                </a:cubicBezTo>
                <a:lnTo>
                  <a:pt x="145" y="4631"/>
                </a:lnTo>
                <a:cubicBezTo>
                  <a:pt x="136" y="4631"/>
                  <a:pt x="126" y="4630"/>
                  <a:pt x="117" y="4629"/>
                </a:cubicBezTo>
                <a:cubicBezTo>
                  <a:pt x="108" y="4627"/>
                  <a:pt x="99" y="4624"/>
                  <a:pt x="90" y="4620"/>
                </a:cubicBezTo>
                <a:cubicBezTo>
                  <a:pt x="81" y="4617"/>
                  <a:pt x="73" y="4612"/>
                  <a:pt x="65" y="4607"/>
                </a:cubicBezTo>
                <a:cubicBezTo>
                  <a:pt x="57" y="4602"/>
                  <a:pt x="49" y="4595"/>
                  <a:pt x="43" y="4589"/>
                </a:cubicBezTo>
                <a:cubicBezTo>
                  <a:pt x="36" y="4582"/>
                  <a:pt x="30" y="4575"/>
                  <a:pt x="24" y="4567"/>
                </a:cubicBezTo>
                <a:cubicBezTo>
                  <a:pt x="19" y="4559"/>
                  <a:pt x="15" y="4550"/>
                  <a:pt x="11" y="4542"/>
                </a:cubicBezTo>
                <a:cubicBezTo>
                  <a:pt x="7" y="4533"/>
                  <a:pt x="5" y="4524"/>
                  <a:pt x="3" y="4514"/>
                </a:cubicBezTo>
                <a:cubicBezTo>
                  <a:pt x="1" y="4505"/>
                  <a:pt x="0" y="4495"/>
                  <a:pt x="0" y="4486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7" name=""/>
          <p:cNvSpPr/>
          <p:nvPr/>
        </p:nvSpPr>
        <p:spPr>
          <a:xfrm>
            <a:off x="757080" y="4252680"/>
            <a:ext cx="10687320" cy="1667160"/>
          </a:xfrm>
          <a:custGeom>
            <a:avLst/>
            <a:gdLst/>
            <a:ahLst/>
            <a:rect l="0" t="0" r="r" b="b"/>
            <a:pathLst>
              <a:path w="29687" h="4631">
                <a:moveTo>
                  <a:pt x="0" y="4486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4486"/>
                </a:lnTo>
                <a:cubicBezTo>
                  <a:pt x="29687" y="4495"/>
                  <a:pt x="29686" y="4505"/>
                  <a:pt x="29684" y="4514"/>
                </a:cubicBezTo>
                <a:cubicBezTo>
                  <a:pt x="29683" y="4524"/>
                  <a:pt x="29680" y="4533"/>
                  <a:pt x="29676" y="4542"/>
                </a:cubicBezTo>
                <a:cubicBezTo>
                  <a:pt x="29672" y="4550"/>
                  <a:pt x="29668" y="4559"/>
                  <a:pt x="29663" y="4567"/>
                </a:cubicBezTo>
                <a:cubicBezTo>
                  <a:pt x="29657" y="4575"/>
                  <a:pt x="29651" y="4582"/>
                  <a:pt x="29645" y="4589"/>
                </a:cubicBezTo>
                <a:cubicBezTo>
                  <a:pt x="29638" y="4595"/>
                  <a:pt x="29630" y="4602"/>
                  <a:pt x="29623" y="4607"/>
                </a:cubicBezTo>
                <a:cubicBezTo>
                  <a:pt x="29615" y="4612"/>
                  <a:pt x="29606" y="4617"/>
                  <a:pt x="29597" y="4620"/>
                </a:cubicBezTo>
                <a:cubicBezTo>
                  <a:pt x="29589" y="4624"/>
                  <a:pt x="29579" y="4627"/>
                  <a:pt x="29570" y="4629"/>
                </a:cubicBezTo>
                <a:cubicBezTo>
                  <a:pt x="29561" y="4630"/>
                  <a:pt x="29551" y="4631"/>
                  <a:pt x="29542" y="4631"/>
                </a:cubicBezTo>
                <a:lnTo>
                  <a:pt x="145" y="4631"/>
                </a:lnTo>
                <a:cubicBezTo>
                  <a:pt x="136" y="4631"/>
                  <a:pt x="126" y="4630"/>
                  <a:pt x="117" y="4629"/>
                </a:cubicBezTo>
                <a:cubicBezTo>
                  <a:pt x="108" y="4627"/>
                  <a:pt x="99" y="4624"/>
                  <a:pt x="90" y="4620"/>
                </a:cubicBezTo>
                <a:cubicBezTo>
                  <a:pt x="81" y="4617"/>
                  <a:pt x="73" y="4612"/>
                  <a:pt x="65" y="4607"/>
                </a:cubicBezTo>
                <a:cubicBezTo>
                  <a:pt x="57" y="4602"/>
                  <a:pt x="49" y="4595"/>
                  <a:pt x="43" y="4589"/>
                </a:cubicBezTo>
                <a:cubicBezTo>
                  <a:pt x="36" y="4582"/>
                  <a:pt x="30" y="4575"/>
                  <a:pt x="24" y="4567"/>
                </a:cubicBezTo>
                <a:cubicBezTo>
                  <a:pt x="19" y="4559"/>
                  <a:pt x="15" y="4550"/>
                  <a:pt x="11" y="4542"/>
                </a:cubicBezTo>
                <a:cubicBezTo>
                  <a:pt x="7" y="4533"/>
                  <a:pt x="5" y="4524"/>
                  <a:pt x="3" y="4514"/>
                </a:cubicBezTo>
                <a:cubicBezTo>
                  <a:pt x="1" y="4505"/>
                  <a:pt x="0" y="4495"/>
                  <a:pt x="0" y="4486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8" name=""/>
          <p:cNvSpPr txBox="1"/>
          <p:nvPr/>
        </p:nvSpPr>
        <p:spPr>
          <a:xfrm>
            <a:off x="747720" y="770400"/>
            <a:ext cx="261756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The key insight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9" name=""/>
          <p:cNvSpPr txBox="1"/>
          <p:nvPr/>
        </p:nvSpPr>
        <p:spPr>
          <a:xfrm>
            <a:off x="1090440" y="1502640"/>
            <a:ext cx="9902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Most WordPress page requests return identical HTML for every anonymous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0" name=""/>
          <p:cNvSpPr txBox="1"/>
          <p:nvPr/>
        </p:nvSpPr>
        <p:spPr>
          <a:xfrm>
            <a:off x="1090440" y="1912320"/>
            <a:ext cx="904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visitor.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1" name=""/>
          <p:cNvSpPr txBox="1"/>
          <p:nvPr/>
        </p:nvSpPr>
        <p:spPr>
          <a:xfrm>
            <a:off x="1090440" y="2331360"/>
            <a:ext cx="4875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Home page. Category. Blog post. Shop.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2" name=""/>
          <p:cNvSpPr txBox="1"/>
          <p:nvPr/>
        </p:nvSpPr>
        <p:spPr>
          <a:xfrm>
            <a:off x="1090440" y="2741040"/>
            <a:ext cx="6930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PHP runs. MySQL queries. OPcache helps. Redis helps.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3" name=""/>
          <p:cNvSpPr txBox="1"/>
          <p:nvPr/>
        </p:nvSpPr>
        <p:spPr>
          <a:xfrm>
            <a:off x="1090440" y="3160080"/>
            <a:ext cx="5916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The output is still the same HTML every time.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4" name=""/>
          <p:cNvSpPr txBox="1"/>
          <p:nvPr/>
        </p:nvSpPr>
        <p:spPr>
          <a:xfrm>
            <a:off x="747720" y="3722040"/>
            <a:ext cx="6054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FastCGI page cache — the logical conclusion: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5" name=""/>
          <p:cNvSpPr txBox="1"/>
          <p:nvPr/>
        </p:nvSpPr>
        <p:spPr>
          <a:xfrm>
            <a:off x="914400" y="4414680"/>
            <a:ext cx="94359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First anonymous visitor  → PHP runs → nginx stores response on disk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6" name=""/>
          <p:cNvSpPr txBox="1"/>
          <p:nvPr/>
        </p:nvSpPr>
        <p:spPr>
          <a:xfrm>
            <a:off x="914400" y="4681080"/>
            <a:ext cx="85914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Every visitor after      → nginx reads cached file → 8ms TTFB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7" name=""/>
          <p:cNvSpPr txBox="1"/>
          <p:nvPr/>
        </p:nvSpPr>
        <p:spPr>
          <a:xfrm>
            <a:off x="914400" y="4957560"/>
            <a:ext cx="57736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   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PHP never runs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8" name=""/>
          <p:cNvSpPr txBox="1"/>
          <p:nvPr/>
        </p:nvSpPr>
        <p:spPr>
          <a:xfrm>
            <a:off x="914400" y="5224320"/>
            <a:ext cx="60555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   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MySQL never runs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9" name=""/>
          <p:cNvSpPr txBox="1"/>
          <p:nvPr/>
        </p:nvSpPr>
        <p:spPr>
          <a:xfrm>
            <a:off x="914400" y="5490720"/>
            <a:ext cx="61974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   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Redis never asked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0" name=""/>
          <p:cNvSpPr/>
          <p:nvPr/>
        </p:nvSpPr>
        <p:spPr>
          <a:xfrm>
            <a:off x="4724280" y="6124320"/>
            <a:ext cx="276480" cy="276480"/>
          </a:xfrm>
          <a:custGeom>
            <a:avLst/>
            <a:gdLst/>
            <a:ahLst/>
            <a:rect l="0" t="0" r="r" b="b"/>
            <a:pathLst>
              <a:path w="768" h="768">
                <a:moveTo>
                  <a:pt x="768" y="683"/>
                </a:moveTo>
                <a:cubicBezTo>
                  <a:pt x="768" y="730"/>
                  <a:pt x="730" y="768"/>
                  <a:pt x="683" y="768"/>
                </a:cubicBezTo>
                <a:lnTo>
                  <a:pt x="85" y="768"/>
                </a:lnTo>
                <a:cubicBezTo>
                  <a:pt x="38" y="768"/>
                  <a:pt x="0" y="730"/>
                  <a:pt x="0" y="683"/>
                </a:cubicBezTo>
                <a:lnTo>
                  <a:pt x="0" y="85"/>
                </a:lnTo>
                <a:cubicBezTo>
                  <a:pt x="0" y="38"/>
                  <a:pt x="38" y="0"/>
                  <a:pt x="85" y="0"/>
                </a:cubicBezTo>
                <a:lnTo>
                  <a:pt x="683" y="0"/>
                </a:lnTo>
                <a:cubicBezTo>
                  <a:pt x="730" y="0"/>
                  <a:pt x="768" y="38"/>
                  <a:pt x="768" y="85"/>
                </a:cubicBezTo>
                <a:lnTo>
                  <a:pt x="768" y="683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21" name=""/>
          <p:cNvSpPr/>
          <p:nvPr/>
        </p:nvSpPr>
        <p:spPr>
          <a:xfrm>
            <a:off x="4768200" y="6170040"/>
            <a:ext cx="190080" cy="186480"/>
          </a:xfrm>
          <a:custGeom>
            <a:avLst/>
            <a:gdLst/>
            <a:ahLst/>
            <a:rect l="0" t="0" r="r" b="b"/>
            <a:pathLst>
              <a:path w="528" h="518">
                <a:moveTo>
                  <a:pt x="503" y="9"/>
                </a:moveTo>
                <a:cubicBezTo>
                  <a:pt x="478" y="-7"/>
                  <a:pt x="445" y="0"/>
                  <a:pt x="429" y="24"/>
                </a:cubicBezTo>
                <a:lnTo>
                  <a:pt x="197" y="383"/>
                </a:lnTo>
                <a:lnTo>
                  <a:pt x="89" y="284"/>
                </a:lnTo>
                <a:cubicBezTo>
                  <a:pt x="67" y="264"/>
                  <a:pt x="34" y="265"/>
                  <a:pt x="14" y="287"/>
                </a:cubicBezTo>
                <a:cubicBezTo>
                  <a:pt x="-6" y="309"/>
                  <a:pt x="-5" y="342"/>
                  <a:pt x="17" y="362"/>
                </a:cubicBezTo>
                <a:lnTo>
                  <a:pt x="171" y="504"/>
                </a:lnTo>
                <a:cubicBezTo>
                  <a:pt x="182" y="514"/>
                  <a:pt x="195" y="518"/>
                  <a:pt x="207" y="518"/>
                </a:cubicBezTo>
                <a:cubicBezTo>
                  <a:pt x="222" y="518"/>
                  <a:pt x="240" y="512"/>
                  <a:pt x="252" y="494"/>
                </a:cubicBezTo>
                <a:cubicBezTo>
                  <a:pt x="259" y="483"/>
                  <a:pt x="519" y="83"/>
                  <a:pt x="519" y="83"/>
                </a:cubicBezTo>
                <a:cubicBezTo>
                  <a:pt x="535" y="58"/>
                  <a:pt x="528" y="25"/>
                  <a:pt x="503" y="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2" name=""/>
          <p:cNvSpPr txBox="1"/>
          <p:nvPr/>
        </p:nvSpPr>
        <p:spPr>
          <a:xfrm>
            <a:off x="747720" y="6122160"/>
            <a:ext cx="3938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Cached (anonymous visitors)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3" name=""/>
          <p:cNvSpPr txBox="1"/>
          <p:nvPr/>
        </p:nvSpPr>
        <p:spPr>
          <a:xfrm>
            <a:off x="747720" y="6531840"/>
            <a:ext cx="5366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Homepage · Category pages · Posts · Shop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5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7" name=""/>
          <p:cNvSpPr/>
          <p:nvPr/>
        </p:nvSpPr>
        <p:spPr>
          <a:xfrm>
            <a:off x="757080" y="1461960"/>
            <a:ext cx="10687320" cy="5220000"/>
          </a:xfrm>
          <a:custGeom>
            <a:avLst/>
            <a:gdLst/>
            <a:ahLst/>
            <a:rect l="0" t="0" r="r" b="b"/>
            <a:pathLst>
              <a:path w="29687" h="14500">
                <a:moveTo>
                  <a:pt x="0" y="1435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2"/>
                  <a:pt x="24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2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2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14354"/>
                </a:lnTo>
                <a:cubicBezTo>
                  <a:pt x="29687" y="14364"/>
                  <a:pt x="29686" y="14374"/>
                  <a:pt x="29684" y="14383"/>
                </a:cubicBezTo>
                <a:cubicBezTo>
                  <a:pt x="29683" y="14392"/>
                  <a:pt x="29680" y="14401"/>
                  <a:pt x="29676" y="14410"/>
                </a:cubicBezTo>
                <a:cubicBezTo>
                  <a:pt x="29672" y="14419"/>
                  <a:pt x="29668" y="14427"/>
                  <a:pt x="29663" y="14435"/>
                </a:cubicBezTo>
                <a:cubicBezTo>
                  <a:pt x="29657" y="14443"/>
                  <a:pt x="29651" y="14451"/>
                  <a:pt x="29645" y="14457"/>
                </a:cubicBezTo>
                <a:cubicBezTo>
                  <a:pt x="29638" y="14464"/>
                  <a:pt x="29630" y="14470"/>
                  <a:pt x="29623" y="14475"/>
                </a:cubicBezTo>
                <a:cubicBezTo>
                  <a:pt x="29615" y="14481"/>
                  <a:pt x="29606" y="14485"/>
                  <a:pt x="29597" y="14489"/>
                </a:cubicBezTo>
                <a:cubicBezTo>
                  <a:pt x="29589" y="14493"/>
                  <a:pt x="29579" y="14495"/>
                  <a:pt x="29570" y="14497"/>
                </a:cubicBezTo>
                <a:cubicBezTo>
                  <a:pt x="29561" y="14499"/>
                  <a:pt x="29551" y="14500"/>
                  <a:pt x="29542" y="14500"/>
                </a:cubicBezTo>
                <a:lnTo>
                  <a:pt x="145" y="14500"/>
                </a:lnTo>
                <a:cubicBezTo>
                  <a:pt x="136" y="14500"/>
                  <a:pt x="126" y="14499"/>
                  <a:pt x="117" y="14497"/>
                </a:cubicBezTo>
                <a:cubicBezTo>
                  <a:pt x="108" y="14495"/>
                  <a:pt x="99" y="14493"/>
                  <a:pt x="90" y="14489"/>
                </a:cubicBezTo>
                <a:cubicBezTo>
                  <a:pt x="81" y="14485"/>
                  <a:pt x="73" y="14481"/>
                  <a:pt x="65" y="14475"/>
                </a:cubicBezTo>
                <a:cubicBezTo>
                  <a:pt x="57" y="14470"/>
                  <a:pt x="49" y="14464"/>
                  <a:pt x="43" y="14457"/>
                </a:cubicBezTo>
                <a:cubicBezTo>
                  <a:pt x="36" y="14451"/>
                  <a:pt x="30" y="14443"/>
                  <a:pt x="24" y="14435"/>
                </a:cubicBezTo>
                <a:cubicBezTo>
                  <a:pt x="19" y="14427"/>
                  <a:pt x="15" y="14419"/>
                  <a:pt x="11" y="14410"/>
                </a:cubicBezTo>
                <a:cubicBezTo>
                  <a:pt x="7" y="14401"/>
                  <a:pt x="5" y="14392"/>
                  <a:pt x="3" y="14383"/>
                </a:cubicBezTo>
                <a:cubicBezTo>
                  <a:pt x="1" y="14374"/>
                  <a:pt x="0" y="14364"/>
                  <a:pt x="0" y="14354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8" name=""/>
          <p:cNvSpPr/>
          <p:nvPr/>
        </p:nvSpPr>
        <p:spPr>
          <a:xfrm>
            <a:off x="757080" y="1461960"/>
            <a:ext cx="10687320" cy="5220000"/>
          </a:xfrm>
          <a:custGeom>
            <a:avLst/>
            <a:gdLst/>
            <a:ahLst/>
            <a:rect l="0" t="0" r="r" b="b"/>
            <a:pathLst>
              <a:path w="29687" h="14500">
                <a:moveTo>
                  <a:pt x="0" y="1435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2"/>
                  <a:pt x="24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2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2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14354"/>
                </a:lnTo>
                <a:cubicBezTo>
                  <a:pt x="29687" y="14364"/>
                  <a:pt x="29686" y="14374"/>
                  <a:pt x="29684" y="14383"/>
                </a:cubicBezTo>
                <a:cubicBezTo>
                  <a:pt x="29683" y="14392"/>
                  <a:pt x="29680" y="14401"/>
                  <a:pt x="29676" y="14410"/>
                </a:cubicBezTo>
                <a:cubicBezTo>
                  <a:pt x="29672" y="14419"/>
                  <a:pt x="29668" y="14427"/>
                  <a:pt x="29663" y="14435"/>
                </a:cubicBezTo>
                <a:cubicBezTo>
                  <a:pt x="29657" y="14443"/>
                  <a:pt x="29651" y="14451"/>
                  <a:pt x="29645" y="14457"/>
                </a:cubicBezTo>
                <a:cubicBezTo>
                  <a:pt x="29638" y="14464"/>
                  <a:pt x="29630" y="14470"/>
                  <a:pt x="29623" y="14475"/>
                </a:cubicBezTo>
                <a:cubicBezTo>
                  <a:pt x="29615" y="14481"/>
                  <a:pt x="29606" y="14485"/>
                  <a:pt x="29597" y="14489"/>
                </a:cubicBezTo>
                <a:cubicBezTo>
                  <a:pt x="29589" y="14493"/>
                  <a:pt x="29579" y="14495"/>
                  <a:pt x="29570" y="14497"/>
                </a:cubicBezTo>
                <a:cubicBezTo>
                  <a:pt x="29561" y="14499"/>
                  <a:pt x="29551" y="14500"/>
                  <a:pt x="29542" y="14500"/>
                </a:cubicBezTo>
                <a:lnTo>
                  <a:pt x="145" y="14500"/>
                </a:lnTo>
                <a:cubicBezTo>
                  <a:pt x="136" y="14500"/>
                  <a:pt x="126" y="14499"/>
                  <a:pt x="117" y="14497"/>
                </a:cubicBezTo>
                <a:cubicBezTo>
                  <a:pt x="108" y="14495"/>
                  <a:pt x="99" y="14493"/>
                  <a:pt x="90" y="14489"/>
                </a:cubicBezTo>
                <a:cubicBezTo>
                  <a:pt x="81" y="14485"/>
                  <a:pt x="73" y="14481"/>
                  <a:pt x="65" y="14475"/>
                </a:cubicBezTo>
                <a:cubicBezTo>
                  <a:pt x="57" y="14470"/>
                  <a:pt x="49" y="14464"/>
                  <a:pt x="43" y="14457"/>
                </a:cubicBezTo>
                <a:cubicBezTo>
                  <a:pt x="36" y="14451"/>
                  <a:pt x="30" y="14443"/>
                  <a:pt x="24" y="14435"/>
                </a:cubicBezTo>
                <a:cubicBezTo>
                  <a:pt x="19" y="14427"/>
                  <a:pt x="15" y="14419"/>
                  <a:pt x="11" y="14410"/>
                </a:cubicBezTo>
                <a:cubicBezTo>
                  <a:pt x="7" y="14401"/>
                  <a:pt x="5" y="14392"/>
                  <a:pt x="3" y="14383"/>
                </a:cubicBezTo>
                <a:cubicBezTo>
                  <a:pt x="1" y="14374"/>
                  <a:pt x="0" y="14364"/>
                  <a:pt x="0" y="14354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9" name=""/>
          <p:cNvSpPr/>
          <p:nvPr/>
        </p:nvSpPr>
        <p:spPr>
          <a:xfrm>
            <a:off x="757080" y="6843600"/>
            <a:ext cx="10687320" cy="590760"/>
          </a:xfrm>
          <a:custGeom>
            <a:avLst/>
            <a:gdLst/>
            <a:ahLst/>
            <a:rect l="0" t="0" r="r" b="b"/>
            <a:pathLst>
              <a:path w="29687" h="1641">
                <a:moveTo>
                  <a:pt x="0" y="1496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8"/>
                  <a:pt x="11" y="90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2"/>
                </a:cubicBezTo>
                <a:cubicBezTo>
                  <a:pt x="29651" y="49"/>
                  <a:pt x="29657" y="57"/>
                  <a:pt x="29663" y="64"/>
                </a:cubicBezTo>
                <a:cubicBezTo>
                  <a:pt x="29668" y="72"/>
                  <a:pt x="29672" y="81"/>
                  <a:pt x="29676" y="90"/>
                </a:cubicBezTo>
                <a:cubicBezTo>
                  <a:pt x="29680" y="98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1496"/>
                </a:lnTo>
                <a:cubicBezTo>
                  <a:pt x="29687" y="1505"/>
                  <a:pt x="29686" y="1515"/>
                  <a:pt x="29684" y="1524"/>
                </a:cubicBezTo>
                <a:cubicBezTo>
                  <a:pt x="29683" y="1533"/>
                  <a:pt x="29680" y="1543"/>
                  <a:pt x="29676" y="1551"/>
                </a:cubicBezTo>
                <a:cubicBezTo>
                  <a:pt x="29672" y="1560"/>
                  <a:pt x="29668" y="1569"/>
                  <a:pt x="29663" y="1577"/>
                </a:cubicBezTo>
                <a:cubicBezTo>
                  <a:pt x="29657" y="1584"/>
                  <a:pt x="29651" y="1592"/>
                  <a:pt x="29645" y="1599"/>
                </a:cubicBezTo>
                <a:cubicBezTo>
                  <a:pt x="29638" y="1605"/>
                  <a:pt x="29630" y="1611"/>
                  <a:pt x="29623" y="1617"/>
                </a:cubicBezTo>
                <a:cubicBezTo>
                  <a:pt x="29615" y="1622"/>
                  <a:pt x="29606" y="1626"/>
                  <a:pt x="29597" y="1630"/>
                </a:cubicBezTo>
                <a:cubicBezTo>
                  <a:pt x="29589" y="1634"/>
                  <a:pt x="29579" y="1637"/>
                  <a:pt x="29570" y="1638"/>
                </a:cubicBezTo>
                <a:cubicBezTo>
                  <a:pt x="29561" y="1640"/>
                  <a:pt x="29551" y="1641"/>
                  <a:pt x="29542" y="1641"/>
                </a:cubicBezTo>
                <a:lnTo>
                  <a:pt x="145" y="1641"/>
                </a:lnTo>
                <a:cubicBezTo>
                  <a:pt x="136" y="1641"/>
                  <a:pt x="126" y="1640"/>
                  <a:pt x="117" y="1638"/>
                </a:cubicBezTo>
                <a:cubicBezTo>
                  <a:pt x="108" y="1637"/>
                  <a:pt x="99" y="1634"/>
                  <a:pt x="90" y="1630"/>
                </a:cubicBezTo>
                <a:cubicBezTo>
                  <a:pt x="81" y="1626"/>
                  <a:pt x="73" y="1622"/>
                  <a:pt x="65" y="1617"/>
                </a:cubicBezTo>
                <a:cubicBezTo>
                  <a:pt x="57" y="1611"/>
                  <a:pt x="49" y="1605"/>
                  <a:pt x="43" y="1599"/>
                </a:cubicBezTo>
                <a:cubicBezTo>
                  <a:pt x="36" y="1592"/>
                  <a:pt x="30" y="1584"/>
                  <a:pt x="24" y="1577"/>
                </a:cubicBezTo>
                <a:cubicBezTo>
                  <a:pt x="19" y="1569"/>
                  <a:pt x="15" y="1560"/>
                  <a:pt x="11" y="1551"/>
                </a:cubicBezTo>
                <a:cubicBezTo>
                  <a:pt x="7" y="1543"/>
                  <a:pt x="5" y="1533"/>
                  <a:pt x="3" y="1524"/>
                </a:cubicBezTo>
                <a:cubicBezTo>
                  <a:pt x="1" y="1515"/>
                  <a:pt x="0" y="1505"/>
                  <a:pt x="0" y="1496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0" name=""/>
          <p:cNvSpPr/>
          <p:nvPr/>
        </p:nvSpPr>
        <p:spPr>
          <a:xfrm>
            <a:off x="757080" y="6843600"/>
            <a:ext cx="10687320" cy="590760"/>
          </a:xfrm>
          <a:custGeom>
            <a:avLst/>
            <a:gdLst/>
            <a:ahLst/>
            <a:rect l="0" t="0" r="r" b="b"/>
            <a:pathLst>
              <a:path w="29687" h="1641">
                <a:moveTo>
                  <a:pt x="0" y="1496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8"/>
                  <a:pt x="11" y="90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2"/>
                </a:cubicBezTo>
                <a:cubicBezTo>
                  <a:pt x="29651" y="49"/>
                  <a:pt x="29657" y="57"/>
                  <a:pt x="29663" y="64"/>
                </a:cubicBezTo>
                <a:cubicBezTo>
                  <a:pt x="29668" y="72"/>
                  <a:pt x="29672" y="81"/>
                  <a:pt x="29676" y="90"/>
                </a:cubicBezTo>
                <a:cubicBezTo>
                  <a:pt x="29680" y="98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1496"/>
                </a:lnTo>
                <a:cubicBezTo>
                  <a:pt x="29687" y="1505"/>
                  <a:pt x="29686" y="1515"/>
                  <a:pt x="29684" y="1524"/>
                </a:cubicBezTo>
                <a:cubicBezTo>
                  <a:pt x="29683" y="1533"/>
                  <a:pt x="29680" y="1543"/>
                  <a:pt x="29676" y="1551"/>
                </a:cubicBezTo>
                <a:cubicBezTo>
                  <a:pt x="29672" y="1560"/>
                  <a:pt x="29668" y="1569"/>
                  <a:pt x="29663" y="1577"/>
                </a:cubicBezTo>
                <a:cubicBezTo>
                  <a:pt x="29657" y="1584"/>
                  <a:pt x="29651" y="1592"/>
                  <a:pt x="29645" y="1599"/>
                </a:cubicBezTo>
                <a:cubicBezTo>
                  <a:pt x="29638" y="1605"/>
                  <a:pt x="29630" y="1611"/>
                  <a:pt x="29623" y="1617"/>
                </a:cubicBezTo>
                <a:cubicBezTo>
                  <a:pt x="29615" y="1622"/>
                  <a:pt x="29606" y="1626"/>
                  <a:pt x="29597" y="1630"/>
                </a:cubicBezTo>
                <a:cubicBezTo>
                  <a:pt x="29589" y="1634"/>
                  <a:pt x="29579" y="1637"/>
                  <a:pt x="29570" y="1638"/>
                </a:cubicBezTo>
                <a:cubicBezTo>
                  <a:pt x="29561" y="1640"/>
                  <a:pt x="29551" y="1641"/>
                  <a:pt x="29542" y="1641"/>
                </a:cubicBezTo>
                <a:lnTo>
                  <a:pt x="145" y="1641"/>
                </a:lnTo>
                <a:cubicBezTo>
                  <a:pt x="136" y="1641"/>
                  <a:pt x="126" y="1640"/>
                  <a:pt x="117" y="1638"/>
                </a:cubicBezTo>
                <a:cubicBezTo>
                  <a:pt x="108" y="1637"/>
                  <a:pt x="99" y="1634"/>
                  <a:pt x="90" y="1630"/>
                </a:cubicBezTo>
                <a:cubicBezTo>
                  <a:pt x="81" y="1626"/>
                  <a:pt x="73" y="1622"/>
                  <a:pt x="65" y="1617"/>
                </a:cubicBezTo>
                <a:cubicBezTo>
                  <a:pt x="57" y="1611"/>
                  <a:pt x="49" y="1605"/>
                  <a:pt x="43" y="1599"/>
                </a:cubicBezTo>
                <a:cubicBezTo>
                  <a:pt x="36" y="1592"/>
                  <a:pt x="30" y="1584"/>
                  <a:pt x="24" y="1577"/>
                </a:cubicBezTo>
                <a:cubicBezTo>
                  <a:pt x="19" y="1569"/>
                  <a:pt x="15" y="1560"/>
                  <a:pt x="11" y="1551"/>
                </a:cubicBezTo>
                <a:cubicBezTo>
                  <a:pt x="7" y="1543"/>
                  <a:pt x="5" y="1533"/>
                  <a:pt x="3" y="1524"/>
                </a:cubicBezTo>
                <a:cubicBezTo>
                  <a:pt x="1" y="1515"/>
                  <a:pt x="0" y="1505"/>
                  <a:pt x="0" y="1496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1" name=""/>
          <p:cNvSpPr txBox="1"/>
          <p:nvPr/>
        </p:nvSpPr>
        <p:spPr>
          <a:xfrm>
            <a:off x="747720" y="770400"/>
            <a:ext cx="391752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2 — nginx config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2" name=""/>
          <p:cNvSpPr txBox="1"/>
          <p:nvPr/>
        </p:nvSpPr>
        <p:spPr>
          <a:xfrm>
            <a:off x="914400" y="1623240"/>
            <a:ext cx="448128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fastcgi_cache_path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/var/cache/nginx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3" name=""/>
          <p:cNvSpPr txBox="1"/>
          <p:nvPr/>
        </p:nvSpPr>
        <p:spPr>
          <a:xfrm>
            <a:off x="914400" y="1865880"/>
            <a:ext cx="153720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levels=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1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: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2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4" name=""/>
          <p:cNvSpPr txBox="1"/>
          <p:nvPr/>
        </p:nvSpPr>
        <p:spPr>
          <a:xfrm>
            <a:off x="914400" y="2116800"/>
            <a:ext cx="332892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keys_zone=WORDPRESS: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100m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5" name=""/>
          <p:cNvSpPr txBox="1"/>
          <p:nvPr/>
        </p:nvSpPr>
        <p:spPr>
          <a:xfrm>
            <a:off x="914400" y="2359080"/>
            <a:ext cx="179280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inactive=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60m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6" name=""/>
          <p:cNvSpPr txBox="1"/>
          <p:nvPr/>
        </p:nvSpPr>
        <p:spPr>
          <a:xfrm>
            <a:off x="914400" y="2601720"/>
            <a:ext cx="179280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max_size=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1g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;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7" name=""/>
          <p:cNvSpPr txBox="1"/>
          <p:nvPr/>
        </p:nvSpPr>
        <p:spPr>
          <a:xfrm>
            <a:off x="914400" y="3095280"/>
            <a:ext cx="716976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59636e"/>
                </a:solidFill>
                <a:latin typeface="Courier New"/>
                <a:ea typeface="Courier New"/>
              </a:rPr>
              <a:t># Bypass rule — logged-in users and WooCommerce sessions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8" name=""/>
          <p:cNvSpPr txBox="1"/>
          <p:nvPr/>
        </p:nvSpPr>
        <p:spPr>
          <a:xfrm>
            <a:off x="914400" y="3337560"/>
            <a:ext cx="230580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set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$skip_cache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0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;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9" name=""/>
          <p:cNvSpPr txBox="1"/>
          <p:nvPr/>
        </p:nvSpPr>
        <p:spPr>
          <a:xfrm>
            <a:off x="914400" y="3588840"/>
            <a:ext cx="1036980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if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(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$http_cookie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a3069"/>
                </a:solidFill>
                <a:latin typeface="Courier New"/>
                <a:ea typeface="Courier New"/>
              </a:rPr>
              <a:t>~* "wordpress_logged_in|woocommerce_cart|woocommerce_session")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{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0" name=""/>
          <p:cNvSpPr txBox="1"/>
          <p:nvPr/>
        </p:nvSpPr>
        <p:spPr>
          <a:xfrm>
            <a:off x="914400" y="3831120"/>
            <a:ext cx="281772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 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set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$skip_cache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1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;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1" name=""/>
          <p:cNvSpPr txBox="1"/>
          <p:nvPr/>
        </p:nvSpPr>
        <p:spPr>
          <a:xfrm>
            <a:off x="914400" y="4073760"/>
            <a:ext cx="21312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}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2" name=""/>
          <p:cNvSpPr txBox="1"/>
          <p:nvPr/>
        </p:nvSpPr>
        <p:spPr>
          <a:xfrm>
            <a:off x="914400" y="4566960"/>
            <a:ext cx="243324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location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a3069"/>
                </a:solidFill>
                <a:latin typeface="Courier New"/>
                <a:ea typeface="Courier New"/>
              </a:rPr>
              <a:t>~ \.php$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{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3" name=""/>
          <p:cNvSpPr txBox="1"/>
          <p:nvPr/>
        </p:nvSpPr>
        <p:spPr>
          <a:xfrm>
            <a:off x="914400" y="4809600"/>
            <a:ext cx="358524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 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fastcgi_cache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WORDPRESS;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914400" y="5060520"/>
            <a:ext cx="819396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 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fastcgi_cache_key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a3069"/>
                </a:solidFill>
                <a:latin typeface="Courier New"/>
                <a:ea typeface="Courier New"/>
              </a:rPr>
              <a:t>"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$scheme$request_method$host$request_uri</a:t>
            </a:r>
            <a:r>
              <a:rPr b="0" lang="en-US" sz="1679" spc="-1" strike="noStrike">
                <a:solidFill>
                  <a:srgbClr val="0a3069"/>
                </a:solidFill>
                <a:latin typeface="Courier New"/>
                <a:ea typeface="Courier New"/>
              </a:rPr>
              <a:t>"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;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5" name=""/>
          <p:cNvSpPr txBox="1"/>
          <p:nvPr/>
        </p:nvSpPr>
        <p:spPr>
          <a:xfrm>
            <a:off x="914400" y="5303160"/>
            <a:ext cx="409752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 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fastcgi_cache_valid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200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60m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;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6" name=""/>
          <p:cNvSpPr txBox="1"/>
          <p:nvPr/>
        </p:nvSpPr>
        <p:spPr>
          <a:xfrm>
            <a:off x="914400" y="5554080"/>
            <a:ext cx="473760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 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fastcgi_cache_bypass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$skip_cache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;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7" name=""/>
          <p:cNvSpPr txBox="1"/>
          <p:nvPr/>
        </p:nvSpPr>
        <p:spPr>
          <a:xfrm>
            <a:off x="914400" y="5796720"/>
            <a:ext cx="422568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 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fastcgi_no_cache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$skip_cache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;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8" name=""/>
          <p:cNvSpPr txBox="1"/>
          <p:nvPr/>
        </p:nvSpPr>
        <p:spPr>
          <a:xfrm>
            <a:off x="914400" y="6039000"/>
            <a:ext cx="973008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 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add_header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X-Cache-Status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$upstream_cache_status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;  </a:t>
            </a:r>
            <a:r>
              <a:rPr b="0" lang="en-US" sz="1679" spc="-1" strike="noStrike">
                <a:solidFill>
                  <a:srgbClr val="59636e"/>
                </a:solidFill>
                <a:latin typeface="Courier New"/>
                <a:ea typeface="Courier New"/>
              </a:rPr>
              <a:t># HIT / MISS / BYPASS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9" name=""/>
          <p:cNvSpPr txBox="1"/>
          <p:nvPr/>
        </p:nvSpPr>
        <p:spPr>
          <a:xfrm>
            <a:off x="914400" y="6290280"/>
            <a:ext cx="21312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}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1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3" name=""/>
          <p:cNvSpPr/>
          <p:nvPr/>
        </p:nvSpPr>
        <p:spPr>
          <a:xfrm>
            <a:off x="780840" y="830160"/>
            <a:ext cx="362160" cy="254880"/>
          </a:xfrm>
          <a:custGeom>
            <a:avLst/>
            <a:gdLst/>
            <a:ahLst/>
            <a:rect l="0" t="0" r="r" b="b"/>
            <a:pathLst>
              <a:path w="1006" h="708">
                <a:moveTo>
                  <a:pt x="0" y="109"/>
                </a:moveTo>
                <a:cubicBezTo>
                  <a:pt x="0" y="109"/>
                  <a:pt x="0" y="0"/>
                  <a:pt x="112" y="0"/>
                </a:cubicBezTo>
                <a:lnTo>
                  <a:pt x="895" y="0"/>
                </a:lnTo>
                <a:cubicBezTo>
                  <a:pt x="895" y="0"/>
                  <a:pt x="1006" y="0"/>
                  <a:pt x="1006" y="109"/>
                </a:cubicBezTo>
                <a:lnTo>
                  <a:pt x="1006" y="599"/>
                </a:lnTo>
                <a:cubicBezTo>
                  <a:pt x="1006" y="599"/>
                  <a:pt x="1006" y="708"/>
                  <a:pt x="895" y="708"/>
                </a:cubicBezTo>
                <a:lnTo>
                  <a:pt x="112" y="708"/>
                </a:lnTo>
                <a:cubicBezTo>
                  <a:pt x="112" y="708"/>
                  <a:pt x="0" y="708"/>
                  <a:pt x="0" y="599"/>
                </a:cubicBezTo>
                <a:lnTo>
                  <a:pt x="0" y="109"/>
                </a:ln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54" name=""/>
          <p:cNvSpPr/>
          <p:nvPr/>
        </p:nvSpPr>
        <p:spPr>
          <a:xfrm>
            <a:off x="891360" y="859320"/>
            <a:ext cx="201600" cy="196200"/>
          </a:xfrm>
          <a:custGeom>
            <a:avLst/>
            <a:gdLst/>
            <a:ahLst/>
            <a:rect l="0" t="0" r="r" b="b"/>
            <a:pathLst>
              <a:path w="560" h="545">
                <a:moveTo>
                  <a:pt x="560" y="273"/>
                </a:moveTo>
                <a:cubicBezTo>
                  <a:pt x="560" y="291"/>
                  <a:pt x="558" y="309"/>
                  <a:pt x="554" y="326"/>
                </a:cubicBezTo>
                <a:cubicBezTo>
                  <a:pt x="551" y="344"/>
                  <a:pt x="546" y="361"/>
                  <a:pt x="539" y="377"/>
                </a:cubicBezTo>
                <a:cubicBezTo>
                  <a:pt x="532" y="394"/>
                  <a:pt x="523" y="410"/>
                  <a:pt x="513" y="424"/>
                </a:cubicBezTo>
                <a:cubicBezTo>
                  <a:pt x="503" y="439"/>
                  <a:pt x="491" y="453"/>
                  <a:pt x="478" y="466"/>
                </a:cubicBezTo>
                <a:cubicBezTo>
                  <a:pt x="465" y="478"/>
                  <a:pt x="451" y="489"/>
                  <a:pt x="436" y="499"/>
                </a:cubicBezTo>
                <a:cubicBezTo>
                  <a:pt x="420" y="509"/>
                  <a:pt x="404" y="518"/>
                  <a:pt x="387" y="525"/>
                </a:cubicBezTo>
                <a:cubicBezTo>
                  <a:pt x="371" y="531"/>
                  <a:pt x="353" y="537"/>
                  <a:pt x="335" y="540"/>
                </a:cubicBezTo>
                <a:cubicBezTo>
                  <a:pt x="317" y="543"/>
                  <a:pt x="299" y="545"/>
                  <a:pt x="281" y="545"/>
                </a:cubicBezTo>
                <a:cubicBezTo>
                  <a:pt x="262" y="545"/>
                  <a:pt x="244" y="543"/>
                  <a:pt x="226" y="540"/>
                </a:cubicBezTo>
                <a:cubicBezTo>
                  <a:pt x="208" y="537"/>
                  <a:pt x="191" y="531"/>
                  <a:pt x="174" y="525"/>
                </a:cubicBezTo>
                <a:cubicBezTo>
                  <a:pt x="157" y="518"/>
                  <a:pt x="141" y="509"/>
                  <a:pt x="125" y="499"/>
                </a:cubicBezTo>
                <a:cubicBezTo>
                  <a:pt x="110" y="489"/>
                  <a:pt x="96" y="478"/>
                  <a:pt x="83" y="466"/>
                </a:cubicBezTo>
                <a:cubicBezTo>
                  <a:pt x="70" y="453"/>
                  <a:pt x="59" y="439"/>
                  <a:pt x="48" y="424"/>
                </a:cubicBezTo>
                <a:cubicBezTo>
                  <a:pt x="38" y="410"/>
                  <a:pt x="29" y="394"/>
                  <a:pt x="22" y="377"/>
                </a:cubicBezTo>
                <a:cubicBezTo>
                  <a:pt x="15" y="361"/>
                  <a:pt x="9" y="344"/>
                  <a:pt x="6" y="326"/>
                </a:cubicBezTo>
                <a:cubicBezTo>
                  <a:pt x="2" y="309"/>
                  <a:pt x="0" y="291"/>
                  <a:pt x="0" y="273"/>
                </a:cubicBezTo>
                <a:cubicBezTo>
                  <a:pt x="0" y="255"/>
                  <a:pt x="2" y="238"/>
                  <a:pt x="6" y="220"/>
                </a:cubicBezTo>
                <a:cubicBezTo>
                  <a:pt x="9" y="203"/>
                  <a:pt x="15" y="186"/>
                  <a:pt x="22" y="169"/>
                </a:cubicBezTo>
                <a:cubicBezTo>
                  <a:pt x="29" y="153"/>
                  <a:pt x="38" y="137"/>
                  <a:pt x="48" y="122"/>
                </a:cubicBezTo>
                <a:cubicBezTo>
                  <a:pt x="59" y="107"/>
                  <a:pt x="70" y="94"/>
                  <a:pt x="83" y="81"/>
                </a:cubicBezTo>
                <a:cubicBezTo>
                  <a:pt x="96" y="68"/>
                  <a:pt x="110" y="56"/>
                  <a:pt x="125" y="46"/>
                </a:cubicBezTo>
                <a:cubicBezTo>
                  <a:pt x="141" y="36"/>
                  <a:pt x="157" y="28"/>
                  <a:pt x="174" y="21"/>
                </a:cubicBezTo>
                <a:cubicBezTo>
                  <a:pt x="191" y="14"/>
                  <a:pt x="208" y="9"/>
                  <a:pt x="226" y="6"/>
                </a:cubicBezTo>
                <a:cubicBezTo>
                  <a:pt x="244" y="2"/>
                  <a:pt x="262" y="0"/>
                  <a:pt x="281" y="0"/>
                </a:cubicBezTo>
                <a:cubicBezTo>
                  <a:pt x="299" y="0"/>
                  <a:pt x="317" y="2"/>
                  <a:pt x="335" y="6"/>
                </a:cubicBezTo>
                <a:cubicBezTo>
                  <a:pt x="353" y="9"/>
                  <a:pt x="371" y="14"/>
                  <a:pt x="387" y="21"/>
                </a:cubicBezTo>
                <a:cubicBezTo>
                  <a:pt x="404" y="28"/>
                  <a:pt x="420" y="36"/>
                  <a:pt x="436" y="46"/>
                </a:cubicBezTo>
                <a:cubicBezTo>
                  <a:pt x="451" y="56"/>
                  <a:pt x="465" y="68"/>
                  <a:pt x="478" y="81"/>
                </a:cubicBezTo>
                <a:cubicBezTo>
                  <a:pt x="491" y="94"/>
                  <a:pt x="503" y="107"/>
                  <a:pt x="513" y="122"/>
                </a:cubicBezTo>
                <a:cubicBezTo>
                  <a:pt x="523" y="137"/>
                  <a:pt x="532" y="153"/>
                  <a:pt x="539" y="169"/>
                </a:cubicBezTo>
                <a:cubicBezTo>
                  <a:pt x="546" y="186"/>
                  <a:pt x="551" y="203"/>
                  <a:pt x="554" y="220"/>
                </a:cubicBezTo>
                <a:cubicBezTo>
                  <a:pt x="558" y="238"/>
                  <a:pt x="560" y="255"/>
                  <a:pt x="560" y="273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5" name=""/>
          <p:cNvSpPr/>
          <p:nvPr/>
        </p:nvSpPr>
        <p:spPr>
          <a:xfrm>
            <a:off x="911520" y="879120"/>
            <a:ext cx="161280" cy="156960"/>
          </a:xfrm>
          <a:custGeom>
            <a:avLst/>
            <a:gdLst/>
            <a:ahLst/>
            <a:rect l="0" t="0" r="r" b="b"/>
            <a:pathLst>
              <a:path w="448" h="436">
                <a:moveTo>
                  <a:pt x="448" y="217"/>
                </a:moveTo>
                <a:cubicBezTo>
                  <a:pt x="448" y="232"/>
                  <a:pt x="447" y="246"/>
                  <a:pt x="444" y="260"/>
                </a:cubicBezTo>
                <a:cubicBezTo>
                  <a:pt x="441" y="274"/>
                  <a:pt x="437" y="287"/>
                  <a:pt x="431" y="301"/>
                </a:cubicBezTo>
                <a:cubicBezTo>
                  <a:pt x="425" y="314"/>
                  <a:pt x="418" y="326"/>
                  <a:pt x="410" y="338"/>
                </a:cubicBezTo>
                <a:cubicBezTo>
                  <a:pt x="402" y="350"/>
                  <a:pt x="393" y="361"/>
                  <a:pt x="383" y="371"/>
                </a:cubicBezTo>
                <a:cubicBezTo>
                  <a:pt x="372" y="381"/>
                  <a:pt x="360" y="391"/>
                  <a:pt x="348" y="399"/>
                </a:cubicBezTo>
                <a:cubicBezTo>
                  <a:pt x="336" y="407"/>
                  <a:pt x="323" y="414"/>
                  <a:pt x="309" y="419"/>
                </a:cubicBezTo>
                <a:cubicBezTo>
                  <a:pt x="296" y="425"/>
                  <a:pt x="282" y="429"/>
                  <a:pt x="267" y="432"/>
                </a:cubicBezTo>
                <a:cubicBezTo>
                  <a:pt x="253" y="434"/>
                  <a:pt x="238" y="436"/>
                  <a:pt x="224" y="436"/>
                </a:cubicBezTo>
                <a:cubicBezTo>
                  <a:pt x="209" y="436"/>
                  <a:pt x="194" y="434"/>
                  <a:pt x="180" y="432"/>
                </a:cubicBezTo>
                <a:cubicBezTo>
                  <a:pt x="166" y="429"/>
                  <a:pt x="152" y="425"/>
                  <a:pt x="138" y="419"/>
                </a:cubicBezTo>
                <a:cubicBezTo>
                  <a:pt x="125" y="414"/>
                  <a:pt x="112" y="407"/>
                  <a:pt x="99" y="399"/>
                </a:cubicBezTo>
                <a:cubicBezTo>
                  <a:pt x="87" y="391"/>
                  <a:pt x="76" y="381"/>
                  <a:pt x="66" y="371"/>
                </a:cubicBezTo>
                <a:cubicBezTo>
                  <a:pt x="55" y="361"/>
                  <a:pt x="46" y="350"/>
                  <a:pt x="38" y="338"/>
                </a:cubicBezTo>
                <a:cubicBezTo>
                  <a:pt x="30" y="326"/>
                  <a:pt x="23" y="314"/>
                  <a:pt x="17" y="301"/>
                </a:cubicBezTo>
                <a:cubicBezTo>
                  <a:pt x="12" y="287"/>
                  <a:pt x="7" y="274"/>
                  <a:pt x="4" y="260"/>
                </a:cubicBezTo>
                <a:cubicBezTo>
                  <a:pt x="2" y="246"/>
                  <a:pt x="0" y="232"/>
                  <a:pt x="0" y="217"/>
                </a:cubicBezTo>
                <a:cubicBezTo>
                  <a:pt x="0" y="203"/>
                  <a:pt x="2" y="189"/>
                  <a:pt x="4" y="175"/>
                </a:cubicBezTo>
                <a:cubicBezTo>
                  <a:pt x="7" y="161"/>
                  <a:pt x="12" y="147"/>
                  <a:pt x="17" y="134"/>
                </a:cubicBezTo>
                <a:cubicBezTo>
                  <a:pt x="23" y="121"/>
                  <a:pt x="30" y="108"/>
                  <a:pt x="38" y="96"/>
                </a:cubicBezTo>
                <a:cubicBezTo>
                  <a:pt x="46" y="85"/>
                  <a:pt x="55" y="74"/>
                  <a:pt x="66" y="63"/>
                </a:cubicBezTo>
                <a:cubicBezTo>
                  <a:pt x="76" y="53"/>
                  <a:pt x="87" y="44"/>
                  <a:pt x="99" y="36"/>
                </a:cubicBezTo>
                <a:cubicBezTo>
                  <a:pt x="112" y="28"/>
                  <a:pt x="125" y="22"/>
                  <a:pt x="138" y="16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4" y="1"/>
                  <a:pt x="209" y="0"/>
                  <a:pt x="224" y="0"/>
                </a:cubicBezTo>
                <a:cubicBezTo>
                  <a:pt x="238" y="0"/>
                  <a:pt x="253" y="1"/>
                  <a:pt x="267" y="4"/>
                </a:cubicBezTo>
                <a:cubicBezTo>
                  <a:pt x="282" y="7"/>
                  <a:pt x="296" y="11"/>
                  <a:pt x="309" y="16"/>
                </a:cubicBezTo>
                <a:cubicBezTo>
                  <a:pt x="323" y="22"/>
                  <a:pt x="336" y="28"/>
                  <a:pt x="348" y="36"/>
                </a:cubicBezTo>
                <a:cubicBezTo>
                  <a:pt x="360" y="44"/>
                  <a:pt x="372" y="53"/>
                  <a:pt x="383" y="63"/>
                </a:cubicBezTo>
                <a:cubicBezTo>
                  <a:pt x="393" y="74"/>
                  <a:pt x="402" y="85"/>
                  <a:pt x="410" y="96"/>
                </a:cubicBezTo>
                <a:cubicBezTo>
                  <a:pt x="418" y="108"/>
                  <a:pt x="425" y="121"/>
                  <a:pt x="431" y="134"/>
                </a:cubicBezTo>
                <a:cubicBezTo>
                  <a:pt x="437" y="147"/>
                  <a:pt x="441" y="161"/>
                  <a:pt x="444" y="175"/>
                </a:cubicBezTo>
                <a:cubicBezTo>
                  <a:pt x="447" y="189"/>
                  <a:pt x="448" y="203"/>
                  <a:pt x="448" y="217"/>
                </a:cubicBez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56" name=""/>
          <p:cNvSpPr/>
          <p:nvPr/>
        </p:nvSpPr>
        <p:spPr>
          <a:xfrm>
            <a:off x="941760" y="908280"/>
            <a:ext cx="100800" cy="98280"/>
          </a:xfrm>
          <a:custGeom>
            <a:avLst/>
            <a:gdLst/>
            <a:ahLst/>
            <a:rect l="0" t="0" r="r" b="b"/>
            <a:pathLst>
              <a:path w="280" h="273">
                <a:moveTo>
                  <a:pt x="280" y="137"/>
                </a:moveTo>
                <a:cubicBezTo>
                  <a:pt x="280" y="155"/>
                  <a:pt x="277" y="173"/>
                  <a:pt x="270" y="189"/>
                </a:cubicBezTo>
                <a:cubicBezTo>
                  <a:pt x="263" y="206"/>
                  <a:pt x="252" y="221"/>
                  <a:pt x="239" y="233"/>
                </a:cubicBezTo>
                <a:cubicBezTo>
                  <a:pt x="226" y="246"/>
                  <a:pt x="211" y="256"/>
                  <a:pt x="194" y="263"/>
                </a:cubicBezTo>
                <a:cubicBezTo>
                  <a:pt x="177" y="270"/>
                  <a:pt x="159" y="273"/>
                  <a:pt x="141" y="273"/>
                </a:cubicBezTo>
                <a:cubicBezTo>
                  <a:pt x="122" y="273"/>
                  <a:pt x="104" y="270"/>
                  <a:pt x="87" y="263"/>
                </a:cubicBezTo>
                <a:cubicBezTo>
                  <a:pt x="70" y="256"/>
                  <a:pt x="55" y="246"/>
                  <a:pt x="42" y="233"/>
                </a:cubicBezTo>
                <a:cubicBezTo>
                  <a:pt x="28" y="221"/>
                  <a:pt x="18" y="206"/>
                  <a:pt x="11" y="189"/>
                </a:cubicBezTo>
                <a:cubicBezTo>
                  <a:pt x="3" y="173"/>
                  <a:pt x="0" y="155"/>
                  <a:pt x="0" y="137"/>
                </a:cubicBezTo>
                <a:cubicBezTo>
                  <a:pt x="0" y="119"/>
                  <a:pt x="3" y="102"/>
                  <a:pt x="11" y="85"/>
                </a:cubicBezTo>
                <a:cubicBezTo>
                  <a:pt x="18" y="69"/>
                  <a:pt x="28" y="54"/>
                  <a:pt x="42" y="40"/>
                </a:cubicBezTo>
                <a:cubicBezTo>
                  <a:pt x="55" y="27"/>
                  <a:pt x="70" y="18"/>
                  <a:pt x="87" y="11"/>
                </a:cubicBezTo>
                <a:cubicBezTo>
                  <a:pt x="104" y="4"/>
                  <a:pt x="122" y="0"/>
                  <a:pt x="141" y="0"/>
                </a:cubicBezTo>
                <a:cubicBezTo>
                  <a:pt x="159" y="0"/>
                  <a:pt x="177" y="4"/>
                  <a:pt x="194" y="11"/>
                </a:cubicBezTo>
                <a:cubicBezTo>
                  <a:pt x="211" y="18"/>
                  <a:pt x="226" y="27"/>
                  <a:pt x="239" y="40"/>
                </a:cubicBezTo>
                <a:cubicBezTo>
                  <a:pt x="252" y="54"/>
                  <a:pt x="263" y="69"/>
                  <a:pt x="270" y="85"/>
                </a:cubicBezTo>
                <a:cubicBezTo>
                  <a:pt x="277" y="102"/>
                  <a:pt x="280" y="119"/>
                  <a:pt x="280" y="137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57" name=""/>
          <p:cNvSpPr/>
          <p:nvPr/>
        </p:nvSpPr>
        <p:spPr>
          <a:xfrm>
            <a:off x="1092600" y="849600"/>
            <a:ext cx="30600" cy="29880"/>
          </a:xfrm>
          <a:custGeom>
            <a:avLst/>
            <a:gdLst/>
            <a:ahLst/>
            <a:rect l="0" t="0" r="r" b="b"/>
            <a:pathLst>
              <a:path w="85" h="83">
                <a:moveTo>
                  <a:pt x="85" y="42"/>
                </a:moveTo>
                <a:cubicBezTo>
                  <a:pt x="85" y="47"/>
                  <a:pt x="84" y="53"/>
                  <a:pt x="81" y="58"/>
                </a:cubicBezTo>
                <a:cubicBezTo>
                  <a:pt x="79" y="63"/>
                  <a:pt x="75" y="67"/>
                  <a:pt x="71" y="71"/>
                </a:cubicBezTo>
                <a:cubicBezTo>
                  <a:pt x="67" y="75"/>
                  <a:pt x="63" y="78"/>
                  <a:pt x="58" y="80"/>
                </a:cubicBezTo>
                <a:cubicBezTo>
                  <a:pt x="53" y="82"/>
                  <a:pt x="47" y="83"/>
                  <a:pt x="42" y="83"/>
                </a:cubicBezTo>
                <a:cubicBezTo>
                  <a:pt x="36" y="83"/>
                  <a:pt x="31" y="82"/>
                  <a:pt x="26" y="80"/>
                </a:cubicBezTo>
                <a:cubicBezTo>
                  <a:pt x="21" y="78"/>
                  <a:pt x="16" y="75"/>
                  <a:pt x="12" y="71"/>
                </a:cubicBezTo>
                <a:cubicBezTo>
                  <a:pt x="8" y="67"/>
                  <a:pt x="5" y="63"/>
                  <a:pt x="3" y="58"/>
                </a:cubicBezTo>
                <a:cubicBezTo>
                  <a:pt x="1" y="53"/>
                  <a:pt x="0" y="47"/>
                  <a:pt x="0" y="42"/>
                </a:cubicBezTo>
                <a:cubicBezTo>
                  <a:pt x="0" y="37"/>
                  <a:pt x="1" y="31"/>
                  <a:pt x="3" y="25"/>
                </a:cubicBezTo>
                <a:cubicBezTo>
                  <a:pt x="5" y="20"/>
                  <a:pt x="8" y="16"/>
                  <a:pt x="12" y="12"/>
                </a:cubicBezTo>
                <a:cubicBezTo>
                  <a:pt x="16" y="8"/>
                  <a:pt x="21" y="5"/>
                  <a:pt x="26" y="3"/>
                </a:cubicBezTo>
                <a:cubicBezTo>
                  <a:pt x="31" y="1"/>
                  <a:pt x="36" y="0"/>
                  <a:pt x="42" y="0"/>
                </a:cubicBezTo>
                <a:cubicBezTo>
                  <a:pt x="47" y="0"/>
                  <a:pt x="53" y="1"/>
                  <a:pt x="58" y="3"/>
                </a:cubicBezTo>
                <a:cubicBezTo>
                  <a:pt x="63" y="5"/>
                  <a:pt x="67" y="8"/>
                  <a:pt x="71" y="12"/>
                </a:cubicBezTo>
                <a:cubicBezTo>
                  <a:pt x="75" y="16"/>
                  <a:pt x="79" y="20"/>
                  <a:pt x="81" y="25"/>
                </a:cubicBezTo>
                <a:cubicBezTo>
                  <a:pt x="84" y="31"/>
                  <a:pt x="85" y="37"/>
                  <a:pt x="85" y="4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8" name=""/>
          <p:cNvSpPr/>
          <p:nvPr/>
        </p:nvSpPr>
        <p:spPr>
          <a:xfrm>
            <a:off x="780840" y="771480"/>
            <a:ext cx="211680" cy="215640"/>
          </a:xfrm>
          <a:custGeom>
            <a:avLst/>
            <a:gdLst/>
            <a:ahLst/>
            <a:rect l="0" t="0" r="r" b="b"/>
            <a:pathLst>
              <a:path w="588" h="599">
                <a:moveTo>
                  <a:pt x="447" y="244"/>
                </a:moveTo>
                <a:lnTo>
                  <a:pt x="532" y="81"/>
                </a:lnTo>
                <a:lnTo>
                  <a:pt x="363" y="136"/>
                </a:lnTo>
                <a:lnTo>
                  <a:pt x="251" y="0"/>
                </a:lnTo>
                <a:lnTo>
                  <a:pt x="196" y="136"/>
                </a:lnTo>
                <a:lnTo>
                  <a:pt x="28" y="108"/>
                </a:lnTo>
                <a:lnTo>
                  <a:pt x="140" y="272"/>
                </a:lnTo>
                <a:lnTo>
                  <a:pt x="0" y="380"/>
                </a:lnTo>
                <a:lnTo>
                  <a:pt x="168" y="380"/>
                </a:lnTo>
                <a:lnTo>
                  <a:pt x="112" y="543"/>
                </a:lnTo>
                <a:lnTo>
                  <a:pt x="279" y="462"/>
                </a:lnTo>
                <a:lnTo>
                  <a:pt x="447" y="599"/>
                </a:lnTo>
                <a:lnTo>
                  <a:pt x="419" y="380"/>
                </a:lnTo>
                <a:lnTo>
                  <a:pt x="588" y="353"/>
                </a:lnTo>
                <a:lnTo>
                  <a:pt x="447" y="244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9" name=""/>
          <p:cNvSpPr/>
          <p:nvPr/>
        </p:nvSpPr>
        <p:spPr>
          <a:xfrm>
            <a:off x="831240" y="810360"/>
            <a:ext cx="110880" cy="127800"/>
          </a:xfrm>
          <a:custGeom>
            <a:avLst/>
            <a:gdLst/>
            <a:ahLst/>
            <a:rect l="0" t="0" r="r" b="b"/>
            <a:pathLst>
              <a:path w="308" h="355">
                <a:moveTo>
                  <a:pt x="139" y="273"/>
                </a:moveTo>
                <a:lnTo>
                  <a:pt x="56" y="328"/>
                </a:lnTo>
                <a:lnTo>
                  <a:pt x="84" y="246"/>
                </a:lnTo>
                <a:lnTo>
                  <a:pt x="0" y="219"/>
                </a:lnTo>
                <a:lnTo>
                  <a:pt x="84" y="165"/>
                </a:lnTo>
                <a:lnTo>
                  <a:pt x="0" y="83"/>
                </a:lnTo>
                <a:lnTo>
                  <a:pt x="111" y="83"/>
                </a:lnTo>
                <a:lnTo>
                  <a:pt x="139" y="0"/>
                </a:lnTo>
                <a:lnTo>
                  <a:pt x="195" y="83"/>
                </a:lnTo>
                <a:lnTo>
                  <a:pt x="279" y="56"/>
                </a:lnTo>
                <a:lnTo>
                  <a:pt x="223" y="137"/>
                </a:lnTo>
                <a:lnTo>
                  <a:pt x="308" y="219"/>
                </a:lnTo>
                <a:lnTo>
                  <a:pt x="223" y="246"/>
                </a:lnTo>
                <a:lnTo>
                  <a:pt x="251" y="355"/>
                </a:lnTo>
                <a:lnTo>
                  <a:pt x="139" y="273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060" name="" descr=""/>
          <p:cNvPicPr/>
          <p:nvPr/>
        </p:nvPicPr>
        <p:blipFill>
          <a:blip r:embed="rId1"/>
          <a:stretch/>
        </p:blipFill>
        <p:spPr>
          <a:xfrm>
            <a:off x="752400" y="1457280"/>
            <a:ext cx="10096200" cy="5676480"/>
          </a:xfrm>
          <a:prstGeom prst="rect">
            <a:avLst/>
          </a:prstGeom>
          <a:ln w="0">
            <a:noFill/>
          </a:ln>
        </p:spPr>
      </p:pic>
      <p:sp>
        <p:nvSpPr>
          <p:cNvPr id="1061" name=""/>
          <p:cNvSpPr txBox="1"/>
          <p:nvPr/>
        </p:nvSpPr>
        <p:spPr>
          <a:xfrm>
            <a:off x="1160280" y="770400"/>
            <a:ext cx="791496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2 — Demo Dashboard (50 Virtual Users)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3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5" name=""/>
          <p:cNvSpPr/>
          <p:nvPr/>
        </p:nvSpPr>
        <p:spPr>
          <a:xfrm>
            <a:off x="752400" y="1457280"/>
            <a:ext cx="2372040" cy="543240"/>
          </a:xfrm>
          <a:custGeom>
            <a:avLst/>
            <a:gdLst/>
            <a:ahLst/>
            <a:rect l="0" t="0" r="r" b="b"/>
            <a:pathLst>
              <a:path w="6589" h="1509">
                <a:moveTo>
                  <a:pt x="0" y="0"/>
                </a:moveTo>
                <a:lnTo>
                  <a:pt x="6589" y="0"/>
                </a:lnTo>
                <a:lnTo>
                  <a:pt x="658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6" name=""/>
          <p:cNvSpPr/>
          <p:nvPr/>
        </p:nvSpPr>
        <p:spPr>
          <a:xfrm>
            <a:off x="3124080" y="1457280"/>
            <a:ext cx="1705320" cy="543240"/>
          </a:xfrm>
          <a:custGeom>
            <a:avLst/>
            <a:gdLst/>
            <a:ahLst/>
            <a:rect l="0" t="0" r="r" b="b"/>
            <a:pathLst>
              <a:path w="4737" h="1509">
                <a:moveTo>
                  <a:pt x="0" y="0"/>
                </a:moveTo>
                <a:lnTo>
                  <a:pt x="4737" y="0"/>
                </a:lnTo>
                <a:lnTo>
                  <a:pt x="473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7" name=""/>
          <p:cNvSpPr/>
          <p:nvPr/>
        </p:nvSpPr>
        <p:spPr>
          <a:xfrm>
            <a:off x="4829040" y="1457280"/>
            <a:ext cx="1800360" cy="543240"/>
          </a:xfrm>
          <a:custGeom>
            <a:avLst/>
            <a:gdLst/>
            <a:ahLst/>
            <a:rect l="0" t="0" r="r" b="b"/>
            <a:pathLst>
              <a:path w="5001" h="1509">
                <a:moveTo>
                  <a:pt x="0" y="0"/>
                </a:moveTo>
                <a:lnTo>
                  <a:pt x="5001" y="0"/>
                </a:lnTo>
                <a:lnTo>
                  <a:pt x="500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8" name=""/>
          <p:cNvSpPr/>
          <p:nvPr/>
        </p:nvSpPr>
        <p:spPr>
          <a:xfrm>
            <a:off x="6629040" y="1457280"/>
            <a:ext cx="4810680" cy="543240"/>
          </a:xfrm>
          <a:custGeom>
            <a:avLst/>
            <a:gdLst/>
            <a:ahLst/>
            <a:rect l="0" t="0" r="r" b="b"/>
            <a:pathLst>
              <a:path w="13363" h="1509">
                <a:moveTo>
                  <a:pt x="0" y="0"/>
                </a:moveTo>
                <a:lnTo>
                  <a:pt x="13363" y="0"/>
                </a:lnTo>
                <a:lnTo>
                  <a:pt x="13363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9" name=""/>
          <p:cNvSpPr/>
          <p:nvPr/>
        </p:nvSpPr>
        <p:spPr>
          <a:xfrm>
            <a:off x="752400" y="2000160"/>
            <a:ext cx="2372040" cy="533520"/>
          </a:xfrm>
          <a:custGeom>
            <a:avLst/>
            <a:gdLst/>
            <a:ahLst/>
            <a:rect l="0" t="0" r="r" b="b"/>
            <a:pathLst>
              <a:path w="6589" h="1482">
                <a:moveTo>
                  <a:pt x="0" y="0"/>
                </a:moveTo>
                <a:lnTo>
                  <a:pt x="6589" y="0"/>
                </a:lnTo>
                <a:lnTo>
                  <a:pt x="6589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0" name=""/>
          <p:cNvSpPr/>
          <p:nvPr/>
        </p:nvSpPr>
        <p:spPr>
          <a:xfrm>
            <a:off x="3124080" y="2000160"/>
            <a:ext cx="1705320" cy="533520"/>
          </a:xfrm>
          <a:custGeom>
            <a:avLst/>
            <a:gdLst/>
            <a:ahLst/>
            <a:rect l="0" t="0" r="r" b="b"/>
            <a:pathLst>
              <a:path w="4737" h="1482">
                <a:moveTo>
                  <a:pt x="0" y="0"/>
                </a:moveTo>
                <a:lnTo>
                  <a:pt x="4737" y="0"/>
                </a:lnTo>
                <a:lnTo>
                  <a:pt x="473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1" name=""/>
          <p:cNvSpPr/>
          <p:nvPr/>
        </p:nvSpPr>
        <p:spPr>
          <a:xfrm>
            <a:off x="4829040" y="2000160"/>
            <a:ext cx="1800360" cy="533520"/>
          </a:xfrm>
          <a:custGeom>
            <a:avLst/>
            <a:gdLst/>
            <a:ahLst/>
            <a:rect l="0" t="0" r="r" b="b"/>
            <a:pathLst>
              <a:path w="5001" h="1482">
                <a:moveTo>
                  <a:pt x="0" y="0"/>
                </a:moveTo>
                <a:lnTo>
                  <a:pt x="5001" y="0"/>
                </a:lnTo>
                <a:lnTo>
                  <a:pt x="5001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2" name=""/>
          <p:cNvSpPr/>
          <p:nvPr/>
        </p:nvSpPr>
        <p:spPr>
          <a:xfrm>
            <a:off x="6629040" y="2000160"/>
            <a:ext cx="4810680" cy="533520"/>
          </a:xfrm>
          <a:custGeom>
            <a:avLst/>
            <a:gdLst/>
            <a:ahLst/>
            <a:rect l="0" t="0" r="r" b="b"/>
            <a:pathLst>
              <a:path w="13363" h="1482">
                <a:moveTo>
                  <a:pt x="0" y="0"/>
                </a:moveTo>
                <a:lnTo>
                  <a:pt x="13363" y="0"/>
                </a:lnTo>
                <a:lnTo>
                  <a:pt x="13363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3" name=""/>
          <p:cNvSpPr/>
          <p:nvPr/>
        </p:nvSpPr>
        <p:spPr>
          <a:xfrm>
            <a:off x="752400" y="2533320"/>
            <a:ext cx="2372040" cy="952920"/>
          </a:xfrm>
          <a:custGeom>
            <a:avLst/>
            <a:gdLst/>
            <a:ahLst/>
            <a:rect l="0" t="0" r="r" b="b"/>
            <a:pathLst>
              <a:path w="6589" h="2647">
                <a:moveTo>
                  <a:pt x="0" y="0"/>
                </a:moveTo>
                <a:lnTo>
                  <a:pt x="6589" y="0"/>
                </a:lnTo>
                <a:lnTo>
                  <a:pt x="6589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4" name=""/>
          <p:cNvSpPr/>
          <p:nvPr/>
        </p:nvSpPr>
        <p:spPr>
          <a:xfrm>
            <a:off x="3124080" y="2533320"/>
            <a:ext cx="1705320" cy="952920"/>
          </a:xfrm>
          <a:custGeom>
            <a:avLst/>
            <a:gdLst/>
            <a:ahLst/>
            <a:rect l="0" t="0" r="r" b="b"/>
            <a:pathLst>
              <a:path w="4737" h="2647">
                <a:moveTo>
                  <a:pt x="0" y="0"/>
                </a:moveTo>
                <a:lnTo>
                  <a:pt x="4737" y="0"/>
                </a:lnTo>
                <a:lnTo>
                  <a:pt x="473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5" name=""/>
          <p:cNvSpPr/>
          <p:nvPr/>
        </p:nvSpPr>
        <p:spPr>
          <a:xfrm>
            <a:off x="4829040" y="2533320"/>
            <a:ext cx="1800360" cy="952920"/>
          </a:xfrm>
          <a:custGeom>
            <a:avLst/>
            <a:gdLst/>
            <a:ahLst/>
            <a:rect l="0" t="0" r="r" b="b"/>
            <a:pathLst>
              <a:path w="5001" h="2647">
                <a:moveTo>
                  <a:pt x="0" y="0"/>
                </a:moveTo>
                <a:lnTo>
                  <a:pt x="5001" y="0"/>
                </a:lnTo>
                <a:lnTo>
                  <a:pt x="5001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6" name=""/>
          <p:cNvSpPr/>
          <p:nvPr/>
        </p:nvSpPr>
        <p:spPr>
          <a:xfrm>
            <a:off x="6629040" y="2533320"/>
            <a:ext cx="4810680" cy="952920"/>
          </a:xfrm>
          <a:custGeom>
            <a:avLst/>
            <a:gdLst/>
            <a:ahLst/>
            <a:rect l="0" t="0" r="r" b="b"/>
            <a:pathLst>
              <a:path w="13363" h="2647">
                <a:moveTo>
                  <a:pt x="0" y="0"/>
                </a:moveTo>
                <a:lnTo>
                  <a:pt x="13363" y="0"/>
                </a:lnTo>
                <a:lnTo>
                  <a:pt x="1336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7" name=""/>
          <p:cNvSpPr/>
          <p:nvPr/>
        </p:nvSpPr>
        <p:spPr>
          <a:xfrm>
            <a:off x="752400" y="3485880"/>
            <a:ext cx="2372040" cy="952920"/>
          </a:xfrm>
          <a:custGeom>
            <a:avLst/>
            <a:gdLst/>
            <a:ahLst/>
            <a:rect l="0" t="0" r="r" b="b"/>
            <a:pathLst>
              <a:path w="6589" h="2647">
                <a:moveTo>
                  <a:pt x="0" y="0"/>
                </a:moveTo>
                <a:lnTo>
                  <a:pt x="6589" y="0"/>
                </a:lnTo>
                <a:lnTo>
                  <a:pt x="6589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8" name=""/>
          <p:cNvSpPr/>
          <p:nvPr/>
        </p:nvSpPr>
        <p:spPr>
          <a:xfrm>
            <a:off x="3124080" y="3485880"/>
            <a:ext cx="1705320" cy="952920"/>
          </a:xfrm>
          <a:custGeom>
            <a:avLst/>
            <a:gdLst/>
            <a:ahLst/>
            <a:rect l="0" t="0" r="r" b="b"/>
            <a:pathLst>
              <a:path w="4737" h="2647">
                <a:moveTo>
                  <a:pt x="0" y="0"/>
                </a:moveTo>
                <a:lnTo>
                  <a:pt x="4737" y="0"/>
                </a:lnTo>
                <a:lnTo>
                  <a:pt x="473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9" name=""/>
          <p:cNvSpPr/>
          <p:nvPr/>
        </p:nvSpPr>
        <p:spPr>
          <a:xfrm>
            <a:off x="4829040" y="3485880"/>
            <a:ext cx="1800360" cy="952920"/>
          </a:xfrm>
          <a:custGeom>
            <a:avLst/>
            <a:gdLst/>
            <a:ahLst/>
            <a:rect l="0" t="0" r="r" b="b"/>
            <a:pathLst>
              <a:path w="5001" h="2647">
                <a:moveTo>
                  <a:pt x="0" y="0"/>
                </a:moveTo>
                <a:lnTo>
                  <a:pt x="5001" y="0"/>
                </a:lnTo>
                <a:lnTo>
                  <a:pt x="5001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0" name=""/>
          <p:cNvSpPr/>
          <p:nvPr/>
        </p:nvSpPr>
        <p:spPr>
          <a:xfrm>
            <a:off x="6629040" y="3485880"/>
            <a:ext cx="4810680" cy="952920"/>
          </a:xfrm>
          <a:custGeom>
            <a:avLst/>
            <a:gdLst/>
            <a:ahLst/>
            <a:rect l="0" t="0" r="r" b="b"/>
            <a:pathLst>
              <a:path w="13363" h="2647">
                <a:moveTo>
                  <a:pt x="0" y="0"/>
                </a:moveTo>
                <a:lnTo>
                  <a:pt x="13363" y="0"/>
                </a:lnTo>
                <a:lnTo>
                  <a:pt x="1336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1" name=""/>
          <p:cNvSpPr/>
          <p:nvPr/>
        </p:nvSpPr>
        <p:spPr>
          <a:xfrm>
            <a:off x="752400" y="4438440"/>
            <a:ext cx="2372040" cy="543240"/>
          </a:xfrm>
          <a:custGeom>
            <a:avLst/>
            <a:gdLst/>
            <a:ahLst/>
            <a:rect l="0" t="0" r="r" b="b"/>
            <a:pathLst>
              <a:path w="6589" h="1509">
                <a:moveTo>
                  <a:pt x="0" y="0"/>
                </a:moveTo>
                <a:lnTo>
                  <a:pt x="6589" y="0"/>
                </a:lnTo>
                <a:lnTo>
                  <a:pt x="658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2" name=""/>
          <p:cNvSpPr/>
          <p:nvPr/>
        </p:nvSpPr>
        <p:spPr>
          <a:xfrm>
            <a:off x="3124080" y="4438440"/>
            <a:ext cx="1705320" cy="543240"/>
          </a:xfrm>
          <a:custGeom>
            <a:avLst/>
            <a:gdLst/>
            <a:ahLst/>
            <a:rect l="0" t="0" r="r" b="b"/>
            <a:pathLst>
              <a:path w="4737" h="1509">
                <a:moveTo>
                  <a:pt x="0" y="0"/>
                </a:moveTo>
                <a:lnTo>
                  <a:pt x="4737" y="0"/>
                </a:lnTo>
                <a:lnTo>
                  <a:pt x="473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3" name=""/>
          <p:cNvSpPr/>
          <p:nvPr/>
        </p:nvSpPr>
        <p:spPr>
          <a:xfrm>
            <a:off x="4829040" y="4438440"/>
            <a:ext cx="1800360" cy="543240"/>
          </a:xfrm>
          <a:custGeom>
            <a:avLst/>
            <a:gdLst/>
            <a:ahLst/>
            <a:rect l="0" t="0" r="r" b="b"/>
            <a:pathLst>
              <a:path w="5001" h="1509">
                <a:moveTo>
                  <a:pt x="0" y="0"/>
                </a:moveTo>
                <a:lnTo>
                  <a:pt x="5001" y="0"/>
                </a:lnTo>
                <a:lnTo>
                  <a:pt x="500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4" name=""/>
          <p:cNvSpPr/>
          <p:nvPr/>
        </p:nvSpPr>
        <p:spPr>
          <a:xfrm>
            <a:off x="6629040" y="4438440"/>
            <a:ext cx="4810680" cy="543240"/>
          </a:xfrm>
          <a:custGeom>
            <a:avLst/>
            <a:gdLst/>
            <a:ahLst/>
            <a:rect l="0" t="0" r="r" b="b"/>
            <a:pathLst>
              <a:path w="13363" h="1509">
                <a:moveTo>
                  <a:pt x="0" y="0"/>
                </a:moveTo>
                <a:lnTo>
                  <a:pt x="13363" y="0"/>
                </a:lnTo>
                <a:lnTo>
                  <a:pt x="13363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5" name=""/>
          <p:cNvSpPr/>
          <p:nvPr/>
        </p:nvSpPr>
        <p:spPr>
          <a:xfrm>
            <a:off x="752400" y="4981320"/>
            <a:ext cx="2372040" cy="533880"/>
          </a:xfrm>
          <a:custGeom>
            <a:avLst/>
            <a:gdLst/>
            <a:ahLst/>
            <a:rect l="0" t="0" r="r" b="b"/>
            <a:pathLst>
              <a:path w="6589" h="1483">
                <a:moveTo>
                  <a:pt x="0" y="0"/>
                </a:moveTo>
                <a:lnTo>
                  <a:pt x="6589" y="0"/>
                </a:lnTo>
                <a:lnTo>
                  <a:pt x="658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6" name=""/>
          <p:cNvSpPr/>
          <p:nvPr/>
        </p:nvSpPr>
        <p:spPr>
          <a:xfrm>
            <a:off x="3124080" y="4981320"/>
            <a:ext cx="1705320" cy="533880"/>
          </a:xfrm>
          <a:custGeom>
            <a:avLst/>
            <a:gdLst/>
            <a:ahLst/>
            <a:rect l="0" t="0" r="r" b="b"/>
            <a:pathLst>
              <a:path w="4737" h="1483">
                <a:moveTo>
                  <a:pt x="0" y="0"/>
                </a:moveTo>
                <a:lnTo>
                  <a:pt x="4737" y="0"/>
                </a:lnTo>
                <a:lnTo>
                  <a:pt x="473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7" name=""/>
          <p:cNvSpPr/>
          <p:nvPr/>
        </p:nvSpPr>
        <p:spPr>
          <a:xfrm>
            <a:off x="4829040" y="4981320"/>
            <a:ext cx="1800360" cy="533880"/>
          </a:xfrm>
          <a:custGeom>
            <a:avLst/>
            <a:gdLst/>
            <a:ahLst/>
            <a:rect l="0" t="0" r="r" b="b"/>
            <a:pathLst>
              <a:path w="5001" h="1483">
                <a:moveTo>
                  <a:pt x="0" y="0"/>
                </a:moveTo>
                <a:lnTo>
                  <a:pt x="5001" y="0"/>
                </a:lnTo>
                <a:lnTo>
                  <a:pt x="5001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8" name=""/>
          <p:cNvSpPr/>
          <p:nvPr/>
        </p:nvSpPr>
        <p:spPr>
          <a:xfrm>
            <a:off x="6629040" y="4981320"/>
            <a:ext cx="4810680" cy="533880"/>
          </a:xfrm>
          <a:custGeom>
            <a:avLst/>
            <a:gdLst/>
            <a:ahLst/>
            <a:rect l="0" t="0" r="r" b="b"/>
            <a:pathLst>
              <a:path w="13363" h="1483">
                <a:moveTo>
                  <a:pt x="0" y="0"/>
                </a:moveTo>
                <a:lnTo>
                  <a:pt x="13363" y="0"/>
                </a:lnTo>
                <a:lnTo>
                  <a:pt x="13363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9" name=""/>
          <p:cNvSpPr/>
          <p:nvPr/>
        </p:nvSpPr>
        <p:spPr>
          <a:xfrm>
            <a:off x="752400" y="5514840"/>
            <a:ext cx="2372040" cy="952920"/>
          </a:xfrm>
          <a:custGeom>
            <a:avLst/>
            <a:gdLst/>
            <a:ahLst/>
            <a:rect l="0" t="0" r="r" b="b"/>
            <a:pathLst>
              <a:path w="6589" h="2647">
                <a:moveTo>
                  <a:pt x="0" y="0"/>
                </a:moveTo>
                <a:lnTo>
                  <a:pt x="6589" y="0"/>
                </a:lnTo>
                <a:lnTo>
                  <a:pt x="6589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0" name=""/>
          <p:cNvSpPr/>
          <p:nvPr/>
        </p:nvSpPr>
        <p:spPr>
          <a:xfrm>
            <a:off x="3124080" y="5514840"/>
            <a:ext cx="1705320" cy="952920"/>
          </a:xfrm>
          <a:custGeom>
            <a:avLst/>
            <a:gdLst/>
            <a:ahLst/>
            <a:rect l="0" t="0" r="r" b="b"/>
            <a:pathLst>
              <a:path w="4737" h="2647">
                <a:moveTo>
                  <a:pt x="0" y="0"/>
                </a:moveTo>
                <a:lnTo>
                  <a:pt x="4737" y="0"/>
                </a:lnTo>
                <a:lnTo>
                  <a:pt x="473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1" name=""/>
          <p:cNvSpPr/>
          <p:nvPr/>
        </p:nvSpPr>
        <p:spPr>
          <a:xfrm>
            <a:off x="4829040" y="5514840"/>
            <a:ext cx="1800360" cy="952920"/>
          </a:xfrm>
          <a:custGeom>
            <a:avLst/>
            <a:gdLst/>
            <a:ahLst/>
            <a:rect l="0" t="0" r="r" b="b"/>
            <a:pathLst>
              <a:path w="5001" h="2647">
                <a:moveTo>
                  <a:pt x="0" y="0"/>
                </a:moveTo>
                <a:lnTo>
                  <a:pt x="5001" y="0"/>
                </a:lnTo>
                <a:lnTo>
                  <a:pt x="5001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2" name=""/>
          <p:cNvSpPr/>
          <p:nvPr/>
        </p:nvSpPr>
        <p:spPr>
          <a:xfrm>
            <a:off x="6629040" y="5514840"/>
            <a:ext cx="4810680" cy="952920"/>
          </a:xfrm>
          <a:custGeom>
            <a:avLst/>
            <a:gdLst/>
            <a:ahLst/>
            <a:rect l="0" t="0" r="r" b="b"/>
            <a:pathLst>
              <a:path w="13363" h="2647">
                <a:moveTo>
                  <a:pt x="0" y="0"/>
                </a:moveTo>
                <a:lnTo>
                  <a:pt x="13363" y="0"/>
                </a:lnTo>
                <a:lnTo>
                  <a:pt x="1336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3" name=""/>
          <p:cNvSpPr/>
          <p:nvPr/>
        </p:nvSpPr>
        <p:spPr>
          <a:xfrm>
            <a:off x="752400" y="6467400"/>
            <a:ext cx="2372040" cy="952920"/>
          </a:xfrm>
          <a:custGeom>
            <a:avLst/>
            <a:gdLst/>
            <a:ahLst/>
            <a:rect l="0" t="0" r="r" b="b"/>
            <a:pathLst>
              <a:path w="6589" h="2647">
                <a:moveTo>
                  <a:pt x="0" y="0"/>
                </a:moveTo>
                <a:lnTo>
                  <a:pt x="6589" y="0"/>
                </a:lnTo>
                <a:lnTo>
                  <a:pt x="6589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4" name=""/>
          <p:cNvSpPr/>
          <p:nvPr/>
        </p:nvSpPr>
        <p:spPr>
          <a:xfrm>
            <a:off x="3124080" y="6467400"/>
            <a:ext cx="1705320" cy="952920"/>
          </a:xfrm>
          <a:custGeom>
            <a:avLst/>
            <a:gdLst/>
            <a:ahLst/>
            <a:rect l="0" t="0" r="r" b="b"/>
            <a:pathLst>
              <a:path w="4737" h="2647">
                <a:moveTo>
                  <a:pt x="0" y="0"/>
                </a:moveTo>
                <a:lnTo>
                  <a:pt x="4737" y="0"/>
                </a:lnTo>
                <a:lnTo>
                  <a:pt x="473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5" name=""/>
          <p:cNvSpPr/>
          <p:nvPr/>
        </p:nvSpPr>
        <p:spPr>
          <a:xfrm>
            <a:off x="4829040" y="6467400"/>
            <a:ext cx="1800360" cy="952920"/>
          </a:xfrm>
          <a:custGeom>
            <a:avLst/>
            <a:gdLst/>
            <a:ahLst/>
            <a:rect l="0" t="0" r="r" b="b"/>
            <a:pathLst>
              <a:path w="5001" h="2647">
                <a:moveTo>
                  <a:pt x="0" y="0"/>
                </a:moveTo>
                <a:lnTo>
                  <a:pt x="5001" y="0"/>
                </a:lnTo>
                <a:lnTo>
                  <a:pt x="5001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6" name=""/>
          <p:cNvSpPr/>
          <p:nvPr/>
        </p:nvSpPr>
        <p:spPr>
          <a:xfrm>
            <a:off x="6629040" y="6467400"/>
            <a:ext cx="4810680" cy="952920"/>
          </a:xfrm>
          <a:custGeom>
            <a:avLst/>
            <a:gdLst/>
            <a:ahLst/>
            <a:rect l="0" t="0" r="r" b="b"/>
            <a:pathLst>
              <a:path w="13363" h="2647">
                <a:moveTo>
                  <a:pt x="0" y="0"/>
                </a:moveTo>
                <a:lnTo>
                  <a:pt x="13363" y="0"/>
                </a:lnTo>
                <a:lnTo>
                  <a:pt x="1336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7" name=""/>
          <p:cNvSpPr/>
          <p:nvPr/>
        </p:nvSpPr>
        <p:spPr>
          <a:xfrm>
            <a:off x="75240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8" name=""/>
          <p:cNvSpPr/>
          <p:nvPr/>
        </p:nvSpPr>
        <p:spPr>
          <a:xfrm>
            <a:off x="752400" y="1457280"/>
            <a:ext cx="2372040" cy="9720"/>
          </a:xfrm>
          <a:custGeom>
            <a:avLst/>
            <a:gdLst/>
            <a:ahLst/>
            <a:rect l="0" t="0" r="r" b="b"/>
            <a:pathLst>
              <a:path w="6589" h="27">
                <a:moveTo>
                  <a:pt x="0" y="0"/>
                </a:moveTo>
                <a:lnTo>
                  <a:pt x="6589" y="0"/>
                </a:lnTo>
                <a:lnTo>
                  <a:pt x="65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9" name=""/>
          <p:cNvSpPr/>
          <p:nvPr/>
        </p:nvSpPr>
        <p:spPr>
          <a:xfrm>
            <a:off x="311436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0" name=""/>
          <p:cNvSpPr/>
          <p:nvPr/>
        </p:nvSpPr>
        <p:spPr>
          <a:xfrm>
            <a:off x="3124080" y="1457280"/>
            <a:ext cx="1714680" cy="9720"/>
          </a:xfrm>
          <a:custGeom>
            <a:avLst/>
            <a:gdLst/>
            <a:ahLst/>
            <a:rect l="0" t="0" r="r" b="b"/>
            <a:pathLst>
              <a:path w="4763" h="27">
                <a:moveTo>
                  <a:pt x="0" y="0"/>
                </a:moveTo>
                <a:lnTo>
                  <a:pt x="4763" y="0"/>
                </a:lnTo>
                <a:lnTo>
                  <a:pt x="476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1" name=""/>
          <p:cNvSpPr/>
          <p:nvPr/>
        </p:nvSpPr>
        <p:spPr>
          <a:xfrm>
            <a:off x="482904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2" name=""/>
          <p:cNvSpPr/>
          <p:nvPr/>
        </p:nvSpPr>
        <p:spPr>
          <a:xfrm>
            <a:off x="4838400" y="1457280"/>
            <a:ext cx="1791000" cy="9720"/>
          </a:xfrm>
          <a:custGeom>
            <a:avLst/>
            <a:gdLst/>
            <a:ahLst/>
            <a:rect l="0" t="0" r="r" b="b"/>
            <a:pathLst>
              <a:path w="4975" h="27">
                <a:moveTo>
                  <a:pt x="0" y="0"/>
                </a:moveTo>
                <a:lnTo>
                  <a:pt x="4975" y="0"/>
                </a:lnTo>
                <a:lnTo>
                  <a:pt x="497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3" name=""/>
          <p:cNvSpPr/>
          <p:nvPr/>
        </p:nvSpPr>
        <p:spPr>
          <a:xfrm>
            <a:off x="661968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4" name=""/>
          <p:cNvSpPr/>
          <p:nvPr/>
        </p:nvSpPr>
        <p:spPr>
          <a:xfrm>
            <a:off x="6629040" y="1457280"/>
            <a:ext cx="4820040" cy="9720"/>
          </a:xfrm>
          <a:custGeom>
            <a:avLst/>
            <a:gdLst/>
            <a:ahLst/>
            <a:rect l="0" t="0" r="r" b="b"/>
            <a:pathLst>
              <a:path w="13389" h="27">
                <a:moveTo>
                  <a:pt x="0" y="0"/>
                </a:moveTo>
                <a:lnTo>
                  <a:pt x="13389" y="0"/>
                </a:lnTo>
                <a:lnTo>
                  <a:pt x="133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5" name=""/>
          <p:cNvSpPr/>
          <p:nvPr/>
        </p:nvSpPr>
        <p:spPr>
          <a:xfrm>
            <a:off x="1143936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6" name=""/>
          <p:cNvSpPr/>
          <p:nvPr/>
        </p:nvSpPr>
        <p:spPr>
          <a:xfrm>
            <a:off x="752400" y="1990440"/>
            <a:ext cx="2372040" cy="10080"/>
          </a:xfrm>
          <a:custGeom>
            <a:avLst/>
            <a:gdLst/>
            <a:ahLst/>
            <a:rect l="0" t="0" r="r" b="b"/>
            <a:pathLst>
              <a:path w="6589" h="28">
                <a:moveTo>
                  <a:pt x="0" y="0"/>
                </a:moveTo>
                <a:lnTo>
                  <a:pt x="6589" y="0"/>
                </a:lnTo>
                <a:lnTo>
                  <a:pt x="658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7" name=""/>
          <p:cNvSpPr/>
          <p:nvPr/>
        </p:nvSpPr>
        <p:spPr>
          <a:xfrm>
            <a:off x="3124080" y="1990440"/>
            <a:ext cx="1714680" cy="10080"/>
          </a:xfrm>
          <a:custGeom>
            <a:avLst/>
            <a:gdLst/>
            <a:ahLst/>
            <a:rect l="0" t="0" r="r" b="b"/>
            <a:pathLst>
              <a:path w="4763" h="28">
                <a:moveTo>
                  <a:pt x="0" y="0"/>
                </a:moveTo>
                <a:lnTo>
                  <a:pt x="4763" y="0"/>
                </a:lnTo>
                <a:lnTo>
                  <a:pt x="476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8" name=""/>
          <p:cNvSpPr/>
          <p:nvPr/>
        </p:nvSpPr>
        <p:spPr>
          <a:xfrm>
            <a:off x="4838400" y="1990440"/>
            <a:ext cx="1791000" cy="10080"/>
          </a:xfrm>
          <a:custGeom>
            <a:avLst/>
            <a:gdLst/>
            <a:ahLst/>
            <a:rect l="0" t="0" r="r" b="b"/>
            <a:pathLst>
              <a:path w="4975" h="28">
                <a:moveTo>
                  <a:pt x="0" y="0"/>
                </a:moveTo>
                <a:lnTo>
                  <a:pt x="4975" y="0"/>
                </a:lnTo>
                <a:lnTo>
                  <a:pt x="497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9" name=""/>
          <p:cNvSpPr/>
          <p:nvPr/>
        </p:nvSpPr>
        <p:spPr>
          <a:xfrm>
            <a:off x="6629040" y="1990440"/>
            <a:ext cx="4820040" cy="10080"/>
          </a:xfrm>
          <a:custGeom>
            <a:avLst/>
            <a:gdLst/>
            <a:ahLst/>
            <a:rect l="0" t="0" r="r" b="b"/>
            <a:pathLst>
              <a:path w="13389" h="28">
                <a:moveTo>
                  <a:pt x="0" y="0"/>
                </a:moveTo>
                <a:lnTo>
                  <a:pt x="13389" y="0"/>
                </a:lnTo>
                <a:lnTo>
                  <a:pt x="1338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0" name=""/>
          <p:cNvSpPr/>
          <p:nvPr/>
        </p:nvSpPr>
        <p:spPr>
          <a:xfrm>
            <a:off x="75240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1" name=""/>
          <p:cNvSpPr/>
          <p:nvPr/>
        </p:nvSpPr>
        <p:spPr>
          <a:xfrm>
            <a:off x="3114360" y="20001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2" name=""/>
          <p:cNvSpPr/>
          <p:nvPr/>
        </p:nvSpPr>
        <p:spPr>
          <a:xfrm>
            <a:off x="482904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3" name=""/>
          <p:cNvSpPr/>
          <p:nvPr/>
        </p:nvSpPr>
        <p:spPr>
          <a:xfrm>
            <a:off x="661968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4" name=""/>
          <p:cNvSpPr/>
          <p:nvPr/>
        </p:nvSpPr>
        <p:spPr>
          <a:xfrm>
            <a:off x="1143936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5" name=""/>
          <p:cNvSpPr/>
          <p:nvPr/>
        </p:nvSpPr>
        <p:spPr>
          <a:xfrm>
            <a:off x="752400" y="254304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6" name=""/>
          <p:cNvSpPr/>
          <p:nvPr/>
        </p:nvSpPr>
        <p:spPr>
          <a:xfrm>
            <a:off x="752400" y="2533320"/>
            <a:ext cx="2372040" cy="10080"/>
          </a:xfrm>
          <a:custGeom>
            <a:avLst/>
            <a:gdLst/>
            <a:ahLst/>
            <a:rect l="0" t="0" r="r" b="b"/>
            <a:pathLst>
              <a:path w="6589" h="28">
                <a:moveTo>
                  <a:pt x="0" y="0"/>
                </a:moveTo>
                <a:lnTo>
                  <a:pt x="6589" y="0"/>
                </a:lnTo>
                <a:lnTo>
                  <a:pt x="658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7" name=""/>
          <p:cNvSpPr/>
          <p:nvPr/>
        </p:nvSpPr>
        <p:spPr>
          <a:xfrm>
            <a:off x="3114360" y="254304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8" name=""/>
          <p:cNvSpPr/>
          <p:nvPr/>
        </p:nvSpPr>
        <p:spPr>
          <a:xfrm>
            <a:off x="3124080" y="2533320"/>
            <a:ext cx="1714680" cy="10080"/>
          </a:xfrm>
          <a:custGeom>
            <a:avLst/>
            <a:gdLst/>
            <a:ahLst/>
            <a:rect l="0" t="0" r="r" b="b"/>
            <a:pathLst>
              <a:path w="4763" h="28">
                <a:moveTo>
                  <a:pt x="0" y="0"/>
                </a:moveTo>
                <a:lnTo>
                  <a:pt x="4763" y="0"/>
                </a:lnTo>
                <a:lnTo>
                  <a:pt x="476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9" name=""/>
          <p:cNvSpPr/>
          <p:nvPr/>
        </p:nvSpPr>
        <p:spPr>
          <a:xfrm>
            <a:off x="4829040" y="254304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0" name=""/>
          <p:cNvSpPr/>
          <p:nvPr/>
        </p:nvSpPr>
        <p:spPr>
          <a:xfrm>
            <a:off x="4838400" y="2533320"/>
            <a:ext cx="1791000" cy="10080"/>
          </a:xfrm>
          <a:custGeom>
            <a:avLst/>
            <a:gdLst/>
            <a:ahLst/>
            <a:rect l="0" t="0" r="r" b="b"/>
            <a:pathLst>
              <a:path w="4975" h="28">
                <a:moveTo>
                  <a:pt x="0" y="0"/>
                </a:moveTo>
                <a:lnTo>
                  <a:pt x="4975" y="0"/>
                </a:lnTo>
                <a:lnTo>
                  <a:pt x="497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1" name=""/>
          <p:cNvSpPr/>
          <p:nvPr/>
        </p:nvSpPr>
        <p:spPr>
          <a:xfrm>
            <a:off x="6619680" y="254304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2" name=""/>
          <p:cNvSpPr/>
          <p:nvPr/>
        </p:nvSpPr>
        <p:spPr>
          <a:xfrm>
            <a:off x="6629040" y="2533320"/>
            <a:ext cx="4820040" cy="10080"/>
          </a:xfrm>
          <a:custGeom>
            <a:avLst/>
            <a:gdLst/>
            <a:ahLst/>
            <a:rect l="0" t="0" r="r" b="b"/>
            <a:pathLst>
              <a:path w="13389" h="28">
                <a:moveTo>
                  <a:pt x="0" y="0"/>
                </a:moveTo>
                <a:lnTo>
                  <a:pt x="13389" y="0"/>
                </a:lnTo>
                <a:lnTo>
                  <a:pt x="1338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3" name=""/>
          <p:cNvSpPr/>
          <p:nvPr/>
        </p:nvSpPr>
        <p:spPr>
          <a:xfrm>
            <a:off x="11439360" y="254304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4" name=""/>
          <p:cNvSpPr/>
          <p:nvPr/>
        </p:nvSpPr>
        <p:spPr>
          <a:xfrm>
            <a:off x="752400" y="34956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5" name=""/>
          <p:cNvSpPr/>
          <p:nvPr/>
        </p:nvSpPr>
        <p:spPr>
          <a:xfrm>
            <a:off x="752400" y="3485880"/>
            <a:ext cx="2372040" cy="10080"/>
          </a:xfrm>
          <a:custGeom>
            <a:avLst/>
            <a:gdLst/>
            <a:ahLst/>
            <a:rect l="0" t="0" r="r" b="b"/>
            <a:pathLst>
              <a:path w="6589" h="28">
                <a:moveTo>
                  <a:pt x="0" y="0"/>
                </a:moveTo>
                <a:lnTo>
                  <a:pt x="6589" y="0"/>
                </a:lnTo>
                <a:lnTo>
                  <a:pt x="658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6" name=""/>
          <p:cNvSpPr/>
          <p:nvPr/>
        </p:nvSpPr>
        <p:spPr>
          <a:xfrm>
            <a:off x="3114360" y="349560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7" name=""/>
          <p:cNvSpPr/>
          <p:nvPr/>
        </p:nvSpPr>
        <p:spPr>
          <a:xfrm>
            <a:off x="3124080" y="3485880"/>
            <a:ext cx="1714680" cy="10080"/>
          </a:xfrm>
          <a:custGeom>
            <a:avLst/>
            <a:gdLst/>
            <a:ahLst/>
            <a:rect l="0" t="0" r="r" b="b"/>
            <a:pathLst>
              <a:path w="4763" h="28">
                <a:moveTo>
                  <a:pt x="0" y="0"/>
                </a:moveTo>
                <a:lnTo>
                  <a:pt x="4763" y="0"/>
                </a:lnTo>
                <a:lnTo>
                  <a:pt x="476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8" name=""/>
          <p:cNvSpPr/>
          <p:nvPr/>
        </p:nvSpPr>
        <p:spPr>
          <a:xfrm>
            <a:off x="4829040" y="34956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9" name=""/>
          <p:cNvSpPr/>
          <p:nvPr/>
        </p:nvSpPr>
        <p:spPr>
          <a:xfrm>
            <a:off x="4838400" y="3485880"/>
            <a:ext cx="1791000" cy="10080"/>
          </a:xfrm>
          <a:custGeom>
            <a:avLst/>
            <a:gdLst/>
            <a:ahLst/>
            <a:rect l="0" t="0" r="r" b="b"/>
            <a:pathLst>
              <a:path w="4975" h="28">
                <a:moveTo>
                  <a:pt x="0" y="0"/>
                </a:moveTo>
                <a:lnTo>
                  <a:pt x="4975" y="0"/>
                </a:lnTo>
                <a:lnTo>
                  <a:pt x="497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0" name=""/>
          <p:cNvSpPr/>
          <p:nvPr/>
        </p:nvSpPr>
        <p:spPr>
          <a:xfrm>
            <a:off x="6619680" y="34956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1" name=""/>
          <p:cNvSpPr/>
          <p:nvPr/>
        </p:nvSpPr>
        <p:spPr>
          <a:xfrm>
            <a:off x="6629040" y="3485880"/>
            <a:ext cx="4820040" cy="10080"/>
          </a:xfrm>
          <a:custGeom>
            <a:avLst/>
            <a:gdLst/>
            <a:ahLst/>
            <a:rect l="0" t="0" r="r" b="b"/>
            <a:pathLst>
              <a:path w="13389" h="28">
                <a:moveTo>
                  <a:pt x="0" y="0"/>
                </a:moveTo>
                <a:lnTo>
                  <a:pt x="13389" y="0"/>
                </a:lnTo>
                <a:lnTo>
                  <a:pt x="1338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2" name=""/>
          <p:cNvSpPr/>
          <p:nvPr/>
        </p:nvSpPr>
        <p:spPr>
          <a:xfrm>
            <a:off x="11439360" y="34956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3" name=""/>
          <p:cNvSpPr/>
          <p:nvPr/>
        </p:nvSpPr>
        <p:spPr>
          <a:xfrm>
            <a:off x="752400" y="444816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4" name=""/>
          <p:cNvSpPr/>
          <p:nvPr/>
        </p:nvSpPr>
        <p:spPr>
          <a:xfrm>
            <a:off x="752400" y="4438440"/>
            <a:ext cx="2372040" cy="10080"/>
          </a:xfrm>
          <a:custGeom>
            <a:avLst/>
            <a:gdLst/>
            <a:ahLst/>
            <a:rect l="0" t="0" r="r" b="b"/>
            <a:pathLst>
              <a:path w="6589" h="28">
                <a:moveTo>
                  <a:pt x="0" y="0"/>
                </a:moveTo>
                <a:lnTo>
                  <a:pt x="6589" y="0"/>
                </a:lnTo>
                <a:lnTo>
                  <a:pt x="658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5" name=""/>
          <p:cNvSpPr/>
          <p:nvPr/>
        </p:nvSpPr>
        <p:spPr>
          <a:xfrm>
            <a:off x="3114360" y="444816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6" name=""/>
          <p:cNvSpPr/>
          <p:nvPr/>
        </p:nvSpPr>
        <p:spPr>
          <a:xfrm>
            <a:off x="3124080" y="4438440"/>
            <a:ext cx="1714680" cy="10080"/>
          </a:xfrm>
          <a:custGeom>
            <a:avLst/>
            <a:gdLst/>
            <a:ahLst/>
            <a:rect l="0" t="0" r="r" b="b"/>
            <a:pathLst>
              <a:path w="4763" h="28">
                <a:moveTo>
                  <a:pt x="0" y="0"/>
                </a:moveTo>
                <a:lnTo>
                  <a:pt x="4763" y="0"/>
                </a:lnTo>
                <a:lnTo>
                  <a:pt x="476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7" name=""/>
          <p:cNvSpPr/>
          <p:nvPr/>
        </p:nvSpPr>
        <p:spPr>
          <a:xfrm>
            <a:off x="4829040" y="444816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8" name=""/>
          <p:cNvSpPr/>
          <p:nvPr/>
        </p:nvSpPr>
        <p:spPr>
          <a:xfrm>
            <a:off x="4838400" y="4438440"/>
            <a:ext cx="1791000" cy="10080"/>
          </a:xfrm>
          <a:custGeom>
            <a:avLst/>
            <a:gdLst/>
            <a:ahLst/>
            <a:rect l="0" t="0" r="r" b="b"/>
            <a:pathLst>
              <a:path w="4975" h="28">
                <a:moveTo>
                  <a:pt x="0" y="0"/>
                </a:moveTo>
                <a:lnTo>
                  <a:pt x="4975" y="0"/>
                </a:lnTo>
                <a:lnTo>
                  <a:pt x="497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9" name=""/>
          <p:cNvSpPr/>
          <p:nvPr/>
        </p:nvSpPr>
        <p:spPr>
          <a:xfrm>
            <a:off x="6619680" y="444816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0" name=""/>
          <p:cNvSpPr/>
          <p:nvPr/>
        </p:nvSpPr>
        <p:spPr>
          <a:xfrm>
            <a:off x="6629040" y="4438440"/>
            <a:ext cx="4820040" cy="10080"/>
          </a:xfrm>
          <a:custGeom>
            <a:avLst/>
            <a:gdLst/>
            <a:ahLst/>
            <a:rect l="0" t="0" r="r" b="b"/>
            <a:pathLst>
              <a:path w="13389" h="28">
                <a:moveTo>
                  <a:pt x="0" y="0"/>
                </a:moveTo>
                <a:lnTo>
                  <a:pt x="13389" y="0"/>
                </a:lnTo>
                <a:lnTo>
                  <a:pt x="1338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1" name=""/>
          <p:cNvSpPr/>
          <p:nvPr/>
        </p:nvSpPr>
        <p:spPr>
          <a:xfrm>
            <a:off x="11439360" y="444816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2" name=""/>
          <p:cNvSpPr/>
          <p:nvPr/>
        </p:nvSpPr>
        <p:spPr>
          <a:xfrm>
            <a:off x="752400" y="498132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3" name=""/>
          <p:cNvSpPr/>
          <p:nvPr/>
        </p:nvSpPr>
        <p:spPr>
          <a:xfrm>
            <a:off x="752400" y="4971960"/>
            <a:ext cx="2372040" cy="9720"/>
          </a:xfrm>
          <a:custGeom>
            <a:avLst/>
            <a:gdLst/>
            <a:ahLst/>
            <a:rect l="0" t="0" r="r" b="b"/>
            <a:pathLst>
              <a:path w="6589" h="27">
                <a:moveTo>
                  <a:pt x="0" y="0"/>
                </a:moveTo>
                <a:lnTo>
                  <a:pt x="6589" y="0"/>
                </a:lnTo>
                <a:lnTo>
                  <a:pt x="65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4" name=""/>
          <p:cNvSpPr/>
          <p:nvPr/>
        </p:nvSpPr>
        <p:spPr>
          <a:xfrm>
            <a:off x="3114360" y="498132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5" name=""/>
          <p:cNvSpPr/>
          <p:nvPr/>
        </p:nvSpPr>
        <p:spPr>
          <a:xfrm>
            <a:off x="3124080" y="4971960"/>
            <a:ext cx="1714680" cy="9720"/>
          </a:xfrm>
          <a:custGeom>
            <a:avLst/>
            <a:gdLst/>
            <a:ahLst/>
            <a:rect l="0" t="0" r="r" b="b"/>
            <a:pathLst>
              <a:path w="4763" h="27">
                <a:moveTo>
                  <a:pt x="0" y="0"/>
                </a:moveTo>
                <a:lnTo>
                  <a:pt x="4763" y="0"/>
                </a:lnTo>
                <a:lnTo>
                  <a:pt x="476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6" name=""/>
          <p:cNvSpPr/>
          <p:nvPr/>
        </p:nvSpPr>
        <p:spPr>
          <a:xfrm>
            <a:off x="4829040" y="498132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7" name=""/>
          <p:cNvSpPr/>
          <p:nvPr/>
        </p:nvSpPr>
        <p:spPr>
          <a:xfrm>
            <a:off x="4838400" y="4971960"/>
            <a:ext cx="1791000" cy="9720"/>
          </a:xfrm>
          <a:custGeom>
            <a:avLst/>
            <a:gdLst/>
            <a:ahLst/>
            <a:rect l="0" t="0" r="r" b="b"/>
            <a:pathLst>
              <a:path w="4975" h="27">
                <a:moveTo>
                  <a:pt x="0" y="0"/>
                </a:moveTo>
                <a:lnTo>
                  <a:pt x="4975" y="0"/>
                </a:lnTo>
                <a:lnTo>
                  <a:pt x="497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8" name=""/>
          <p:cNvSpPr/>
          <p:nvPr/>
        </p:nvSpPr>
        <p:spPr>
          <a:xfrm>
            <a:off x="6619680" y="498132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9" name=""/>
          <p:cNvSpPr/>
          <p:nvPr/>
        </p:nvSpPr>
        <p:spPr>
          <a:xfrm>
            <a:off x="6629040" y="4971960"/>
            <a:ext cx="4820040" cy="9720"/>
          </a:xfrm>
          <a:custGeom>
            <a:avLst/>
            <a:gdLst/>
            <a:ahLst/>
            <a:rect l="0" t="0" r="r" b="b"/>
            <a:pathLst>
              <a:path w="13389" h="27">
                <a:moveTo>
                  <a:pt x="0" y="0"/>
                </a:moveTo>
                <a:lnTo>
                  <a:pt x="13389" y="0"/>
                </a:lnTo>
                <a:lnTo>
                  <a:pt x="133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0" name=""/>
          <p:cNvSpPr/>
          <p:nvPr/>
        </p:nvSpPr>
        <p:spPr>
          <a:xfrm>
            <a:off x="11439360" y="498132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1" name=""/>
          <p:cNvSpPr/>
          <p:nvPr/>
        </p:nvSpPr>
        <p:spPr>
          <a:xfrm>
            <a:off x="752400" y="5524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2" name=""/>
          <p:cNvSpPr/>
          <p:nvPr/>
        </p:nvSpPr>
        <p:spPr>
          <a:xfrm>
            <a:off x="752400" y="5514840"/>
            <a:ext cx="2372040" cy="9720"/>
          </a:xfrm>
          <a:custGeom>
            <a:avLst/>
            <a:gdLst/>
            <a:ahLst/>
            <a:rect l="0" t="0" r="r" b="b"/>
            <a:pathLst>
              <a:path w="6589" h="27">
                <a:moveTo>
                  <a:pt x="0" y="0"/>
                </a:moveTo>
                <a:lnTo>
                  <a:pt x="6589" y="0"/>
                </a:lnTo>
                <a:lnTo>
                  <a:pt x="65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3" name=""/>
          <p:cNvSpPr/>
          <p:nvPr/>
        </p:nvSpPr>
        <p:spPr>
          <a:xfrm>
            <a:off x="3114360" y="552420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4" name=""/>
          <p:cNvSpPr/>
          <p:nvPr/>
        </p:nvSpPr>
        <p:spPr>
          <a:xfrm>
            <a:off x="3124080" y="5514840"/>
            <a:ext cx="1714680" cy="9720"/>
          </a:xfrm>
          <a:custGeom>
            <a:avLst/>
            <a:gdLst/>
            <a:ahLst/>
            <a:rect l="0" t="0" r="r" b="b"/>
            <a:pathLst>
              <a:path w="4763" h="27">
                <a:moveTo>
                  <a:pt x="0" y="0"/>
                </a:moveTo>
                <a:lnTo>
                  <a:pt x="4763" y="0"/>
                </a:lnTo>
                <a:lnTo>
                  <a:pt x="476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5" name=""/>
          <p:cNvSpPr/>
          <p:nvPr/>
        </p:nvSpPr>
        <p:spPr>
          <a:xfrm>
            <a:off x="4829040" y="5524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6" name=""/>
          <p:cNvSpPr/>
          <p:nvPr/>
        </p:nvSpPr>
        <p:spPr>
          <a:xfrm>
            <a:off x="4838400" y="5514840"/>
            <a:ext cx="1791000" cy="9720"/>
          </a:xfrm>
          <a:custGeom>
            <a:avLst/>
            <a:gdLst/>
            <a:ahLst/>
            <a:rect l="0" t="0" r="r" b="b"/>
            <a:pathLst>
              <a:path w="4975" h="27">
                <a:moveTo>
                  <a:pt x="0" y="0"/>
                </a:moveTo>
                <a:lnTo>
                  <a:pt x="4975" y="0"/>
                </a:lnTo>
                <a:lnTo>
                  <a:pt x="497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7" name=""/>
          <p:cNvSpPr/>
          <p:nvPr/>
        </p:nvSpPr>
        <p:spPr>
          <a:xfrm>
            <a:off x="6619680" y="5524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8" name=""/>
          <p:cNvSpPr/>
          <p:nvPr/>
        </p:nvSpPr>
        <p:spPr>
          <a:xfrm>
            <a:off x="6629040" y="5514840"/>
            <a:ext cx="4820040" cy="9720"/>
          </a:xfrm>
          <a:custGeom>
            <a:avLst/>
            <a:gdLst/>
            <a:ahLst/>
            <a:rect l="0" t="0" r="r" b="b"/>
            <a:pathLst>
              <a:path w="13389" h="27">
                <a:moveTo>
                  <a:pt x="0" y="0"/>
                </a:moveTo>
                <a:lnTo>
                  <a:pt x="13389" y="0"/>
                </a:lnTo>
                <a:lnTo>
                  <a:pt x="133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9" name=""/>
          <p:cNvSpPr/>
          <p:nvPr/>
        </p:nvSpPr>
        <p:spPr>
          <a:xfrm>
            <a:off x="11439360" y="5524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0" name=""/>
          <p:cNvSpPr/>
          <p:nvPr/>
        </p:nvSpPr>
        <p:spPr>
          <a:xfrm>
            <a:off x="752400" y="64767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1" name=""/>
          <p:cNvSpPr/>
          <p:nvPr/>
        </p:nvSpPr>
        <p:spPr>
          <a:xfrm>
            <a:off x="752400" y="6467400"/>
            <a:ext cx="2372040" cy="9720"/>
          </a:xfrm>
          <a:custGeom>
            <a:avLst/>
            <a:gdLst/>
            <a:ahLst/>
            <a:rect l="0" t="0" r="r" b="b"/>
            <a:pathLst>
              <a:path w="6589" h="27">
                <a:moveTo>
                  <a:pt x="0" y="0"/>
                </a:moveTo>
                <a:lnTo>
                  <a:pt x="6589" y="0"/>
                </a:lnTo>
                <a:lnTo>
                  <a:pt x="65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2" name=""/>
          <p:cNvSpPr/>
          <p:nvPr/>
        </p:nvSpPr>
        <p:spPr>
          <a:xfrm>
            <a:off x="3114360" y="647676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3" name=""/>
          <p:cNvSpPr/>
          <p:nvPr/>
        </p:nvSpPr>
        <p:spPr>
          <a:xfrm>
            <a:off x="3124080" y="6467400"/>
            <a:ext cx="1714680" cy="9720"/>
          </a:xfrm>
          <a:custGeom>
            <a:avLst/>
            <a:gdLst/>
            <a:ahLst/>
            <a:rect l="0" t="0" r="r" b="b"/>
            <a:pathLst>
              <a:path w="4763" h="27">
                <a:moveTo>
                  <a:pt x="0" y="0"/>
                </a:moveTo>
                <a:lnTo>
                  <a:pt x="4763" y="0"/>
                </a:lnTo>
                <a:lnTo>
                  <a:pt x="476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4" name=""/>
          <p:cNvSpPr/>
          <p:nvPr/>
        </p:nvSpPr>
        <p:spPr>
          <a:xfrm>
            <a:off x="4829040" y="64767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5" name=""/>
          <p:cNvSpPr/>
          <p:nvPr/>
        </p:nvSpPr>
        <p:spPr>
          <a:xfrm>
            <a:off x="4838400" y="6467400"/>
            <a:ext cx="1791000" cy="9720"/>
          </a:xfrm>
          <a:custGeom>
            <a:avLst/>
            <a:gdLst/>
            <a:ahLst/>
            <a:rect l="0" t="0" r="r" b="b"/>
            <a:pathLst>
              <a:path w="4975" h="27">
                <a:moveTo>
                  <a:pt x="0" y="0"/>
                </a:moveTo>
                <a:lnTo>
                  <a:pt x="4975" y="0"/>
                </a:lnTo>
                <a:lnTo>
                  <a:pt x="497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6" name=""/>
          <p:cNvSpPr/>
          <p:nvPr/>
        </p:nvSpPr>
        <p:spPr>
          <a:xfrm>
            <a:off x="6619680" y="64767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7" name=""/>
          <p:cNvSpPr/>
          <p:nvPr/>
        </p:nvSpPr>
        <p:spPr>
          <a:xfrm>
            <a:off x="6629040" y="6467400"/>
            <a:ext cx="4820040" cy="9720"/>
          </a:xfrm>
          <a:custGeom>
            <a:avLst/>
            <a:gdLst/>
            <a:ahLst/>
            <a:rect l="0" t="0" r="r" b="b"/>
            <a:pathLst>
              <a:path w="13389" h="27">
                <a:moveTo>
                  <a:pt x="0" y="0"/>
                </a:moveTo>
                <a:lnTo>
                  <a:pt x="13389" y="0"/>
                </a:lnTo>
                <a:lnTo>
                  <a:pt x="133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8" name=""/>
          <p:cNvSpPr/>
          <p:nvPr/>
        </p:nvSpPr>
        <p:spPr>
          <a:xfrm>
            <a:off x="11439360" y="64767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9" name=""/>
          <p:cNvSpPr txBox="1"/>
          <p:nvPr/>
        </p:nvSpPr>
        <p:spPr>
          <a:xfrm>
            <a:off x="747720" y="770400"/>
            <a:ext cx="565632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2 — reading the dashboard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0" name=""/>
          <p:cNvSpPr txBox="1"/>
          <p:nvPr/>
        </p:nvSpPr>
        <p:spPr>
          <a:xfrm>
            <a:off x="1568520" y="1569240"/>
            <a:ext cx="735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Panel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1" name=""/>
          <p:cNvSpPr txBox="1"/>
          <p:nvPr/>
        </p:nvSpPr>
        <p:spPr>
          <a:xfrm>
            <a:off x="3570840" y="1569240"/>
            <a:ext cx="812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Metric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2" name=""/>
          <p:cNvSpPr txBox="1"/>
          <p:nvPr/>
        </p:nvSpPr>
        <p:spPr>
          <a:xfrm>
            <a:off x="5369400" y="1569240"/>
            <a:ext cx="735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Value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3" name=""/>
          <p:cNvSpPr txBox="1"/>
          <p:nvPr/>
        </p:nvSpPr>
        <p:spPr>
          <a:xfrm>
            <a:off x="8096760" y="1569240"/>
            <a:ext cx="1869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What it means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4" name=""/>
          <p:cNvSpPr txBox="1"/>
          <p:nvPr/>
        </p:nvSpPr>
        <p:spPr>
          <a:xfrm>
            <a:off x="880920" y="2102760"/>
            <a:ext cx="1578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Virtual Users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5" name=""/>
          <p:cNvSpPr txBox="1"/>
          <p:nvPr/>
        </p:nvSpPr>
        <p:spPr>
          <a:xfrm>
            <a:off x="3250440" y="2102760"/>
            <a:ext cx="628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Peak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6" name=""/>
          <p:cNvSpPr txBox="1"/>
          <p:nvPr/>
        </p:nvSpPr>
        <p:spPr>
          <a:xfrm>
            <a:off x="4962240" y="210276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50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7" name=""/>
          <p:cNvSpPr txBox="1"/>
          <p:nvPr/>
        </p:nvSpPr>
        <p:spPr>
          <a:xfrm>
            <a:off x="6755400" y="2102760"/>
            <a:ext cx="2070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Same load as L1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8" name=""/>
          <p:cNvSpPr txBox="1"/>
          <p:nvPr/>
        </p:nvSpPr>
        <p:spPr>
          <a:xfrm>
            <a:off x="880920" y="2855160"/>
            <a:ext cx="1379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Requests/s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9" name=""/>
          <p:cNvSpPr txBox="1"/>
          <p:nvPr/>
        </p:nvSpPr>
        <p:spPr>
          <a:xfrm>
            <a:off x="3250440" y="2855160"/>
            <a:ext cx="628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Peak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0" name=""/>
          <p:cNvSpPr/>
          <p:nvPr/>
        </p:nvSpPr>
        <p:spPr>
          <a:xfrm>
            <a:off x="4998600" y="3073320"/>
            <a:ext cx="261360" cy="250200"/>
          </a:xfrm>
          <a:custGeom>
            <a:avLst/>
            <a:gdLst/>
            <a:ahLst/>
            <a:rect l="0" t="0" r="r" b="b"/>
            <a:pathLst>
              <a:path w="726" h="695">
                <a:moveTo>
                  <a:pt x="561" y="695"/>
                </a:moveTo>
                <a:cubicBezTo>
                  <a:pt x="553" y="695"/>
                  <a:pt x="544" y="692"/>
                  <a:pt x="537" y="687"/>
                </a:cubicBezTo>
                <a:lnTo>
                  <a:pt x="363" y="562"/>
                </a:lnTo>
                <a:lnTo>
                  <a:pt x="189" y="687"/>
                </a:lnTo>
                <a:cubicBezTo>
                  <a:pt x="174" y="697"/>
                  <a:pt x="154" y="697"/>
                  <a:pt x="140" y="687"/>
                </a:cubicBezTo>
                <a:cubicBezTo>
                  <a:pt x="125" y="676"/>
                  <a:pt x="119" y="657"/>
                  <a:pt x="124" y="640"/>
                </a:cubicBezTo>
                <a:lnTo>
                  <a:pt x="189" y="431"/>
                </a:lnTo>
                <a:lnTo>
                  <a:pt x="17" y="310"/>
                </a:lnTo>
                <a:cubicBezTo>
                  <a:pt x="3" y="299"/>
                  <a:pt x="-4" y="280"/>
                  <a:pt x="2" y="263"/>
                </a:cubicBezTo>
                <a:cubicBezTo>
                  <a:pt x="8" y="246"/>
                  <a:pt x="24" y="234"/>
                  <a:pt x="42" y="234"/>
                </a:cubicBezTo>
                <a:lnTo>
                  <a:pt x="256" y="234"/>
                </a:lnTo>
                <a:lnTo>
                  <a:pt x="323" y="29"/>
                </a:lnTo>
                <a:cubicBezTo>
                  <a:pt x="329" y="12"/>
                  <a:pt x="345" y="0"/>
                  <a:pt x="363" y="0"/>
                </a:cubicBezTo>
                <a:cubicBezTo>
                  <a:pt x="381" y="0"/>
                  <a:pt x="398" y="12"/>
                  <a:pt x="403" y="29"/>
                </a:cubicBezTo>
                <a:lnTo>
                  <a:pt x="470" y="234"/>
                </a:lnTo>
                <a:lnTo>
                  <a:pt x="684" y="234"/>
                </a:lnTo>
                <a:cubicBezTo>
                  <a:pt x="702" y="234"/>
                  <a:pt x="718" y="246"/>
                  <a:pt x="724" y="263"/>
                </a:cubicBezTo>
                <a:cubicBezTo>
                  <a:pt x="729" y="280"/>
                  <a:pt x="723" y="299"/>
                  <a:pt x="708" y="310"/>
                </a:cubicBezTo>
                <a:lnTo>
                  <a:pt x="537" y="431"/>
                </a:lnTo>
                <a:lnTo>
                  <a:pt x="601" y="640"/>
                </a:lnTo>
                <a:cubicBezTo>
                  <a:pt x="607" y="657"/>
                  <a:pt x="601" y="676"/>
                  <a:pt x="586" y="687"/>
                </a:cubicBezTo>
                <a:cubicBezTo>
                  <a:pt x="579" y="692"/>
                  <a:pt x="570" y="695"/>
                  <a:pt x="561" y="695"/>
                </a:cubicBez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1" name=""/>
          <p:cNvSpPr txBox="1"/>
          <p:nvPr/>
        </p:nvSpPr>
        <p:spPr>
          <a:xfrm>
            <a:off x="4962240" y="2645640"/>
            <a:ext cx="1203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~65 req/s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2" name=""/>
          <p:cNvSpPr txBox="1"/>
          <p:nvPr/>
        </p:nvSpPr>
        <p:spPr>
          <a:xfrm>
            <a:off x="6755400" y="2645640"/>
            <a:ext cx="4124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~+15–20% vs L1 — nginx serving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3" name=""/>
          <p:cNvSpPr txBox="1"/>
          <p:nvPr/>
        </p:nvSpPr>
        <p:spPr>
          <a:xfrm>
            <a:off x="6755400" y="3055320"/>
            <a:ext cx="1119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from disk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4" name=""/>
          <p:cNvSpPr txBox="1"/>
          <p:nvPr/>
        </p:nvSpPr>
        <p:spPr>
          <a:xfrm>
            <a:off x="880920" y="3807720"/>
            <a:ext cx="965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5" name=""/>
          <p:cNvSpPr txBox="1"/>
          <p:nvPr/>
        </p:nvSpPr>
        <p:spPr>
          <a:xfrm>
            <a:off x="3250440" y="3807720"/>
            <a:ext cx="459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6" name=""/>
          <p:cNvSpPr/>
          <p:nvPr/>
        </p:nvSpPr>
        <p:spPr>
          <a:xfrm>
            <a:off x="4998600" y="4025880"/>
            <a:ext cx="261360" cy="249840"/>
          </a:xfrm>
          <a:custGeom>
            <a:avLst/>
            <a:gdLst/>
            <a:ahLst/>
            <a:rect l="0" t="0" r="r" b="b"/>
            <a:pathLst>
              <a:path w="726" h="694">
                <a:moveTo>
                  <a:pt x="561" y="694"/>
                </a:moveTo>
                <a:cubicBezTo>
                  <a:pt x="553" y="694"/>
                  <a:pt x="544" y="692"/>
                  <a:pt x="537" y="687"/>
                </a:cubicBezTo>
                <a:lnTo>
                  <a:pt x="363" y="562"/>
                </a:lnTo>
                <a:lnTo>
                  <a:pt x="189" y="687"/>
                </a:lnTo>
                <a:cubicBezTo>
                  <a:pt x="174" y="697"/>
                  <a:pt x="154" y="697"/>
                  <a:pt x="140" y="686"/>
                </a:cubicBezTo>
                <a:cubicBezTo>
                  <a:pt x="125" y="676"/>
                  <a:pt x="119" y="657"/>
                  <a:pt x="124" y="640"/>
                </a:cubicBezTo>
                <a:lnTo>
                  <a:pt x="189" y="431"/>
                </a:lnTo>
                <a:lnTo>
                  <a:pt x="17" y="310"/>
                </a:lnTo>
                <a:cubicBezTo>
                  <a:pt x="3" y="299"/>
                  <a:pt x="-4" y="280"/>
                  <a:pt x="2" y="263"/>
                </a:cubicBezTo>
                <a:cubicBezTo>
                  <a:pt x="8" y="245"/>
                  <a:pt x="24" y="233"/>
                  <a:pt x="42" y="233"/>
                </a:cubicBezTo>
                <a:lnTo>
                  <a:pt x="256" y="233"/>
                </a:lnTo>
                <a:lnTo>
                  <a:pt x="323" y="29"/>
                </a:lnTo>
                <a:cubicBezTo>
                  <a:pt x="329" y="12"/>
                  <a:pt x="345" y="0"/>
                  <a:pt x="363" y="0"/>
                </a:cubicBezTo>
                <a:cubicBezTo>
                  <a:pt x="381" y="0"/>
                  <a:pt x="398" y="12"/>
                  <a:pt x="403" y="29"/>
                </a:cubicBezTo>
                <a:lnTo>
                  <a:pt x="470" y="233"/>
                </a:lnTo>
                <a:lnTo>
                  <a:pt x="684" y="233"/>
                </a:lnTo>
                <a:cubicBezTo>
                  <a:pt x="702" y="233"/>
                  <a:pt x="718" y="245"/>
                  <a:pt x="724" y="263"/>
                </a:cubicBezTo>
                <a:cubicBezTo>
                  <a:pt x="729" y="280"/>
                  <a:pt x="723" y="299"/>
                  <a:pt x="708" y="310"/>
                </a:cubicBezTo>
                <a:lnTo>
                  <a:pt x="537" y="431"/>
                </a:lnTo>
                <a:lnTo>
                  <a:pt x="601" y="640"/>
                </a:lnTo>
                <a:cubicBezTo>
                  <a:pt x="607" y="657"/>
                  <a:pt x="601" y="676"/>
                  <a:pt x="586" y="686"/>
                </a:cubicBezTo>
                <a:cubicBezTo>
                  <a:pt x="579" y="692"/>
                  <a:pt x="570" y="694"/>
                  <a:pt x="561" y="694"/>
                </a:cubicBez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7" name=""/>
          <p:cNvSpPr txBox="1"/>
          <p:nvPr/>
        </p:nvSpPr>
        <p:spPr>
          <a:xfrm>
            <a:off x="4962240" y="3598200"/>
            <a:ext cx="1402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~70–80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8" name=""/>
          <p:cNvSpPr txBox="1"/>
          <p:nvPr/>
        </p:nvSpPr>
        <p:spPr>
          <a:xfrm>
            <a:off x="6755400" y="3598200"/>
            <a:ext cx="4537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~−40% vs L1 — most requests never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9" name=""/>
          <p:cNvSpPr txBox="1"/>
          <p:nvPr/>
        </p:nvSpPr>
        <p:spPr>
          <a:xfrm>
            <a:off x="6755400" y="400752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hit PHP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0" name=""/>
          <p:cNvSpPr txBox="1"/>
          <p:nvPr/>
        </p:nvSpPr>
        <p:spPr>
          <a:xfrm>
            <a:off x="880920" y="4550760"/>
            <a:ext cx="582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CPU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1" name=""/>
          <p:cNvSpPr txBox="1"/>
          <p:nvPr/>
        </p:nvSpPr>
        <p:spPr>
          <a:xfrm>
            <a:off x="3250440" y="4550760"/>
            <a:ext cx="1123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@ 50 VU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2" name=""/>
          <p:cNvSpPr txBox="1"/>
          <p:nvPr/>
        </p:nvSpPr>
        <p:spPr>
          <a:xfrm>
            <a:off x="4962240" y="455076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~18%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3" name=""/>
          <p:cNvSpPr txBox="1"/>
          <p:nvPr/>
        </p:nvSpPr>
        <p:spPr>
          <a:xfrm>
            <a:off x="6755400" y="4550760"/>
            <a:ext cx="4254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Was ~25% at L1 — less PHP work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4" name=""/>
          <p:cNvSpPr txBox="1"/>
          <p:nvPr/>
        </p:nvSpPr>
        <p:spPr>
          <a:xfrm>
            <a:off x="880920" y="5083920"/>
            <a:ext cx="1686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FPM Workers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5" name=""/>
          <p:cNvSpPr txBox="1"/>
          <p:nvPr/>
        </p:nvSpPr>
        <p:spPr>
          <a:xfrm>
            <a:off x="3250440" y="5083920"/>
            <a:ext cx="1425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Peak active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6" name=""/>
          <p:cNvSpPr txBox="1"/>
          <p:nvPr/>
        </p:nvSpPr>
        <p:spPr>
          <a:xfrm>
            <a:off x="4962240" y="5083920"/>
            <a:ext cx="1465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~10–12 / 20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7" name=""/>
          <p:cNvSpPr txBox="1"/>
          <p:nvPr/>
        </p:nvSpPr>
        <p:spPr>
          <a:xfrm>
            <a:off x="6755400" y="5083920"/>
            <a:ext cx="4484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Was ~8 — cache absorbed the burst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8" name=""/>
          <p:cNvSpPr txBox="1"/>
          <p:nvPr/>
        </p:nvSpPr>
        <p:spPr>
          <a:xfrm>
            <a:off x="880920" y="5836320"/>
            <a:ext cx="1486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FPM Queue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9" name=""/>
          <p:cNvSpPr txBox="1"/>
          <p:nvPr/>
        </p:nvSpPr>
        <p:spPr>
          <a:xfrm>
            <a:off x="3250440" y="5836320"/>
            <a:ext cx="735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Depth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0" name=""/>
          <p:cNvSpPr/>
          <p:nvPr/>
        </p:nvSpPr>
        <p:spPr>
          <a:xfrm>
            <a:off x="5227200" y="5854680"/>
            <a:ext cx="261360" cy="249840"/>
          </a:xfrm>
          <a:custGeom>
            <a:avLst/>
            <a:gdLst/>
            <a:ahLst/>
            <a:rect l="0" t="0" r="r" b="b"/>
            <a:pathLst>
              <a:path w="726" h="694">
                <a:moveTo>
                  <a:pt x="561" y="694"/>
                </a:moveTo>
                <a:cubicBezTo>
                  <a:pt x="553" y="694"/>
                  <a:pt x="544" y="692"/>
                  <a:pt x="537" y="687"/>
                </a:cubicBezTo>
                <a:lnTo>
                  <a:pt x="363" y="562"/>
                </a:lnTo>
                <a:lnTo>
                  <a:pt x="189" y="687"/>
                </a:lnTo>
                <a:cubicBezTo>
                  <a:pt x="174" y="697"/>
                  <a:pt x="154" y="697"/>
                  <a:pt x="140" y="686"/>
                </a:cubicBezTo>
                <a:cubicBezTo>
                  <a:pt x="125" y="676"/>
                  <a:pt x="119" y="657"/>
                  <a:pt x="124" y="640"/>
                </a:cubicBezTo>
                <a:lnTo>
                  <a:pt x="189" y="431"/>
                </a:lnTo>
                <a:lnTo>
                  <a:pt x="17" y="310"/>
                </a:lnTo>
                <a:cubicBezTo>
                  <a:pt x="3" y="299"/>
                  <a:pt x="-4" y="280"/>
                  <a:pt x="2" y="263"/>
                </a:cubicBezTo>
                <a:cubicBezTo>
                  <a:pt x="8" y="246"/>
                  <a:pt x="24" y="234"/>
                  <a:pt x="42" y="234"/>
                </a:cubicBezTo>
                <a:lnTo>
                  <a:pt x="255" y="234"/>
                </a:lnTo>
                <a:lnTo>
                  <a:pt x="323" y="30"/>
                </a:lnTo>
                <a:cubicBezTo>
                  <a:pt x="329" y="12"/>
                  <a:pt x="345" y="0"/>
                  <a:pt x="363" y="0"/>
                </a:cubicBezTo>
                <a:cubicBezTo>
                  <a:pt x="381" y="0"/>
                  <a:pt x="398" y="12"/>
                  <a:pt x="403" y="30"/>
                </a:cubicBezTo>
                <a:lnTo>
                  <a:pt x="470" y="234"/>
                </a:lnTo>
                <a:lnTo>
                  <a:pt x="684" y="234"/>
                </a:lnTo>
                <a:cubicBezTo>
                  <a:pt x="702" y="234"/>
                  <a:pt x="718" y="246"/>
                  <a:pt x="724" y="263"/>
                </a:cubicBezTo>
                <a:cubicBezTo>
                  <a:pt x="729" y="280"/>
                  <a:pt x="723" y="299"/>
                  <a:pt x="708" y="310"/>
                </a:cubicBezTo>
                <a:lnTo>
                  <a:pt x="537" y="431"/>
                </a:lnTo>
                <a:lnTo>
                  <a:pt x="601" y="640"/>
                </a:lnTo>
                <a:cubicBezTo>
                  <a:pt x="607" y="657"/>
                  <a:pt x="601" y="676"/>
                  <a:pt x="586" y="686"/>
                </a:cubicBezTo>
                <a:cubicBezTo>
                  <a:pt x="579" y="692"/>
                  <a:pt x="570" y="694"/>
                  <a:pt x="561" y="694"/>
                </a:cubicBez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1" name=""/>
          <p:cNvSpPr txBox="1"/>
          <p:nvPr/>
        </p:nvSpPr>
        <p:spPr>
          <a:xfrm>
            <a:off x="4962240" y="58363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2" name=""/>
          <p:cNvSpPr txBox="1"/>
          <p:nvPr/>
        </p:nvSpPr>
        <p:spPr>
          <a:xfrm>
            <a:off x="6755400" y="5626800"/>
            <a:ext cx="4109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Stays clean — cache absorbs the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3" name=""/>
          <p:cNvSpPr txBox="1"/>
          <p:nvPr/>
        </p:nvSpPr>
        <p:spPr>
          <a:xfrm>
            <a:off x="6755400" y="6036480"/>
            <a:ext cx="613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burst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4" name=""/>
          <p:cNvSpPr txBox="1"/>
          <p:nvPr/>
        </p:nvSpPr>
        <p:spPr>
          <a:xfrm>
            <a:off x="880920" y="6579360"/>
            <a:ext cx="1686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FPM Request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5" name=""/>
          <p:cNvSpPr txBox="1"/>
          <p:nvPr/>
        </p:nvSpPr>
        <p:spPr>
          <a:xfrm>
            <a:off x="3603240" y="6788880"/>
            <a:ext cx="337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N i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6" name=""/>
          <p:cNvSpPr txBox="1"/>
          <p:nvPr/>
        </p:nvSpPr>
        <p:spPr>
          <a:xfrm>
            <a:off x="4962240" y="6579360"/>
            <a:ext cx="1172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~20–30%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7" name=""/>
          <p:cNvSpPr txBox="1"/>
          <p:nvPr/>
        </p:nvSpPr>
        <p:spPr>
          <a:xfrm>
            <a:off x="6755400" y="6788880"/>
            <a:ext cx="352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O 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8" name=""/>
          <p:cNvSpPr txBox="1"/>
          <p:nvPr/>
        </p:nvSpPr>
        <p:spPr>
          <a:xfrm>
            <a:off x="7830000" y="6788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h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9" name=""/>
          <p:cNvSpPr txBox="1"/>
          <p:nvPr/>
        </p:nvSpPr>
        <p:spPr>
          <a:xfrm>
            <a:off x="8444160" y="6788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i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0" name=""/>
          <p:cNvSpPr txBox="1"/>
          <p:nvPr/>
        </p:nvSpPr>
        <p:spPr>
          <a:xfrm>
            <a:off x="9687600" y="6788880"/>
            <a:ext cx="797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h PHP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2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4" name=""/>
          <p:cNvSpPr/>
          <p:nvPr/>
        </p:nvSpPr>
        <p:spPr>
          <a:xfrm>
            <a:off x="752400" y="1457280"/>
            <a:ext cx="3238920" cy="543240"/>
          </a:xfrm>
          <a:custGeom>
            <a:avLst/>
            <a:gdLst/>
            <a:ahLst/>
            <a:rect l="0" t="0" r="r" b="b"/>
            <a:pathLst>
              <a:path w="8997" h="1509">
                <a:moveTo>
                  <a:pt x="0" y="0"/>
                </a:moveTo>
                <a:lnTo>
                  <a:pt x="8997" y="0"/>
                </a:lnTo>
                <a:lnTo>
                  <a:pt x="899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5" name=""/>
          <p:cNvSpPr/>
          <p:nvPr/>
        </p:nvSpPr>
        <p:spPr>
          <a:xfrm>
            <a:off x="3990960" y="1457280"/>
            <a:ext cx="3105360" cy="543240"/>
          </a:xfrm>
          <a:custGeom>
            <a:avLst/>
            <a:gdLst/>
            <a:ahLst/>
            <a:rect l="0" t="0" r="r" b="b"/>
            <a:pathLst>
              <a:path w="8626" h="1509">
                <a:moveTo>
                  <a:pt x="0" y="0"/>
                </a:moveTo>
                <a:lnTo>
                  <a:pt x="8626" y="0"/>
                </a:lnTo>
                <a:lnTo>
                  <a:pt x="8626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6" name=""/>
          <p:cNvSpPr/>
          <p:nvPr/>
        </p:nvSpPr>
        <p:spPr>
          <a:xfrm>
            <a:off x="7095960" y="1457280"/>
            <a:ext cx="2314800" cy="543240"/>
          </a:xfrm>
          <a:custGeom>
            <a:avLst/>
            <a:gdLst/>
            <a:ahLst/>
            <a:rect l="0" t="0" r="r" b="b"/>
            <a:pathLst>
              <a:path w="6430" h="1509">
                <a:moveTo>
                  <a:pt x="0" y="0"/>
                </a:moveTo>
                <a:lnTo>
                  <a:pt x="6430" y="0"/>
                </a:lnTo>
                <a:lnTo>
                  <a:pt x="643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7" name=""/>
          <p:cNvSpPr/>
          <p:nvPr/>
        </p:nvSpPr>
        <p:spPr>
          <a:xfrm>
            <a:off x="9410400" y="1457280"/>
            <a:ext cx="1724400" cy="543240"/>
          </a:xfrm>
          <a:custGeom>
            <a:avLst/>
            <a:gdLst/>
            <a:ahLst/>
            <a:rect l="0" t="0" r="r" b="b"/>
            <a:pathLst>
              <a:path w="4790" h="1509">
                <a:moveTo>
                  <a:pt x="0" y="0"/>
                </a:moveTo>
                <a:lnTo>
                  <a:pt x="4790" y="0"/>
                </a:lnTo>
                <a:lnTo>
                  <a:pt x="479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8" name=""/>
          <p:cNvSpPr/>
          <p:nvPr/>
        </p:nvSpPr>
        <p:spPr>
          <a:xfrm>
            <a:off x="752400" y="2000160"/>
            <a:ext cx="3238920" cy="533520"/>
          </a:xfrm>
          <a:custGeom>
            <a:avLst/>
            <a:gdLst/>
            <a:ahLst/>
            <a:rect l="0" t="0" r="r" b="b"/>
            <a:pathLst>
              <a:path w="8997" h="1482">
                <a:moveTo>
                  <a:pt x="0" y="0"/>
                </a:moveTo>
                <a:lnTo>
                  <a:pt x="8997" y="0"/>
                </a:lnTo>
                <a:lnTo>
                  <a:pt x="899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9" name=""/>
          <p:cNvSpPr/>
          <p:nvPr/>
        </p:nvSpPr>
        <p:spPr>
          <a:xfrm>
            <a:off x="3990960" y="2000160"/>
            <a:ext cx="3105360" cy="533520"/>
          </a:xfrm>
          <a:custGeom>
            <a:avLst/>
            <a:gdLst/>
            <a:ahLst/>
            <a:rect l="0" t="0" r="r" b="b"/>
            <a:pathLst>
              <a:path w="8626" h="1482">
                <a:moveTo>
                  <a:pt x="0" y="0"/>
                </a:moveTo>
                <a:lnTo>
                  <a:pt x="8626" y="0"/>
                </a:lnTo>
                <a:lnTo>
                  <a:pt x="8626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0" name=""/>
          <p:cNvSpPr/>
          <p:nvPr/>
        </p:nvSpPr>
        <p:spPr>
          <a:xfrm>
            <a:off x="7095960" y="2000160"/>
            <a:ext cx="2314800" cy="533520"/>
          </a:xfrm>
          <a:custGeom>
            <a:avLst/>
            <a:gdLst/>
            <a:ahLst/>
            <a:rect l="0" t="0" r="r" b="b"/>
            <a:pathLst>
              <a:path w="6430" h="1482">
                <a:moveTo>
                  <a:pt x="0" y="0"/>
                </a:moveTo>
                <a:lnTo>
                  <a:pt x="6430" y="0"/>
                </a:lnTo>
                <a:lnTo>
                  <a:pt x="6430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1" name=""/>
          <p:cNvSpPr/>
          <p:nvPr/>
        </p:nvSpPr>
        <p:spPr>
          <a:xfrm>
            <a:off x="9410400" y="2000160"/>
            <a:ext cx="1724400" cy="533520"/>
          </a:xfrm>
          <a:custGeom>
            <a:avLst/>
            <a:gdLst/>
            <a:ahLst/>
            <a:rect l="0" t="0" r="r" b="b"/>
            <a:pathLst>
              <a:path w="4790" h="1482">
                <a:moveTo>
                  <a:pt x="0" y="0"/>
                </a:moveTo>
                <a:lnTo>
                  <a:pt x="4790" y="0"/>
                </a:lnTo>
                <a:lnTo>
                  <a:pt x="4790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2" name=""/>
          <p:cNvSpPr/>
          <p:nvPr/>
        </p:nvSpPr>
        <p:spPr>
          <a:xfrm>
            <a:off x="752400" y="2533320"/>
            <a:ext cx="3238920" cy="543600"/>
          </a:xfrm>
          <a:custGeom>
            <a:avLst/>
            <a:gdLst/>
            <a:ahLst/>
            <a:rect l="0" t="0" r="r" b="b"/>
            <a:pathLst>
              <a:path w="8997" h="1510">
                <a:moveTo>
                  <a:pt x="0" y="0"/>
                </a:moveTo>
                <a:lnTo>
                  <a:pt x="8997" y="0"/>
                </a:lnTo>
                <a:lnTo>
                  <a:pt x="8997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3" name=""/>
          <p:cNvSpPr/>
          <p:nvPr/>
        </p:nvSpPr>
        <p:spPr>
          <a:xfrm>
            <a:off x="3990960" y="2533320"/>
            <a:ext cx="3105360" cy="543600"/>
          </a:xfrm>
          <a:custGeom>
            <a:avLst/>
            <a:gdLst/>
            <a:ahLst/>
            <a:rect l="0" t="0" r="r" b="b"/>
            <a:pathLst>
              <a:path w="8626" h="1510">
                <a:moveTo>
                  <a:pt x="0" y="0"/>
                </a:moveTo>
                <a:lnTo>
                  <a:pt x="8626" y="0"/>
                </a:lnTo>
                <a:lnTo>
                  <a:pt x="8626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4" name=""/>
          <p:cNvSpPr/>
          <p:nvPr/>
        </p:nvSpPr>
        <p:spPr>
          <a:xfrm>
            <a:off x="7095960" y="2533320"/>
            <a:ext cx="2314800" cy="543600"/>
          </a:xfrm>
          <a:custGeom>
            <a:avLst/>
            <a:gdLst/>
            <a:ahLst/>
            <a:rect l="0" t="0" r="r" b="b"/>
            <a:pathLst>
              <a:path w="6430" h="1510">
                <a:moveTo>
                  <a:pt x="0" y="0"/>
                </a:moveTo>
                <a:lnTo>
                  <a:pt x="6430" y="0"/>
                </a:lnTo>
                <a:lnTo>
                  <a:pt x="6430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5" name=""/>
          <p:cNvSpPr/>
          <p:nvPr/>
        </p:nvSpPr>
        <p:spPr>
          <a:xfrm>
            <a:off x="9410400" y="2533320"/>
            <a:ext cx="1724400" cy="543600"/>
          </a:xfrm>
          <a:custGeom>
            <a:avLst/>
            <a:gdLst/>
            <a:ahLst/>
            <a:rect l="0" t="0" r="r" b="b"/>
            <a:pathLst>
              <a:path w="4790" h="1510">
                <a:moveTo>
                  <a:pt x="0" y="0"/>
                </a:moveTo>
                <a:lnTo>
                  <a:pt x="4790" y="0"/>
                </a:lnTo>
                <a:lnTo>
                  <a:pt x="4790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6" name=""/>
          <p:cNvSpPr/>
          <p:nvPr/>
        </p:nvSpPr>
        <p:spPr>
          <a:xfrm>
            <a:off x="752400" y="3076560"/>
            <a:ext cx="3238920" cy="533520"/>
          </a:xfrm>
          <a:custGeom>
            <a:avLst/>
            <a:gdLst/>
            <a:ahLst/>
            <a:rect l="0" t="0" r="r" b="b"/>
            <a:pathLst>
              <a:path w="8997" h="1482">
                <a:moveTo>
                  <a:pt x="0" y="0"/>
                </a:moveTo>
                <a:lnTo>
                  <a:pt x="8997" y="0"/>
                </a:lnTo>
                <a:lnTo>
                  <a:pt x="899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7" name=""/>
          <p:cNvSpPr/>
          <p:nvPr/>
        </p:nvSpPr>
        <p:spPr>
          <a:xfrm>
            <a:off x="3990960" y="3076560"/>
            <a:ext cx="3105360" cy="533520"/>
          </a:xfrm>
          <a:custGeom>
            <a:avLst/>
            <a:gdLst/>
            <a:ahLst/>
            <a:rect l="0" t="0" r="r" b="b"/>
            <a:pathLst>
              <a:path w="8626" h="1482">
                <a:moveTo>
                  <a:pt x="0" y="0"/>
                </a:moveTo>
                <a:lnTo>
                  <a:pt x="8626" y="0"/>
                </a:lnTo>
                <a:lnTo>
                  <a:pt x="8626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8" name=""/>
          <p:cNvSpPr/>
          <p:nvPr/>
        </p:nvSpPr>
        <p:spPr>
          <a:xfrm>
            <a:off x="7095960" y="3076560"/>
            <a:ext cx="2314800" cy="533520"/>
          </a:xfrm>
          <a:custGeom>
            <a:avLst/>
            <a:gdLst/>
            <a:ahLst/>
            <a:rect l="0" t="0" r="r" b="b"/>
            <a:pathLst>
              <a:path w="6430" h="1482">
                <a:moveTo>
                  <a:pt x="0" y="0"/>
                </a:moveTo>
                <a:lnTo>
                  <a:pt x="6430" y="0"/>
                </a:lnTo>
                <a:lnTo>
                  <a:pt x="6430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9" name=""/>
          <p:cNvSpPr/>
          <p:nvPr/>
        </p:nvSpPr>
        <p:spPr>
          <a:xfrm>
            <a:off x="9410400" y="3076560"/>
            <a:ext cx="1724400" cy="533520"/>
          </a:xfrm>
          <a:custGeom>
            <a:avLst/>
            <a:gdLst/>
            <a:ahLst/>
            <a:rect l="0" t="0" r="r" b="b"/>
            <a:pathLst>
              <a:path w="4790" h="1482">
                <a:moveTo>
                  <a:pt x="0" y="0"/>
                </a:moveTo>
                <a:lnTo>
                  <a:pt x="4790" y="0"/>
                </a:lnTo>
                <a:lnTo>
                  <a:pt x="4790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0" name=""/>
          <p:cNvSpPr/>
          <p:nvPr/>
        </p:nvSpPr>
        <p:spPr>
          <a:xfrm>
            <a:off x="752400" y="3609720"/>
            <a:ext cx="3238920" cy="543240"/>
          </a:xfrm>
          <a:custGeom>
            <a:avLst/>
            <a:gdLst/>
            <a:ahLst/>
            <a:rect l="0" t="0" r="r" b="b"/>
            <a:pathLst>
              <a:path w="8997" h="1509">
                <a:moveTo>
                  <a:pt x="0" y="0"/>
                </a:moveTo>
                <a:lnTo>
                  <a:pt x="8997" y="0"/>
                </a:lnTo>
                <a:lnTo>
                  <a:pt x="899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1" name=""/>
          <p:cNvSpPr/>
          <p:nvPr/>
        </p:nvSpPr>
        <p:spPr>
          <a:xfrm>
            <a:off x="3990960" y="3609720"/>
            <a:ext cx="3105360" cy="543240"/>
          </a:xfrm>
          <a:custGeom>
            <a:avLst/>
            <a:gdLst/>
            <a:ahLst/>
            <a:rect l="0" t="0" r="r" b="b"/>
            <a:pathLst>
              <a:path w="8626" h="1509">
                <a:moveTo>
                  <a:pt x="0" y="0"/>
                </a:moveTo>
                <a:lnTo>
                  <a:pt x="8626" y="0"/>
                </a:lnTo>
                <a:lnTo>
                  <a:pt x="8626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2" name=""/>
          <p:cNvSpPr/>
          <p:nvPr/>
        </p:nvSpPr>
        <p:spPr>
          <a:xfrm>
            <a:off x="7095960" y="3609720"/>
            <a:ext cx="2314800" cy="543240"/>
          </a:xfrm>
          <a:custGeom>
            <a:avLst/>
            <a:gdLst/>
            <a:ahLst/>
            <a:rect l="0" t="0" r="r" b="b"/>
            <a:pathLst>
              <a:path w="6430" h="1509">
                <a:moveTo>
                  <a:pt x="0" y="0"/>
                </a:moveTo>
                <a:lnTo>
                  <a:pt x="6430" y="0"/>
                </a:lnTo>
                <a:lnTo>
                  <a:pt x="643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3" name=""/>
          <p:cNvSpPr/>
          <p:nvPr/>
        </p:nvSpPr>
        <p:spPr>
          <a:xfrm>
            <a:off x="9410400" y="3609720"/>
            <a:ext cx="1724400" cy="543240"/>
          </a:xfrm>
          <a:custGeom>
            <a:avLst/>
            <a:gdLst/>
            <a:ahLst/>
            <a:rect l="0" t="0" r="r" b="b"/>
            <a:pathLst>
              <a:path w="4790" h="1509">
                <a:moveTo>
                  <a:pt x="0" y="0"/>
                </a:moveTo>
                <a:lnTo>
                  <a:pt x="4790" y="0"/>
                </a:lnTo>
                <a:lnTo>
                  <a:pt x="479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4" name=""/>
          <p:cNvSpPr/>
          <p:nvPr/>
        </p:nvSpPr>
        <p:spPr>
          <a:xfrm>
            <a:off x="752400" y="4152600"/>
            <a:ext cx="3238920" cy="533880"/>
          </a:xfrm>
          <a:custGeom>
            <a:avLst/>
            <a:gdLst/>
            <a:ahLst/>
            <a:rect l="0" t="0" r="r" b="b"/>
            <a:pathLst>
              <a:path w="8997" h="1483">
                <a:moveTo>
                  <a:pt x="0" y="0"/>
                </a:moveTo>
                <a:lnTo>
                  <a:pt x="8997" y="0"/>
                </a:lnTo>
                <a:lnTo>
                  <a:pt x="899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5" name=""/>
          <p:cNvSpPr/>
          <p:nvPr/>
        </p:nvSpPr>
        <p:spPr>
          <a:xfrm>
            <a:off x="3990960" y="4152600"/>
            <a:ext cx="3105360" cy="533880"/>
          </a:xfrm>
          <a:custGeom>
            <a:avLst/>
            <a:gdLst/>
            <a:ahLst/>
            <a:rect l="0" t="0" r="r" b="b"/>
            <a:pathLst>
              <a:path w="8626" h="1483">
                <a:moveTo>
                  <a:pt x="0" y="0"/>
                </a:moveTo>
                <a:lnTo>
                  <a:pt x="8626" y="0"/>
                </a:lnTo>
                <a:lnTo>
                  <a:pt x="8626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6" name=""/>
          <p:cNvSpPr/>
          <p:nvPr/>
        </p:nvSpPr>
        <p:spPr>
          <a:xfrm>
            <a:off x="7095960" y="4152600"/>
            <a:ext cx="2314800" cy="533880"/>
          </a:xfrm>
          <a:custGeom>
            <a:avLst/>
            <a:gdLst/>
            <a:ahLst/>
            <a:rect l="0" t="0" r="r" b="b"/>
            <a:pathLst>
              <a:path w="6430" h="1483">
                <a:moveTo>
                  <a:pt x="0" y="0"/>
                </a:moveTo>
                <a:lnTo>
                  <a:pt x="6430" y="0"/>
                </a:lnTo>
                <a:lnTo>
                  <a:pt x="6430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7" name=""/>
          <p:cNvSpPr/>
          <p:nvPr/>
        </p:nvSpPr>
        <p:spPr>
          <a:xfrm>
            <a:off x="9410400" y="4152600"/>
            <a:ext cx="1724400" cy="533880"/>
          </a:xfrm>
          <a:custGeom>
            <a:avLst/>
            <a:gdLst/>
            <a:ahLst/>
            <a:rect l="0" t="0" r="r" b="b"/>
            <a:pathLst>
              <a:path w="4790" h="1483">
                <a:moveTo>
                  <a:pt x="0" y="0"/>
                </a:moveTo>
                <a:lnTo>
                  <a:pt x="4790" y="0"/>
                </a:lnTo>
                <a:lnTo>
                  <a:pt x="4790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8" name=""/>
          <p:cNvSpPr/>
          <p:nvPr/>
        </p:nvSpPr>
        <p:spPr>
          <a:xfrm>
            <a:off x="752400" y="4686120"/>
            <a:ext cx="3238920" cy="543240"/>
          </a:xfrm>
          <a:custGeom>
            <a:avLst/>
            <a:gdLst/>
            <a:ahLst/>
            <a:rect l="0" t="0" r="r" b="b"/>
            <a:pathLst>
              <a:path w="8997" h="1509">
                <a:moveTo>
                  <a:pt x="0" y="0"/>
                </a:moveTo>
                <a:lnTo>
                  <a:pt x="8997" y="0"/>
                </a:lnTo>
                <a:lnTo>
                  <a:pt x="899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9" name=""/>
          <p:cNvSpPr/>
          <p:nvPr/>
        </p:nvSpPr>
        <p:spPr>
          <a:xfrm>
            <a:off x="3990960" y="4686120"/>
            <a:ext cx="3105360" cy="543240"/>
          </a:xfrm>
          <a:custGeom>
            <a:avLst/>
            <a:gdLst/>
            <a:ahLst/>
            <a:rect l="0" t="0" r="r" b="b"/>
            <a:pathLst>
              <a:path w="8626" h="1509">
                <a:moveTo>
                  <a:pt x="0" y="0"/>
                </a:moveTo>
                <a:lnTo>
                  <a:pt x="8626" y="0"/>
                </a:lnTo>
                <a:lnTo>
                  <a:pt x="8626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0" name=""/>
          <p:cNvSpPr/>
          <p:nvPr/>
        </p:nvSpPr>
        <p:spPr>
          <a:xfrm>
            <a:off x="7095960" y="4686120"/>
            <a:ext cx="2314800" cy="543240"/>
          </a:xfrm>
          <a:custGeom>
            <a:avLst/>
            <a:gdLst/>
            <a:ahLst/>
            <a:rect l="0" t="0" r="r" b="b"/>
            <a:pathLst>
              <a:path w="6430" h="1509">
                <a:moveTo>
                  <a:pt x="0" y="0"/>
                </a:moveTo>
                <a:lnTo>
                  <a:pt x="6430" y="0"/>
                </a:lnTo>
                <a:lnTo>
                  <a:pt x="643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1" name=""/>
          <p:cNvSpPr/>
          <p:nvPr/>
        </p:nvSpPr>
        <p:spPr>
          <a:xfrm>
            <a:off x="9410400" y="4686120"/>
            <a:ext cx="1724400" cy="543240"/>
          </a:xfrm>
          <a:custGeom>
            <a:avLst/>
            <a:gdLst/>
            <a:ahLst/>
            <a:rect l="0" t="0" r="r" b="b"/>
            <a:pathLst>
              <a:path w="4790" h="1509">
                <a:moveTo>
                  <a:pt x="0" y="0"/>
                </a:moveTo>
                <a:lnTo>
                  <a:pt x="4790" y="0"/>
                </a:lnTo>
                <a:lnTo>
                  <a:pt x="479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2" name=""/>
          <p:cNvSpPr/>
          <p:nvPr/>
        </p:nvSpPr>
        <p:spPr>
          <a:xfrm>
            <a:off x="752400" y="5229000"/>
            <a:ext cx="3238920" cy="533880"/>
          </a:xfrm>
          <a:custGeom>
            <a:avLst/>
            <a:gdLst/>
            <a:ahLst/>
            <a:rect l="0" t="0" r="r" b="b"/>
            <a:pathLst>
              <a:path w="8997" h="1483">
                <a:moveTo>
                  <a:pt x="0" y="0"/>
                </a:moveTo>
                <a:lnTo>
                  <a:pt x="8997" y="0"/>
                </a:lnTo>
                <a:lnTo>
                  <a:pt x="899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3" name=""/>
          <p:cNvSpPr/>
          <p:nvPr/>
        </p:nvSpPr>
        <p:spPr>
          <a:xfrm>
            <a:off x="3990960" y="5229000"/>
            <a:ext cx="3105360" cy="533880"/>
          </a:xfrm>
          <a:custGeom>
            <a:avLst/>
            <a:gdLst/>
            <a:ahLst/>
            <a:rect l="0" t="0" r="r" b="b"/>
            <a:pathLst>
              <a:path w="8626" h="1483">
                <a:moveTo>
                  <a:pt x="0" y="0"/>
                </a:moveTo>
                <a:lnTo>
                  <a:pt x="8626" y="0"/>
                </a:lnTo>
                <a:lnTo>
                  <a:pt x="8626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4" name=""/>
          <p:cNvSpPr/>
          <p:nvPr/>
        </p:nvSpPr>
        <p:spPr>
          <a:xfrm>
            <a:off x="7095960" y="5229000"/>
            <a:ext cx="2314800" cy="533880"/>
          </a:xfrm>
          <a:custGeom>
            <a:avLst/>
            <a:gdLst/>
            <a:ahLst/>
            <a:rect l="0" t="0" r="r" b="b"/>
            <a:pathLst>
              <a:path w="6430" h="1483">
                <a:moveTo>
                  <a:pt x="0" y="0"/>
                </a:moveTo>
                <a:lnTo>
                  <a:pt x="6430" y="0"/>
                </a:lnTo>
                <a:lnTo>
                  <a:pt x="6430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5" name=""/>
          <p:cNvSpPr/>
          <p:nvPr/>
        </p:nvSpPr>
        <p:spPr>
          <a:xfrm>
            <a:off x="9410400" y="5229000"/>
            <a:ext cx="1724400" cy="533880"/>
          </a:xfrm>
          <a:custGeom>
            <a:avLst/>
            <a:gdLst/>
            <a:ahLst/>
            <a:rect l="0" t="0" r="r" b="b"/>
            <a:pathLst>
              <a:path w="4790" h="1483">
                <a:moveTo>
                  <a:pt x="0" y="0"/>
                </a:moveTo>
                <a:lnTo>
                  <a:pt x="4790" y="0"/>
                </a:lnTo>
                <a:lnTo>
                  <a:pt x="4790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6" name=""/>
          <p:cNvSpPr/>
          <p:nvPr/>
        </p:nvSpPr>
        <p:spPr>
          <a:xfrm>
            <a:off x="752400" y="5762520"/>
            <a:ext cx="3238920" cy="543240"/>
          </a:xfrm>
          <a:custGeom>
            <a:avLst/>
            <a:gdLst/>
            <a:ahLst/>
            <a:rect l="0" t="0" r="r" b="b"/>
            <a:pathLst>
              <a:path w="8997" h="1509">
                <a:moveTo>
                  <a:pt x="0" y="0"/>
                </a:moveTo>
                <a:lnTo>
                  <a:pt x="8997" y="0"/>
                </a:lnTo>
                <a:lnTo>
                  <a:pt x="899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7" name=""/>
          <p:cNvSpPr/>
          <p:nvPr/>
        </p:nvSpPr>
        <p:spPr>
          <a:xfrm>
            <a:off x="3990960" y="5762520"/>
            <a:ext cx="3105360" cy="543240"/>
          </a:xfrm>
          <a:custGeom>
            <a:avLst/>
            <a:gdLst/>
            <a:ahLst/>
            <a:rect l="0" t="0" r="r" b="b"/>
            <a:pathLst>
              <a:path w="8626" h="1509">
                <a:moveTo>
                  <a:pt x="0" y="0"/>
                </a:moveTo>
                <a:lnTo>
                  <a:pt x="8626" y="0"/>
                </a:lnTo>
                <a:lnTo>
                  <a:pt x="8626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8" name=""/>
          <p:cNvSpPr/>
          <p:nvPr/>
        </p:nvSpPr>
        <p:spPr>
          <a:xfrm>
            <a:off x="7095960" y="5762520"/>
            <a:ext cx="2314800" cy="543240"/>
          </a:xfrm>
          <a:custGeom>
            <a:avLst/>
            <a:gdLst/>
            <a:ahLst/>
            <a:rect l="0" t="0" r="r" b="b"/>
            <a:pathLst>
              <a:path w="6430" h="1509">
                <a:moveTo>
                  <a:pt x="0" y="0"/>
                </a:moveTo>
                <a:lnTo>
                  <a:pt x="6430" y="0"/>
                </a:lnTo>
                <a:lnTo>
                  <a:pt x="643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9" name=""/>
          <p:cNvSpPr/>
          <p:nvPr/>
        </p:nvSpPr>
        <p:spPr>
          <a:xfrm>
            <a:off x="9410400" y="5762520"/>
            <a:ext cx="1724400" cy="543240"/>
          </a:xfrm>
          <a:custGeom>
            <a:avLst/>
            <a:gdLst/>
            <a:ahLst/>
            <a:rect l="0" t="0" r="r" b="b"/>
            <a:pathLst>
              <a:path w="4790" h="1509">
                <a:moveTo>
                  <a:pt x="0" y="0"/>
                </a:moveTo>
                <a:lnTo>
                  <a:pt x="4790" y="0"/>
                </a:lnTo>
                <a:lnTo>
                  <a:pt x="479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0" name=""/>
          <p:cNvSpPr/>
          <p:nvPr/>
        </p:nvSpPr>
        <p:spPr>
          <a:xfrm>
            <a:off x="75240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1" name=""/>
          <p:cNvSpPr/>
          <p:nvPr/>
        </p:nvSpPr>
        <p:spPr>
          <a:xfrm>
            <a:off x="752400" y="1457280"/>
            <a:ext cx="3238920" cy="9720"/>
          </a:xfrm>
          <a:custGeom>
            <a:avLst/>
            <a:gdLst/>
            <a:ahLst/>
            <a:rect l="0" t="0" r="r" b="b"/>
            <a:pathLst>
              <a:path w="8997" h="27">
                <a:moveTo>
                  <a:pt x="0" y="0"/>
                </a:moveTo>
                <a:lnTo>
                  <a:pt x="8997" y="0"/>
                </a:lnTo>
                <a:lnTo>
                  <a:pt x="89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2" name=""/>
          <p:cNvSpPr/>
          <p:nvPr/>
        </p:nvSpPr>
        <p:spPr>
          <a:xfrm>
            <a:off x="398124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3" name=""/>
          <p:cNvSpPr/>
          <p:nvPr/>
        </p:nvSpPr>
        <p:spPr>
          <a:xfrm>
            <a:off x="3990960" y="1457280"/>
            <a:ext cx="3105360" cy="9720"/>
          </a:xfrm>
          <a:custGeom>
            <a:avLst/>
            <a:gdLst/>
            <a:ahLst/>
            <a:rect l="0" t="0" r="r" b="b"/>
            <a:pathLst>
              <a:path w="8626" h="27">
                <a:moveTo>
                  <a:pt x="0" y="0"/>
                </a:moveTo>
                <a:lnTo>
                  <a:pt x="8626" y="0"/>
                </a:lnTo>
                <a:lnTo>
                  <a:pt x="862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4" name=""/>
          <p:cNvSpPr/>
          <p:nvPr/>
        </p:nvSpPr>
        <p:spPr>
          <a:xfrm>
            <a:off x="708624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5" name=""/>
          <p:cNvSpPr/>
          <p:nvPr/>
        </p:nvSpPr>
        <p:spPr>
          <a:xfrm>
            <a:off x="7095960" y="1457280"/>
            <a:ext cx="2314800" cy="9720"/>
          </a:xfrm>
          <a:custGeom>
            <a:avLst/>
            <a:gdLst/>
            <a:ahLst/>
            <a:rect l="0" t="0" r="r" b="b"/>
            <a:pathLst>
              <a:path w="6430" h="27">
                <a:moveTo>
                  <a:pt x="0" y="0"/>
                </a:moveTo>
                <a:lnTo>
                  <a:pt x="6430" y="0"/>
                </a:lnTo>
                <a:lnTo>
                  <a:pt x="643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6" name=""/>
          <p:cNvSpPr/>
          <p:nvPr/>
        </p:nvSpPr>
        <p:spPr>
          <a:xfrm>
            <a:off x="940104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7" name=""/>
          <p:cNvSpPr/>
          <p:nvPr/>
        </p:nvSpPr>
        <p:spPr>
          <a:xfrm>
            <a:off x="9410400" y="1457280"/>
            <a:ext cx="1724400" cy="9720"/>
          </a:xfrm>
          <a:custGeom>
            <a:avLst/>
            <a:gdLst/>
            <a:ahLst/>
            <a:rect l="0" t="0" r="r" b="b"/>
            <a:pathLst>
              <a:path w="4790" h="27">
                <a:moveTo>
                  <a:pt x="0" y="0"/>
                </a:moveTo>
                <a:lnTo>
                  <a:pt x="4790" y="0"/>
                </a:lnTo>
                <a:lnTo>
                  <a:pt x="47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8" name=""/>
          <p:cNvSpPr/>
          <p:nvPr/>
        </p:nvSpPr>
        <p:spPr>
          <a:xfrm>
            <a:off x="1112508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9" name=""/>
          <p:cNvSpPr/>
          <p:nvPr/>
        </p:nvSpPr>
        <p:spPr>
          <a:xfrm>
            <a:off x="752400" y="1990440"/>
            <a:ext cx="3238920" cy="10080"/>
          </a:xfrm>
          <a:custGeom>
            <a:avLst/>
            <a:gdLst/>
            <a:ahLst/>
            <a:rect l="0" t="0" r="r" b="b"/>
            <a:pathLst>
              <a:path w="8997" h="28">
                <a:moveTo>
                  <a:pt x="0" y="0"/>
                </a:moveTo>
                <a:lnTo>
                  <a:pt x="8997" y="0"/>
                </a:lnTo>
                <a:lnTo>
                  <a:pt x="89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0" name=""/>
          <p:cNvSpPr/>
          <p:nvPr/>
        </p:nvSpPr>
        <p:spPr>
          <a:xfrm>
            <a:off x="3990960" y="1990440"/>
            <a:ext cx="3105360" cy="10080"/>
          </a:xfrm>
          <a:custGeom>
            <a:avLst/>
            <a:gdLst/>
            <a:ahLst/>
            <a:rect l="0" t="0" r="r" b="b"/>
            <a:pathLst>
              <a:path w="8626" h="28">
                <a:moveTo>
                  <a:pt x="0" y="0"/>
                </a:moveTo>
                <a:lnTo>
                  <a:pt x="8626" y="0"/>
                </a:lnTo>
                <a:lnTo>
                  <a:pt x="862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1" name=""/>
          <p:cNvSpPr/>
          <p:nvPr/>
        </p:nvSpPr>
        <p:spPr>
          <a:xfrm>
            <a:off x="7095960" y="1990440"/>
            <a:ext cx="2314800" cy="10080"/>
          </a:xfrm>
          <a:custGeom>
            <a:avLst/>
            <a:gdLst/>
            <a:ahLst/>
            <a:rect l="0" t="0" r="r" b="b"/>
            <a:pathLst>
              <a:path w="6430" h="28">
                <a:moveTo>
                  <a:pt x="0" y="0"/>
                </a:moveTo>
                <a:lnTo>
                  <a:pt x="6430" y="0"/>
                </a:lnTo>
                <a:lnTo>
                  <a:pt x="643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2" name=""/>
          <p:cNvSpPr/>
          <p:nvPr/>
        </p:nvSpPr>
        <p:spPr>
          <a:xfrm>
            <a:off x="9410400" y="1990440"/>
            <a:ext cx="1724400" cy="10080"/>
          </a:xfrm>
          <a:custGeom>
            <a:avLst/>
            <a:gdLst/>
            <a:ahLst/>
            <a:rect l="0" t="0" r="r" b="b"/>
            <a:pathLst>
              <a:path w="4790" h="28">
                <a:moveTo>
                  <a:pt x="0" y="0"/>
                </a:moveTo>
                <a:lnTo>
                  <a:pt x="4790" y="0"/>
                </a:lnTo>
                <a:lnTo>
                  <a:pt x="47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3" name=""/>
          <p:cNvSpPr/>
          <p:nvPr/>
        </p:nvSpPr>
        <p:spPr>
          <a:xfrm>
            <a:off x="75240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4" name=""/>
          <p:cNvSpPr/>
          <p:nvPr/>
        </p:nvSpPr>
        <p:spPr>
          <a:xfrm>
            <a:off x="3981240" y="20001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5" name=""/>
          <p:cNvSpPr/>
          <p:nvPr/>
        </p:nvSpPr>
        <p:spPr>
          <a:xfrm>
            <a:off x="7086240" y="20001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6" name=""/>
          <p:cNvSpPr/>
          <p:nvPr/>
        </p:nvSpPr>
        <p:spPr>
          <a:xfrm>
            <a:off x="940104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7" name=""/>
          <p:cNvSpPr/>
          <p:nvPr/>
        </p:nvSpPr>
        <p:spPr>
          <a:xfrm>
            <a:off x="1112508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8" name=""/>
          <p:cNvSpPr/>
          <p:nvPr/>
        </p:nvSpPr>
        <p:spPr>
          <a:xfrm>
            <a:off x="75240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9" name=""/>
          <p:cNvSpPr/>
          <p:nvPr/>
        </p:nvSpPr>
        <p:spPr>
          <a:xfrm>
            <a:off x="752400" y="2533320"/>
            <a:ext cx="3238920" cy="10080"/>
          </a:xfrm>
          <a:custGeom>
            <a:avLst/>
            <a:gdLst/>
            <a:ahLst/>
            <a:rect l="0" t="0" r="r" b="b"/>
            <a:pathLst>
              <a:path w="8997" h="28">
                <a:moveTo>
                  <a:pt x="0" y="0"/>
                </a:moveTo>
                <a:lnTo>
                  <a:pt x="8997" y="0"/>
                </a:lnTo>
                <a:lnTo>
                  <a:pt x="89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0" name=""/>
          <p:cNvSpPr/>
          <p:nvPr/>
        </p:nvSpPr>
        <p:spPr>
          <a:xfrm>
            <a:off x="3981240" y="254304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1" name=""/>
          <p:cNvSpPr/>
          <p:nvPr/>
        </p:nvSpPr>
        <p:spPr>
          <a:xfrm>
            <a:off x="3990960" y="2533320"/>
            <a:ext cx="3105360" cy="10080"/>
          </a:xfrm>
          <a:custGeom>
            <a:avLst/>
            <a:gdLst/>
            <a:ahLst/>
            <a:rect l="0" t="0" r="r" b="b"/>
            <a:pathLst>
              <a:path w="8626" h="28">
                <a:moveTo>
                  <a:pt x="0" y="0"/>
                </a:moveTo>
                <a:lnTo>
                  <a:pt x="8626" y="0"/>
                </a:lnTo>
                <a:lnTo>
                  <a:pt x="862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2" name=""/>
          <p:cNvSpPr/>
          <p:nvPr/>
        </p:nvSpPr>
        <p:spPr>
          <a:xfrm>
            <a:off x="7086240" y="254304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3" name=""/>
          <p:cNvSpPr/>
          <p:nvPr/>
        </p:nvSpPr>
        <p:spPr>
          <a:xfrm>
            <a:off x="7095960" y="2533320"/>
            <a:ext cx="2314800" cy="10080"/>
          </a:xfrm>
          <a:custGeom>
            <a:avLst/>
            <a:gdLst/>
            <a:ahLst/>
            <a:rect l="0" t="0" r="r" b="b"/>
            <a:pathLst>
              <a:path w="6430" h="28">
                <a:moveTo>
                  <a:pt x="0" y="0"/>
                </a:moveTo>
                <a:lnTo>
                  <a:pt x="6430" y="0"/>
                </a:lnTo>
                <a:lnTo>
                  <a:pt x="643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4" name=""/>
          <p:cNvSpPr/>
          <p:nvPr/>
        </p:nvSpPr>
        <p:spPr>
          <a:xfrm>
            <a:off x="940104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5" name=""/>
          <p:cNvSpPr/>
          <p:nvPr/>
        </p:nvSpPr>
        <p:spPr>
          <a:xfrm>
            <a:off x="9410400" y="2533320"/>
            <a:ext cx="1724400" cy="10080"/>
          </a:xfrm>
          <a:custGeom>
            <a:avLst/>
            <a:gdLst/>
            <a:ahLst/>
            <a:rect l="0" t="0" r="r" b="b"/>
            <a:pathLst>
              <a:path w="4790" h="28">
                <a:moveTo>
                  <a:pt x="0" y="0"/>
                </a:moveTo>
                <a:lnTo>
                  <a:pt x="4790" y="0"/>
                </a:lnTo>
                <a:lnTo>
                  <a:pt x="47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6" name=""/>
          <p:cNvSpPr/>
          <p:nvPr/>
        </p:nvSpPr>
        <p:spPr>
          <a:xfrm>
            <a:off x="1112508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7" name=""/>
          <p:cNvSpPr/>
          <p:nvPr/>
        </p:nvSpPr>
        <p:spPr>
          <a:xfrm>
            <a:off x="75240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8" name=""/>
          <p:cNvSpPr/>
          <p:nvPr/>
        </p:nvSpPr>
        <p:spPr>
          <a:xfrm>
            <a:off x="752400" y="3066840"/>
            <a:ext cx="3238920" cy="10080"/>
          </a:xfrm>
          <a:custGeom>
            <a:avLst/>
            <a:gdLst/>
            <a:ahLst/>
            <a:rect l="0" t="0" r="r" b="b"/>
            <a:pathLst>
              <a:path w="8997" h="28">
                <a:moveTo>
                  <a:pt x="0" y="0"/>
                </a:moveTo>
                <a:lnTo>
                  <a:pt x="8997" y="0"/>
                </a:lnTo>
                <a:lnTo>
                  <a:pt x="89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9" name=""/>
          <p:cNvSpPr/>
          <p:nvPr/>
        </p:nvSpPr>
        <p:spPr>
          <a:xfrm>
            <a:off x="3981240" y="30765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0" name=""/>
          <p:cNvSpPr/>
          <p:nvPr/>
        </p:nvSpPr>
        <p:spPr>
          <a:xfrm>
            <a:off x="3990960" y="3066840"/>
            <a:ext cx="3105360" cy="10080"/>
          </a:xfrm>
          <a:custGeom>
            <a:avLst/>
            <a:gdLst/>
            <a:ahLst/>
            <a:rect l="0" t="0" r="r" b="b"/>
            <a:pathLst>
              <a:path w="8626" h="28">
                <a:moveTo>
                  <a:pt x="0" y="0"/>
                </a:moveTo>
                <a:lnTo>
                  <a:pt x="8626" y="0"/>
                </a:lnTo>
                <a:lnTo>
                  <a:pt x="862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1" name=""/>
          <p:cNvSpPr/>
          <p:nvPr/>
        </p:nvSpPr>
        <p:spPr>
          <a:xfrm>
            <a:off x="7086240" y="30765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2" name=""/>
          <p:cNvSpPr/>
          <p:nvPr/>
        </p:nvSpPr>
        <p:spPr>
          <a:xfrm>
            <a:off x="7095960" y="3066840"/>
            <a:ext cx="2314800" cy="10080"/>
          </a:xfrm>
          <a:custGeom>
            <a:avLst/>
            <a:gdLst/>
            <a:ahLst/>
            <a:rect l="0" t="0" r="r" b="b"/>
            <a:pathLst>
              <a:path w="6430" h="28">
                <a:moveTo>
                  <a:pt x="0" y="0"/>
                </a:moveTo>
                <a:lnTo>
                  <a:pt x="6430" y="0"/>
                </a:lnTo>
                <a:lnTo>
                  <a:pt x="643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3" name=""/>
          <p:cNvSpPr/>
          <p:nvPr/>
        </p:nvSpPr>
        <p:spPr>
          <a:xfrm>
            <a:off x="940104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4" name=""/>
          <p:cNvSpPr/>
          <p:nvPr/>
        </p:nvSpPr>
        <p:spPr>
          <a:xfrm>
            <a:off x="9410400" y="3066840"/>
            <a:ext cx="1724400" cy="10080"/>
          </a:xfrm>
          <a:custGeom>
            <a:avLst/>
            <a:gdLst/>
            <a:ahLst/>
            <a:rect l="0" t="0" r="r" b="b"/>
            <a:pathLst>
              <a:path w="4790" h="28">
                <a:moveTo>
                  <a:pt x="0" y="0"/>
                </a:moveTo>
                <a:lnTo>
                  <a:pt x="4790" y="0"/>
                </a:lnTo>
                <a:lnTo>
                  <a:pt x="47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5" name=""/>
          <p:cNvSpPr/>
          <p:nvPr/>
        </p:nvSpPr>
        <p:spPr>
          <a:xfrm>
            <a:off x="1112508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6" name=""/>
          <p:cNvSpPr/>
          <p:nvPr/>
        </p:nvSpPr>
        <p:spPr>
          <a:xfrm>
            <a:off x="75240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7" name=""/>
          <p:cNvSpPr/>
          <p:nvPr/>
        </p:nvSpPr>
        <p:spPr>
          <a:xfrm>
            <a:off x="752400" y="3609720"/>
            <a:ext cx="3238920" cy="10080"/>
          </a:xfrm>
          <a:custGeom>
            <a:avLst/>
            <a:gdLst/>
            <a:ahLst/>
            <a:rect l="0" t="0" r="r" b="b"/>
            <a:pathLst>
              <a:path w="8997" h="28">
                <a:moveTo>
                  <a:pt x="0" y="0"/>
                </a:moveTo>
                <a:lnTo>
                  <a:pt x="8997" y="0"/>
                </a:lnTo>
                <a:lnTo>
                  <a:pt x="89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8" name=""/>
          <p:cNvSpPr/>
          <p:nvPr/>
        </p:nvSpPr>
        <p:spPr>
          <a:xfrm>
            <a:off x="3981240" y="361944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9" name=""/>
          <p:cNvSpPr/>
          <p:nvPr/>
        </p:nvSpPr>
        <p:spPr>
          <a:xfrm>
            <a:off x="3990960" y="3609720"/>
            <a:ext cx="3105360" cy="10080"/>
          </a:xfrm>
          <a:custGeom>
            <a:avLst/>
            <a:gdLst/>
            <a:ahLst/>
            <a:rect l="0" t="0" r="r" b="b"/>
            <a:pathLst>
              <a:path w="8626" h="28">
                <a:moveTo>
                  <a:pt x="0" y="0"/>
                </a:moveTo>
                <a:lnTo>
                  <a:pt x="8626" y="0"/>
                </a:lnTo>
                <a:lnTo>
                  <a:pt x="862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0" name=""/>
          <p:cNvSpPr/>
          <p:nvPr/>
        </p:nvSpPr>
        <p:spPr>
          <a:xfrm>
            <a:off x="7086240" y="361944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1" name=""/>
          <p:cNvSpPr/>
          <p:nvPr/>
        </p:nvSpPr>
        <p:spPr>
          <a:xfrm>
            <a:off x="7095960" y="3609720"/>
            <a:ext cx="2314800" cy="10080"/>
          </a:xfrm>
          <a:custGeom>
            <a:avLst/>
            <a:gdLst/>
            <a:ahLst/>
            <a:rect l="0" t="0" r="r" b="b"/>
            <a:pathLst>
              <a:path w="6430" h="28">
                <a:moveTo>
                  <a:pt x="0" y="0"/>
                </a:moveTo>
                <a:lnTo>
                  <a:pt x="6430" y="0"/>
                </a:lnTo>
                <a:lnTo>
                  <a:pt x="643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2" name=""/>
          <p:cNvSpPr/>
          <p:nvPr/>
        </p:nvSpPr>
        <p:spPr>
          <a:xfrm>
            <a:off x="940104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3" name=""/>
          <p:cNvSpPr/>
          <p:nvPr/>
        </p:nvSpPr>
        <p:spPr>
          <a:xfrm>
            <a:off x="9410400" y="3609720"/>
            <a:ext cx="1724400" cy="10080"/>
          </a:xfrm>
          <a:custGeom>
            <a:avLst/>
            <a:gdLst/>
            <a:ahLst/>
            <a:rect l="0" t="0" r="r" b="b"/>
            <a:pathLst>
              <a:path w="4790" h="28">
                <a:moveTo>
                  <a:pt x="0" y="0"/>
                </a:moveTo>
                <a:lnTo>
                  <a:pt x="4790" y="0"/>
                </a:lnTo>
                <a:lnTo>
                  <a:pt x="47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4" name=""/>
          <p:cNvSpPr/>
          <p:nvPr/>
        </p:nvSpPr>
        <p:spPr>
          <a:xfrm>
            <a:off x="1112508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5" name=""/>
          <p:cNvSpPr/>
          <p:nvPr/>
        </p:nvSpPr>
        <p:spPr>
          <a:xfrm>
            <a:off x="752400" y="41526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6" name=""/>
          <p:cNvSpPr/>
          <p:nvPr/>
        </p:nvSpPr>
        <p:spPr>
          <a:xfrm>
            <a:off x="752400" y="4143240"/>
            <a:ext cx="3238920" cy="9720"/>
          </a:xfrm>
          <a:custGeom>
            <a:avLst/>
            <a:gdLst/>
            <a:ahLst/>
            <a:rect l="0" t="0" r="r" b="b"/>
            <a:pathLst>
              <a:path w="8997" h="27">
                <a:moveTo>
                  <a:pt x="0" y="0"/>
                </a:moveTo>
                <a:lnTo>
                  <a:pt x="8997" y="0"/>
                </a:lnTo>
                <a:lnTo>
                  <a:pt x="89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7" name=""/>
          <p:cNvSpPr/>
          <p:nvPr/>
        </p:nvSpPr>
        <p:spPr>
          <a:xfrm>
            <a:off x="3981240" y="41526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8" name=""/>
          <p:cNvSpPr/>
          <p:nvPr/>
        </p:nvSpPr>
        <p:spPr>
          <a:xfrm>
            <a:off x="3990960" y="4143240"/>
            <a:ext cx="3105360" cy="9720"/>
          </a:xfrm>
          <a:custGeom>
            <a:avLst/>
            <a:gdLst/>
            <a:ahLst/>
            <a:rect l="0" t="0" r="r" b="b"/>
            <a:pathLst>
              <a:path w="8626" h="27">
                <a:moveTo>
                  <a:pt x="0" y="0"/>
                </a:moveTo>
                <a:lnTo>
                  <a:pt x="8626" y="0"/>
                </a:lnTo>
                <a:lnTo>
                  <a:pt x="862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9" name=""/>
          <p:cNvSpPr/>
          <p:nvPr/>
        </p:nvSpPr>
        <p:spPr>
          <a:xfrm>
            <a:off x="7086240" y="41526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0" name=""/>
          <p:cNvSpPr/>
          <p:nvPr/>
        </p:nvSpPr>
        <p:spPr>
          <a:xfrm>
            <a:off x="7095960" y="4143240"/>
            <a:ext cx="2314800" cy="9720"/>
          </a:xfrm>
          <a:custGeom>
            <a:avLst/>
            <a:gdLst/>
            <a:ahLst/>
            <a:rect l="0" t="0" r="r" b="b"/>
            <a:pathLst>
              <a:path w="6430" h="27">
                <a:moveTo>
                  <a:pt x="0" y="0"/>
                </a:moveTo>
                <a:lnTo>
                  <a:pt x="6430" y="0"/>
                </a:lnTo>
                <a:lnTo>
                  <a:pt x="643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1" name=""/>
          <p:cNvSpPr/>
          <p:nvPr/>
        </p:nvSpPr>
        <p:spPr>
          <a:xfrm>
            <a:off x="9401040" y="41526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2" name=""/>
          <p:cNvSpPr/>
          <p:nvPr/>
        </p:nvSpPr>
        <p:spPr>
          <a:xfrm>
            <a:off x="9410400" y="4143240"/>
            <a:ext cx="1724400" cy="9720"/>
          </a:xfrm>
          <a:custGeom>
            <a:avLst/>
            <a:gdLst/>
            <a:ahLst/>
            <a:rect l="0" t="0" r="r" b="b"/>
            <a:pathLst>
              <a:path w="4790" h="27">
                <a:moveTo>
                  <a:pt x="0" y="0"/>
                </a:moveTo>
                <a:lnTo>
                  <a:pt x="4790" y="0"/>
                </a:lnTo>
                <a:lnTo>
                  <a:pt x="47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3" name=""/>
          <p:cNvSpPr/>
          <p:nvPr/>
        </p:nvSpPr>
        <p:spPr>
          <a:xfrm>
            <a:off x="11125080" y="41526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4" name=""/>
          <p:cNvSpPr/>
          <p:nvPr/>
        </p:nvSpPr>
        <p:spPr>
          <a:xfrm>
            <a:off x="752400" y="46954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5" name=""/>
          <p:cNvSpPr/>
          <p:nvPr/>
        </p:nvSpPr>
        <p:spPr>
          <a:xfrm>
            <a:off x="752400" y="4686120"/>
            <a:ext cx="3238920" cy="9720"/>
          </a:xfrm>
          <a:custGeom>
            <a:avLst/>
            <a:gdLst/>
            <a:ahLst/>
            <a:rect l="0" t="0" r="r" b="b"/>
            <a:pathLst>
              <a:path w="8997" h="27">
                <a:moveTo>
                  <a:pt x="0" y="0"/>
                </a:moveTo>
                <a:lnTo>
                  <a:pt x="8997" y="0"/>
                </a:lnTo>
                <a:lnTo>
                  <a:pt x="89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6" name=""/>
          <p:cNvSpPr/>
          <p:nvPr/>
        </p:nvSpPr>
        <p:spPr>
          <a:xfrm>
            <a:off x="3981240" y="46954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7" name=""/>
          <p:cNvSpPr/>
          <p:nvPr/>
        </p:nvSpPr>
        <p:spPr>
          <a:xfrm>
            <a:off x="3990960" y="4686120"/>
            <a:ext cx="3105360" cy="9720"/>
          </a:xfrm>
          <a:custGeom>
            <a:avLst/>
            <a:gdLst/>
            <a:ahLst/>
            <a:rect l="0" t="0" r="r" b="b"/>
            <a:pathLst>
              <a:path w="8626" h="27">
                <a:moveTo>
                  <a:pt x="0" y="0"/>
                </a:moveTo>
                <a:lnTo>
                  <a:pt x="8626" y="0"/>
                </a:lnTo>
                <a:lnTo>
                  <a:pt x="862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8" name=""/>
          <p:cNvSpPr/>
          <p:nvPr/>
        </p:nvSpPr>
        <p:spPr>
          <a:xfrm>
            <a:off x="7086240" y="46954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9" name=""/>
          <p:cNvSpPr/>
          <p:nvPr/>
        </p:nvSpPr>
        <p:spPr>
          <a:xfrm>
            <a:off x="7095960" y="4686120"/>
            <a:ext cx="2314800" cy="9720"/>
          </a:xfrm>
          <a:custGeom>
            <a:avLst/>
            <a:gdLst/>
            <a:ahLst/>
            <a:rect l="0" t="0" r="r" b="b"/>
            <a:pathLst>
              <a:path w="6430" h="27">
                <a:moveTo>
                  <a:pt x="0" y="0"/>
                </a:moveTo>
                <a:lnTo>
                  <a:pt x="6430" y="0"/>
                </a:lnTo>
                <a:lnTo>
                  <a:pt x="643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0" name=""/>
          <p:cNvSpPr/>
          <p:nvPr/>
        </p:nvSpPr>
        <p:spPr>
          <a:xfrm>
            <a:off x="9401040" y="46954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1" name=""/>
          <p:cNvSpPr/>
          <p:nvPr/>
        </p:nvSpPr>
        <p:spPr>
          <a:xfrm>
            <a:off x="9410400" y="4686120"/>
            <a:ext cx="1724400" cy="9720"/>
          </a:xfrm>
          <a:custGeom>
            <a:avLst/>
            <a:gdLst/>
            <a:ahLst/>
            <a:rect l="0" t="0" r="r" b="b"/>
            <a:pathLst>
              <a:path w="4790" h="27">
                <a:moveTo>
                  <a:pt x="0" y="0"/>
                </a:moveTo>
                <a:lnTo>
                  <a:pt x="4790" y="0"/>
                </a:lnTo>
                <a:lnTo>
                  <a:pt x="47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2" name=""/>
          <p:cNvSpPr/>
          <p:nvPr/>
        </p:nvSpPr>
        <p:spPr>
          <a:xfrm>
            <a:off x="11125080" y="46954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3" name=""/>
          <p:cNvSpPr/>
          <p:nvPr/>
        </p:nvSpPr>
        <p:spPr>
          <a:xfrm>
            <a:off x="752400" y="52290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4" name=""/>
          <p:cNvSpPr/>
          <p:nvPr/>
        </p:nvSpPr>
        <p:spPr>
          <a:xfrm>
            <a:off x="752400" y="5219640"/>
            <a:ext cx="3238920" cy="9720"/>
          </a:xfrm>
          <a:custGeom>
            <a:avLst/>
            <a:gdLst/>
            <a:ahLst/>
            <a:rect l="0" t="0" r="r" b="b"/>
            <a:pathLst>
              <a:path w="8997" h="27">
                <a:moveTo>
                  <a:pt x="0" y="0"/>
                </a:moveTo>
                <a:lnTo>
                  <a:pt x="8997" y="0"/>
                </a:lnTo>
                <a:lnTo>
                  <a:pt x="89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5" name=""/>
          <p:cNvSpPr/>
          <p:nvPr/>
        </p:nvSpPr>
        <p:spPr>
          <a:xfrm>
            <a:off x="3981240" y="52290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6" name=""/>
          <p:cNvSpPr/>
          <p:nvPr/>
        </p:nvSpPr>
        <p:spPr>
          <a:xfrm>
            <a:off x="3990960" y="5219640"/>
            <a:ext cx="3105360" cy="9720"/>
          </a:xfrm>
          <a:custGeom>
            <a:avLst/>
            <a:gdLst/>
            <a:ahLst/>
            <a:rect l="0" t="0" r="r" b="b"/>
            <a:pathLst>
              <a:path w="8626" h="27">
                <a:moveTo>
                  <a:pt x="0" y="0"/>
                </a:moveTo>
                <a:lnTo>
                  <a:pt x="8626" y="0"/>
                </a:lnTo>
                <a:lnTo>
                  <a:pt x="862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7" name=""/>
          <p:cNvSpPr/>
          <p:nvPr/>
        </p:nvSpPr>
        <p:spPr>
          <a:xfrm>
            <a:off x="7086240" y="52290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8" name=""/>
          <p:cNvSpPr/>
          <p:nvPr/>
        </p:nvSpPr>
        <p:spPr>
          <a:xfrm>
            <a:off x="7095960" y="5219640"/>
            <a:ext cx="2314800" cy="9720"/>
          </a:xfrm>
          <a:custGeom>
            <a:avLst/>
            <a:gdLst/>
            <a:ahLst/>
            <a:rect l="0" t="0" r="r" b="b"/>
            <a:pathLst>
              <a:path w="6430" h="27">
                <a:moveTo>
                  <a:pt x="0" y="0"/>
                </a:moveTo>
                <a:lnTo>
                  <a:pt x="6430" y="0"/>
                </a:lnTo>
                <a:lnTo>
                  <a:pt x="643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9" name=""/>
          <p:cNvSpPr/>
          <p:nvPr/>
        </p:nvSpPr>
        <p:spPr>
          <a:xfrm>
            <a:off x="9401040" y="52290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0" name=""/>
          <p:cNvSpPr/>
          <p:nvPr/>
        </p:nvSpPr>
        <p:spPr>
          <a:xfrm>
            <a:off x="9410400" y="5219640"/>
            <a:ext cx="1724400" cy="9720"/>
          </a:xfrm>
          <a:custGeom>
            <a:avLst/>
            <a:gdLst/>
            <a:ahLst/>
            <a:rect l="0" t="0" r="r" b="b"/>
            <a:pathLst>
              <a:path w="4790" h="27">
                <a:moveTo>
                  <a:pt x="0" y="0"/>
                </a:moveTo>
                <a:lnTo>
                  <a:pt x="4790" y="0"/>
                </a:lnTo>
                <a:lnTo>
                  <a:pt x="47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1" name=""/>
          <p:cNvSpPr/>
          <p:nvPr/>
        </p:nvSpPr>
        <p:spPr>
          <a:xfrm>
            <a:off x="11125080" y="52290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2" name=""/>
          <p:cNvSpPr/>
          <p:nvPr/>
        </p:nvSpPr>
        <p:spPr>
          <a:xfrm>
            <a:off x="752400" y="57718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3" name=""/>
          <p:cNvSpPr/>
          <p:nvPr/>
        </p:nvSpPr>
        <p:spPr>
          <a:xfrm>
            <a:off x="752400" y="5762520"/>
            <a:ext cx="3238920" cy="9720"/>
          </a:xfrm>
          <a:custGeom>
            <a:avLst/>
            <a:gdLst/>
            <a:ahLst/>
            <a:rect l="0" t="0" r="r" b="b"/>
            <a:pathLst>
              <a:path w="8997" h="27">
                <a:moveTo>
                  <a:pt x="0" y="0"/>
                </a:moveTo>
                <a:lnTo>
                  <a:pt x="8997" y="0"/>
                </a:lnTo>
                <a:lnTo>
                  <a:pt x="89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4" name=""/>
          <p:cNvSpPr/>
          <p:nvPr/>
        </p:nvSpPr>
        <p:spPr>
          <a:xfrm>
            <a:off x="3981240" y="57718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5" name=""/>
          <p:cNvSpPr/>
          <p:nvPr/>
        </p:nvSpPr>
        <p:spPr>
          <a:xfrm>
            <a:off x="3990960" y="5762520"/>
            <a:ext cx="3105360" cy="9720"/>
          </a:xfrm>
          <a:custGeom>
            <a:avLst/>
            <a:gdLst/>
            <a:ahLst/>
            <a:rect l="0" t="0" r="r" b="b"/>
            <a:pathLst>
              <a:path w="8626" h="27">
                <a:moveTo>
                  <a:pt x="0" y="0"/>
                </a:moveTo>
                <a:lnTo>
                  <a:pt x="8626" y="0"/>
                </a:lnTo>
                <a:lnTo>
                  <a:pt x="862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6" name=""/>
          <p:cNvSpPr/>
          <p:nvPr/>
        </p:nvSpPr>
        <p:spPr>
          <a:xfrm>
            <a:off x="7086240" y="57718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7" name=""/>
          <p:cNvSpPr/>
          <p:nvPr/>
        </p:nvSpPr>
        <p:spPr>
          <a:xfrm>
            <a:off x="7095960" y="5762520"/>
            <a:ext cx="2314800" cy="9720"/>
          </a:xfrm>
          <a:custGeom>
            <a:avLst/>
            <a:gdLst/>
            <a:ahLst/>
            <a:rect l="0" t="0" r="r" b="b"/>
            <a:pathLst>
              <a:path w="6430" h="27">
                <a:moveTo>
                  <a:pt x="0" y="0"/>
                </a:moveTo>
                <a:lnTo>
                  <a:pt x="6430" y="0"/>
                </a:lnTo>
                <a:lnTo>
                  <a:pt x="643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8" name=""/>
          <p:cNvSpPr/>
          <p:nvPr/>
        </p:nvSpPr>
        <p:spPr>
          <a:xfrm>
            <a:off x="9401040" y="57718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9" name=""/>
          <p:cNvSpPr/>
          <p:nvPr/>
        </p:nvSpPr>
        <p:spPr>
          <a:xfrm>
            <a:off x="9410400" y="5762520"/>
            <a:ext cx="1724400" cy="9720"/>
          </a:xfrm>
          <a:custGeom>
            <a:avLst/>
            <a:gdLst/>
            <a:ahLst/>
            <a:rect l="0" t="0" r="r" b="b"/>
            <a:pathLst>
              <a:path w="4790" h="27">
                <a:moveTo>
                  <a:pt x="0" y="0"/>
                </a:moveTo>
                <a:lnTo>
                  <a:pt x="4790" y="0"/>
                </a:lnTo>
                <a:lnTo>
                  <a:pt x="47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0" name=""/>
          <p:cNvSpPr/>
          <p:nvPr/>
        </p:nvSpPr>
        <p:spPr>
          <a:xfrm>
            <a:off x="11125080" y="57718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1" name=""/>
          <p:cNvSpPr/>
          <p:nvPr/>
        </p:nvSpPr>
        <p:spPr>
          <a:xfrm>
            <a:off x="752400" y="6295680"/>
            <a:ext cx="3238920" cy="10080"/>
          </a:xfrm>
          <a:custGeom>
            <a:avLst/>
            <a:gdLst/>
            <a:ahLst/>
            <a:rect l="0" t="0" r="r" b="b"/>
            <a:pathLst>
              <a:path w="8997" h="28">
                <a:moveTo>
                  <a:pt x="0" y="0"/>
                </a:moveTo>
                <a:lnTo>
                  <a:pt x="8997" y="0"/>
                </a:lnTo>
                <a:lnTo>
                  <a:pt x="89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2" name=""/>
          <p:cNvSpPr/>
          <p:nvPr/>
        </p:nvSpPr>
        <p:spPr>
          <a:xfrm>
            <a:off x="3990960" y="6295680"/>
            <a:ext cx="3105360" cy="10080"/>
          </a:xfrm>
          <a:custGeom>
            <a:avLst/>
            <a:gdLst/>
            <a:ahLst/>
            <a:rect l="0" t="0" r="r" b="b"/>
            <a:pathLst>
              <a:path w="8626" h="28">
                <a:moveTo>
                  <a:pt x="0" y="0"/>
                </a:moveTo>
                <a:lnTo>
                  <a:pt x="8626" y="0"/>
                </a:lnTo>
                <a:lnTo>
                  <a:pt x="862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3" name=""/>
          <p:cNvSpPr/>
          <p:nvPr/>
        </p:nvSpPr>
        <p:spPr>
          <a:xfrm>
            <a:off x="7095960" y="6295680"/>
            <a:ext cx="2314800" cy="10080"/>
          </a:xfrm>
          <a:custGeom>
            <a:avLst/>
            <a:gdLst/>
            <a:ahLst/>
            <a:rect l="0" t="0" r="r" b="b"/>
            <a:pathLst>
              <a:path w="6430" h="28">
                <a:moveTo>
                  <a:pt x="0" y="0"/>
                </a:moveTo>
                <a:lnTo>
                  <a:pt x="6430" y="0"/>
                </a:lnTo>
                <a:lnTo>
                  <a:pt x="643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4" name=""/>
          <p:cNvSpPr/>
          <p:nvPr/>
        </p:nvSpPr>
        <p:spPr>
          <a:xfrm>
            <a:off x="9410400" y="6295680"/>
            <a:ext cx="1724400" cy="10080"/>
          </a:xfrm>
          <a:custGeom>
            <a:avLst/>
            <a:gdLst/>
            <a:ahLst/>
            <a:rect l="0" t="0" r="r" b="b"/>
            <a:pathLst>
              <a:path w="4790" h="28">
                <a:moveTo>
                  <a:pt x="0" y="0"/>
                </a:moveTo>
                <a:lnTo>
                  <a:pt x="4790" y="0"/>
                </a:lnTo>
                <a:lnTo>
                  <a:pt x="47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5" name=""/>
          <p:cNvSpPr txBox="1"/>
          <p:nvPr/>
        </p:nvSpPr>
        <p:spPr>
          <a:xfrm>
            <a:off x="747720" y="770400"/>
            <a:ext cx="531648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L0 → L1 → L2: the progression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6" name=""/>
          <p:cNvSpPr txBox="1"/>
          <p:nvPr/>
        </p:nvSpPr>
        <p:spPr>
          <a:xfrm>
            <a:off x="1962720" y="1569240"/>
            <a:ext cx="812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Metric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7" name=""/>
          <p:cNvSpPr txBox="1"/>
          <p:nvPr/>
        </p:nvSpPr>
        <p:spPr>
          <a:xfrm>
            <a:off x="5071320" y="156924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8" name=""/>
          <p:cNvSpPr txBox="1"/>
          <p:nvPr/>
        </p:nvSpPr>
        <p:spPr>
          <a:xfrm>
            <a:off x="7781040" y="156924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9" name=""/>
          <p:cNvSpPr txBox="1"/>
          <p:nvPr/>
        </p:nvSpPr>
        <p:spPr>
          <a:xfrm>
            <a:off x="9800280" y="156924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2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0" name=""/>
          <p:cNvSpPr txBox="1"/>
          <p:nvPr/>
        </p:nvSpPr>
        <p:spPr>
          <a:xfrm>
            <a:off x="880920" y="2102760"/>
            <a:ext cx="1977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Peak requests/s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1" name=""/>
          <p:cNvSpPr/>
          <p:nvPr/>
        </p:nvSpPr>
        <p:spPr>
          <a:xfrm>
            <a:off x="5200560" y="2104920"/>
            <a:ext cx="276480" cy="277560"/>
          </a:xfrm>
          <a:custGeom>
            <a:avLst/>
            <a:gdLst/>
            <a:ahLst/>
            <a:rect l="0" t="0" r="r" b="b"/>
            <a:pathLst>
              <a:path w="768" h="771">
                <a:moveTo>
                  <a:pt x="469" y="0"/>
                </a:moveTo>
                <a:lnTo>
                  <a:pt x="383" y="171"/>
                </a:lnTo>
                <a:lnTo>
                  <a:pt x="277" y="64"/>
                </a:lnTo>
                <a:lnTo>
                  <a:pt x="277" y="214"/>
                </a:lnTo>
                <a:lnTo>
                  <a:pt x="64" y="171"/>
                </a:lnTo>
                <a:lnTo>
                  <a:pt x="234" y="342"/>
                </a:lnTo>
                <a:lnTo>
                  <a:pt x="0" y="470"/>
                </a:lnTo>
                <a:lnTo>
                  <a:pt x="256" y="470"/>
                </a:lnTo>
                <a:lnTo>
                  <a:pt x="128" y="728"/>
                </a:lnTo>
                <a:lnTo>
                  <a:pt x="383" y="556"/>
                </a:lnTo>
                <a:lnTo>
                  <a:pt x="619" y="771"/>
                </a:lnTo>
                <a:lnTo>
                  <a:pt x="555" y="470"/>
                </a:lnTo>
                <a:lnTo>
                  <a:pt x="768" y="470"/>
                </a:lnTo>
                <a:lnTo>
                  <a:pt x="598" y="342"/>
                </a:lnTo>
                <a:lnTo>
                  <a:pt x="768" y="149"/>
                </a:lnTo>
                <a:lnTo>
                  <a:pt x="512" y="214"/>
                </a:lnTo>
                <a:lnTo>
                  <a:pt x="469" y="0"/>
                </a:lnTo>
                <a:close/>
              </a:path>
            </a:pathLst>
          </a:custGeom>
          <a:solidFill>
            <a:srgbClr val="bb1a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42" name=""/>
          <p:cNvSpPr/>
          <p:nvPr/>
        </p:nvSpPr>
        <p:spPr>
          <a:xfrm>
            <a:off x="5274000" y="2159280"/>
            <a:ext cx="156960" cy="171000"/>
          </a:xfrm>
          <a:custGeom>
            <a:avLst/>
            <a:gdLst/>
            <a:ahLst/>
            <a:rect l="0" t="0" r="r" b="b"/>
            <a:pathLst>
              <a:path w="436" h="475">
                <a:moveTo>
                  <a:pt x="284" y="124"/>
                </a:moveTo>
                <a:lnTo>
                  <a:pt x="324" y="114"/>
                </a:lnTo>
                <a:lnTo>
                  <a:pt x="436" y="86"/>
                </a:lnTo>
                <a:lnTo>
                  <a:pt x="364" y="168"/>
                </a:lnTo>
                <a:lnTo>
                  <a:pt x="335" y="199"/>
                </a:lnTo>
                <a:lnTo>
                  <a:pt x="370" y="225"/>
                </a:lnTo>
                <a:lnTo>
                  <a:pt x="432" y="272"/>
                </a:lnTo>
                <a:lnTo>
                  <a:pt x="305" y="272"/>
                </a:lnTo>
                <a:lnTo>
                  <a:pt x="315" y="319"/>
                </a:lnTo>
                <a:lnTo>
                  <a:pt x="348" y="475"/>
                </a:lnTo>
                <a:lnTo>
                  <a:pt x="224" y="360"/>
                </a:lnTo>
                <a:lnTo>
                  <a:pt x="201" y="340"/>
                </a:lnTo>
                <a:lnTo>
                  <a:pt x="176" y="357"/>
                </a:lnTo>
                <a:lnTo>
                  <a:pt x="64" y="432"/>
                </a:lnTo>
                <a:lnTo>
                  <a:pt x="115" y="328"/>
                </a:lnTo>
                <a:lnTo>
                  <a:pt x="144" y="272"/>
                </a:lnTo>
                <a:lnTo>
                  <a:pt x="0" y="272"/>
                </a:lnTo>
                <a:lnTo>
                  <a:pt x="80" y="228"/>
                </a:lnTo>
                <a:lnTo>
                  <a:pt x="125" y="203"/>
                </a:lnTo>
                <a:lnTo>
                  <a:pt x="89" y="166"/>
                </a:lnTo>
                <a:lnTo>
                  <a:pt x="24" y="101"/>
                </a:lnTo>
                <a:lnTo>
                  <a:pt x="92" y="115"/>
                </a:lnTo>
                <a:lnTo>
                  <a:pt x="139" y="124"/>
                </a:lnTo>
                <a:lnTo>
                  <a:pt x="139" y="34"/>
                </a:lnTo>
                <a:lnTo>
                  <a:pt x="170" y="65"/>
                </a:lnTo>
                <a:lnTo>
                  <a:pt x="208" y="103"/>
                </a:lnTo>
                <a:lnTo>
                  <a:pt x="232" y="55"/>
                </a:lnTo>
                <a:lnTo>
                  <a:pt x="259" y="0"/>
                </a:lnTo>
                <a:lnTo>
                  <a:pt x="284" y="124"/>
                </a:lnTo>
                <a:close/>
              </a:path>
            </a:pathLst>
          </a:custGeom>
          <a:solidFill>
            <a:srgbClr val="fcab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3" name=""/>
          <p:cNvSpPr/>
          <p:nvPr/>
        </p:nvSpPr>
        <p:spPr>
          <a:xfrm>
            <a:off x="5323320" y="2196000"/>
            <a:ext cx="65160" cy="70920"/>
          </a:xfrm>
          <a:custGeom>
            <a:avLst/>
            <a:gdLst/>
            <a:ahLst/>
            <a:rect l="0" t="0" r="r" b="b"/>
            <a:pathLst>
              <a:path w="181" h="197">
                <a:moveTo>
                  <a:pt x="117" y="53"/>
                </a:moveTo>
                <a:lnTo>
                  <a:pt x="134" y="48"/>
                </a:lnTo>
                <a:lnTo>
                  <a:pt x="181" y="36"/>
                </a:lnTo>
                <a:lnTo>
                  <a:pt x="150" y="71"/>
                </a:lnTo>
                <a:lnTo>
                  <a:pt x="138" y="84"/>
                </a:lnTo>
                <a:lnTo>
                  <a:pt x="152" y="94"/>
                </a:lnTo>
                <a:lnTo>
                  <a:pt x="179" y="114"/>
                </a:lnTo>
                <a:lnTo>
                  <a:pt x="126" y="114"/>
                </a:lnTo>
                <a:lnTo>
                  <a:pt x="130" y="133"/>
                </a:lnTo>
                <a:lnTo>
                  <a:pt x="144" y="197"/>
                </a:lnTo>
                <a:lnTo>
                  <a:pt x="92" y="150"/>
                </a:lnTo>
                <a:lnTo>
                  <a:pt x="83" y="142"/>
                </a:lnTo>
                <a:lnTo>
                  <a:pt x="73" y="149"/>
                </a:lnTo>
                <a:lnTo>
                  <a:pt x="26" y="179"/>
                </a:lnTo>
                <a:lnTo>
                  <a:pt x="48" y="137"/>
                </a:lnTo>
                <a:lnTo>
                  <a:pt x="59" y="114"/>
                </a:lnTo>
                <a:lnTo>
                  <a:pt x="0" y="114"/>
                </a:lnTo>
                <a:lnTo>
                  <a:pt x="33" y="95"/>
                </a:lnTo>
                <a:lnTo>
                  <a:pt x="52" y="85"/>
                </a:lnTo>
                <a:lnTo>
                  <a:pt x="37" y="70"/>
                </a:lnTo>
                <a:lnTo>
                  <a:pt x="10" y="42"/>
                </a:lnTo>
                <a:lnTo>
                  <a:pt x="38" y="49"/>
                </a:lnTo>
                <a:lnTo>
                  <a:pt x="57" y="53"/>
                </a:lnTo>
                <a:lnTo>
                  <a:pt x="57" y="14"/>
                </a:lnTo>
                <a:lnTo>
                  <a:pt x="70" y="27"/>
                </a:lnTo>
                <a:lnTo>
                  <a:pt x="86" y="44"/>
                </a:lnTo>
                <a:lnTo>
                  <a:pt x="96" y="23"/>
                </a:lnTo>
                <a:lnTo>
                  <a:pt x="107" y="0"/>
                </a:lnTo>
                <a:lnTo>
                  <a:pt x="117" y="53"/>
                </a:lnTo>
                <a:close/>
              </a:path>
            </a:pathLst>
          </a:custGeom>
          <a:solidFill>
            <a:srgbClr val="f5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4" name=""/>
          <p:cNvSpPr txBox="1"/>
          <p:nvPr/>
        </p:nvSpPr>
        <p:spPr>
          <a:xfrm>
            <a:off x="4115520" y="2102760"/>
            <a:ext cx="1058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~40+ →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5" name=""/>
          <p:cNvSpPr txBox="1"/>
          <p:nvPr/>
        </p:nvSpPr>
        <p:spPr>
          <a:xfrm>
            <a:off x="7221240" y="2102760"/>
            <a:ext cx="1617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~50–55 req/s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6" name=""/>
          <p:cNvSpPr txBox="1"/>
          <p:nvPr/>
        </p:nvSpPr>
        <p:spPr>
          <a:xfrm>
            <a:off x="9535320" y="2102760"/>
            <a:ext cx="1203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~65 req/s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7" name=""/>
          <p:cNvSpPr txBox="1"/>
          <p:nvPr/>
        </p:nvSpPr>
        <p:spPr>
          <a:xfrm>
            <a:off x="880920" y="2645640"/>
            <a:ext cx="1503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p95 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8" name=""/>
          <p:cNvSpPr/>
          <p:nvPr/>
        </p:nvSpPr>
        <p:spPr>
          <a:xfrm>
            <a:off x="4752720" y="2647800"/>
            <a:ext cx="276480" cy="277560"/>
          </a:xfrm>
          <a:custGeom>
            <a:avLst/>
            <a:gdLst/>
            <a:ahLst/>
            <a:rect l="0" t="0" r="r" b="b"/>
            <a:pathLst>
              <a:path w="768" h="771">
                <a:moveTo>
                  <a:pt x="470" y="0"/>
                </a:moveTo>
                <a:lnTo>
                  <a:pt x="385" y="171"/>
                </a:lnTo>
                <a:lnTo>
                  <a:pt x="278" y="64"/>
                </a:lnTo>
                <a:lnTo>
                  <a:pt x="278" y="214"/>
                </a:lnTo>
                <a:lnTo>
                  <a:pt x="64" y="171"/>
                </a:lnTo>
                <a:lnTo>
                  <a:pt x="236" y="342"/>
                </a:lnTo>
                <a:lnTo>
                  <a:pt x="0" y="470"/>
                </a:lnTo>
                <a:lnTo>
                  <a:pt x="257" y="470"/>
                </a:lnTo>
                <a:lnTo>
                  <a:pt x="128" y="728"/>
                </a:lnTo>
                <a:lnTo>
                  <a:pt x="385" y="556"/>
                </a:lnTo>
                <a:lnTo>
                  <a:pt x="619" y="771"/>
                </a:lnTo>
                <a:lnTo>
                  <a:pt x="555" y="470"/>
                </a:lnTo>
                <a:lnTo>
                  <a:pt x="768" y="470"/>
                </a:lnTo>
                <a:lnTo>
                  <a:pt x="598" y="342"/>
                </a:lnTo>
                <a:lnTo>
                  <a:pt x="768" y="150"/>
                </a:lnTo>
                <a:lnTo>
                  <a:pt x="513" y="214"/>
                </a:lnTo>
                <a:lnTo>
                  <a:pt x="470" y="0"/>
                </a:lnTo>
                <a:close/>
              </a:path>
            </a:pathLst>
          </a:custGeom>
          <a:solidFill>
            <a:srgbClr val="bb1a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49" name=""/>
          <p:cNvSpPr/>
          <p:nvPr/>
        </p:nvSpPr>
        <p:spPr>
          <a:xfrm>
            <a:off x="4826160" y="2702160"/>
            <a:ext cx="157320" cy="171000"/>
          </a:xfrm>
          <a:custGeom>
            <a:avLst/>
            <a:gdLst/>
            <a:ahLst/>
            <a:rect l="0" t="0" r="r" b="b"/>
            <a:pathLst>
              <a:path w="437" h="475">
                <a:moveTo>
                  <a:pt x="285" y="124"/>
                </a:moveTo>
                <a:lnTo>
                  <a:pt x="325" y="114"/>
                </a:lnTo>
                <a:lnTo>
                  <a:pt x="437" y="86"/>
                </a:lnTo>
                <a:lnTo>
                  <a:pt x="365" y="168"/>
                </a:lnTo>
                <a:lnTo>
                  <a:pt x="336" y="200"/>
                </a:lnTo>
                <a:lnTo>
                  <a:pt x="370" y="225"/>
                </a:lnTo>
                <a:lnTo>
                  <a:pt x="433" y="272"/>
                </a:lnTo>
                <a:lnTo>
                  <a:pt x="307" y="272"/>
                </a:lnTo>
                <a:lnTo>
                  <a:pt x="317" y="320"/>
                </a:lnTo>
                <a:lnTo>
                  <a:pt x="350" y="475"/>
                </a:lnTo>
                <a:lnTo>
                  <a:pt x="224" y="361"/>
                </a:lnTo>
                <a:lnTo>
                  <a:pt x="202" y="341"/>
                </a:lnTo>
                <a:lnTo>
                  <a:pt x="176" y="358"/>
                </a:lnTo>
                <a:lnTo>
                  <a:pt x="65" y="432"/>
                </a:lnTo>
                <a:lnTo>
                  <a:pt x="116" y="330"/>
                </a:lnTo>
                <a:lnTo>
                  <a:pt x="144" y="272"/>
                </a:lnTo>
                <a:lnTo>
                  <a:pt x="0" y="272"/>
                </a:lnTo>
                <a:lnTo>
                  <a:pt x="80" y="228"/>
                </a:lnTo>
                <a:lnTo>
                  <a:pt x="126" y="203"/>
                </a:lnTo>
                <a:lnTo>
                  <a:pt x="89" y="166"/>
                </a:lnTo>
                <a:lnTo>
                  <a:pt x="24" y="101"/>
                </a:lnTo>
                <a:lnTo>
                  <a:pt x="93" y="115"/>
                </a:lnTo>
                <a:lnTo>
                  <a:pt x="139" y="124"/>
                </a:lnTo>
                <a:lnTo>
                  <a:pt x="139" y="34"/>
                </a:lnTo>
                <a:lnTo>
                  <a:pt x="170" y="65"/>
                </a:lnTo>
                <a:lnTo>
                  <a:pt x="209" y="103"/>
                </a:lnTo>
                <a:lnTo>
                  <a:pt x="233" y="55"/>
                </a:lnTo>
                <a:lnTo>
                  <a:pt x="260" y="0"/>
                </a:lnTo>
                <a:lnTo>
                  <a:pt x="285" y="124"/>
                </a:lnTo>
                <a:close/>
              </a:path>
            </a:pathLst>
          </a:custGeom>
          <a:solidFill>
            <a:srgbClr val="fcab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0" name=""/>
          <p:cNvSpPr/>
          <p:nvPr/>
        </p:nvSpPr>
        <p:spPr>
          <a:xfrm>
            <a:off x="4875480" y="2739240"/>
            <a:ext cx="65160" cy="70560"/>
          </a:xfrm>
          <a:custGeom>
            <a:avLst/>
            <a:gdLst/>
            <a:ahLst/>
            <a:rect l="0" t="0" r="r" b="b"/>
            <a:pathLst>
              <a:path w="181" h="196">
                <a:moveTo>
                  <a:pt x="118" y="51"/>
                </a:moveTo>
                <a:lnTo>
                  <a:pt x="134" y="47"/>
                </a:lnTo>
                <a:lnTo>
                  <a:pt x="181" y="35"/>
                </a:lnTo>
                <a:lnTo>
                  <a:pt x="150" y="69"/>
                </a:lnTo>
                <a:lnTo>
                  <a:pt x="139" y="82"/>
                </a:lnTo>
                <a:lnTo>
                  <a:pt x="154" y="92"/>
                </a:lnTo>
                <a:lnTo>
                  <a:pt x="179" y="113"/>
                </a:lnTo>
                <a:lnTo>
                  <a:pt x="126" y="113"/>
                </a:lnTo>
                <a:lnTo>
                  <a:pt x="130" y="132"/>
                </a:lnTo>
                <a:lnTo>
                  <a:pt x="144" y="196"/>
                </a:lnTo>
                <a:lnTo>
                  <a:pt x="93" y="149"/>
                </a:lnTo>
                <a:lnTo>
                  <a:pt x="83" y="141"/>
                </a:lnTo>
                <a:lnTo>
                  <a:pt x="73" y="148"/>
                </a:lnTo>
                <a:lnTo>
                  <a:pt x="27" y="179"/>
                </a:lnTo>
                <a:lnTo>
                  <a:pt x="48" y="136"/>
                </a:lnTo>
                <a:lnTo>
                  <a:pt x="60" y="113"/>
                </a:lnTo>
                <a:lnTo>
                  <a:pt x="0" y="113"/>
                </a:lnTo>
                <a:lnTo>
                  <a:pt x="33" y="95"/>
                </a:lnTo>
                <a:lnTo>
                  <a:pt x="52" y="83"/>
                </a:lnTo>
                <a:lnTo>
                  <a:pt x="37" y="68"/>
                </a:lnTo>
                <a:lnTo>
                  <a:pt x="10" y="41"/>
                </a:lnTo>
                <a:lnTo>
                  <a:pt x="39" y="47"/>
                </a:lnTo>
                <a:lnTo>
                  <a:pt x="58" y="51"/>
                </a:lnTo>
                <a:lnTo>
                  <a:pt x="58" y="13"/>
                </a:lnTo>
                <a:lnTo>
                  <a:pt x="71" y="26"/>
                </a:lnTo>
                <a:lnTo>
                  <a:pt x="86" y="42"/>
                </a:lnTo>
                <a:lnTo>
                  <a:pt x="96" y="22"/>
                </a:lnTo>
                <a:lnTo>
                  <a:pt x="107" y="0"/>
                </a:lnTo>
                <a:lnTo>
                  <a:pt x="118" y="51"/>
                </a:lnTo>
                <a:close/>
              </a:path>
            </a:pathLst>
          </a:custGeom>
          <a:solidFill>
            <a:srgbClr val="f5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1" name=""/>
          <p:cNvSpPr txBox="1"/>
          <p:nvPr/>
        </p:nvSpPr>
        <p:spPr>
          <a:xfrm>
            <a:off x="4115520" y="2645640"/>
            <a:ext cx="605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~3 s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2" name=""/>
          <p:cNvSpPr txBox="1"/>
          <p:nvPr/>
        </p:nvSpPr>
        <p:spPr>
          <a:xfrm>
            <a:off x="7221240" y="2645640"/>
            <a:ext cx="1065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~130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3" name=""/>
          <p:cNvSpPr txBox="1"/>
          <p:nvPr/>
        </p:nvSpPr>
        <p:spPr>
          <a:xfrm>
            <a:off x="9535320" y="2645640"/>
            <a:ext cx="1402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~70–80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4" name=""/>
          <p:cNvSpPr txBox="1"/>
          <p:nvPr/>
        </p:nvSpPr>
        <p:spPr>
          <a:xfrm>
            <a:off x="880920" y="3179160"/>
            <a:ext cx="2978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CPU @ 50 Virtual Users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5" name=""/>
          <p:cNvSpPr txBox="1"/>
          <p:nvPr/>
        </p:nvSpPr>
        <p:spPr>
          <a:xfrm>
            <a:off x="4115520" y="3179160"/>
            <a:ext cx="866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~100%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6" name=""/>
          <p:cNvSpPr txBox="1"/>
          <p:nvPr/>
        </p:nvSpPr>
        <p:spPr>
          <a:xfrm>
            <a:off x="7221240" y="317916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~25%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7" name=""/>
          <p:cNvSpPr txBox="1"/>
          <p:nvPr/>
        </p:nvSpPr>
        <p:spPr>
          <a:xfrm>
            <a:off x="9535320" y="317916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~18%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8" name=""/>
          <p:cNvSpPr txBox="1"/>
          <p:nvPr/>
        </p:nvSpPr>
        <p:spPr>
          <a:xfrm>
            <a:off x="880920" y="3722040"/>
            <a:ext cx="2483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FPM workers (peak)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9" name=""/>
          <p:cNvSpPr txBox="1"/>
          <p:nvPr/>
        </p:nvSpPr>
        <p:spPr>
          <a:xfrm>
            <a:off x="4115520" y="3722040"/>
            <a:ext cx="276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0" name=""/>
          <p:cNvSpPr txBox="1"/>
          <p:nvPr/>
        </p:nvSpPr>
        <p:spPr>
          <a:xfrm>
            <a:off x="7221240" y="3722040"/>
            <a:ext cx="8510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~8 / 20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1" name=""/>
          <p:cNvSpPr txBox="1"/>
          <p:nvPr/>
        </p:nvSpPr>
        <p:spPr>
          <a:xfrm>
            <a:off x="9535320" y="3722040"/>
            <a:ext cx="1465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~10–12 / 20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2" name=""/>
          <p:cNvSpPr txBox="1"/>
          <p:nvPr/>
        </p:nvSpPr>
        <p:spPr>
          <a:xfrm>
            <a:off x="880920" y="4255200"/>
            <a:ext cx="1870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Request queue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3" name=""/>
          <p:cNvSpPr txBox="1"/>
          <p:nvPr/>
        </p:nvSpPr>
        <p:spPr>
          <a:xfrm>
            <a:off x="4115520" y="4255200"/>
            <a:ext cx="2844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~250 (Apache backlog)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4" name=""/>
          <p:cNvSpPr txBox="1"/>
          <p:nvPr/>
        </p:nvSpPr>
        <p:spPr>
          <a:xfrm>
            <a:off x="7221240" y="4255200"/>
            <a:ext cx="2053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 (FPM absorbs)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5" name=""/>
          <p:cNvSpPr txBox="1"/>
          <p:nvPr/>
        </p:nvSpPr>
        <p:spPr>
          <a:xfrm>
            <a:off x="9535320" y="42552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6" name=""/>
          <p:cNvSpPr txBox="1"/>
          <p:nvPr/>
        </p:nvSpPr>
        <p:spPr>
          <a:xfrm>
            <a:off x="880920" y="4798440"/>
            <a:ext cx="2146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DB Threads peak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7" name=""/>
          <p:cNvSpPr txBox="1"/>
          <p:nvPr/>
        </p:nvSpPr>
        <p:spPr>
          <a:xfrm>
            <a:off x="4115520" y="4798440"/>
            <a:ext cx="468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30+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8" name=""/>
          <p:cNvSpPr txBox="1"/>
          <p:nvPr/>
        </p:nvSpPr>
        <p:spPr>
          <a:xfrm>
            <a:off x="7221240" y="4798440"/>
            <a:ext cx="928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~15–20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9" name=""/>
          <p:cNvSpPr txBox="1"/>
          <p:nvPr/>
        </p:nvSpPr>
        <p:spPr>
          <a:xfrm>
            <a:off x="9535320" y="4798440"/>
            <a:ext cx="621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~0–3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0" name=""/>
          <p:cNvSpPr txBox="1"/>
          <p:nvPr/>
        </p:nvSpPr>
        <p:spPr>
          <a:xfrm>
            <a:off x="880920" y="5331600"/>
            <a:ext cx="2743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FastCGI cache offload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1" name=""/>
          <p:cNvSpPr txBox="1"/>
          <p:nvPr/>
        </p:nvSpPr>
        <p:spPr>
          <a:xfrm>
            <a:off x="4115520" y="5331600"/>
            <a:ext cx="398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2" name=""/>
          <p:cNvSpPr txBox="1"/>
          <p:nvPr/>
        </p:nvSpPr>
        <p:spPr>
          <a:xfrm>
            <a:off x="7221240" y="5331600"/>
            <a:ext cx="398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3" name=""/>
          <p:cNvSpPr txBox="1"/>
          <p:nvPr/>
        </p:nvSpPr>
        <p:spPr>
          <a:xfrm>
            <a:off x="9535320" y="533160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~70%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4" name=""/>
          <p:cNvSpPr txBox="1"/>
          <p:nvPr/>
        </p:nvSpPr>
        <p:spPr>
          <a:xfrm>
            <a:off x="880920" y="5874480"/>
            <a:ext cx="1686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Redis hit ratio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5" name=""/>
          <p:cNvSpPr txBox="1"/>
          <p:nvPr/>
        </p:nvSpPr>
        <p:spPr>
          <a:xfrm>
            <a:off x="4115520" y="5874480"/>
            <a:ext cx="276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6" name=""/>
          <p:cNvSpPr txBox="1"/>
          <p:nvPr/>
        </p:nvSpPr>
        <p:spPr>
          <a:xfrm>
            <a:off x="7221240" y="5874480"/>
            <a:ext cx="1172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~80–97%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7" name=""/>
          <p:cNvSpPr txBox="1"/>
          <p:nvPr/>
        </p:nvSpPr>
        <p:spPr>
          <a:xfrm>
            <a:off x="9535320" y="5874480"/>
            <a:ext cx="1172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~80–97%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9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1" name=""/>
          <p:cNvSpPr/>
          <p:nvPr/>
        </p:nvSpPr>
        <p:spPr>
          <a:xfrm>
            <a:off x="780840" y="830160"/>
            <a:ext cx="362160" cy="254880"/>
          </a:xfrm>
          <a:custGeom>
            <a:avLst/>
            <a:gdLst/>
            <a:ahLst/>
            <a:rect l="0" t="0" r="r" b="b"/>
            <a:pathLst>
              <a:path w="1006" h="708">
                <a:moveTo>
                  <a:pt x="0" y="109"/>
                </a:moveTo>
                <a:cubicBezTo>
                  <a:pt x="0" y="109"/>
                  <a:pt x="0" y="0"/>
                  <a:pt x="112" y="0"/>
                </a:cubicBezTo>
                <a:lnTo>
                  <a:pt x="895" y="0"/>
                </a:lnTo>
                <a:cubicBezTo>
                  <a:pt x="895" y="0"/>
                  <a:pt x="1006" y="0"/>
                  <a:pt x="1006" y="109"/>
                </a:cubicBezTo>
                <a:lnTo>
                  <a:pt x="1006" y="599"/>
                </a:lnTo>
                <a:cubicBezTo>
                  <a:pt x="1006" y="599"/>
                  <a:pt x="1006" y="708"/>
                  <a:pt x="895" y="708"/>
                </a:cubicBezTo>
                <a:lnTo>
                  <a:pt x="112" y="708"/>
                </a:lnTo>
                <a:cubicBezTo>
                  <a:pt x="112" y="708"/>
                  <a:pt x="0" y="708"/>
                  <a:pt x="0" y="599"/>
                </a:cubicBezTo>
                <a:lnTo>
                  <a:pt x="0" y="109"/>
                </a:ln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82" name=""/>
          <p:cNvSpPr/>
          <p:nvPr/>
        </p:nvSpPr>
        <p:spPr>
          <a:xfrm>
            <a:off x="891360" y="859320"/>
            <a:ext cx="201600" cy="196200"/>
          </a:xfrm>
          <a:custGeom>
            <a:avLst/>
            <a:gdLst/>
            <a:ahLst/>
            <a:rect l="0" t="0" r="r" b="b"/>
            <a:pathLst>
              <a:path w="560" h="545">
                <a:moveTo>
                  <a:pt x="560" y="273"/>
                </a:moveTo>
                <a:cubicBezTo>
                  <a:pt x="560" y="291"/>
                  <a:pt x="558" y="309"/>
                  <a:pt x="554" y="326"/>
                </a:cubicBezTo>
                <a:cubicBezTo>
                  <a:pt x="551" y="344"/>
                  <a:pt x="546" y="361"/>
                  <a:pt x="539" y="377"/>
                </a:cubicBezTo>
                <a:cubicBezTo>
                  <a:pt x="532" y="394"/>
                  <a:pt x="523" y="410"/>
                  <a:pt x="513" y="424"/>
                </a:cubicBezTo>
                <a:cubicBezTo>
                  <a:pt x="503" y="439"/>
                  <a:pt x="491" y="453"/>
                  <a:pt x="478" y="466"/>
                </a:cubicBezTo>
                <a:cubicBezTo>
                  <a:pt x="465" y="478"/>
                  <a:pt x="451" y="489"/>
                  <a:pt x="436" y="499"/>
                </a:cubicBezTo>
                <a:cubicBezTo>
                  <a:pt x="420" y="509"/>
                  <a:pt x="404" y="518"/>
                  <a:pt x="387" y="525"/>
                </a:cubicBezTo>
                <a:cubicBezTo>
                  <a:pt x="371" y="531"/>
                  <a:pt x="353" y="537"/>
                  <a:pt x="335" y="540"/>
                </a:cubicBezTo>
                <a:cubicBezTo>
                  <a:pt x="317" y="543"/>
                  <a:pt x="299" y="545"/>
                  <a:pt x="281" y="545"/>
                </a:cubicBezTo>
                <a:cubicBezTo>
                  <a:pt x="262" y="545"/>
                  <a:pt x="244" y="543"/>
                  <a:pt x="226" y="540"/>
                </a:cubicBezTo>
                <a:cubicBezTo>
                  <a:pt x="208" y="537"/>
                  <a:pt x="191" y="531"/>
                  <a:pt x="174" y="525"/>
                </a:cubicBezTo>
                <a:cubicBezTo>
                  <a:pt x="157" y="518"/>
                  <a:pt x="141" y="509"/>
                  <a:pt x="125" y="499"/>
                </a:cubicBezTo>
                <a:cubicBezTo>
                  <a:pt x="110" y="489"/>
                  <a:pt x="96" y="478"/>
                  <a:pt x="83" y="466"/>
                </a:cubicBezTo>
                <a:cubicBezTo>
                  <a:pt x="70" y="453"/>
                  <a:pt x="59" y="439"/>
                  <a:pt x="48" y="424"/>
                </a:cubicBezTo>
                <a:cubicBezTo>
                  <a:pt x="38" y="410"/>
                  <a:pt x="29" y="394"/>
                  <a:pt x="22" y="377"/>
                </a:cubicBezTo>
                <a:cubicBezTo>
                  <a:pt x="15" y="361"/>
                  <a:pt x="9" y="344"/>
                  <a:pt x="6" y="326"/>
                </a:cubicBezTo>
                <a:cubicBezTo>
                  <a:pt x="2" y="309"/>
                  <a:pt x="0" y="291"/>
                  <a:pt x="0" y="273"/>
                </a:cubicBezTo>
                <a:cubicBezTo>
                  <a:pt x="0" y="255"/>
                  <a:pt x="2" y="238"/>
                  <a:pt x="6" y="220"/>
                </a:cubicBezTo>
                <a:cubicBezTo>
                  <a:pt x="9" y="203"/>
                  <a:pt x="15" y="186"/>
                  <a:pt x="22" y="169"/>
                </a:cubicBezTo>
                <a:cubicBezTo>
                  <a:pt x="29" y="153"/>
                  <a:pt x="38" y="137"/>
                  <a:pt x="48" y="122"/>
                </a:cubicBezTo>
                <a:cubicBezTo>
                  <a:pt x="59" y="107"/>
                  <a:pt x="70" y="94"/>
                  <a:pt x="83" y="81"/>
                </a:cubicBezTo>
                <a:cubicBezTo>
                  <a:pt x="96" y="68"/>
                  <a:pt x="110" y="56"/>
                  <a:pt x="125" y="46"/>
                </a:cubicBezTo>
                <a:cubicBezTo>
                  <a:pt x="141" y="36"/>
                  <a:pt x="157" y="28"/>
                  <a:pt x="174" y="21"/>
                </a:cubicBezTo>
                <a:cubicBezTo>
                  <a:pt x="191" y="14"/>
                  <a:pt x="208" y="9"/>
                  <a:pt x="226" y="6"/>
                </a:cubicBezTo>
                <a:cubicBezTo>
                  <a:pt x="244" y="2"/>
                  <a:pt x="262" y="0"/>
                  <a:pt x="281" y="0"/>
                </a:cubicBezTo>
                <a:cubicBezTo>
                  <a:pt x="299" y="0"/>
                  <a:pt x="317" y="2"/>
                  <a:pt x="335" y="6"/>
                </a:cubicBezTo>
                <a:cubicBezTo>
                  <a:pt x="353" y="9"/>
                  <a:pt x="371" y="14"/>
                  <a:pt x="387" y="21"/>
                </a:cubicBezTo>
                <a:cubicBezTo>
                  <a:pt x="404" y="28"/>
                  <a:pt x="420" y="36"/>
                  <a:pt x="436" y="46"/>
                </a:cubicBezTo>
                <a:cubicBezTo>
                  <a:pt x="451" y="56"/>
                  <a:pt x="465" y="68"/>
                  <a:pt x="478" y="81"/>
                </a:cubicBezTo>
                <a:cubicBezTo>
                  <a:pt x="491" y="94"/>
                  <a:pt x="503" y="107"/>
                  <a:pt x="513" y="122"/>
                </a:cubicBezTo>
                <a:cubicBezTo>
                  <a:pt x="523" y="137"/>
                  <a:pt x="532" y="153"/>
                  <a:pt x="539" y="169"/>
                </a:cubicBezTo>
                <a:cubicBezTo>
                  <a:pt x="546" y="186"/>
                  <a:pt x="551" y="203"/>
                  <a:pt x="554" y="220"/>
                </a:cubicBezTo>
                <a:cubicBezTo>
                  <a:pt x="558" y="238"/>
                  <a:pt x="560" y="255"/>
                  <a:pt x="560" y="273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3" name=""/>
          <p:cNvSpPr/>
          <p:nvPr/>
        </p:nvSpPr>
        <p:spPr>
          <a:xfrm>
            <a:off x="911520" y="879120"/>
            <a:ext cx="161280" cy="156960"/>
          </a:xfrm>
          <a:custGeom>
            <a:avLst/>
            <a:gdLst/>
            <a:ahLst/>
            <a:rect l="0" t="0" r="r" b="b"/>
            <a:pathLst>
              <a:path w="448" h="436">
                <a:moveTo>
                  <a:pt x="448" y="217"/>
                </a:moveTo>
                <a:cubicBezTo>
                  <a:pt x="448" y="232"/>
                  <a:pt x="447" y="246"/>
                  <a:pt x="444" y="260"/>
                </a:cubicBezTo>
                <a:cubicBezTo>
                  <a:pt x="441" y="274"/>
                  <a:pt x="437" y="287"/>
                  <a:pt x="431" y="301"/>
                </a:cubicBezTo>
                <a:cubicBezTo>
                  <a:pt x="425" y="314"/>
                  <a:pt x="418" y="326"/>
                  <a:pt x="410" y="338"/>
                </a:cubicBezTo>
                <a:cubicBezTo>
                  <a:pt x="402" y="350"/>
                  <a:pt x="393" y="361"/>
                  <a:pt x="383" y="371"/>
                </a:cubicBezTo>
                <a:cubicBezTo>
                  <a:pt x="372" y="381"/>
                  <a:pt x="360" y="391"/>
                  <a:pt x="348" y="399"/>
                </a:cubicBezTo>
                <a:cubicBezTo>
                  <a:pt x="336" y="407"/>
                  <a:pt x="323" y="414"/>
                  <a:pt x="309" y="419"/>
                </a:cubicBezTo>
                <a:cubicBezTo>
                  <a:pt x="296" y="425"/>
                  <a:pt x="282" y="429"/>
                  <a:pt x="267" y="432"/>
                </a:cubicBezTo>
                <a:cubicBezTo>
                  <a:pt x="253" y="434"/>
                  <a:pt x="238" y="436"/>
                  <a:pt x="224" y="436"/>
                </a:cubicBezTo>
                <a:cubicBezTo>
                  <a:pt x="209" y="436"/>
                  <a:pt x="194" y="434"/>
                  <a:pt x="180" y="432"/>
                </a:cubicBezTo>
                <a:cubicBezTo>
                  <a:pt x="166" y="429"/>
                  <a:pt x="152" y="425"/>
                  <a:pt x="138" y="419"/>
                </a:cubicBezTo>
                <a:cubicBezTo>
                  <a:pt x="125" y="414"/>
                  <a:pt x="112" y="407"/>
                  <a:pt x="99" y="399"/>
                </a:cubicBezTo>
                <a:cubicBezTo>
                  <a:pt x="87" y="391"/>
                  <a:pt x="76" y="381"/>
                  <a:pt x="66" y="371"/>
                </a:cubicBezTo>
                <a:cubicBezTo>
                  <a:pt x="55" y="361"/>
                  <a:pt x="46" y="350"/>
                  <a:pt x="38" y="338"/>
                </a:cubicBezTo>
                <a:cubicBezTo>
                  <a:pt x="30" y="326"/>
                  <a:pt x="23" y="314"/>
                  <a:pt x="17" y="301"/>
                </a:cubicBezTo>
                <a:cubicBezTo>
                  <a:pt x="12" y="287"/>
                  <a:pt x="7" y="274"/>
                  <a:pt x="4" y="260"/>
                </a:cubicBezTo>
                <a:cubicBezTo>
                  <a:pt x="2" y="246"/>
                  <a:pt x="0" y="232"/>
                  <a:pt x="0" y="217"/>
                </a:cubicBezTo>
                <a:cubicBezTo>
                  <a:pt x="0" y="203"/>
                  <a:pt x="2" y="189"/>
                  <a:pt x="4" y="175"/>
                </a:cubicBezTo>
                <a:cubicBezTo>
                  <a:pt x="7" y="161"/>
                  <a:pt x="12" y="147"/>
                  <a:pt x="17" y="134"/>
                </a:cubicBezTo>
                <a:cubicBezTo>
                  <a:pt x="23" y="121"/>
                  <a:pt x="30" y="108"/>
                  <a:pt x="38" y="96"/>
                </a:cubicBezTo>
                <a:cubicBezTo>
                  <a:pt x="46" y="85"/>
                  <a:pt x="55" y="74"/>
                  <a:pt x="66" y="63"/>
                </a:cubicBezTo>
                <a:cubicBezTo>
                  <a:pt x="76" y="53"/>
                  <a:pt x="87" y="44"/>
                  <a:pt x="99" y="36"/>
                </a:cubicBezTo>
                <a:cubicBezTo>
                  <a:pt x="112" y="28"/>
                  <a:pt x="125" y="22"/>
                  <a:pt x="138" y="16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4" y="1"/>
                  <a:pt x="209" y="0"/>
                  <a:pt x="224" y="0"/>
                </a:cubicBezTo>
                <a:cubicBezTo>
                  <a:pt x="238" y="0"/>
                  <a:pt x="253" y="1"/>
                  <a:pt x="267" y="4"/>
                </a:cubicBezTo>
                <a:cubicBezTo>
                  <a:pt x="282" y="7"/>
                  <a:pt x="296" y="11"/>
                  <a:pt x="309" y="16"/>
                </a:cubicBezTo>
                <a:cubicBezTo>
                  <a:pt x="323" y="22"/>
                  <a:pt x="336" y="28"/>
                  <a:pt x="348" y="36"/>
                </a:cubicBezTo>
                <a:cubicBezTo>
                  <a:pt x="360" y="44"/>
                  <a:pt x="372" y="53"/>
                  <a:pt x="383" y="63"/>
                </a:cubicBezTo>
                <a:cubicBezTo>
                  <a:pt x="393" y="74"/>
                  <a:pt x="402" y="85"/>
                  <a:pt x="410" y="96"/>
                </a:cubicBezTo>
                <a:cubicBezTo>
                  <a:pt x="418" y="108"/>
                  <a:pt x="425" y="121"/>
                  <a:pt x="431" y="134"/>
                </a:cubicBezTo>
                <a:cubicBezTo>
                  <a:pt x="437" y="147"/>
                  <a:pt x="441" y="161"/>
                  <a:pt x="444" y="175"/>
                </a:cubicBezTo>
                <a:cubicBezTo>
                  <a:pt x="447" y="189"/>
                  <a:pt x="448" y="203"/>
                  <a:pt x="448" y="217"/>
                </a:cubicBez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84" name=""/>
          <p:cNvSpPr/>
          <p:nvPr/>
        </p:nvSpPr>
        <p:spPr>
          <a:xfrm>
            <a:off x="941760" y="908280"/>
            <a:ext cx="100800" cy="98280"/>
          </a:xfrm>
          <a:custGeom>
            <a:avLst/>
            <a:gdLst/>
            <a:ahLst/>
            <a:rect l="0" t="0" r="r" b="b"/>
            <a:pathLst>
              <a:path w="280" h="273">
                <a:moveTo>
                  <a:pt x="280" y="137"/>
                </a:moveTo>
                <a:cubicBezTo>
                  <a:pt x="280" y="155"/>
                  <a:pt x="277" y="173"/>
                  <a:pt x="270" y="189"/>
                </a:cubicBezTo>
                <a:cubicBezTo>
                  <a:pt x="263" y="206"/>
                  <a:pt x="252" y="221"/>
                  <a:pt x="239" y="233"/>
                </a:cubicBezTo>
                <a:cubicBezTo>
                  <a:pt x="226" y="246"/>
                  <a:pt x="211" y="256"/>
                  <a:pt x="194" y="263"/>
                </a:cubicBezTo>
                <a:cubicBezTo>
                  <a:pt x="177" y="270"/>
                  <a:pt x="159" y="273"/>
                  <a:pt x="141" y="273"/>
                </a:cubicBezTo>
                <a:cubicBezTo>
                  <a:pt x="122" y="273"/>
                  <a:pt x="104" y="270"/>
                  <a:pt x="87" y="263"/>
                </a:cubicBezTo>
                <a:cubicBezTo>
                  <a:pt x="70" y="256"/>
                  <a:pt x="55" y="246"/>
                  <a:pt x="42" y="233"/>
                </a:cubicBezTo>
                <a:cubicBezTo>
                  <a:pt x="28" y="221"/>
                  <a:pt x="18" y="206"/>
                  <a:pt x="11" y="189"/>
                </a:cubicBezTo>
                <a:cubicBezTo>
                  <a:pt x="3" y="173"/>
                  <a:pt x="0" y="155"/>
                  <a:pt x="0" y="137"/>
                </a:cubicBezTo>
                <a:cubicBezTo>
                  <a:pt x="0" y="119"/>
                  <a:pt x="3" y="102"/>
                  <a:pt x="11" y="85"/>
                </a:cubicBezTo>
                <a:cubicBezTo>
                  <a:pt x="18" y="69"/>
                  <a:pt x="28" y="54"/>
                  <a:pt x="42" y="40"/>
                </a:cubicBezTo>
                <a:cubicBezTo>
                  <a:pt x="55" y="27"/>
                  <a:pt x="70" y="18"/>
                  <a:pt x="87" y="11"/>
                </a:cubicBezTo>
                <a:cubicBezTo>
                  <a:pt x="104" y="4"/>
                  <a:pt x="122" y="0"/>
                  <a:pt x="141" y="0"/>
                </a:cubicBezTo>
                <a:cubicBezTo>
                  <a:pt x="159" y="0"/>
                  <a:pt x="177" y="4"/>
                  <a:pt x="194" y="11"/>
                </a:cubicBezTo>
                <a:cubicBezTo>
                  <a:pt x="211" y="18"/>
                  <a:pt x="226" y="27"/>
                  <a:pt x="239" y="40"/>
                </a:cubicBezTo>
                <a:cubicBezTo>
                  <a:pt x="252" y="54"/>
                  <a:pt x="263" y="69"/>
                  <a:pt x="270" y="85"/>
                </a:cubicBezTo>
                <a:cubicBezTo>
                  <a:pt x="277" y="102"/>
                  <a:pt x="280" y="119"/>
                  <a:pt x="280" y="137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85" name=""/>
          <p:cNvSpPr/>
          <p:nvPr/>
        </p:nvSpPr>
        <p:spPr>
          <a:xfrm>
            <a:off x="1092600" y="849600"/>
            <a:ext cx="30600" cy="29880"/>
          </a:xfrm>
          <a:custGeom>
            <a:avLst/>
            <a:gdLst/>
            <a:ahLst/>
            <a:rect l="0" t="0" r="r" b="b"/>
            <a:pathLst>
              <a:path w="85" h="83">
                <a:moveTo>
                  <a:pt x="85" y="42"/>
                </a:moveTo>
                <a:cubicBezTo>
                  <a:pt x="85" y="47"/>
                  <a:pt x="84" y="53"/>
                  <a:pt x="81" y="58"/>
                </a:cubicBezTo>
                <a:cubicBezTo>
                  <a:pt x="79" y="63"/>
                  <a:pt x="75" y="67"/>
                  <a:pt x="71" y="71"/>
                </a:cubicBezTo>
                <a:cubicBezTo>
                  <a:pt x="67" y="75"/>
                  <a:pt x="63" y="78"/>
                  <a:pt x="58" y="80"/>
                </a:cubicBezTo>
                <a:cubicBezTo>
                  <a:pt x="53" y="82"/>
                  <a:pt x="47" y="83"/>
                  <a:pt x="42" y="83"/>
                </a:cubicBezTo>
                <a:cubicBezTo>
                  <a:pt x="36" y="83"/>
                  <a:pt x="31" y="82"/>
                  <a:pt x="26" y="80"/>
                </a:cubicBezTo>
                <a:cubicBezTo>
                  <a:pt x="21" y="78"/>
                  <a:pt x="16" y="75"/>
                  <a:pt x="12" y="71"/>
                </a:cubicBezTo>
                <a:cubicBezTo>
                  <a:pt x="8" y="67"/>
                  <a:pt x="5" y="63"/>
                  <a:pt x="3" y="58"/>
                </a:cubicBezTo>
                <a:cubicBezTo>
                  <a:pt x="1" y="53"/>
                  <a:pt x="0" y="47"/>
                  <a:pt x="0" y="42"/>
                </a:cubicBezTo>
                <a:cubicBezTo>
                  <a:pt x="0" y="37"/>
                  <a:pt x="1" y="31"/>
                  <a:pt x="3" y="25"/>
                </a:cubicBezTo>
                <a:cubicBezTo>
                  <a:pt x="5" y="20"/>
                  <a:pt x="8" y="16"/>
                  <a:pt x="12" y="12"/>
                </a:cubicBezTo>
                <a:cubicBezTo>
                  <a:pt x="16" y="8"/>
                  <a:pt x="21" y="5"/>
                  <a:pt x="26" y="3"/>
                </a:cubicBezTo>
                <a:cubicBezTo>
                  <a:pt x="31" y="1"/>
                  <a:pt x="36" y="0"/>
                  <a:pt x="42" y="0"/>
                </a:cubicBezTo>
                <a:cubicBezTo>
                  <a:pt x="47" y="0"/>
                  <a:pt x="53" y="1"/>
                  <a:pt x="58" y="3"/>
                </a:cubicBezTo>
                <a:cubicBezTo>
                  <a:pt x="63" y="5"/>
                  <a:pt x="67" y="8"/>
                  <a:pt x="71" y="12"/>
                </a:cubicBezTo>
                <a:cubicBezTo>
                  <a:pt x="75" y="16"/>
                  <a:pt x="79" y="20"/>
                  <a:pt x="81" y="25"/>
                </a:cubicBezTo>
                <a:cubicBezTo>
                  <a:pt x="84" y="31"/>
                  <a:pt x="85" y="37"/>
                  <a:pt x="85" y="4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6" name=""/>
          <p:cNvSpPr/>
          <p:nvPr/>
        </p:nvSpPr>
        <p:spPr>
          <a:xfrm>
            <a:off x="780840" y="771480"/>
            <a:ext cx="211680" cy="215640"/>
          </a:xfrm>
          <a:custGeom>
            <a:avLst/>
            <a:gdLst/>
            <a:ahLst/>
            <a:rect l="0" t="0" r="r" b="b"/>
            <a:pathLst>
              <a:path w="588" h="599">
                <a:moveTo>
                  <a:pt x="447" y="244"/>
                </a:moveTo>
                <a:lnTo>
                  <a:pt x="532" y="81"/>
                </a:lnTo>
                <a:lnTo>
                  <a:pt x="363" y="136"/>
                </a:lnTo>
                <a:lnTo>
                  <a:pt x="251" y="0"/>
                </a:lnTo>
                <a:lnTo>
                  <a:pt x="196" y="136"/>
                </a:lnTo>
                <a:lnTo>
                  <a:pt x="28" y="108"/>
                </a:lnTo>
                <a:lnTo>
                  <a:pt x="140" y="272"/>
                </a:lnTo>
                <a:lnTo>
                  <a:pt x="0" y="380"/>
                </a:lnTo>
                <a:lnTo>
                  <a:pt x="168" y="380"/>
                </a:lnTo>
                <a:lnTo>
                  <a:pt x="112" y="543"/>
                </a:lnTo>
                <a:lnTo>
                  <a:pt x="279" y="462"/>
                </a:lnTo>
                <a:lnTo>
                  <a:pt x="447" y="599"/>
                </a:lnTo>
                <a:lnTo>
                  <a:pt x="419" y="380"/>
                </a:lnTo>
                <a:lnTo>
                  <a:pt x="588" y="353"/>
                </a:lnTo>
                <a:lnTo>
                  <a:pt x="447" y="244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7" name=""/>
          <p:cNvSpPr/>
          <p:nvPr/>
        </p:nvSpPr>
        <p:spPr>
          <a:xfrm>
            <a:off x="831240" y="810360"/>
            <a:ext cx="110880" cy="127800"/>
          </a:xfrm>
          <a:custGeom>
            <a:avLst/>
            <a:gdLst/>
            <a:ahLst/>
            <a:rect l="0" t="0" r="r" b="b"/>
            <a:pathLst>
              <a:path w="308" h="355">
                <a:moveTo>
                  <a:pt x="139" y="273"/>
                </a:moveTo>
                <a:lnTo>
                  <a:pt x="56" y="328"/>
                </a:lnTo>
                <a:lnTo>
                  <a:pt x="84" y="246"/>
                </a:lnTo>
                <a:lnTo>
                  <a:pt x="0" y="219"/>
                </a:lnTo>
                <a:lnTo>
                  <a:pt x="84" y="165"/>
                </a:lnTo>
                <a:lnTo>
                  <a:pt x="0" y="83"/>
                </a:lnTo>
                <a:lnTo>
                  <a:pt x="111" y="83"/>
                </a:lnTo>
                <a:lnTo>
                  <a:pt x="139" y="0"/>
                </a:lnTo>
                <a:lnTo>
                  <a:pt x="195" y="83"/>
                </a:lnTo>
                <a:lnTo>
                  <a:pt x="279" y="56"/>
                </a:lnTo>
                <a:lnTo>
                  <a:pt x="223" y="137"/>
                </a:lnTo>
                <a:lnTo>
                  <a:pt x="308" y="219"/>
                </a:lnTo>
                <a:lnTo>
                  <a:pt x="223" y="246"/>
                </a:lnTo>
                <a:lnTo>
                  <a:pt x="251" y="355"/>
                </a:lnTo>
                <a:lnTo>
                  <a:pt x="139" y="273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388" name="" descr=""/>
          <p:cNvPicPr/>
          <p:nvPr/>
        </p:nvPicPr>
        <p:blipFill>
          <a:blip r:embed="rId1"/>
          <a:stretch/>
        </p:blipFill>
        <p:spPr>
          <a:xfrm>
            <a:off x="752400" y="1457280"/>
            <a:ext cx="10096200" cy="5676480"/>
          </a:xfrm>
          <a:prstGeom prst="rect">
            <a:avLst/>
          </a:prstGeom>
          <a:ln w="0">
            <a:noFill/>
          </a:ln>
        </p:spPr>
      </p:pic>
      <p:sp>
        <p:nvSpPr>
          <p:cNvPr id="1389" name=""/>
          <p:cNvSpPr txBox="1"/>
          <p:nvPr/>
        </p:nvSpPr>
        <p:spPr>
          <a:xfrm>
            <a:off x="1160280" y="770400"/>
            <a:ext cx="797256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2 — Nginx Cache: FPM Offload in action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1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3" name=""/>
          <p:cNvSpPr/>
          <p:nvPr/>
        </p:nvSpPr>
        <p:spPr>
          <a:xfrm>
            <a:off x="752400" y="6267240"/>
            <a:ext cx="66960" cy="1238760"/>
          </a:xfrm>
          <a:custGeom>
            <a:avLst/>
            <a:gdLst/>
            <a:ahLst/>
            <a:rect l="0" t="0" r="r" b="b"/>
            <a:pathLst>
              <a:path w="186" h="3441">
                <a:moveTo>
                  <a:pt x="0" y="0"/>
                </a:moveTo>
                <a:lnTo>
                  <a:pt x="186" y="0"/>
                </a:lnTo>
                <a:lnTo>
                  <a:pt x="186" y="3441"/>
                </a:lnTo>
                <a:lnTo>
                  <a:pt x="0" y="344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4" name=""/>
          <p:cNvSpPr txBox="1"/>
          <p:nvPr/>
        </p:nvSpPr>
        <p:spPr>
          <a:xfrm>
            <a:off x="747720" y="770400"/>
            <a:ext cx="727488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2 — the FPM offload panel explained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395" name="" descr=""/>
          <p:cNvPicPr/>
          <p:nvPr/>
        </p:nvPicPr>
        <p:blipFill>
          <a:blip r:embed="rId1"/>
          <a:stretch/>
        </p:blipFill>
        <p:spPr>
          <a:xfrm>
            <a:off x="752400" y="2019240"/>
            <a:ext cx="8571960" cy="3971520"/>
          </a:xfrm>
          <a:prstGeom prst="rect">
            <a:avLst/>
          </a:prstGeom>
          <a:ln w="0">
            <a:noFill/>
          </a:ln>
        </p:spPr>
      </p:pic>
      <p:sp>
        <p:nvSpPr>
          <p:cNvPr id="1396" name=""/>
          <p:cNvSpPr txBox="1"/>
          <p:nvPr/>
        </p:nvSpPr>
        <p:spPr>
          <a:xfrm>
            <a:off x="747720" y="1502640"/>
            <a:ext cx="8463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~70–75 req/s total · only ~20–30% reach PHP · ~70% gap = cache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7" name=""/>
          <p:cNvSpPr txBox="1"/>
          <p:nvPr/>
        </p:nvSpPr>
        <p:spPr>
          <a:xfrm>
            <a:off x="1090440" y="6312600"/>
            <a:ext cx="3111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This is the money slide.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8" name=""/>
          <p:cNvSpPr txBox="1"/>
          <p:nvPr/>
        </p:nvSpPr>
        <p:spPr>
          <a:xfrm>
            <a:off x="1090440" y="6722280"/>
            <a:ext cx="8525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The gap between the two lines is PHP execution that never happened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0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2" name=""/>
          <p:cNvSpPr/>
          <p:nvPr/>
        </p:nvSpPr>
        <p:spPr>
          <a:xfrm>
            <a:off x="780840" y="830160"/>
            <a:ext cx="362160" cy="254880"/>
          </a:xfrm>
          <a:custGeom>
            <a:avLst/>
            <a:gdLst/>
            <a:ahLst/>
            <a:rect l="0" t="0" r="r" b="b"/>
            <a:pathLst>
              <a:path w="1006" h="708">
                <a:moveTo>
                  <a:pt x="0" y="109"/>
                </a:moveTo>
                <a:cubicBezTo>
                  <a:pt x="0" y="109"/>
                  <a:pt x="0" y="0"/>
                  <a:pt x="112" y="0"/>
                </a:cubicBezTo>
                <a:lnTo>
                  <a:pt x="895" y="0"/>
                </a:lnTo>
                <a:cubicBezTo>
                  <a:pt x="895" y="0"/>
                  <a:pt x="1006" y="0"/>
                  <a:pt x="1006" y="109"/>
                </a:cubicBezTo>
                <a:lnTo>
                  <a:pt x="1006" y="599"/>
                </a:lnTo>
                <a:cubicBezTo>
                  <a:pt x="1006" y="599"/>
                  <a:pt x="1006" y="708"/>
                  <a:pt x="895" y="708"/>
                </a:cubicBezTo>
                <a:lnTo>
                  <a:pt x="112" y="708"/>
                </a:lnTo>
                <a:cubicBezTo>
                  <a:pt x="112" y="708"/>
                  <a:pt x="0" y="708"/>
                  <a:pt x="0" y="599"/>
                </a:cubicBezTo>
                <a:lnTo>
                  <a:pt x="0" y="109"/>
                </a:ln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03" name=""/>
          <p:cNvSpPr/>
          <p:nvPr/>
        </p:nvSpPr>
        <p:spPr>
          <a:xfrm>
            <a:off x="891360" y="859320"/>
            <a:ext cx="201600" cy="196200"/>
          </a:xfrm>
          <a:custGeom>
            <a:avLst/>
            <a:gdLst/>
            <a:ahLst/>
            <a:rect l="0" t="0" r="r" b="b"/>
            <a:pathLst>
              <a:path w="560" h="545">
                <a:moveTo>
                  <a:pt x="560" y="273"/>
                </a:moveTo>
                <a:cubicBezTo>
                  <a:pt x="560" y="291"/>
                  <a:pt x="558" y="309"/>
                  <a:pt x="554" y="326"/>
                </a:cubicBezTo>
                <a:cubicBezTo>
                  <a:pt x="551" y="344"/>
                  <a:pt x="546" y="361"/>
                  <a:pt x="539" y="377"/>
                </a:cubicBezTo>
                <a:cubicBezTo>
                  <a:pt x="532" y="394"/>
                  <a:pt x="523" y="410"/>
                  <a:pt x="513" y="424"/>
                </a:cubicBezTo>
                <a:cubicBezTo>
                  <a:pt x="503" y="439"/>
                  <a:pt x="491" y="453"/>
                  <a:pt x="478" y="466"/>
                </a:cubicBezTo>
                <a:cubicBezTo>
                  <a:pt x="465" y="478"/>
                  <a:pt x="451" y="489"/>
                  <a:pt x="436" y="499"/>
                </a:cubicBezTo>
                <a:cubicBezTo>
                  <a:pt x="420" y="509"/>
                  <a:pt x="404" y="518"/>
                  <a:pt x="387" y="525"/>
                </a:cubicBezTo>
                <a:cubicBezTo>
                  <a:pt x="371" y="531"/>
                  <a:pt x="353" y="537"/>
                  <a:pt x="335" y="540"/>
                </a:cubicBezTo>
                <a:cubicBezTo>
                  <a:pt x="317" y="543"/>
                  <a:pt x="299" y="545"/>
                  <a:pt x="281" y="545"/>
                </a:cubicBezTo>
                <a:cubicBezTo>
                  <a:pt x="262" y="545"/>
                  <a:pt x="244" y="543"/>
                  <a:pt x="226" y="540"/>
                </a:cubicBezTo>
                <a:cubicBezTo>
                  <a:pt x="208" y="537"/>
                  <a:pt x="191" y="531"/>
                  <a:pt x="174" y="525"/>
                </a:cubicBezTo>
                <a:cubicBezTo>
                  <a:pt x="157" y="518"/>
                  <a:pt x="141" y="509"/>
                  <a:pt x="125" y="499"/>
                </a:cubicBezTo>
                <a:cubicBezTo>
                  <a:pt x="110" y="489"/>
                  <a:pt x="96" y="478"/>
                  <a:pt x="83" y="466"/>
                </a:cubicBezTo>
                <a:cubicBezTo>
                  <a:pt x="70" y="453"/>
                  <a:pt x="59" y="439"/>
                  <a:pt x="48" y="424"/>
                </a:cubicBezTo>
                <a:cubicBezTo>
                  <a:pt x="38" y="410"/>
                  <a:pt x="29" y="394"/>
                  <a:pt x="22" y="377"/>
                </a:cubicBezTo>
                <a:cubicBezTo>
                  <a:pt x="15" y="361"/>
                  <a:pt x="9" y="344"/>
                  <a:pt x="6" y="326"/>
                </a:cubicBezTo>
                <a:cubicBezTo>
                  <a:pt x="2" y="309"/>
                  <a:pt x="0" y="291"/>
                  <a:pt x="0" y="273"/>
                </a:cubicBezTo>
                <a:cubicBezTo>
                  <a:pt x="0" y="255"/>
                  <a:pt x="2" y="238"/>
                  <a:pt x="6" y="220"/>
                </a:cubicBezTo>
                <a:cubicBezTo>
                  <a:pt x="9" y="203"/>
                  <a:pt x="15" y="186"/>
                  <a:pt x="22" y="169"/>
                </a:cubicBezTo>
                <a:cubicBezTo>
                  <a:pt x="29" y="153"/>
                  <a:pt x="38" y="137"/>
                  <a:pt x="48" y="122"/>
                </a:cubicBezTo>
                <a:cubicBezTo>
                  <a:pt x="59" y="107"/>
                  <a:pt x="70" y="94"/>
                  <a:pt x="83" y="81"/>
                </a:cubicBezTo>
                <a:cubicBezTo>
                  <a:pt x="96" y="68"/>
                  <a:pt x="110" y="56"/>
                  <a:pt x="125" y="46"/>
                </a:cubicBezTo>
                <a:cubicBezTo>
                  <a:pt x="141" y="36"/>
                  <a:pt x="157" y="28"/>
                  <a:pt x="174" y="21"/>
                </a:cubicBezTo>
                <a:cubicBezTo>
                  <a:pt x="191" y="14"/>
                  <a:pt x="208" y="9"/>
                  <a:pt x="226" y="6"/>
                </a:cubicBezTo>
                <a:cubicBezTo>
                  <a:pt x="244" y="2"/>
                  <a:pt x="262" y="0"/>
                  <a:pt x="281" y="0"/>
                </a:cubicBezTo>
                <a:cubicBezTo>
                  <a:pt x="299" y="0"/>
                  <a:pt x="317" y="2"/>
                  <a:pt x="335" y="6"/>
                </a:cubicBezTo>
                <a:cubicBezTo>
                  <a:pt x="353" y="9"/>
                  <a:pt x="371" y="14"/>
                  <a:pt x="387" y="21"/>
                </a:cubicBezTo>
                <a:cubicBezTo>
                  <a:pt x="404" y="28"/>
                  <a:pt x="420" y="36"/>
                  <a:pt x="436" y="46"/>
                </a:cubicBezTo>
                <a:cubicBezTo>
                  <a:pt x="451" y="56"/>
                  <a:pt x="465" y="68"/>
                  <a:pt x="478" y="81"/>
                </a:cubicBezTo>
                <a:cubicBezTo>
                  <a:pt x="491" y="94"/>
                  <a:pt x="503" y="107"/>
                  <a:pt x="513" y="122"/>
                </a:cubicBezTo>
                <a:cubicBezTo>
                  <a:pt x="523" y="137"/>
                  <a:pt x="532" y="153"/>
                  <a:pt x="539" y="169"/>
                </a:cubicBezTo>
                <a:cubicBezTo>
                  <a:pt x="546" y="186"/>
                  <a:pt x="551" y="203"/>
                  <a:pt x="554" y="220"/>
                </a:cubicBezTo>
                <a:cubicBezTo>
                  <a:pt x="558" y="238"/>
                  <a:pt x="560" y="255"/>
                  <a:pt x="560" y="273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4" name=""/>
          <p:cNvSpPr/>
          <p:nvPr/>
        </p:nvSpPr>
        <p:spPr>
          <a:xfrm>
            <a:off x="911520" y="879120"/>
            <a:ext cx="161280" cy="156960"/>
          </a:xfrm>
          <a:custGeom>
            <a:avLst/>
            <a:gdLst/>
            <a:ahLst/>
            <a:rect l="0" t="0" r="r" b="b"/>
            <a:pathLst>
              <a:path w="448" h="436">
                <a:moveTo>
                  <a:pt x="448" y="217"/>
                </a:moveTo>
                <a:cubicBezTo>
                  <a:pt x="448" y="232"/>
                  <a:pt x="447" y="246"/>
                  <a:pt x="444" y="260"/>
                </a:cubicBezTo>
                <a:cubicBezTo>
                  <a:pt x="441" y="274"/>
                  <a:pt x="437" y="287"/>
                  <a:pt x="431" y="301"/>
                </a:cubicBezTo>
                <a:cubicBezTo>
                  <a:pt x="425" y="314"/>
                  <a:pt x="418" y="326"/>
                  <a:pt x="410" y="338"/>
                </a:cubicBezTo>
                <a:cubicBezTo>
                  <a:pt x="402" y="350"/>
                  <a:pt x="393" y="361"/>
                  <a:pt x="383" y="371"/>
                </a:cubicBezTo>
                <a:cubicBezTo>
                  <a:pt x="372" y="381"/>
                  <a:pt x="360" y="391"/>
                  <a:pt x="348" y="399"/>
                </a:cubicBezTo>
                <a:cubicBezTo>
                  <a:pt x="336" y="407"/>
                  <a:pt x="323" y="414"/>
                  <a:pt x="309" y="419"/>
                </a:cubicBezTo>
                <a:cubicBezTo>
                  <a:pt x="296" y="425"/>
                  <a:pt x="282" y="429"/>
                  <a:pt x="267" y="432"/>
                </a:cubicBezTo>
                <a:cubicBezTo>
                  <a:pt x="253" y="434"/>
                  <a:pt x="238" y="436"/>
                  <a:pt x="224" y="436"/>
                </a:cubicBezTo>
                <a:cubicBezTo>
                  <a:pt x="209" y="436"/>
                  <a:pt x="194" y="434"/>
                  <a:pt x="180" y="432"/>
                </a:cubicBezTo>
                <a:cubicBezTo>
                  <a:pt x="166" y="429"/>
                  <a:pt x="152" y="425"/>
                  <a:pt x="138" y="419"/>
                </a:cubicBezTo>
                <a:cubicBezTo>
                  <a:pt x="125" y="414"/>
                  <a:pt x="112" y="407"/>
                  <a:pt x="99" y="399"/>
                </a:cubicBezTo>
                <a:cubicBezTo>
                  <a:pt x="87" y="391"/>
                  <a:pt x="76" y="381"/>
                  <a:pt x="66" y="371"/>
                </a:cubicBezTo>
                <a:cubicBezTo>
                  <a:pt x="55" y="361"/>
                  <a:pt x="46" y="350"/>
                  <a:pt x="38" y="338"/>
                </a:cubicBezTo>
                <a:cubicBezTo>
                  <a:pt x="30" y="326"/>
                  <a:pt x="23" y="314"/>
                  <a:pt x="17" y="301"/>
                </a:cubicBezTo>
                <a:cubicBezTo>
                  <a:pt x="12" y="287"/>
                  <a:pt x="7" y="274"/>
                  <a:pt x="4" y="260"/>
                </a:cubicBezTo>
                <a:cubicBezTo>
                  <a:pt x="2" y="246"/>
                  <a:pt x="0" y="232"/>
                  <a:pt x="0" y="217"/>
                </a:cubicBezTo>
                <a:cubicBezTo>
                  <a:pt x="0" y="203"/>
                  <a:pt x="2" y="189"/>
                  <a:pt x="4" y="175"/>
                </a:cubicBezTo>
                <a:cubicBezTo>
                  <a:pt x="7" y="161"/>
                  <a:pt x="12" y="147"/>
                  <a:pt x="17" y="134"/>
                </a:cubicBezTo>
                <a:cubicBezTo>
                  <a:pt x="23" y="121"/>
                  <a:pt x="30" y="108"/>
                  <a:pt x="38" y="96"/>
                </a:cubicBezTo>
                <a:cubicBezTo>
                  <a:pt x="46" y="85"/>
                  <a:pt x="55" y="74"/>
                  <a:pt x="66" y="63"/>
                </a:cubicBezTo>
                <a:cubicBezTo>
                  <a:pt x="76" y="53"/>
                  <a:pt x="87" y="44"/>
                  <a:pt x="99" y="36"/>
                </a:cubicBezTo>
                <a:cubicBezTo>
                  <a:pt x="112" y="28"/>
                  <a:pt x="125" y="22"/>
                  <a:pt x="138" y="16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4" y="1"/>
                  <a:pt x="209" y="0"/>
                  <a:pt x="224" y="0"/>
                </a:cubicBezTo>
                <a:cubicBezTo>
                  <a:pt x="238" y="0"/>
                  <a:pt x="253" y="1"/>
                  <a:pt x="267" y="4"/>
                </a:cubicBezTo>
                <a:cubicBezTo>
                  <a:pt x="282" y="7"/>
                  <a:pt x="296" y="11"/>
                  <a:pt x="309" y="16"/>
                </a:cubicBezTo>
                <a:cubicBezTo>
                  <a:pt x="323" y="22"/>
                  <a:pt x="336" y="28"/>
                  <a:pt x="348" y="36"/>
                </a:cubicBezTo>
                <a:cubicBezTo>
                  <a:pt x="360" y="44"/>
                  <a:pt x="372" y="53"/>
                  <a:pt x="383" y="63"/>
                </a:cubicBezTo>
                <a:cubicBezTo>
                  <a:pt x="393" y="74"/>
                  <a:pt x="402" y="85"/>
                  <a:pt x="410" y="96"/>
                </a:cubicBezTo>
                <a:cubicBezTo>
                  <a:pt x="418" y="108"/>
                  <a:pt x="425" y="121"/>
                  <a:pt x="431" y="134"/>
                </a:cubicBezTo>
                <a:cubicBezTo>
                  <a:pt x="437" y="147"/>
                  <a:pt x="441" y="161"/>
                  <a:pt x="444" y="175"/>
                </a:cubicBezTo>
                <a:cubicBezTo>
                  <a:pt x="447" y="189"/>
                  <a:pt x="448" y="203"/>
                  <a:pt x="448" y="217"/>
                </a:cubicBez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05" name=""/>
          <p:cNvSpPr/>
          <p:nvPr/>
        </p:nvSpPr>
        <p:spPr>
          <a:xfrm>
            <a:off x="941760" y="908280"/>
            <a:ext cx="100800" cy="98280"/>
          </a:xfrm>
          <a:custGeom>
            <a:avLst/>
            <a:gdLst/>
            <a:ahLst/>
            <a:rect l="0" t="0" r="r" b="b"/>
            <a:pathLst>
              <a:path w="280" h="273">
                <a:moveTo>
                  <a:pt x="280" y="137"/>
                </a:moveTo>
                <a:cubicBezTo>
                  <a:pt x="280" y="155"/>
                  <a:pt x="277" y="173"/>
                  <a:pt x="270" y="189"/>
                </a:cubicBezTo>
                <a:cubicBezTo>
                  <a:pt x="263" y="206"/>
                  <a:pt x="252" y="221"/>
                  <a:pt x="239" y="233"/>
                </a:cubicBezTo>
                <a:cubicBezTo>
                  <a:pt x="226" y="246"/>
                  <a:pt x="211" y="256"/>
                  <a:pt x="194" y="263"/>
                </a:cubicBezTo>
                <a:cubicBezTo>
                  <a:pt x="177" y="270"/>
                  <a:pt x="159" y="273"/>
                  <a:pt x="141" y="273"/>
                </a:cubicBezTo>
                <a:cubicBezTo>
                  <a:pt x="122" y="273"/>
                  <a:pt x="104" y="270"/>
                  <a:pt x="87" y="263"/>
                </a:cubicBezTo>
                <a:cubicBezTo>
                  <a:pt x="70" y="256"/>
                  <a:pt x="55" y="246"/>
                  <a:pt x="42" y="233"/>
                </a:cubicBezTo>
                <a:cubicBezTo>
                  <a:pt x="28" y="221"/>
                  <a:pt x="18" y="206"/>
                  <a:pt x="11" y="189"/>
                </a:cubicBezTo>
                <a:cubicBezTo>
                  <a:pt x="3" y="173"/>
                  <a:pt x="0" y="155"/>
                  <a:pt x="0" y="137"/>
                </a:cubicBezTo>
                <a:cubicBezTo>
                  <a:pt x="0" y="119"/>
                  <a:pt x="3" y="102"/>
                  <a:pt x="11" y="85"/>
                </a:cubicBezTo>
                <a:cubicBezTo>
                  <a:pt x="18" y="69"/>
                  <a:pt x="28" y="54"/>
                  <a:pt x="42" y="40"/>
                </a:cubicBezTo>
                <a:cubicBezTo>
                  <a:pt x="55" y="27"/>
                  <a:pt x="70" y="18"/>
                  <a:pt x="87" y="11"/>
                </a:cubicBezTo>
                <a:cubicBezTo>
                  <a:pt x="104" y="4"/>
                  <a:pt x="122" y="0"/>
                  <a:pt x="141" y="0"/>
                </a:cubicBezTo>
                <a:cubicBezTo>
                  <a:pt x="159" y="0"/>
                  <a:pt x="177" y="4"/>
                  <a:pt x="194" y="11"/>
                </a:cubicBezTo>
                <a:cubicBezTo>
                  <a:pt x="211" y="18"/>
                  <a:pt x="226" y="27"/>
                  <a:pt x="239" y="40"/>
                </a:cubicBezTo>
                <a:cubicBezTo>
                  <a:pt x="252" y="54"/>
                  <a:pt x="263" y="69"/>
                  <a:pt x="270" y="85"/>
                </a:cubicBezTo>
                <a:cubicBezTo>
                  <a:pt x="277" y="102"/>
                  <a:pt x="280" y="119"/>
                  <a:pt x="280" y="137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06" name=""/>
          <p:cNvSpPr/>
          <p:nvPr/>
        </p:nvSpPr>
        <p:spPr>
          <a:xfrm>
            <a:off x="1092600" y="849600"/>
            <a:ext cx="30600" cy="29880"/>
          </a:xfrm>
          <a:custGeom>
            <a:avLst/>
            <a:gdLst/>
            <a:ahLst/>
            <a:rect l="0" t="0" r="r" b="b"/>
            <a:pathLst>
              <a:path w="85" h="83">
                <a:moveTo>
                  <a:pt x="85" y="42"/>
                </a:moveTo>
                <a:cubicBezTo>
                  <a:pt x="85" y="47"/>
                  <a:pt x="84" y="53"/>
                  <a:pt x="81" y="58"/>
                </a:cubicBezTo>
                <a:cubicBezTo>
                  <a:pt x="79" y="63"/>
                  <a:pt x="75" y="67"/>
                  <a:pt x="71" y="71"/>
                </a:cubicBezTo>
                <a:cubicBezTo>
                  <a:pt x="67" y="75"/>
                  <a:pt x="63" y="78"/>
                  <a:pt x="58" y="80"/>
                </a:cubicBezTo>
                <a:cubicBezTo>
                  <a:pt x="53" y="82"/>
                  <a:pt x="47" y="83"/>
                  <a:pt x="42" y="83"/>
                </a:cubicBezTo>
                <a:cubicBezTo>
                  <a:pt x="36" y="83"/>
                  <a:pt x="31" y="82"/>
                  <a:pt x="26" y="80"/>
                </a:cubicBezTo>
                <a:cubicBezTo>
                  <a:pt x="21" y="78"/>
                  <a:pt x="16" y="75"/>
                  <a:pt x="12" y="71"/>
                </a:cubicBezTo>
                <a:cubicBezTo>
                  <a:pt x="8" y="67"/>
                  <a:pt x="5" y="63"/>
                  <a:pt x="3" y="58"/>
                </a:cubicBezTo>
                <a:cubicBezTo>
                  <a:pt x="1" y="53"/>
                  <a:pt x="0" y="47"/>
                  <a:pt x="0" y="42"/>
                </a:cubicBezTo>
                <a:cubicBezTo>
                  <a:pt x="0" y="37"/>
                  <a:pt x="1" y="31"/>
                  <a:pt x="3" y="25"/>
                </a:cubicBezTo>
                <a:cubicBezTo>
                  <a:pt x="5" y="20"/>
                  <a:pt x="8" y="16"/>
                  <a:pt x="12" y="12"/>
                </a:cubicBezTo>
                <a:cubicBezTo>
                  <a:pt x="16" y="8"/>
                  <a:pt x="21" y="5"/>
                  <a:pt x="26" y="3"/>
                </a:cubicBezTo>
                <a:cubicBezTo>
                  <a:pt x="31" y="1"/>
                  <a:pt x="36" y="0"/>
                  <a:pt x="42" y="0"/>
                </a:cubicBezTo>
                <a:cubicBezTo>
                  <a:pt x="47" y="0"/>
                  <a:pt x="53" y="1"/>
                  <a:pt x="58" y="3"/>
                </a:cubicBezTo>
                <a:cubicBezTo>
                  <a:pt x="63" y="5"/>
                  <a:pt x="67" y="8"/>
                  <a:pt x="71" y="12"/>
                </a:cubicBezTo>
                <a:cubicBezTo>
                  <a:pt x="75" y="16"/>
                  <a:pt x="79" y="20"/>
                  <a:pt x="81" y="25"/>
                </a:cubicBezTo>
                <a:cubicBezTo>
                  <a:pt x="84" y="31"/>
                  <a:pt x="85" y="37"/>
                  <a:pt x="85" y="4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7" name=""/>
          <p:cNvSpPr/>
          <p:nvPr/>
        </p:nvSpPr>
        <p:spPr>
          <a:xfrm>
            <a:off x="780840" y="771480"/>
            <a:ext cx="211680" cy="215640"/>
          </a:xfrm>
          <a:custGeom>
            <a:avLst/>
            <a:gdLst/>
            <a:ahLst/>
            <a:rect l="0" t="0" r="r" b="b"/>
            <a:pathLst>
              <a:path w="588" h="599">
                <a:moveTo>
                  <a:pt x="447" y="244"/>
                </a:moveTo>
                <a:lnTo>
                  <a:pt x="532" y="81"/>
                </a:lnTo>
                <a:lnTo>
                  <a:pt x="363" y="136"/>
                </a:lnTo>
                <a:lnTo>
                  <a:pt x="251" y="0"/>
                </a:lnTo>
                <a:lnTo>
                  <a:pt x="196" y="136"/>
                </a:lnTo>
                <a:lnTo>
                  <a:pt x="28" y="108"/>
                </a:lnTo>
                <a:lnTo>
                  <a:pt x="140" y="272"/>
                </a:lnTo>
                <a:lnTo>
                  <a:pt x="0" y="380"/>
                </a:lnTo>
                <a:lnTo>
                  <a:pt x="168" y="380"/>
                </a:lnTo>
                <a:lnTo>
                  <a:pt x="112" y="543"/>
                </a:lnTo>
                <a:lnTo>
                  <a:pt x="279" y="462"/>
                </a:lnTo>
                <a:lnTo>
                  <a:pt x="447" y="599"/>
                </a:lnTo>
                <a:lnTo>
                  <a:pt x="419" y="380"/>
                </a:lnTo>
                <a:lnTo>
                  <a:pt x="588" y="353"/>
                </a:lnTo>
                <a:lnTo>
                  <a:pt x="447" y="244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8" name=""/>
          <p:cNvSpPr/>
          <p:nvPr/>
        </p:nvSpPr>
        <p:spPr>
          <a:xfrm>
            <a:off x="831240" y="810360"/>
            <a:ext cx="110880" cy="127800"/>
          </a:xfrm>
          <a:custGeom>
            <a:avLst/>
            <a:gdLst/>
            <a:ahLst/>
            <a:rect l="0" t="0" r="r" b="b"/>
            <a:pathLst>
              <a:path w="308" h="355">
                <a:moveTo>
                  <a:pt x="139" y="273"/>
                </a:moveTo>
                <a:lnTo>
                  <a:pt x="56" y="328"/>
                </a:lnTo>
                <a:lnTo>
                  <a:pt x="84" y="246"/>
                </a:lnTo>
                <a:lnTo>
                  <a:pt x="0" y="219"/>
                </a:lnTo>
                <a:lnTo>
                  <a:pt x="84" y="165"/>
                </a:lnTo>
                <a:lnTo>
                  <a:pt x="0" y="83"/>
                </a:lnTo>
                <a:lnTo>
                  <a:pt x="111" y="83"/>
                </a:lnTo>
                <a:lnTo>
                  <a:pt x="139" y="0"/>
                </a:lnTo>
                <a:lnTo>
                  <a:pt x="195" y="83"/>
                </a:lnTo>
                <a:lnTo>
                  <a:pt x="279" y="56"/>
                </a:lnTo>
                <a:lnTo>
                  <a:pt x="223" y="137"/>
                </a:lnTo>
                <a:lnTo>
                  <a:pt x="308" y="219"/>
                </a:lnTo>
                <a:lnTo>
                  <a:pt x="223" y="246"/>
                </a:lnTo>
                <a:lnTo>
                  <a:pt x="251" y="355"/>
                </a:lnTo>
                <a:lnTo>
                  <a:pt x="139" y="273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9" name=""/>
          <p:cNvSpPr txBox="1"/>
          <p:nvPr/>
        </p:nvSpPr>
        <p:spPr>
          <a:xfrm>
            <a:off x="1160280" y="770400"/>
            <a:ext cx="1016280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2 — PHP-FPM: Peak ~10 Workers During Cache-Miss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410" name="" descr=""/>
          <p:cNvPicPr/>
          <p:nvPr/>
        </p:nvPicPr>
        <p:blipFill>
          <a:blip r:embed="rId1"/>
          <a:stretch/>
        </p:blipFill>
        <p:spPr>
          <a:xfrm>
            <a:off x="752400" y="1905120"/>
            <a:ext cx="10096200" cy="5676480"/>
          </a:xfrm>
          <a:prstGeom prst="rect">
            <a:avLst/>
          </a:prstGeom>
          <a:ln w="0">
            <a:noFill/>
          </a:ln>
        </p:spPr>
      </p:pic>
      <p:sp>
        <p:nvSpPr>
          <p:cNvPr id="1411" name=""/>
          <p:cNvSpPr txBox="1"/>
          <p:nvPr/>
        </p:nvSpPr>
        <p:spPr>
          <a:xfrm>
            <a:off x="747720" y="1218240"/>
            <a:ext cx="93960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Burst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3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5" name=""/>
          <p:cNvSpPr/>
          <p:nvPr/>
        </p:nvSpPr>
        <p:spPr>
          <a:xfrm>
            <a:off x="757080" y="2023920"/>
            <a:ext cx="10687320" cy="1400400"/>
          </a:xfrm>
          <a:custGeom>
            <a:avLst/>
            <a:gdLst/>
            <a:ahLst/>
            <a:rect l="0" t="0" r="r" b="b"/>
            <a:pathLst>
              <a:path w="29687" h="3890">
                <a:moveTo>
                  <a:pt x="0" y="3745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3745"/>
                </a:lnTo>
                <a:cubicBezTo>
                  <a:pt x="29687" y="3754"/>
                  <a:pt x="29686" y="3764"/>
                  <a:pt x="29684" y="3773"/>
                </a:cubicBezTo>
                <a:cubicBezTo>
                  <a:pt x="29683" y="3783"/>
                  <a:pt x="29680" y="3792"/>
                  <a:pt x="29676" y="3800"/>
                </a:cubicBezTo>
                <a:cubicBezTo>
                  <a:pt x="29672" y="3809"/>
                  <a:pt x="29668" y="3818"/>
                  <a:pt x="29663" y="3826"/>
                </a:cubicBezTo>
                <a:cubicBezTo>
                  <a:pt x="29657" y="3834"/>
                  <a:pt x="29651" y="3841"/>
                  <a:pt x="29645" y="3848"/>
                </a:cubicBezTo>
                <a:cubicBezTo>
                  <a:pt x="29638" y="3854"/>
                  <a:pt x="29630" y="3860"/>
                  <a:pt x="29623" y="3866"/>
                </a:cubicBezTo>
                <a:cubicBezTo>
                  <a:pt x="29615" y="3871"/>
                  <a:pt x="29606" y="3876"/>
                  <a:pt x="29597" y="3879"/>
                </a:cubicBezTo>
                <a:cubicBezTo>
                  <a:pt x="29589" y="3883"/>
                  <a:pt x="29579" y="3886"/>
                  <a:pt x="29570" y="3887"/>
                </a:cubicBezTo>
                <a:cubicBezTo>
                  <a:pt x="29561" y="3889"/>
                  <a:pt x="29551" y="3890"/>
                  <a:pt x="29542" y="3890"/>
                </a:cubicBezTo>
                <a:lnTo>
                  <a:pt x="145" y="3890"/>
                </a:lnTo>
                <a:cubicBezTo>
                  <a:pt x="136" y="3890"/>
                  <a:pt x="126" y="3889"/>
                  <a:pt x="117" y="3887"/>
                </a:cubicBezTo>
                <a:cubicBezTo>
                  <a:pt x="108" y="3886"/>
                  <a:pt x="99" y="3883"/>
                  <a:pt x="90" y="3879"/>
                </a:cubicBezTo>
                <a:cubicBezTo>
                  <a:pt x="81" y="3876"/>
                  <a:pt x="73" y="3871"/>
                  <a:pt x="65" y="3866"/>
                </a:cubicBezTo>
                <a:cubicBezTo>
                  <a:pt x="57" y="3860"/>
                  <a:pt x="49" y="3854"/>
                  <a:pt x="43" y="3848"/>
                </a:cubicBezTo>
                <a:cubicBezTo>
                  <a:pt x="36" y="3841"/>
                  <a:pt x="30" y="3834"/>
                  <a:pt x="24" y="3826"/>
                </a:cubicBezTo>
                <a:cubicBezTo>
                  <a:pt x="19" y="3818"/>
                  <a:pt x="15" y="3809"/>
                  <a:pt x="11" y="3800"/>
                </a:cubicBezTo>
                <a:cubicBezTo>
                  <a:pt x="7" y="3792"/>
                  <a:pt x="5" y="3783"/>
                  <a:pt x="3" y="3773"/>
                </a:cubicBezTo>
                <a:cubicBezTo>
                  <a:pt x="1" y="3764"/>
                  <a:pt x="0" y="3754"/>
                  <a:pt x="0" y="3745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6" name=""/>
          <p:cNvSpPr/>
          <p:nvPr/>
        </p:nvSpPr>
        <p:spPr>
          <a:xfrm>
            <a:off x="757080" y="2023920"/>
            <a:ext cx="10687320" cy="1400400"/>
          </a:xfrm>
          <a:custGeom>
            <a:avLst/>
            <a:gdLst/>
            <a:ahLst/>
            <a:rect l="0" t="0" r="r" b="b"/>
            <a:pathLst>
              <a:path w="29687" h="3890">
                <a:moveTo>
                  <a:pt x="0" y="3745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3745"/>
                </a:lnTo>
                <a:cubicBezTo>
                  <a:pt x="29687" y="3754"/>
                  <a:pt x="29686" y="3764"/>
                  <a:pt x="29684" y="3773"/>
                </a:cubicBezTo>
                <a:cubicBezTo>
                  <a:pt x="29683" y="3783"/>
                  <a:pt x="29680" y="3792"/>
                  <a:pt x="29676" y="3800"/>
                </a:cubicBezTo>
                <a:cubicBezTo>
                  <a:pt x="29672" y="3809"/>
                  <a:pt x="29668" y="3818"/>
                  <a:pt x="29663" y="3826"/>
                </a:cubicBezTo>
                <a:cubicBezTo>
                  <a:pt x="29657" y="3834"/>
                  <a:pt x="29651" y="3841"/>
                  <a:pt x="29645" y="3848"/>
                </a:cubicBezTo>
                <a:cubicBezTo>
                  <a:pt x="29638" y="3854"/>
                  <a:pt x="29630" y="3860"/>
                  <a:pt x="29623" y="3866"/>
                </a:cubicBezTo>
                <a:cubicBezTo>
                  <a:pt x="29615" y="3871"/>
                  <a:pt x="29606" y="3876"/>
                  <a:pt x="29597" y="3879"/>
                </a:cubicBezTo>
                <a:cubicBezTo>
                  <a:pt x="29589" y="3883"/>
                  <a:pt x="29579" y="3886"/>
                  <a:pt x="29570" y="3887"/>
                </a:cubicBezTo>
                <a:cubicBezTo>
                  <a:pt x="29561" y="3889"/>
                  <a:pt x="29551" y="3890"/>
                  <a:pt x="29542" y="3890"/>
                </a:cubicBezTo>
                <a:lnTo>
                  <a:pt x="145" y="3890"/>
                </a:lnTo>
                <a:cubicBezTo>
                  <a:pt x="136" y="3890"/>
                  <a:pt x="126" y="3889"/>
                  <a:pt x="117" y="3887"/>
                </a:cubicBezTo>
                <a:cubicBezTo>
                  <a:pt x="108" y="3886"/>
                  <a:pt x="99" y="3883"/>
                  <a:pt x="90" y="3879"/>
                </a:cubicBezTo>
                <a:cubicBezTo>
                  <a:pt x="81" y="3876"/>
                  <a:pt x="73" y="3871"/>
                  <a:pt x="65" y="3866"/>
                </a:cubicBezTo>
                <a:cubicBezTo>
                  <a:pt x="57" y="3860"/>
                  <a:pt x="49" y="3854"/>
                  <a:pt x="43" y="3848"/>
                </a:cubicBezTo>
                <a:cubicBezTo>
                  <a:pt x="36" y="3841"/>
                  <a:pt x="30" y="3834"/>
                  <a:pt x="24" y="3826"/>
                </a:cubicBezTo>
                <a:cubicBezTo>
                  <a:pt x="19" y="3818"/>
                  <a:pt x="15" y="3809"/>
                  <a:pt x="11" y="3800"/>
                </a:cubicBezTo>
                <a:cubicBezTo>
                  <a:pt x="7" y="3792"/>
                  <a:pt x="5" y="3783"/>
                  <a:pt x="3" y="3773"/>
                </a:cubicBezTo>
                <a:cubicBezTo>
                  <a:pt x="1" y="3764"/>
                  <a:pt x="0" y="3754"/>
                  <a:pt x="0" y="3745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7" name=""/>
          <p:cNvSpPr/>
          <p:nvPr/>
        </p:nvSpPr>
        <p:spPr>
          <a:xfrm>
            <a:off x="757080" y="6738840"/>
            <a:ext cx="10687320" cy="1943280"/>
          </a:xfrm>
          <a:custGeom>
            <a:avLst/>
            <a:gdLst/>
            <a:ahLst/>
            <a:rect l="0" t="0" r="r" b="b"/>
            <a:pathLst>
              <a:path w="29687" h="5398">
                <a:moveTo>
                  <a:pt x="0" y="525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8"/>
                  <a:pt x="11" y="90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2"/>
                </a:cubicBezTo>
                <a:cubicBezTo>
                  <a:pt x="29651" y="49"/>
                  <a:pt x="29657" y="56"/>
                  <a:pt x="29663" y="64"/>
                </a:cubicBezTo>
                <a:cubicBezTo>
                  <a:pt x="29668" y="72"/>
                  <a:pt x="29672" y="81"/>
                  <a:pt x="29676" y="90"/>
                </a:cubicBezTo>
                <a:cubicBezTo>
                  <a:pt x="29680" y="98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5253"/>
                </a:lnTo>
                <a:cubicBezTo>
                  <a:pt x="29687" y="5262"/>
                  <a:pt x="29686" y="5272"/>
                  <a:pt x="29684" y="5281"/>
                </a:cubicBezTo>
                <a:cubicBezTo>
                  <a:pt x="29683" y="5291"/>
                  <a:pt x="29680" y="5300"/>
                  <a:pt x="29676" y="5308"/>
                </a:cubicBezTo>
                <a:cubicBezTo>
                  <a:pt x="29672" y="5317"/>
                  <a:pt x="29668" y="5326"/>
                  <a:pt x="29663" y="5334"/>
                </a:cubicBezTo>
                <a:cubicBezTo>
                  <a:pt x="29657" y="5342"/>
                  <a:pt x="29651" y="5349"/>
                  <a:pt x="29645" y="5356"/>
                </a:cubicBezTo>
                <a:cubicBezTo>
                  <a:pt x="29638" y="5362"/>
                  <a:pt x="29630" y="5368"/>
                  <a:pt x="29623" y="5374"/>
                </a:cubicBezTo>
                <a:cubicBezTo>
                  <a:pt x="29615" y="5379"/>
                  <a:pt x="29606" y="5384"/>
                  <a:pt x="29597" y="5387"/>
                </a:cubicBezTo>
                <a:cubicBezTo>
                  <a:pt x="29589" y="5391"/>
                  <a:pt x="29579" y="5394"/>
                  <a:pt x="29570" y="5395"/>
                </a:cubicBezTo>
                <a:cubicBezTo>
                  <a:pt x="29561" y="5397"/>
                  <a:pt x="29551" y="5398"/>
                  <a:pt x="29542" y="5398"/>
                </a:cubicBezTo>
                <a:lnTo>
                  <a:pt x="145" y="5398"/>
                </a:lnTo>
                <a:cubicBezTo>
                  <a:pt x="136" y="5398"/>
                  <a:pt x="126" y="5397"/>
                  <a:pt x="117" y="5395"/>
                </a:cubicBezTo>
                <a:cubicBezTo>
                  <a:pt x="108" y="5394"/>
                  <a:pt x="99" y="5391"/>
                  <a:pt x="90" y="5387"/>
                </a:cubicBezTo>
                <a:cubicBezTo>
                  <a:pt x="81" y="5384"/>
                  <a:pt x="73" y="5379"/>
                  <a:pt x="65" y="5374"/>
                </a:cubicBezTo>
                <a:cubicBezTo>
                  <a:pt x="57" y="5368"/>
                  <a:pt x="49" y="5362"/>
                  <a:pt x="43" y="5356"/>
                </a:cubicBezTo>
                <a:cubicBezTo>
                  <a:pt x="36" y="5349"/>
                  <a:pt x="30" y="5342"/>
                  <a:pt x="24" y="5334"/>
                </a:cubicBezTo>
                <a:cubicBezTo>
                  <a:pt x="19" y="5326"/>
                  <a:pt x="15" y="5317"/>
                  <a:pt x="11" y="5308"/>
                </a:cubicBezTo>
                <a:cubicBezTo>
                  <a:pt x="7" y="5300"/>
                  <a:pt x="5" y="5291"/>
                  <a:pt x="3" y="5281"/>
                </a:cubicBezTo>
                <a:cubicBezTo>
                  <a:pt x="1" y="5272"/>
                  <a:pt x="0" y="5262"/>
                  <a:pt x="0" y="5253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8" name=""/>
          <p:cNvSpPr/>
          <p:nvPr/>
        </p:nvSpPr>
        <p:spPr>
          <a:xfrm>
            <a:off x="757080" y="6738840"/>
            <a:ext cx="10687320" cy="1943280"/>
          </a:xfrm>
          <a:custGeom>
            <a:avLst/>
            <a:gdLst/>
            <a:ahLst/>
            <a:rect l="0" t="0" r="r" b="b"/>
            <a:pathLst>
              <a:path w="29687" h="5398">
                <a:moveTo>
                  <a:pt x="0" y="525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8"/>
                  <a:pt x="11" y="90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2"/>
                </a:cubicBezTo>
                <a:cubicBezTo>
                  <a:pt x="29651" y="49"/>
                  <a:pt x="29657" y="56"/>
                  <a:pt x="29663" y="64"/>
                </a:cubicBezTo>
                <a:cubicBezTo>
                  <a:pt x="29668" y="72"/>
                  <a:pt x="29672" y="81"/>
                  <a:pt x="29676" y="90"/>
                </a:cubicBezTo>
                <a:cubicBezTo>
                  <a:pt x="29680" y="98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5253"/>
                </a:lnTo>
                <a:cubicBezTo>
                  <a:pt x="29687" y="5262"/>
                  <a:pt x="29686" y="5272"/>
                  <a:pt x="29684" y="5281"/>
                </a:cubicBezTo>
                <a:cubicBezTo>
                  <a:pt x="29683" y="5291"/>
                  <a:pt x="29680" y="5300"/>
                  <a:pt x="29676" y="5308"/>
                </a:cubicBezTo>
                <a:cubicBezTo>
                  <a:pt x="29672" y="5317"/>
                  <a:pt x="29668" y="5326"/>
                  <a:pt x="29663" y="5334"/>
                </a:cubicBezTo>
                <a:cubicBezTo>
                  <a:pt x="29657" y="5342"/>
                  <a:pt x="29651" y="5349"/>
                  <a:pt x="29645" y="5356"/>
                </a:cubicBezTo>
                <a:cubicBezTo>
                  <a:pt x="29638" y="5362"/>
                  <a:pt x="29630" y="5368"/>
                  <a:pt x="29623" y="5374"/>
                </a:cubicBezTo>
                <a:cubicBezTo>
                  <a:pt x="29615" y="5379"/>
                  <a:pt x="29606" y="5384"/>
                  <a:pt x="29597" y="5387"/>
                </a:cubicBezTo>
                <a:cubicBezTo>
                  <a:pt x="29589" y="5391"/>
                  <a:pt x="29579" y="5394"/>
                  <a:pt x="29570" y="5395"/>
                </a:cubicBezTo>
                <a:cubicBezTo>
                  <a:pt x="29561" y="5397"/>
                  <a:pt x="29551" y="5398"/>
                  <a:pt x="29542" y="5398"/>
                </a:cubicBezTo>
                <a:lnTo>
                  <a:pt x="145" y="5398"/>
                </a:lnTo>
                <a:cubicBezTo>
                  <a:pt x="136" y="5398"/>
                  <a:pt x="126" y="5397"/>
                  <a:pt x="117" y="5395"/>
                </a:cubicBezTo>
                <a:cubicBezTo>
                  <a:pt x="108" y="5394"/>
                  <a:pt x="99" y="5391"/>
                  <a:pt x="90" y="5387"/>
                </a:cubicBezTo>
                <a:cubicBezTo>
                  <a:pt x="81" y="5384"/>
                  <a:pt x="73" y="5379"/>
                  <a:pt x="65" y="5374"/>
                </a:cubicBezTo>
                <a:cubicBezTo>
                  <a:pt x="57" y="5368"/>
                  <a:pt x="49" y="5362"/>
                  <a:pt x="43" y="5356"/>
                </a:cubicBezTo>
                <a:cubicBezTo>
                  <a:pt x="36" y="5349"/>
                  <a:pt x="30" y="5342"/>
                  <a:pt x="24" y="5334"/>
                </a:cubicBezTo>
                <a:cubicBezTo>
                  <a:pt x="19" y="5326"/>
                  <a:pt x="15" y="5317"/>
                  <a:pt x="11" y="5308"/>
                </a:cubicBezTo>
                <a:cubicBezTo>
                  <a:pt x="7" y="5300"/>
                  <a:pt x="5" y="5291"/>
                  <a:pt x="3" y="5281"/>
                </a:cubicBezTo>
                <a:cubicBezTo>
                  <a:pt x="1" y="5272"/>
                  <a:pt x="0" y="5262"/>
                  <a:pt x="0" y="5253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9" name=""/>
          <p:cNvSpPr txBox="1"/>
          <p:nvPr/>
        </p:nvSpPr>
        <p:spPr>
          <a:xfrm>
            <a:off x="747720" y="770400"/>
            <a:ext cx="443700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MariaDB tuning — Level 2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0" name=""/>
          <p:cNvSpPr txBox="1"/>
          <p:nvPr/>
        </p:nvSpPr>
        <p:spPr>
          <a:xfrm>
            <a:off x="747720" y="1502640"/>
            <a:ext cx="3111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0 baseline config: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1" name=""/>
          <p:cNvSpPr txBox="1"/>
          <p:nvPr/>
        </p:nvSpPr>
        <p:spPr>
          <a:xfrm>
            <a:off x="914400" y="2185560"/>
            <a:ext cx="23950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59636e"/>
                </a:solidFill>
                <a:latin typeface="Courier New"/>
                <a:ea typeface="Courier New"/>
              </a:rPr>
              <a:t># 00-baseline.cnf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2" name=""/>
          <p:cNvSpPr txBox="1"/>
          <p:nvPr/>
        </p:nvSpPr>
        <p:spPr>
          <a:xfrm>
            <a:off x="914400" y="2452320"/>
            <a:ext cx="42238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0550ae"/>
                </a:solidFill>
                <a:latin typeface="Courier New"/>
                <a:ea typeface="Courier New"/>
              </a:rPr>
              <a:t>innodb_buffer_pool_size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= </a:t>
            </a:r>
            <a:r>
              <a:rPr b="0" lang="en-US" sz="1850" spc="-1" strike="noStrike">
                <a:solidFill>
                  <a:srgbClr val="0550ae"/>
                </a:solidFill>
                <a:latin typeface="Courier New"/>
                <a:ea typeface="Courier New"/>
              </a:rPr>
              <a:t>128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M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3" name=""/>
          <p:cNvSpPr txBox="1"/>
          <p:nvPr/>
        </p:nvSpPr>
        <p:spPr>
          <a:xfrm>
            <a:off x="914400" y="2728440"/>
            <a:ext cx="46472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59636e"/>
                </a:solidFill>
                <a:latin typeface="Courier New"/>
                <a:ea typeface="Courier New"/>
              </a:rPr>
              <a:t># (default — fits almost nothing)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4" name=""/>
          <p:cNvSpPr txBox="1"/>
          <p:nvPr/>
        </p:nvSpPr>
        <p:spPr>
          <a:xfrm>
            <a:off x="914400" y="2995200"/>
            <a:ext cx="29574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0550ae"/>
                </a:solidFill>
                <a:latin typeface="Courier New"/>
                <a:ea typeface="Courier New"/>
              </a:rPr>
              <a:t>max_connections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= </a:t>
            </a:r>
            <a:r>
              <a:rPr b="0" lang="en-US" sz="1850" spc="-1" strike="noStrike">
                <a:solidFill>
                  <a:srgbClr val="0550ae"/>
                </a:solidFill>
                <a:latin typeface="Courier New"/>
                <a:ea typeface="Courier New"/>
              </a:rPr>
              <a:t>151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5" name=""/>
          <p:cNvSpPr/>
          <p:nvPr/>
        </p:nvSpPr>
        <p:spPr>
          <a:xfrm>
            <a:off x="1076040" y="43243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5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7"/>
                  <a:pt x="35" y="35"/>
                </a:cubicBezTo>
                <a:cubicBezTo>
                  <a:pt x="46" y="24"/>
                  <a:pt x="59" y="16"/>
                  <a:pt x="74" y="10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10"/>
                </a:cubicBezTo>
                <a:cubicBezTo>
                  <a:pt x="180" y="16"/>
                  <a:pt x="192" y="24"/>
                  <a:pt x="204" y="35"/>
                </a:cubicBezTo>
                <a:cubicBezTo>
                  <a:pt x="215" y="47"/>
                  <a:pt x="223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26" name=""/>
          <p:cNvSpPr txBox="1"/>
          <p:nvPr/>
        </p:nvSpPr>
        <p:spPr>
          <a:xfrm>
            <a:off x="747720" y="3626640"/>
            <a:ext cx="2774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With 128M buffer pool: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7" name=""/>
          <p:cNvSpPr/>
          <p:nvPr/>
        </p:nvSpPr>
        <p:spPr>
          <a:xfrm>
            <a:off x="1076040" y="48099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3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28" name=""/>
          <p:cNvSpPr txBox="1"/>
          <p:nvPr/>
        </p:nvSpPr>
        <p:spPr>
          <a:xfrm>
            <a:off x="1300320" y="4198320"/>
            <a:ext cx="3003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WordPress DB ≈ 500MB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9" name=""/>
          <p:cNvSpPr/>
          <p:nvPr/>
        </p:nvSpPr>
        <p:spPr>
          <a:xfrm>
            <a:off x="1076040" y="52862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4"/>
                </a:cubicBezTo>
                <a:cubicBezTo>
                  <a:pt x="223" y="179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79"/>
                  <a:pt x="9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30" name=""/>
          <p:cNvSpPr txBox="1"/>
          <p:nvPr/>
        </p:nvSpPr>
        <p:spPr>
          <a:xfrm>
            <a:off x="1300320" y="4683960"/>
            <a:ext cx="3710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Every query reads from disk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1" name=""/>
          <p:cNvSpPr/>
          <p:nvPr/>
        </p:nvSpPr>
        <p:spPr>
          <a:xfrm>
            <a:off x="1076040" y="57718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6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6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5"/>
                  <a:pt x="3" y="89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6"/>
                </a:cubicBezTo>
                <a:cubicBezTo>
                  <a:pt x="215" y="47"/>
                  <a:pt x="223" y="60"/>
                  <a:pt x="230" y="75"/>
                </a:cubicBezTo>
                <a:cubicBezTo>
                  <a:pt x="236" y="89"/>
                  <a:pt x="239" y="105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32" name=""/>
          <p:cNvSpPr txBox="1"/>
          <p:nvPr/>
        </p:nvSpPr>
        <p:spPr>
          <a:xfrm>
            <a:off x="1300320" y="5160240"/>
            <a:ext cx="4246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Buffer pool full → constant disk I/O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3" name=""/>
          <p:cNvSpPr txBox="1"/>
          <p:nvPr/>
        </p:nvSpPr>
        <p:spPr>
          <a:xfrm>
            <a:off x="1300320" y="5645880"/>
            <a:ext cx="3021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Slow queries undetected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4" name=""/>
          <p:cNvSpPr txBox="1"/>
          <p:nvPr/>
        </p:nvSpPr>
        <p:spPr>
          <a:xfrm>
            <a:off x="747720" y="6217560"/>
            <a:ext cx="27590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2 tuned config: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6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8" name=""/>
          <p:cNvSpPr/>
          <p:nvPr/>
        </p:nvSpPr>
        <p:spPr>
          <a:xfrm>
            <a:off x="752400" y="1457280"/>
            <a:ext cx="4038840" cy="543240"/>
          </a:xfrm>
          <a:custGeom>
            <a:avLst/>
            <a:gdLst/>
            <a:ahLst/>
            <a:rect l="0" t="0" r="r" b="b"/>
            <a:pathLst>
              <a:path w="11219" h="1509">
                <a:moveTo>
                  <a:pt x="0" y="0"/>
                </a:moveTo>
                <a:lnTo>
                  <a:pt x="11219" y="0"/>
                </a:lnTo>
                <a:lnTo>
                  <a:pt x="1121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9" name=""/>
          <p:cNvSpPr/>
          <p:nvPr/>
        </p:nvSpPr>
        <p:spPr>
          <a:xfrm>
            <a:off x="4790880" y="1457280"/>
            <a:ext cx="1762560" cy="543240"/>
          </a:xfrm>
          <a:custGeom>
            <a:avLst/>
            <a:gdLst/>
            <a:ahLst/>
            <a:rect l="0" t="0" r="r" b="b"/>
            <a:pathLst>
              <a:path w="4896" h="1509">
                <a:moveTo>
                  <a:pt x="0" y="0"/>
                </a:moveTo>
                <a:lnTo>
                  <a:pt x="4896" y="0"/>
                </a:lnTo>
                <a:lnTo>
                  <a:pt x="4896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0" name=""/>
          <p:cNvSpPr/>
          <p:nvPr/>
        </p:nvSpPr>
        <p:spPr>
          <a:xfrm>
            <a:off x="6553080" y="1457280"/>
            <a:ext cx="1638720" cy="543240"/>
          </a:xfrm>
          <a:custGeom>
            <a:avLst/>
            <a:gdLst/>
            <a:ahLst/>
            <a:rect l="0" t="0" r="r" b="b"/>
            <a:pathLst>
              <a:path w="4552" h="1509">
                <a:moveTo>
                  <a:pt x="0" y="0"/>
                </a:moveTo>
                <a:lnTo>
                  <a:pt x="4552" y="0"/>
                </a:lnTo>
                <a:lnTo>
                  <a:pt x="455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1" name=""/>
          <p:cNvSpPr/>
          <p:nvPr/>
        </p:nvSpPr>
        <p:spPr>
          <a:xfrm>
            <a:off x="8191440" y="1457280"/>
            <a:ext cx="3248280" cy="543240"/>
          </a:xfrm>
          <a:custGeom>
            <a:avLst/>
            <a:gdLst/>
            <a:ahLst/>
            <a:rect l="0" t="0" r="r" b="b"/>
            <a:pathLst>
              <a:path w="9023" h="1509">
                <a:moveTo>
                  <a:pt x="0" y="0"/>
                </a:moveTo>
                <a:lnTo>
                  <a:pt x="9023" y="0"/>
                </a:lnTo>
                <a:lnTo>
                  <a:pt x="9023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2" name=""/>
          <p:cNvSpPr/>
          <p:nvPr/>
        </p:nvSpPr>
        <p:spPr>
          <a:xfrm>
            <a:off x="752400" y="2000160"/>
            <a:ext cx="4038840" cy="952920"/>
          </a:xfrm>
          <a:custGeom>
            <a:avLst/>
            <a:gdLst/>
            <a:ahLst/>
            <a:rect l="0" t="0" r="r" b="b"/>
            <a:pathLst>
              <a:path w="11219" h="2647">
                <a:moveTo>
                  <a:pt x="0" y="0"/>
                </a:moveTo>
                <a:lnTo>
                  <a:pt x="11219" y="0"/>
                </a:lnTo>
                <a:lnTo>
                  <a:pt x="11219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3" name=""/>
          <p:cNvSpPr/>
          <p:nvPr/>
        </p:nvSpPr>
        <p:spPr>
          <a:xfrm>
            <a:off x="4790880" y="2000160"/>
            <a:ext cx="1762560" cy="952920"/>
          </a:xfrm>
          <a:custGeom>
            <a:avLst/>
            <a:gdLst/>
            <a:ahLst/>
            <a:rect l="0" t="0" r="r" b="b"/>
            <a:pathLst>
              <a:path w="4896" h="2647">
                <a:moveTo>
                  <a:pt x="0" y="0"/>
                </a:moveTo>
                <a:lnTo>
                  <a:pt x="4896" y="0"/>
                </a:lnTo>
                <a:lnTo>
                  <a:pt x="4896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4" name=""/>
          <p:cNvSpPr/>
          <p:nvPr/>
        </p:nvSpPr>
        <p:spPr>
          <a:xfrm>
            <a:off x="6553080" y="2000160"/>
            <a:ext cx="1638720" cy="952920"/>
          </a:xfrm>
          <a:custGeom>
            <a:avLst/>
            <a:gdLst/>
            <a:ahLst/>
            <a:rect l="0" t="0" r="r" b="b"/>
            <a:pathLst>
              <a:path w="4552" h="2647">
                <a:moveTo>
                  <a:pt x="0" y="0"/>
                </a:moveTo>
                <a:lnTo>
                  <a:pt x="4552" y="0"/>
                </a:lnTo>
                <a:lnTo>
                  <a:pt x="4552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5" name=""/>
          <p:cNvSpPr/>
          <p:nvPr/>
        </p:nvSpPr>
        <p:spPr>
          <a:xfrm>
            <a:off x="8191440" y="2000160"/>
            <a:ext cx="3248280" cy="952920"/>
          </a:xfrm>
          <a:custGeom>
            <a:avLst/>
            <a:gdLst/>
            <a:ahLst/>
            <a:rect l="0" t="0" r="r" b="b"/>
            <a:pathLst>
              <a:path w="9023" h="2647">
                <a:moveTo>
                  <a:pt x="0" y="0"/>
                </a:moveTo>
                <a:lnTo>
                  <a:pt x="9023" y="0"/>
                </a:lnTo>
                <a:lnTo>
                  <a:pt x="902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6" name=""/>
          <p:cNvSpPr/>
          <p:nvPr/>
        </p:nvSpPr>
        <p:spPr>
          <a:xfrm>
            <a:off x="752400" y="2952720"/>
            <a:ext cx="4038840" cy="952560"/>
          </a:xfrm>
          <a:custGeom>
            <a:avLst/>
            <a:gdLst/>
            <a:ahLst/>
            <a:rect l="0" t="0" r="r" b="b"/>
            <a:pathLst>
              <a:path w="11219" h="2646">
                <a:moveTo>
                  <a:pt x="0" y="0"/>
                </a:moveTo>
                <a:lnTo>
                  <a:pt x="11219" y="0"/>
                </a:lnTo>
                <a:lnTo>
                  <a:pt x="11219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7" name=""/>
          <p:cNvSpPr/>
          <p:nvPr/>
        </p:nvSpPr>
        <p:spPr>
          <a:xfrm>
            <a:off x="4790880" y="2952720"/>
            <a:ext cx="1762560" cy="952560"/>
          </a:xfrm>
          <a:custGeom>
            <a:avLst/>
            <a:gdLst/>
            <a:ahLst/>
            <a:rect l="0" t="0" r="r" b="b"/>
            <a:pathLst>
              <a:path w="4896" h="2646">
                <a:moveTo>
                  <a:pt x="0" y="0"/>
                </a:moveTo>
                <a:lnTo>
                  <a:pt x="4896" y="0"/>
                </a:lnTo>
                <a:lnTo>
                  <a:pt x="4896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8" name=""/>
          <p:cNvSpPr/>
          <p:nvPr/>
        </p:nvSpPr>
        <p:spPr>
          <a:xfrm>
            <a:off x="6553080" y="2952720"/>
            <a:ext cx="1638720" cy="952560"/>
          </a:xfrm>
          <a:custGeom>
            <a:avLst/>
            <a:gdLst/>
            <a:ahLst/>
            <a:rect l="0" t="0" r="r" b="b"/>
            <a:pathLst>
              <a:path w="4552" h="2646">
                <a:moveTo>
                  <a:pt x="0" y="0"/>
                </a:moveTo>
                <a:lnTo>
                  <a:pt x="4552" y="0"/>
                </a:lnTo>
                <a:lnTo>
                  <a:pt x="4552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9" name=""/>
          <p:cNvSpPr/>
          <p:nvPr/>
        </p:nvSpPr>
        <p:spPr>
          <a:xfrm>
            <a:off x="8191440" y="2952720"/>
            <a:ext cx="3248280" cy="952560"/>
          </a:xfrm>
          <a:custGeom>
            <a:avLst/>
            <a:gdLst/>
            <a:ahLst/>
            <a:rect l="0" t="0" r="r" b="b"/>
            <a:pathLst>
              <a:path w="9023" h="2646">
                <a:moveTo>
                  <a:pt x="0" y="0"/>
                </a:moveTo>
                <a:lnTo>
                  <a:pt x="9023" y="0"/>
                </a:lnTo>
                <a:lnTo>
                  <a:pt x="9023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0" name=""/>
          <p:cNvSpPr/>
          <p:nvPr/>
        </p:nvSpPr>
        <p:spPr>
          <a:xfrm>
            <a:off x="752400" y="3904920"/>
            <a:ext cx="4038840" cy="533880"/>
          </a:xfrm>
          <a:custGeom>
            <a:avLst/>
            <a:gdLst/>
            <a:ahLst/>
            <a:rect l="0" t="0" r="r" b="b"/>
            <a:pathLst>
              <a:path w="11219" h="1483">
                <a:moveTo>
                  <a:pt x="0" y="0"/>
                </a:moveTo>
                <a:lnTo>
                  <a:pt x="11219" y="0"/>
                </a:lnTo>
                <a:lnTo>
                  <a:pt x="1121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1" name=""/>
          <p:cNvSpPr/>
          <p:nvPr/>
        </p:nvSpPr>
        <p:spPr>
          <a:xfrm>
            <a:off x="4790880" y="3904920"/>
            <a:ext cx="1762560" cy="533880"/>
          </a:xfrm>
          <a:custGeom>
            <a:avLst/>
            <a:gdLst/>
            <a:ahLst/>
            <a:rect l="0" t="0" r="r" b="b"/>
            <a:pathLst>
              <a:path w="4896" h="1483">
                <a:moveTo>
                  <a:pt x="0" y="0"/>
                </a:moveTo>
                <a:lnTo>
                  <a:pt x="4896" y="0"/>
                </a:lnTo>
                <a:lnTo>
                  <a:pt x="4896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2" name=""/>
          <p:cNvSpPr/>
          <p:nvPr/>
        </p:nvSpPr>
        <p:spPr>
          <a:xfrm>
            <a:off x="6553080" y="3904920"/>
            <a:ext cx="1638720" cy="533880"/>
          </a:xfrm>
          <a:custGeom>
            <a:avLst/>
            <a:gdLst/>
            <a:ahLst/>
            <a:rect l="0" t="0" r="r" b="b"/>
            <a:pathLst>
              <a:path w="4552" h="1483">
                <a:moveTo>
                  <a:pt x="0" y="0"/>
                </a:moveTo>
                <a:lnTo>
                  <a:pt x="4552" y="0"/>
                </a:lnTo>
                <a:lnTo>
                  <a:pt x="4552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3" name=""/>
          <p:cNvSpPr/>
          <p:nvPr/>
        </p:nvSpPr>
        <p:spPr>
          <a:xfrm>
            <a:off x="8191440" y="3904920"/>
            <a:ext cx="3248280" cy="533880"/>
          </a:xfrm>
          <a:custGeom>
            <a:avLst/>
            <a:gdLst/>
            <a:ahLst/>
            <a:rect l="0" t="0" r="r" b="b"/>
            <a:pathLst>
              <a:path w="9023" h="1483">
                <a:moveTo>
                  <a:pt x="0" y="0"/>
                </a:moveTo>
                <a:lnTo>
                  <a:pt x="9023" y="0"/>
                </a:lnTo>
                <a:lnTo>
                  <a:pt x="9023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4" name=""/>
          <p:cNvSpPr/>
          <p:nvPr/>
        </p:nvSpPr>
        <p:spPr>
          <a:xfrm>
            <a:off x="752400" y="4438440"/>
            <a:ext cx="4038840" cy="952920"/>
          </a:xfrm>
          <a:custGeom>
            <a:avLst/>
            <a:gdLst/>
            <a:ahLst/>
            <a:rect l="0" t="0" r="r" b="b"/>
            <a:pathLst>
              <a:path w="11219" h="2647">
                <a:moveTo>
                  <a:pt x="0" y="0"/>
                </a:moveTo>
                <a:lnTo>
                  <a:pt x="11219" y="0"/>
                </a:lnTo>
                <a:lnTo>
                  <a:pt x="11219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5" name=""/>
          <p:cNvSpPr/>
          <p:nvPr/>
        </p:nvSpPr>
        <p:spPr>
          <a:xfrm>
            <a:off x="4790880" y="4438440"/>
            <a:ext cx="1762560" cy="952920"/>
          </a:xfrm>
          <a:custGeom>
            <a:avLst/>
            <a:gdLst/>
            <a:ahLst/>
            <a:rect l="0" t="0" r="r" b="b"/>
            <a:pathLst>
              <a:path w="4896" h="2647">
                <a:moveTo>
                  <a:pt x="0" y="0"/>
                </a:moveTo>
                <a:lnTo>
                  <a:pt x="4896" y="0"/>
                </a:lnTo>
                <a:lnTo>
                  <a:pt x="4896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6" name=""/>
          <p:cNvSpPr/>
          <p:nvPr/>
        </p:nvSpPr>
        <p:spPr>
          <a:xfrm>
            <a:off x="6553080" y="4438440"/>
            <a:ext cx="1638720" cy="952920"/>
          </a:xfrm>
          <a:custGeom>
            <a:avLst/>
            <a:gdLst/>
            <a:ahLst/>
            <a:rect l="0" t="0" r="r" b="b"/>
            <a:pathLst>
              <a:path w="4552" h="2647">
                <a:moveTo>
                  <a:pt x="0" y="0"/>
                </a:moveTo>
                <a:lnTo>
                  <a:pt x="4552" y="0"/>
                </a:lnTo>
                <a:lnTo>
                  <a:pt x="4552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7" name=""/>
          <p:cNvSpPr/>
          <p:nvPr/>
        </p:nvSpPr>
        <p:spPr>
          <a:xfrm>
            <a:off x="8191440" y="4438440"/>
            <a:ext cx="3248280" cy="952920"/>
          </a:xfrm>
          <a:custGeom>
            <a:avLst/>
            <a:gdLst/>
            <a:ahLst/>
            <a:rect l="0" t="0" r="r" b="b"/>
            <a:pathLst>
              <a:path w="9023" h="2647">
                <a:moveTo>
                  <a:pt x="0" y="0"/>
                </a:moveTo>
                <a:lnTo>
                  <a:pt x="9023" y="0"/>
                </a:lnTo>
                <a:lnTo>
                  <a:pt x="902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8" name=""/>
          <p:cNvSpPr/>
          <p:nvPr/>
        </p:nvSpPr>
        <p:spPr>
          <a:xfrm>
            <a:off x="752400" y="5391000"/>
            <a:ext cx="4038840" cy="543240"/>
          </a:xfrm>
          <a:custGeom>
            <a:avLst/>
            <a:gdLst/>
            <a:ahLst/>
            <a:rect l="0" t="0" r="r" b="b"/>
            <a:pathLst>
              <a:path w="11219" h="1509">
                <a:moveTo>
                  <a:pt x="0" y="0"/>
                </a:moveTo>
                <a:lnTo>
                  <a:pt x="11219" y="0"/>
                </a:lnTo>
                <a:lnTo>
                  <a:pt x="1121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9" name=""/>
          <p:cNvSpPr/>
          <p:nvPr/>
        </p:nvSpPr>
        <p:spPr>
          <a:xfrm>
            <a:off x="4790880" y="5391000"/>
            <a:ext cx="1762560" cy="543240"/>
          </a:xfrm>
          <a:custGeom>
            <a:avLst/>
            <a:gdLst/>
            <a:ahLst/>
            <a:rect l="0" t="0" r="r" b="b"/>
            <a:pathLst>
              <a:path w="4896" h="1509">
                <a:moveTo>
                  <a:pt x="0" y="0"/>
                </a:moveTo>
                <a:lnTo>
                  <a:pt x="4896" y="0"/>
                </a:lnTo>
                <a:lnTo>
                  <a:pt x="4896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0" name=""/>
          <p:cNvSpPr/>
          <p:nvPr/>
        </p:nvSpPr>
        <p:spPr>
          <a:xfrm>
            <a:off x="6553080" y="5391000"/>
            <a:ext cx="1638720" cy="543240"/>
          </a:xfrm>
          <a:custGeom>
            <a:avLst/>
            <a:gdLst/>
            <a:ahLst/>
            <a:rect l="0" t="0" r="r" b="b"/>
            <a:pathLst>
              <a:path w="4552" h="1509">
                <a:moveTo>
                  <a:pt x="0" y="0"/>
                </a:moveTo>
                <a:lnTo>
                  <a:pt x="4552" y="0"/>
                </a:lnTo>
                <a:lnTo>
                  <a:pt x="455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1" name=""/>
          <p:cNvSpPr/>
          <p:nvPr/>
        </p:nvSpPr>
        <p:spPr>
          <a:xfrm>
            <a:off x="8191440" y="5391000"/>
            <a:ext cx="3248280" cy="543240"/>
          </a:xfrm>
          <a:custGeom>
            <a:avLst/>
            <a:gdLst/>
            <a:ahLst/>
            <a:rect l="0" t="0" r="r" b="b"/>
            <a:pathLst>
              <a:path w="9023" h="1509">
                <a:moveTo>
                  <a:pt x="0" y="0"/>
                </a:moveTo>
                <a:lnTo>
                  <a:pt x="9023" y="0"/>
                </a:lnTo>
                <a:lnTo>
                  <a:pt x="9023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2" name=""/>
          <p:cNvSpPr/>
          <p:nvPr/>
        </p:nvSpPr>
        <p:spPr>
          <a:xfrm>
            <a:off x="752400" y="5933880"/>
            <a:ext cx="4038840" cy="533880"/>
          </a:xfrm>
          <a:custGeom>
            <a:avLst/>
            <a:gdLst/>
            <a:ahLst/>
            <a:rect l="0" t="0" r="r" b="b"/>
            <a:pathLst>
              <a:path w="11219" h="1483">
                <a:moveTo>
                  <a:pt x="0" y="0"/>
                </a:moveTo>
                <a:lnTo>
                  <a:pt x="11219" y="0"/>
                </a:lnTo>
                <a:lnTo>
                  <a:pt x="1121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3" name=""/>
          <p:cNvSpPr/>
          <p:nvPr/>
        </p:nvSpPr>
        <p:spPr>
          <a:xfrm>
            <a:off x="4790880" y="5933880"/>
            <a:ext cx="1762560" cy="533880"/>
          </a:xfrm>
          <a:custGeom>
            <a:avLst/>
            <a:gdLst/>
            <a:ahLst/>
            <a:rect l="0" t="0" r="r" b="b"/>
            <a:pathLst>
              <a:path w="4896" h="1483">
                <a:moveTo>
                  <a:pt x="0" y="0"/>
                </a:moveTo>
                <a:lnTo>
                  <a:pt x="4896" y="0"/>
                </a:lnTo>
                <a:lnTo>
                  <a:pt x="4896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4" name=""/>
          <p:cNvSpPr/>
          <p:nvPr/>
        </p:nvSpPr>
        <p:spPr>
          <a:xfrm>
            <a:off x="6553080" y="5933880"/>
            <a:ext cx="1638720" cy="533880"/>
          </a:xfrm>
          <a:custGeom>
            <a:avLst/>
            <a:gdLst/>
            <a:ahLst/>
            <a:rect l="0" t="0" r="r" b="b"/>
            <a:pathLst>
              <a:path w="4552" h="1483">
                <a:moveTo>
                  <a:pt x="0" y="0"/>
                </a:moveTo>
                <a:lnTo>
                  <a:pt x="4552" y="0"/>
                </a:lnTo>
                <a:lnTo>
                  <a:pt x="4552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5" name=""/>
          <p:cNvSpPr/>
          <p:nvPr/>
        </p:nvSpPr>
        <p:spPr>
          <a:xfrm>
            <a:off x="8191440" y="5933880"/>
            <a:ext cx="3248280" cy="533880"/>
          </a:xfrm>
          <a:custGeom>
            <a:avLst/>
            <a:gdLst/>
            <a:ahLst/>
            <a:rect l="0" t="0" r="r" b="b"/>
            <a:pathLst>
              <a:path w="9023" h="1483">
                <a:moveTo>
                  <a:pt x="0" y="0"/>
                </a:moveTo>
                <a:lnTo>
                  <a:pt x="9023" y="0"/>
                </a:lnTo>
                <a:lnTo>
                  <a:pt x="9023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6" name=""/>
          <p:cNvSpPr/>
          <p:nvPr/>
        </p:nvSpPr>
        <p:spPr>
          <a:xfrm>
            <a:off x="752400" y="6467400"/>
            <a:ext cx="4038840" cy="952920"/>
          </a:xfrm>
          <a:custGeom>
            <a:avLst/>
            <a:gdLst/>
            <a:ahLst/>
            <a:rect l="0" t="0" r="r" b="b"/>
            <a:pathLst>
              <a:path w="11219" h="2647">
                <a:moveTo>
                  <a:pt x="0" y="0"/>
                </a:moveTo>
                <a:lnTo>
                  <a:pt x="11219" y="0"/>
                </a:lnTo>
                <a:lnTo>
                  <a:pt x="11219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7" name=""/>
          <p:cNvSpPr/>
          <p:nvPr/>
        </p:nvSpPr>
        <p:spPr>
          <a:xfrm>
            <a:off x="4790880" y="6467400"/>
            <a:ext cx="1762560" cy="952920"/>
          </a:xfrm>
          <a:custGeom>
            <a:avLst/>
            <a:gdLst/>
            <a:ahLst/>
            <a:rect l="0" t="0" r="r" b="b"/>
            <a:pathLst>
              <a:path w="4896" h="2647">
                <a:moveTo>
                  <a:pt x="0" y="0"/>
                </a:moveTo>
                <a:lnTo>
                  <a:pt x="4896" y="0"/>
                </a:lnTo>
                <a:lnTo>
                  <a:pt x="4896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8" name=""/>
          <p:cNvSpPr/>
          <p:nvPr/>
        </p:nvSpPr>
        <p:spPr>
          <a:xfrm>
            <a:off x="6553080" y="6467400"/>
            <a:ext cx="1638720" cy="952920"/>
          </a:xfrm>
          <a:custGeom>
            <a:avLst/>
            <a:gdLst/>
            <a:ahLst/>
            <a:rect l="0" t="0" r="r" b="b"/>
            <a:pathLst>
              <a:path w="4552" h="2647">
                <a:moveTo>
                  <a:pt x="0" y="0"/>
                </a:moveTo>
                <a:lnTo>
                  <a:pt x="4552" y="0"/>
                </a:lnTo>
                <a:lnTo>
                  <a:pt x="4552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9" name=""/>
          <p:cNvSpPr/>
          <p:nvPr/>
        </p:nvSpPr>
        <p:spPr>
          <a:xfrm>
            <a:off x="8191440" y="6467400"/>
            <a:ext cx="3248280" cy="952920"/>
          </a:xfrm>
          <a:custGeom>
            <a:avLst/>
            <a:gdLst/>
            <a:ahLst/>
            <a:rect l="0" t="0" r="r" b="b"/>
            <a:pathLst>
              <a:path w="9023" h="2647">
                <a:moveTo>
                  <a:pt x="0" y="0"/>
                </a:moveTo>
                <a:lnTo>
                  <a:pt x="9023" y="0"/>
                </a:lnTo>
                <a:lnTo>
                  <a:pt x="902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0" name=""/>
          <p:cNvSpPr/>
          <p:nvPr/>
        </p:nvSpPr>
        <p:spPr>
          <a:xfrm>
            <a:off x="75240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1" name=""/>
          <p:cNvSpPr/>
          <p:nvPr/>
        </p:nvSpPr>
        <p:spPr>
          <a:xfrm>
            <a:off x="752400" y="1457280"/>
            <a:ext cx="4048200" cy="9720"/>
          </a:xfrm>
          <a:custGeom>
            <a:avLst/>
            <a:gdLst/>
            <a:ahLst/>
            <a:rect l="0" t="0" r="r" b="b"/>
            <a:pathLst>
              <a:path w="11245" h="27">
                <a:moveTo>
                  <a:pt x="0" y="0"/>
                </a:moveTo>
                <a:lnTo>
                  <a:pt x="11245" y="0"/>
                </a:lnTo>
                <a:lnTo>
                  <a:pt x="1124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2" name=""/>
          <p:cNvSpPr/>
          <p:nvPr/>
        </p:nvSpPr>
        <p:spPr>
          <a:xfrm>
            <a:off x="479088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3" name=""/>
          <p:cNvSpPr/>
          <p:nvPr/>
        </p:nvSpPr>
        <p:spPr>
          <a:xfrm>
            <a:off x="4800240" y="1457280"/>
            <a:ext cx="1753200" cy="9720"/>
          </a:xfrm>
          <a:custGeom>
            <a:avLst/>
            <a:gdLst/>
            <a:ahLst/>
            <a:rect l="0" t="0" r="r" b="b"/>
            <a:pathLst>
              <a:path w="4870" h="27">
                <a:moveTo>
                  <a:pt x="0" y="0"/>
                </a:moveTo>
                <a:lnTo>
                  <a:pt x="4870" y="0"/>
                </a:lnTo>
                <a:lnTo>
                  <a:pt x="487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4" name=""/>
          <p:cNvSpPr/>
          <p:nvPr/>
        </p:nvSpPr>
        <p:spPr>
          <a:xfrm>
            <a:off x="654336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5" name=""/>
          <p:cNvSpPr/>
          <p:nvPr/>
        </p:nvSpPr>
        <p:spPr>
          <a:xfrm>
            <a:off x="6553080" y="1457280"/>
            <a:ext cx="1638720" cy="9720"/>
          </a:xfrm>
          <a:custGeom>
            <a:avLst/>
            <a:gdLst/>
            <a:ahLst/>
            <a:rect l="0" t="0" r="r" b="b"/>
            <a:pathLst>
              <a:path w="4552" h="27">
                <a:moveTo>
                  <a:pt x="0" y="0"/>
                </a:moveTo>
                <a:lnTo>
                  <a:pt x="4552" y="0"/>
                </a:lnTo>
                <a:lnTo>
                  <a:pt x="455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6" name=""/>
          <p:cNvSpPr/>
          <p:nvPr/>
        </p:nvSpPr>
        <p:spPr>
          <a:xfrm>
            <a:off x="818172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7" name=""/>
          <p:cNvSpPr/>
          <p:nvPr/>
        </p:nvSpPr>
        <p:spPr>
          <a:xfrm>
            <a:off x="8191440" y="1457280"/>
            <a:ext cx="3257640" cy="9720"/>
          </a:xfrm>
          <a:custGeom>
            <a:avLst/>
            <a:gdLst/>
            <a:ahLst/>
            <a:rect l="0" t="0" r="r" b="b"/>
            <a:pathLst>
              <a:path w="9049" h="27">
                <a:moveTo>
                  <a:pt x="0" y="0"/>
                </a:moveTo>
                <a:lnTo>
                  <a:pt x="9049" y="0"/>
                </a:lnTo>
                <a:lnTo>
                  <a:pt x="904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8" name=""/>
          <p:cNvSpPr/>
          <p:nvPr/>
        </p:nvSpPr>
        <p:spPr>
          <a:xfrm>
            <a:off x="1143936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9" name=""/>
          <p:cNvSpPr/>
          <p:nvPr/>
        </p:nvSpPr>
        <p:spPr>
          <a:xfrm>
            <a:off x="752400" y="1990440"/>
            <a:ext cx="4048200" cy="10080"/>
          </a:xfrm>
          <a:custGeom>
            <a:avLst/>
            <a:gdLst/>
            <a:ahLst/>
            <a:rect l="0" t="0" r="r" b="b"/>
            <a:pathLst>
              <a:path w="11245" h="28">
                <a:moveTo>
                  <a:pt x="0" y="0"/>
                </a:moveTo>
                <a:lnTo>
                  <a:pt x="11245" y="0"/>
                </a:lnTo>
                <a:lnTo>
                  <a:pt x="1124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0" name=""/>
          <p:cNvSpPr/>
          <p:nvPr/>
        </p:nvSpPr>
        <p:spPr>
          <a:xfrm>
            <a:off x="4800240" y="1990440"/>
            <a:ext cx="1753200" cy="10080"/>
          </a:xfrm>
          <a:custGeom>
            <a:avLst/>
            <a:gdLst/>
            <a:ahLst/>
            <a:rect l="0" t="0" r="r" b="b"/>
            <a:pathLst>
              <a:path w="4870" h="28">
                <a:moveTo>
                  <a:pt x="0" y="0"/>
                </a:moveTo>
                <a:lnTo>
                  <a:pt x="4870" y="0"/>
                </a:lnTo>
                <a:lnTo>
                  <a:pt x="487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1" name=""/>
          <p:cNvSpPr/>
          <p:nvPr/>
        </p:nvSpPr>
        <p:spPr>
          <a:xfrm>
            <a:off x="6553080" y="1990440"/>
            <a:ext cx="1638720" cy="10080"/>
          </a:xfrm>
          <a:custGeom>
            <a:avLst/>
            <a:gdLst/>
            <a:ahLst/>
            <a:rect l="0" t="0" r="r" b="b"/>
            <a:pathLst>
              <a:path w="4552" h="28">
                <a:moveTo>
                  <a:pt x="0" y="0"/>
                </a:moveTo>
                <a:lnTo>
                  <a:pt x="4552" y="0"/>
                </a:lnTo>
                <a:lnTo>
                  <a:pt x="455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2" name=""/>
          <p:cNvSpPr/>
          <p:nvPr/>
        </p:nvSpPr>
        <p:spPr>
          <a:xfrm>
            <a:off x="8191440" y="1990440"/>
            <a:ext cx="3257640" cy="10080"/>
          </a:xfrm>
          <a:custGeom>
            <a:avLst/>
            <a:gdLst/>
            <a:ahLst/>
            <a:rect l="0" t="0" r="r" b="b"/>
            <a:pathLst>
              <a:path w="9049" h="28">
                <a:moveTo>
                  <a:pt x="0" y="0"/>
                </a:moveTo>
                <a:lnTo>
                  <a:pt x="9049" y="0"/>
                </a:lnTo>
                <a:lnTo>
                  <a:pt x="90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3" name=""/>
          <p:cNvSpPr/>
          <p:nvPr/>
        </p:nvSpPr>
        <p:spPr>
          <a:xfrm>
            <a:off x="752400" y="20001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4" name=""/>
          <p:cNvSpPr/>
          <p:nvPr/>
        </p:nvSpPr>
        <p:spPr>
          <a:xfrm>
            <a:off x="4790880" y="20001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5" name=""/>
          <p:cNvSpPr/>
          <p:nvPr/>
        </p:nvSpPr>
        <p:spPr>
          <a:xfrm>
            <a:off x="6543360" y="200016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6" name=""/>
          <p:cNvSpPr/>
          <p:nvPr/>
        </p:nvSpPr>
        <p:spPr>
          <a:xfrm>
            <a:off x="8181720" y="200016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7" name=""/>
          <p:cNvSpPr/>
          <p:nvPr/>
        </p:nvSpPr>
        <p:spPr>
          <a:xfrm>
            <a:off x="11439360" y="20001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8" name=""/>
          <p:cNvSpPr/>
          <p:nvPr/>
        </p:nvSpPr>
        <p:spPr>
          <a:xfrm>
            <a:off x="752400" y="295272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9" name=""/>
          <p:cNvSpPr/>
          <p:nvPr/>
        </p:nvSpPr>
        <p:spPr>
          <a:xfrm>
            <a:off x="752400" y="2943000"/>
            <a:ext cx="4048200" cy="10080"/>
          </a:xfrm>
          <a:custGeom>
            <a:avLst/>
            <a:gdLst/>
            <a:ahLst/>
            <a:rect l="0" t="0" r="r" b="b"/>
            <a:pathLst>
              <a:path w="11245" h="28">
                <a:moveTo>
                  <a:pt x="0" y="0"/>
                </a:moveTo>
                <a:lnTo>
                  <a:pt x="11245" y="0"/>
                </a:lnTo>
                <a:lnTo>
                  <a:pt x="1124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0" name=""/>
          <p:cNvSpPr/>
          <p:nvPr/>
        </p:nvSpPr>
        <p:spPr>
          <a:xfrm>
            <a:off x="4790880" y="295272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1" name=""/>
          <p:cNvSpPr/>
          <p:nvPr/>
        </p:nvSpPr>
        <p:spPr>
          <a:xfrm>
            <a:off x="4800240" y="2943000"/>
            <a:ext cx="1753200" cy="10080"/>
          </a:xfrm>
          <a:custGeom>
            <a:avLst/>
            <a:gdLst/>
            <a:ahLst/>
            <a:rect l="0" t="0" r="r" b="b"/>
            <a:pathLst>
              <a:path w="4870" h="28">
                <a:moveTo>
                  <a:pt x="0" y="0"/>
                </a:moveTo>
                <a:lnTo>
                  <a:pt x="4870" y="0"/>
                </a:lnTo>
                <a:lnTo>
                  <a:pt x="487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2" name=""/>
          <p:cNvSpPr/>
          <p:nvPr/>
        </p:nvSpPr>
        <p:spPr>
          <a:xfrm>
            <a:off x="6543360" y="2952720"/>
            <a:ext cx="10080" cy="952560"/>
          </a:xfrm>
          <a:custGeom>
            <a:avLst/>
            <a:gdLst/>
            <a:ahLst/>
            <a:rect l="0" t="0" r="r" b="b"/>
            <a:pathLst>
              <a:path w="28" h="2646">
                <a:moveTo>
                  <a:pt x="0" y="0"/>
                </a:moveTo>
                <a:lnTo>
                  <a:pt x="28" y="0"/>
                </a:lnTo>
                <a:lnTo>
                  <a:pt x="28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3" name=""/>
          <p:cNvSpPr/>
          <p:nvPr/>
        </p:nvSpPr>
        <p:spPr>
          <a:xfrm>
            <a:off x="6553080" y="2943000"/>
            <a:ext cx="1638720" cy="10080"/>
          </a:xfrm>
          <a:custGeom>
            <a:avLst/>
            <a:gdLst/>
            <a:ahLst/>
            <a:rect l="0" t="0" r="r" b="b"/>
            <a:pathLst>
              <a:path w="4552" h="28">
                <a:moveTo>
                  <a:pt x="0" y="0"/>
                </a:moveTo>
                <a:lnTo>
                  <a:pt x="4552" y="0"/>
                </a:lnTo>
                <a:lnTo>
                  <a:pt x="455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4" name=""/>
          <p:cNvSpPr/>
          <p:nvPr/>
        </p:nvSpPr>
        <p:spPr>
          <a:xfrm>
            <a:off x="8181720" y="2952720"/>
            <a:ext cx="10080" cy="952560"/>
          </a:xfrm>
          <a:custGeom>
            <a:avLst/>
            <a:gdLst/>
            <a:ahLst/>
            <a:rect l="0" t="0" r="r" b="b"/>
            <a:pathLst>
              <a:path w="28" h="2646">
                <a:moveTo>
                  <a:pt x="0" y="0"/>
                </a:moveTo>
                <a:lnTo>
                  <a:pt x="28" y="0"/>
                </a:lnTo>
                <a:lnTo>
                  <a:pt x="28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5" name=""/>
          <p:cNvSpPr/>
          <p:nvPr/>
        </p:nvSpPr>
        <p:spPr>
          <a:xfrm>
            <a:off x="8191440" y="2943000"/>
            <a:ext cx="3257640" cy="10080"/>
          </a:xfrm>
          <a:custGeom>
            <a:avLst/>
            <a:gdLst/>
            <a:ahLst/>
            <a:rect l="0" t="0" r="r" b="b"/>
            <a:pathLst>
              <a:path w="9049" h="28">
                <a:moveTo>
                  <a:pt x="0" y="0"/>
                </a:moveTo>
                <a:lnTo>
                  <a:pt x="9049" y="0"/>
                </a:lnTo>
                <a:lnTo>
                  <a:pt x="90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6" name=""/>
          <p:cNvSpPr/>
          <p:nvPr/>
        </p:nvSpPr>
        <p:spPr>
          <a:xfrm>
            <a:off x="11439360" y="295272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7" name=""/>
          <p:cNvSpPr/>
          <p:nvPr/>
        </p:nvSpPr>
        <p:spPr>
          <a:xfrm>
            <a:off x="752400" y="3904920"/>
            <a:ext cx="9720" cy="543600"/>
          </a:xfrm>
          <a:custGeom>
            <a:avLst/>
            <a:gdLst/>
            <a:ahLst/>
            <a:rect l="0" t="0" r="r" b="b"/>
            <a:pathLst>
              <a:path w="27" h="1510">
                <a:moveTo>
                  <a:pt x="0" y="0"/>
                </a:moveTo>
                <a:lnTo>
                  <a:pt x="27" y="0"/>
                </a:lnTo>
                <a:lnTo>
                  <a:pt x="27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8" name=""/>
          <p:cNvSpPr/>
          <p:nvPr/>
        </p:nvSpPr>
        <p:spPr>
          <a:xfrm>
            <a:off x="752400" y="3895560"/>
            <a:ext cx="4048200" cy="9720"/>
          </a:xfrm>
          <a:custGeom>
            <a:avLst/>
            <a:gdLst/>
            <a:ahLst/>
            <a:rect l="0" t="0" r="r" b="b"/>
            <a:pathLst>
              <a:path w="11245" h="27">
                <a:moveTo>
                  <a:pt x="0" y="0"/>
                </a:moveTo>
                <a:lnTo>
                  <a:pt x="11245" y="0"/>
                </a:lnTo>
                <a:lnTo>
                  <a:pt x="1124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9" name=""/>
          <p:cNvSpPr/>
          <p:nvPr/>
        </p:nvSpPr>
        <p:spPr>
          <a:xfrm>
            <a:off x="4790880" y="3904920"/>
            <a:ext cx="9720" cy="543600"/>
          </a:xfrm>
          <a:custGeom>
            <a:avLst/>
            <a:gdLst/>
            <a:ahLst/>
            <a:rect l="0" t="0" r="r" b="b"/>
            <a:pathLst>
              <a:path w="27" h="1510">
                <a:moveTo>
                  <a:pt x="0" y="0"/>
                </a:moveTo>
                <a:lnTo>
                  <a:pt x="27" y="0"/>
                </a:lnTo>
                <a:lnTo>
                  <a:pt x="27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0" name=""/>
          <p:cNvSpPr/>
          <p:nvPr/>
        </p:nvSpPr>
        <p:spPr>
          <a:xfrm>
            <a:off x="4800240" y="3895560"/>
            <a:ext cx="1753200" cy="9720"/>
          </a:xfrm>
          <a:custGeom>
            <a:avLst/>
            <a:gdLst/>
            <a:ahLst/>
            <a:rect l="0" t="0" r="r" b="b"/>
            <a:pathLst>
              <a:path w="4870" h="27">
                <a:moveTo>
                  <a:pt x="0" y="0"/>
                </a:moveTo>
                <a:lnTo>
                  <a:pt x="4870" y="0"/>
                </a:lnTo>
                <a:lnTo>
                  <a:pt x="487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1" name=""/>
          <p:cNvSpPr/>
          <p:nvPr/>
        </p:nvSpPr>
        <p:spPr>
          <a:xfrm>
            <a:off x="6543360" y="3904920"/>
            <a:ext cx="10080" cy="543600"/>
          </a:xfrm>
          <a:custGeom>
            <a:avLst/>
            <a:gdLst/>
            <a:ahLst/>
            <a:rect l="0" t="0" r="r" b="b"/>
            <a:pathLst>
              <a:path w="28" h="1510">
                <a:moveTo>
                  <a:pt x="0" y="0"/>
                </a:moveTo>
                <a:lnTo>
                  <a:pt x="28" y="0"/>
                </a:lnTo>
                <a:lnTo>
                  <a:pt x="28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2" name=""/>
          <p:cNvSpPr/>
          <p:nvPr/>
        </p:nvSpPr>
        <p:spPr>
          <a:xfrm>
            <a:off x="6553080" y="3895560"/>
            <a:ext cx="1638720" cy="9720"/>
          </a:xfrm>
          <a:custGeom>
            <a:avLst/>
            <a:gdLst/>
            <a:ahLst/>
            <a:rect l="0" t="0" r="r" b="b"/>
            <a:pathLst>
              <a:path w="4552" h="27">
                <a:moveTo>
                  <a:pt x="0" y="0"/>
                </a:moveTo>
                <a:lnTo>
                  <a:pt x="4552" y="0"/>
                </a:lnTo>
                <a:lnTo>
                  <a:pt x="455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3" name=""/>
          <p:cNvSpPr/>
          <p:nvPr/>
        </p:nvSpPr>
        <p:spPr>
          <a:xfrm>
            <a:off x="8181720" y="3904920"/>
            <a:ext cx="10080" cy="543600"/>
          </a:xfrm>
          <a:custGeom>
            <a:avLst/>
            <a:gdLst/>
            <a:ahLst/>
            <a:rect l="0" t="0" r="r" b="b"/>
            <a:pathLst>
              <a:path w="28" h="1510">
                <a:moveTo>
                  <a:pt x="0" y="0"/>
                </a:moveTo>
                <a:lnTo>
                  <a:pt x="28" y="0"/>
                </a:lnTo>
                <a:lnTo>
                  <a:pt x="28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4" name=""/>
          <p:cNvSpPr/>
          <p:nvPr/>
        </p:nvSpPr>
        <p:spPr>
          <a:xfrm>
            <a:off x="8191440" y="3895560"/>
            <a:ext cx="3257640" cy="9720"/>
          </a:xfrm>
          <a:custGeom>
            <a:avLst/>
            <a:gdLst/>
            <a:ahLst/>
            <a:rect l="0" t="0" r="r" b="b"/>
            <a:pathLst>
              <a:path w="9049" h="27">
                <a:moveTo>
                  <a:pt x="0" y="0"/>
                </a:moveTo>
                <a:lnTo>
                  <a:pt x="9049" y="0"/>
                </a:lnTo>
                <a:lnTo>
                  <a:pt x="904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5" name=""/>
          <p:cNvSpPr/>
          <p:nvPr/>
        </p:nvSpPr>
        <p:spPr>
          <a:xfrm>
            <a:off x="11439360" y="3904920"/>
            <a:ext cx="9720" cy="543600"/>
          </a:xfrm>
          <a:custGeom>
            <a:avLst/>
            <a:gdLst/>
            <a:ahLst/>
            <a:rect l="0" t="0" r="r" b="b"/>
            <a:pathLst>
              <a:path w="27" h="1510">
                <a:moveTo>
                  <a:pt x="0" y="0"/>
                </a:moveTo>
                <a:lnTo>
                  <a:pt x="27" y="0"/>
                </a:lnTo>
                <a:lnTo>
                  <a:pt x="27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6" name=""/>
          <p:cNvSpPr/>
          <p:nvPr/>
        </p:nvSpPr>
        <p:spPr>
          <a:xfrm>
            <a:off x="752400" y="444816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7" name=""/>
          <p:cNvSpPr/>
          <p:nvPr/>
        </p:nvSpPr>
        <p:spPr>
          <a:xfrm>
            <a:off x="752400" y="4438440"/>
            <a:ext cx="4048200" cy="10080"/>
          </a:xfrm>
          <a:custGeom>
            <a:avLst/>
            <a:gdLst/>
            <a:ahLst/>
            <a:rect l="0" t="0" r="r" b="b"/>
            <a:pathLst>
              <a:path w="11245" h="28">
                <a:moveTo>
                  <a:pt x="0" y="0"/>
                </a:moveTo>
                <a:lnTo>
                  <a:pt x="11245" y="0"/>
                </a:lnTo>
                <a:lnTo>
                  <a:pt x="1124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8" name=""/>
          <p:cNvSpPr/>
          <p:nvPr/>
        </p:nvSpPr>
        <p:spPr>
          <a:xfrm>
            <a:off x="4790880" y="444816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9" name=""/>
          <p:cNvSpPr/>
          <p:nvPr/>
        </p:nvSpPr>
        <p:spPr>
          <a:xfrm>
            <a:off x="4800240" y="4438440"/>
            <a:ext cx="1753200" cy="10080"/>
          </a:xfrm>
          <a:custGeom>
            <a:avLst/>
            <a:gdLst/>
            <a:ahLst/>
            <a:rect l="0" t="0" r="r" b="b"/>
            <a:pathLst>
              <a:path w="4870" h="28">
                <a:moveTo>
                  <a:pt x="0" y="0"/>
                </a:moveTo>
                <a:lnTo>
                  <a:pt x="4870" y="0"/>
                </a:lnTo>
                <a:lnTo>
                  <a:pt x="487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0" name=""/>
          <p:cNvSpPr/>
          <p:nvPr/>
        </p:nvSpPr>
        <p:spPr>
          <a:xfrm>
            <a:off x="6543360" y="4448160"/>
            <a:ext cx="10080" cy="952560"/>
          </a:xfrm>
          <a:custGeom>
            <a:avLst/>
            <a:gdLst/>
            <a:ahLst/>
            <a:rect l="0" t="0" r="r" b="b"/>
            <a:pathLst>
              <a:path w="28" h="2646">
                <a:moveTo>
                  <a:pt x="0" y="0"/>
                </a:moveTo>
                <a:lnTo>
                  <a:pt x="28" y="0"/>
                </a:lnTo>
                <a:lnTo>
                  <a:pt x="28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1" name=""/>
          <p:cNvSpPr/>
          <p:nvPr/>
        </p:nvSpPr>
        <p:spPr>
          <a:xfrm>
            <a:off x="6553080" y="4438440"/>
            <a:ext cx="1638720" cy="10080"/>
          </a:xfrm>
          <a:custGeom>
            <a:avLst/>
            <a:gdLst/>
            <a:ahLst/>
            <a:rect l="0" t="0" r="r" b="b"/>
            <a:pathLst>
              <a:path w="4552" h="28">
                <a:moveTo>
                  <a:pt x="0" y="0"/>
                </a:moveTo>
                <a:lnTo>
                  <a:pt x="4552" y="0"/>
                </a:lnTo>
                <a:lnTo>
                  <a:pt x="455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2" name=""/>
          <p:cNvSpPr/>
          <p:nvPr/>
        </p:nvSpPr>
        <p:spPr>
          <a:xfrm>
            <a:off x="8181720" y="4448160"/>
            <a:ext cx="10080" cy="952560"/>
          </a:xfrm>
          <a:custGeom>
            <a:avLst/>
            <a:gdLst/>
            <a:ahLst/>
            <a:rect l="0" t="0" r="r" b="b"/>
            <a:pathLst>
              <a:path w="28" h="2646">
                <a:moveTo>
                  <a:pt x="0" y="0"/>
                </a:moveTo>
                <a:lnTo>
                  <a:pt x="28" y="0"/>
                </a:lnTo>
                <a:lnTo>
                  <a:pt x="28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3" name=""/>
          <p:cNvSpPr/>
          <p:nvPr/>
        </p:nvSpPr>
        <p:spPr>
          <a:xfrm>
            <a:off x="8191440" y="4438440"/>
            <a:ext cx="3257640" cy="10080"/>
          </a:xfrm>
          <a:custGeom>
            <a:avLst/>
            <a:gdLst/>
            <a:ahLst/>
            <a:rect l="0" t="0" r="r" b="b"/>
            <a:pathLst>
              <a:path w="9049" h="28">
                <a:moveTo>
                  <a:pt x="0" y="0"/>
                </a:moveTo>
                <a:lnTo>
                  <a:pt x="9049" y="0"/>
                </a:lnTo>
                <a:lnTo>
                  <a:pt x="90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4" name=""/>
          <p:cNvSpPr/>
          <p:nvPr/>
        </p:nvSpPr>
        <p:spPr>
          <a:xfrm>
            <a:off x="11439360" y="444816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5" name=""/>
          <p:cNvSpPr/>
          <p:nvPr/>
        </p:nvSpPr>
        <p:spPr>
          <a:xfrm>
            <a:off x="752400" y="54003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6" name=""/>
          <p:cNvSpPr/>
          <p:nvPr/>
        </p:nvSpPr>
        <p:spPr>
          <a:xfrm>
            <a:off x="752400" y="5391000"/>
            <a:ext cx="4048200" cy="9720"/>
          </a:xfrm>
          <a:custGeom>
            <a:avLst/>
            <a:gdLst/>
            <a:ahLst/>
            <a:rect l="0" t="0" r="r" b="b"/>
            <a:pathLst>
              <a:path w="11245" h="27">
                <a:moveTo>
                  <a:pt x="0" y="0"/>
                </a:moveTo>
                <a:lnTo>
                  <a:pt x="11245" y="0"/>
                </a:lnTo>
                <a:lnTo>
                  <a:pt x="1124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7" name=""/>
          <p:cNvSpPr/>
          <p:nvPr/>
        </p:nvSpPr>
        <p:spPr>
          <a:xfrm>
            <a:off x="4790880" y="54003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8" name=""/>
          <p:cNvSpPr/>
          <p:nvPr/>
        </p:nvSpPr>
        <p:spPr>
          <a:xfrm>
            <a:off x="4800240" y="5391000"/>
            <a:ext cx="1753200" cy="9720"/>
          </a:xfrm>
          <a:custGeom>
            <a:avLst/>
            <a:gdLst/>
            <a:ahLst/>
            <a:rect l="0" t="0" r="r" b="b"/>
            <a:pathLst>
              <a:path w="4870" h="27">
                <a:moveTo>
                  <a:pt x="0" y="0"/>
                </a:moveTo>
                <a:lnTo>
                  <a:pt x="4870" y="0"/>
                </a:lnTo>
                <a:lnTo>
                  <a:pt x="487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9" name=""/>
          <p:cNvSpPr/>
          <p:nvPr/>
        </p:nvSpPr>
        <p:spPr>
          <a:xfrm>
            <a:off x="6543360" y="540036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0" name=""/>
          <p:cNvSpPr/>
          <p:nvPr/>
        </p:nvSpPr>
        <p:spPr>
          <a:xfrm>
            <a:off x="6553080" y="5391000"/>
            <a:ext cx="1638720" cy="9720"/>
          </a:xfrm>
          <a:custGeom>
            <a:avLst/>
            <a:gdLst/>
            <a:ahLst/>
            <a:rect l="0" t="0" r="r" b="b"/>
            <a:pathLst>
              <a:path w="4552" h="27">
                <a:moveTo>
                  <a:pt x="0" y="0"/>
                </a:moveTo>
                <a:lnTo>
                  <a:pt x="4552" y="0"/>
                </a:lnTo>
                <a:lnTo>
                  <a:pt x="455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1" name=""/>
          <p:cNvSpPr/>
          <p:nvPr/>
        </p:nvSpPr>
        <p:spPr>
          <a:xfrm>
            <a:off x="8181720" y="540036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2" name=""/>
          <p:cNvSpPr/>
          <p:nvPr/>
        </p:nvSpPr>
        <p:spPr>
          <a:xfrm>
            <a:off x="8191440" y="5391000"/>
            <a:ext cx="3257640" cy="9720"/>
          </a:xfrm>
          <a:custGeom>
            <a:avLst/>
            <a:gdLst/>
            <a:ahLst/>
            <a:rect l="0" t="0" r="r" b="b"/>
            <a:pathLst>
              <a:path w="9049" h="27">
                <a:moveTo>
                  <a:pt x="0" y="0"/>
                </a:moveTo>
                <a:lnTo>
                  <a:pt x="9049" y="0"/>
                </a:lnTo>
                <a:lnTo>
                  <a:pt x="904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3" name=""/>
          <p:cNvSpPr/>
          <p:nvPr/>
        </p:nvSpPr>
        <p:spPr>
          <a:xfrm>
            <a:off x="11439360" y="54003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4" name=""/>
          <p:cNvSpPr/>
          <p:nvPr/>
        </p:nvSpPr>
        <p:spPr>
          <a:xfrm>
            <a:off x="752400" y="59338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5" name=""/>
          <p:cNvSpPr/>
          <p:nvPr/>
        </p:nvSpPr>
        <p:spPr>
          <a:xfrm>
            <a:off x="752400" y="5924520"/>
            <a:ext cx="4048200" cy="9720"/>
          </a:xfrm>
          <a:custGeom>
            <a:avLst/>
            <a:gdLst/>
            <a:ahLst/>
            <a:rect l="0" t="0" r="r" b="b"/>
            <a:pathLst>
              <a:path w="11245" h="27">
                <a:moveTo>
                  <a:pt x="0" y="0"/>
                </a:moveTo>
                <a:lnTo>
                  <a:pt x="11245" y="0"/>
                </a:lnTo>
                <a:lnTo>
                  <a:pt x="1124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6" name=""/>
          <p:cNvSpPr/>
          <p:nvPr/>
        </p:nvSpPr>
        <p:spPr>
          <a:xfrm>
            <a:off x="4790880" y="59338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7" name=""/>
          <p:cNvSpPr/>
          <p:nvPr/>
        </p:nvSpPr>
        <p:spPr>
          <a:xfrm>
            <a:off x="4800240" y="5924520"/>
            <a:ext cx="1753200" cy="9720"/>
          </a:xfrm>
          <a:custGeom>
            <a:avLst/>
            <a:gdLst/>
            <a:ahLst/>
            <a:rect l="0" t="0" r="r" b="b"/>
            <a:pathLst>
              <a:path w="4870" h="27">
                <a:moveTo>
                  <a:pt x="0" y="0"/>
                </a:moveTo>
                <a:lnTo>
                  <a:pt x="4870" y="0"/>
                </a:lnTo>
                <a:lnTo>
                  <a:pt x="487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8" name=""/>
          <p:cNvSpPr/>
          <p:nvPr/>
        </p:nvSpPr>
        <p:spPr>
          <a:xfrm>
            <a:off x="6543360" y="59338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9" name=""/>
          <p:cNvSpPr/>
          <p:nvPr/>
        </p:nvSpPr>
        <p:spPr>
          <a:xfrm>
            <a:off x="6553080" y="5924520"/>
            <a:ext cx="1638720" cy="9720"/>
          </a:xfrm>
          <a:custGeom>
            <a:avLst/>
            <a:gdLst/>
            <a:ahLst/>
            <a:rect l="0" t="0" r="r" b="b"/>
            <a:pathLst>
              <a:path w="4552" h="27">
                <a:moveTo>
                  <a:pt x="0" y="0"/>
                </a:moveTo>
                <a:lnTo>
                  <a:pt x="4552" y="0"/>
                </a:lnTo>
                <a:lnTo>
                  <a:pt x="455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0" name=""/>
          <p:cNvSpPr/>
          <p:nvPr/>
        </p:nvSpPr>
        <p:spPr>
          <a:xfrm>
            <a:off x="8181720" y="59338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1" name=""/>
          <p:cNvSpPr/>
          <p:nvPr/>
        </p:nvSpPr>
        <p:spPr>
          <a:xfrm>
            <a:off x="8191440" y="5924520"/>
            <a:ext cx="3257640" cy="9720"/>
          </a:xfrm>
          <a:custGeom>
            <a:avLst/>
            <a:gdLst/>
            <a:ahLst/>
            <a:rect l="0" t="0" r="r" b="b"/>
            <a:pathLst>
              <a:path w="9049" h="27">
                <a:moveTo>
                  <a:pt x="0" y="0"/>
                </a:moveTo>
                <a:lnTo>
                  <a:pt x="9049" y="0"/>
                </a:lnTo>
                <a:lnTo>
                  <a:pt x="904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2" name=""/>
          <p:cNvSpPr/>
          <p:nvPr/>
        </p:nvSpPr>
        <p:spPr>
          <a:xfrm>
            <a:off x="11439360" y="59338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3" name=""/>
          <p:cNvSpPr/>
          <p:nvPr/>
        </p:nvSpPr>
        <p:spPr>
          <a:xfrm>
            <a:off x="752400" y="64767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4" name=""/>
          <p:cNvSpPr/>
          <p:nvPr/>
        </p:nvSpPr>
        <p:spPr>
          <a:xfrm>
            <a:off x="752400" y="6467400"/>
            <a:ext cx="4048200" cy="9720"/>
          </a:xfrm>
          <a:custGeom>
            <a:avLst/>
            <a:gdLst/>
            <a:ahLst/>
            <a:rect l="0" t="0" r="r" b="b"/>
            <a:pathLst>
              <a:path w="11245" h="27">
                <a:moveTo>
                  <a:pt x="0" y="0"/>
                </a:moveTo>
                <a:lnTo>
                  <a:pt x="11245" y="0"/>
                </a:lnTo>
                <a:lnTo>
                  <a:pt x="1124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5" name=""/>
          <p:cNvSpPr/>
          <p:nvPr/>
        </p:nvSpPr>
        <p:spPr>
          <a:xfrm>
            <a:off x="4790880" y="64767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6" name=""/>
          <p:cNvSpPr/>
          <p:nvPr/>
        </p:nvSpPr>
        <p:spPr>
          <a:xfrm>
            <a:off x="4800240" y="6467400"/>
            <a:ext cx="1753200" cy="9720"/>
          </a:xfrm>
          <a:custGeom>
            <a:avLst/>
            <a:gdLst/>
            <a:ahLst/>
            <a:rect l="0" t="0" r="r" b="b"/>
            <a:pathLst>
              <a:path w="4870" h="27">
                <a:moveTo>
                  <a:pt x="0" y="0"/>
                </a:moveTo>
                <a:lnTo>
                  <a:pt x="4870" y="0"/>
                </a:lnTo>
                <a:lnTo>
                  <a:pt x="487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7" name=""/>
          <p:cNvSpPr/>
          <p:nvPr/>
        </p:nvSpPr>
        <p:spPr>
          <a:xfrm>
            <a:off x="6543360" y="647676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8" name=""/>
          <p:cNvSpPr/>
          <p:nvPr/>
        </p:nvSpPr>
        <p:spPr>
          <a:xfrm>
            <a:off x="6553080" y="6467400"/>
            <a:ext cx="1638720" cy="9720"/>
          </a:xfrm>
          <a:custGeom>
            <a:avLst/>
            <a:gdLst/>
            <a:ahLst/>
            <a:rect l="0" t="0" r="r" b="b"/>
            <a:pathLst>
              <a:path w="4552" h="27">
                <a:moveTo>
                  <a:pt x="0" y="0"/>
                </a:moveTo>
                <a:lnTo>
                  <a:pt x="4552" y="0"/>
                </a:lnTo>
                <a:lnTo>
                  <a:pt x="455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9" name=""/>
          <p:cNvSpPr/>
          <p:nvPr/>
        </p:nvSpPr>
        <p:spPr>
          <a:xfrm>
            <a:off x="8181720" y="647676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0" name=""/>
          <p:cNvSpPr/>
          <p:nvPr/>
        </p:nvSpPr>
        <p:spPr>
          <a:xfrm>
            <a:off x="8191440" y="6467400"/>
            <a:ext cx="3257640" cy="9720"/>
          </a:xfrm>
          <a:custGeom>
            <a:avLst/>
            <a:gdLst/>
            <a:ahLst/>
            <a:rect l="0" t="0" r="r" b="b"/>
            <a:pathLst>
              <a:path w="9049" h="27">
                <a:moveTo>
                  <a:pt x="0" y="0"/>
                </a:moveTo>
                <a:lnTo>
                  <a:pt x="9049" y="0"/>
                </a:lnTo>
                <a:lnTo>
                  <a:pt x="904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1" name=""/>
          <p:cNvSpPr/>
          <p:nvPr/>
        </p:nvSpPr>
        <p:spPr>
          <a:xfrm>
            <a:off x="11439360" y="64767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2" name=""/>
          <p:cNvSpPr txBox="1"/>
          <p:nvPr/>
        </p:nvSpPr>
        <p:spPr>
          <a:xfrm>
            <a:off x="747720" y="770400"/>
            <a:ext cx="649764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1 vs Level 2 — the real numbers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3" name=""/>
          <p:cNvSpPr txBox="1"/>
          <p:nvPr/>
        </p:nvSpPr>
        <p:spPr>
          <a:xfrm>
            <a:off x="2364840" y="1569240"/>
            <a:ext cx="812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Metric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4" name=""/>
          <p:cNvSpPr txBox="1"/>
          <p:nvPr/>
        </p:nvSpPr>
        <p:spPr>
          <a:xfrm>
            <a:off x="5202720" y="156924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5" name=""/>
          <p:cNvSpPr txBox="1"/>
          <p:nvPr/>
        </p:nvSpPr>
        <p:spPr>
          <a:xfrm>
            <a:off x="6900480" y="156924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2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6" name=""/>
          <p:cNvSpPr txBox="1"/>
          <p:nvPr/>
        </p:nvSpPr>
        <p:spPr>
          <a:xfrm>
            <a:off x="9306720" y="1569240"/>
            <a:ext cx="1011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Change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7" name=""/>
          <p:cNvSpPr txBox="1"/>
          <p:nvPr/>
        </p:nvSpPr>
        <p:spPr>
          <a:xfrm>
            <a:off x="880920" y="2102760"/>
            <a:ext cx="3575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Peak requests/s @ 50 Virtual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8" name=""/>
          <p:cNvSpPr txBox="1"/>
          <p:nvPr/>
        </p:nvSpPr>
        <p:spPr>
          <a:xfrm>
            <a:off x="880920" y="2521800"/>
            <a:ext cx="720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Users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9" name=""/>
          <p:cNvSpPr txBox="1"/>
          <p:nvPr/>
        </p:nvSpPr>
        <p:spPr>
          <a:xfrm>
            <a:off x="4919760" y="2102760"/>
            <a:ext cx="928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~50–55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0" name=""/>
          <p:cNvSpPr txBox="1"/>
          <p:nvPr/>
        </p:nvSpPr>
        <p:spPr>
          <a:xfrm>
            <a:off x="4919760" y="2521800"/>
            <a:ext cx="613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req/s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1" name=""/>
          <p:cNvSpPr txBox="1"/>
          <p:nvPr/>
        </p:nvSpPr>
        <p:spPr>
          <a:xfrm>
            <a:off x="6679440" y="2312280"/>
            <a:ext cx="1203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~65 req/s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2" name=""/>
          <p:cNvSpPr txBox="1"/>
          <p:nvPr/>
        </p:nvSpPr>
        <p:spPr>
          <a:xfrm>
            <a:off x="8315640" y="2312280"/>
            <a:ext cx="1334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~+15–20%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3" name=""/>
          <p:cNvSpPr txBox="1"/>
          <p:nvPr/>
        </p:nvSpPr>
        <p:spPr>
          <a:xfrm>
            <a:off x="880920" y="3264840"/>
            <a:ext cx="1503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p95 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4" name=""/>
          <p:cNvSpPr txBox="1"/>
          <p:nvPr/>
        </p:nvSpPr>
        <p:spPr>
          <a:xfrm>
            <a:off x="4919760" y="3264840"/>
            <a:ext cx="1065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~130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5" name=""/>
          <p:cNvSpPr txBox="1"/>
          <p:nvPr/>
        </p:nvSpPr>
        <p:spPr>
          <a:xfrm>
            <a:off x="6679440" y="3055320"/>
            <a:ext cx="928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~70–80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6" name=""/>
          <p:cNvSpPr txBox="1"/>
          <p:nvPr/>
        </p:nvSpPr>
        <p:spPr>
          <a:xfrm>
            <a:off x="6679440" y="3474360"/>
            <a:ext cx="398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7" name=""/>
          <p:cNvSpPr txBox="1"/>
          <p:nvPr/>
        </p:nvSpPr>
        <p:spPr>
          <a:xfrm>
            <a:off x="8315640" y="3264840"/>
            <a:ext cx="874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~−40%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8" name=""/>
          <p:cNvSpPr txBox="1"/>
          <p:nvPr/>
        </p:nvSpPr>
        <p:spPr>
          <a:xfrm>
            <a:off x="880920" y="4007520"/>
            <a:ext cx="1410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CPU usage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9" name=""/>
          <p:cNvSpPr txBox="1"/>
          <p:nvPr/>
        </p:nvSpPr>
        <p:spPr>
          <a:xfrm>
            <a:off x="4919760" y="400752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~25%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0" name=""/>
          <p:cNvSpPr txBox="1"/>
          <p:nvPr/>
        </p:nvSpPr>
        <p:spPr>
          <a:xfrm>
            <a:off x="6679440" y="400752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~18%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1" name=""/>
          <p:cNvSpPr txBox="1"/>
          <p:nvPr/>
        </p:nvSpPr>
        <p:spPr>
          <a:xfrm>
            <a:off x="8315640" y="4007520"/>
            <a:ext cx="874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~−30%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2" name=""/>
          <p:cNvSpPr txBox="1"/>
          <p:nvPr/>
        </p:nvSpPr>
        <p:spPr>
          <a:xfrm>
            <a:off x="880920" y="4760280"/>
            <a:ext cx="2483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FPM workers (peak)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3" name=""/>
          <p:cNvSpPr txBox="1"/>
          <p:nvPr/>
        </p:nvSpPr>
        <p:spPr>
          <a:xfrm>
            <a:off x="4919760" y="4760280"/>
            <a:ext cx="8510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~8 / 20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4" name=""/>
          <p:cNvSpPr txBox="1"/>
          <p:nvPr/>
        </p:nvSpPr>
        <p:spPr>
          <a:xfrm>
            <a:off x="6679440" y="4550760"/>
            <a:ext cx="1081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~10–12 /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5" name=""/>
          <p:cNvSpPr txBox="1"/>
          <p:nvPr/>
        </p:nvSpPr>
        <p:spPr>
          <a:xfrm>
            <a:off x="6679440" y="496008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6" name=""/>
          <p:cNvSpPr txBox="1"/>
          <p:nvPr/>
        </p:nvSpPr>
        <p:spPr>
          <a:xfrm>
            <a:off x="8315640" y="4760280"/>
            <a:ext cx="2943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cache absorbs the burst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7" name=""/>
          <p:cNvSpPr txBox="1"/>
          <p:nvPr/>
        </p:nvSpPr>
        <p:spPr>
          <a:xfrm>
            <a:off x="880920" y="5502960"/>
            <a:ext cx="2192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FPM queue depth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8" name=""/>
          <p:cNvSpPr txBox="1"/>
          <p:nvPr/>
        </p:nvSpPr>
        <p:spPr>
          <a:xfrm>
            <a:off x="4919760" y="550296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9" name=""/>
          <p:cNvSpPr txBox="1"/>
          <p:nvPr/>
        </p:nvSpPr>
        <p:spPr>
          <a:xfrm>
            <a:off x="6679440" y="550296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0" name=""/>
          <p:cNvSpPr txBox="1"/>
          <p:nvPr/>
        </p:nvSpPr>
        <p:spPr>
          <a:xfrm>
            <a:off x="8315640" y="5502960"/>
            <a:ext cx="276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1" name=""/>
          <p:cNvSpPr txBox="1"/>
          <p:nvPr/>
        </p:nvSpPr>
        <p:spPr>
          <a:xfrm>
            <a:off x="880920" y="6036480"/>
            <a:ext cx="2928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MariaDB threads (peak)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2" name=""/>
          <p:cNvSpPr txBox="1"/>
          <p:nvPr/>
        </p:nvSpPr>
        <p:spPr>
          <a:xfrm>
            <a:off x="4919760" y="6036480"/>
            <a:ext cx="928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~15–20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3" name=""/>
          <p:cNvSpPr txBox="1"/>
          <p:nvPr/>
        </p:nvSpPr>
        <p:spPr>
          <a:xfrm>
            <a:off x="6679440" y="6036480"/>
            <a:ext cx="621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~0–3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4" name=""/>
          <p:cNvSpPr txBox="1"/>
          <p:nvPr/>
        </p:nvSpPr>
        <p:spPr>
          <a:xfrm>
            <a:off x="8315640" y="6036480"/>
            <a:ext cx="1334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~−85–90%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5" name=""/>
          <p:cNvSpPr txBox="1"/>
          <p:nvPr/>
        </p:nvSpPr>
        <p:spPr>
          <a:xfrm>
            <a:off x="880920" y="6788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6" name=""/>
          <p:cNvSpPr txBox="1"/>
          <p:nvPr/>
        </p:nvSpPr>
        <p:spPr>
          <a:xfrm>
            <a:off x="1372320" y="6788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h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7" name=""/>
          <p:cNvSpPr txBox="1"/>
          <p:nvPr/>
        </p:nvSpPr>
        <p:spPr>
          <a:xfrm>
            <a:off x="1909800" y="6788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ffl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8" name=""/>
          <p:cNvSpPr txBox="1"/>
          <p:nvPr/>
        </p:nvSpPr>
        <p:spPr>
          <a:xfrm>
            <a:off x="2427120" y="6788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9" name=""/>
          <p:cNvSpPr txBox="1"/>
          <p:nvPr/>
        </p:nvSpPr>
        <p:spPr>
          <a:xfrm>
            <a:off x="4919760" y="6788880"/>
            <a:ext cx="398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0" name=""/>
          <p:cNvSpPr/>
          <p:nvPr/>
        </p:nvSpPr>
        <p:spPr>
          <a:xfrm>
            <a:off x="8343720" y="6581520"/>
            <a:ext cx="276480" cy="276480"/>
          </a:xfrm>
          <a:custGeom>
            <a:avLst/>
            <a:gdLst/>
            <a:ahLst/>
            <a:rect l="0" t="0" r="r" b="b"/>
            <a:pathLst>
              <a:path w="768" h="768">
                <a:moveTo>
                  <a:pt x="768" y="683"/>
                </a:moveTo>
                <a:cubicBezTo>
                  <a:pt x="768" y="730"/>
                  <a:pt x="730" y="768"/>
                  <a:pt x="683" y="768"/>
                </a:cubicBezTo>
                <a:lnTo>
                  <a:pt x="85" y="768"/>
                </a:lnTo>
                <a:cubicBezTo>
                  <a:pt x="38" y="768"/>
                  <a:pt x="0" y="730"/>
                  <a:pt x="0" y="683"/>
                </a:cubicBezTo>
                <a:lnTo>
                  <a:pt x="0" y="85"/>
                </a:lnTo>
                <a:cubicBezTo>
                  <a:pt x="0" y="38"/>
                  <a:pt x="38" y="0"/>
                  <a:pt x="85" y="0"/>
                </a:cubicBezTo>
                <a:lnTo>
                  <a:pt x="683" y="0"/>
                </a:lnTo>
                <a:cubicBezTo>
                  <a:pt x="730" y="0"/>
                  <a:pt x="768" y="38"/>
                  <a:pt x="768" y="85"/>
                </a:cubicBezTo>
                <a:lnTo>
                  <a:pt x="768" y="683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81" name=""/>
          <p:cNvSpPr/>
          <p:nvPr/>
        </p:nvSpPr>
        <p:spPr>
          <a:xfrm>
            <a:off x="8387640" y="6627240"/>
            <a:ext cx="190080" cy="186480"/>
          </a:xfrm>
          <a:custGeom>
            <a:avLst/>
            <a:gdLst/>
            <a:ahLst/>
            <a:rect l="0" t="0" r="r" b="b"/>
            <a:pathLst>
              <a:path w="528" h="518">
                <a:moveTo>
                  <a:pt x="503" y="9"/>
                </a:moveTo>
                <a:cubicBezTo>
                  <a:pt x="478" y="-7"/>
                  <a:pt x="445" y="0"/>
                  <a:pt x="429" y="24"/>
                </a:cubicBezTo>
                <a:lnTo>
                  <a:pt x="197" y="382"/>
                </a:lnTo>
                <a:lnTo>
                  <a:pt x="89" y="283"/>
                </a:lnTo>
                <a:cubicBezTo>
                  <a:pt x="68" y="263"/>
                  <a:pt x="34" y="264"/>
                  <a:pt x="14" y="286"/>
                </a:cubicBezTo>
                <a:cubicBezTo>
                  <a:pt x="-6" y="308"/>
                  <a:pt x="-5" y="341"/>
                  <a:pt x="17" y="361"/>
                </a:cubicBezTo>
                <a:lnTo>
                  <a:pt x="171" y="504"/>
                </a:lnTo>
                <a:cubicBezTo>
                  <a:pt x="182" y="514"/>
                  <a:pt x="195" y="518"/>
                  <a:pt x="208" y="518"/>
                </a:cubicBezTo>
                <a:cubicBezTo>
                  <a:pt x="222" y="518"/>
                  <a:pt x="240" y="512"/>
                  <a:pt x="252" y="494"/>
                </a:cubicBezTo>
                <a:cubicBezTo>
                  <a:pt x="259" y="483"/>
                  <a:pt x="519" y="83"/>
                  <a:pt x="519" y="83"/>
                </a:cubicBezTo>
                <a:cubicBezTo>
                  <a:pt x="535" y="58"/>
                  <a:pt x="528" y="25"/>
                  <a:pt x="503" y="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2" name=""/>
          <p:cNvSpPr txBox="1"/>
          <p:nvPr/>
        </p:nvSpPr>
        <p:spPr>
          <a:xfrm>
            <a:off x="6840720" y="6788880"/>
            <a:ext cx="552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3" name=""/>
          <p:cNvSpPr txBox="1"/>
          <p:nvPr/>
        </p:nvSpPr>
        <p:spPr>
          <a:xfrm>
            <a:off x="8632800" y="6579360"/>
            <a:ext cx="2574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majority served from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5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7" name=""/>
          <p:cNvSpPr txBox="1"/>
          <p:nvPr/>
        </p:nvSpPr>
        <p:spPr>
          <a:xfrm>
            <a:off x="747720" y="2106000"/>
            <a:ext cx="343800" cy="323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ColorEmoji"/>
                <a:ea typeface="NotoColorEmoji"/>
              </a:rPr>
              <a:t>⚡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8" name=""/>
          <p:cNvSpPr txBox="1"/>
          <p:nvPr/>
        </p:nvSpPr>
        <p:spPr>
          <a:xfrm>
            <a:off x="747720" y="2743200"/>
            <a:ext cx="2782080" cy="494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480" spc="-1" strike="noStrike">
                <a:solidFill>
                  <a:srgbClr val="224466"/>
                </a:solidFill>
                <a:latin typeface="Arial"/>
                <a:ea typeface="Arial"/>
              </a:rPr>
              <a:t>What's Next?</a:t>
            </a:r>
            <a:endParaRPr b="0" lang="en-US" sz="34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9" name=""/>
          <p:cNvSpPr txBox="1"/>
          <p:nvPr/>
        </p:nvSpPr>
        <p:spPr>
          <a:xfrm>
            <a:off x="747720" y="3646800"/>
            <a:ext cx="265860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The Static Leap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0" name=""/>
          <p:cNvSpPr txBox="1"/>
          <p:nvPr/>
        </p:nvSpPr>
        <p:spPr>
          <a:xfrm>
            <a:off x="747720" y="4420800"/>
            <a:ext cx="8713440" cy="33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Arial"/>
                <a:ea typeface="Arial"/>
              </a:rPr>
              <a:t>Level 4 — Simply Static: WordPress as a CMS, not a runtime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2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4" name=""/>
          <p:cNvSpPr/>
          <p:nvPr/>
        </p:nvSpPr>
        <p:spPr>
          <a:xfrm>
            <a:off x="757080" y="6443640"/>
            <a:ext cx="10687320" cy="819360"/>
          </a:xfrm>
          <a:custGeom>
            <a:avLst/>
            <a:gdLst/>
            <a:ahLst/>
            <a:rect l="0" t="0" r="r" b="b"/>
            <a:pathLst>
              <a:path w="29687" h="2276">
                <a:moveTo>
                  <a:pt x="0" y="2130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6" y="0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0"/>
                  <a:pt x="29570" y="2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4"/>
                  <a:pt x="29615" y="19"/>
                  <a:pt x="29623" y="24"/>
                </a:cubicBezTo>
                <a:cubicBezTo>
                  <a:pt x="29630" y="29"/>
                  <a:pt x="29638" y="35"/>
                  <a:pt x="29645" y="42"/>
                </a:cubicBezTo>
                <a:cubicBezTo>
                  <a:pt x="29651" y="49"/>
                  <a:pt x="29657" y="56"/>
                  <a:pt x="29663" y="64"/>
                </a:cubicBezTo>
                <a:cubicBezTo>
                  <a:pt x="29668" y="72"/>
                  <a:pt x="29672" y="81"/>
                  <a:pt x="29676" y="89"/>
                </a:cubicBezTo>
                <a:cubicBezTo>
                  <a:pt x="29680" y="98"/>
                  <a:pt x="29683" y="107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2130"/>
                </a:lnTo>
                <a:cubicBezTo>
                  <a:pt x="29687" y="2140"/>
                  <a:pt x="29686" y="2149"/>
                  <a:pt x="29684" y="2159"/>
                </a:cubicBezTo>
                <a:cubicBezTo>
                  <a:pt x="29683" y="2168"/>
                  <a:pt x="29680" y="2177"/>
                  <a:pt x="29676" y="2186"/>
                </a:cubicBezTo>
                <a:cubicBezTo>
                  <a:pt x="29672" y="2195"/>
                  <a:pt x="29668" y="2203"/>
                  <a:pt x="29663" y="2211"/>
                </a:cubicBezTo>
                <a:cubicBezTo>
                  <a:pt x="29657" y="2219"/>
                  <a:pt x="29651" y="2227"/>
                  <a:pt x="29645" y="2233"/>
                </a:cubicBezTo>
                <a:cubicBezTo>
                  <a:pt x="29638" y="2240"/>
                  <a:pt x="29630" y="2246"/>
                  <a:pt x="29623" y="2251"/>
                </a:cubicBezTo>
                <a:cubicBezTo>
                  <a:pt x="29615" y="2257"/>
                  <a:pt x="29606" y="2261"/>
                  <a:pt x="29597" y="2265"/>
                </a:cubicBezTo>
                <a:cubicBezTo>
                  <a:pt x="29589" y="2269"/>
                  <a:pt x="29579" y="2271"/>
                  <a:pt x="29570" y="2273"/>
                </a:cubicBezTo>
                <a:cubicBezTo>
                  <a:pt x="29561" y="2275"/>
                  <a:pt x="29551" y="2276"/>
                  <a:pt x="29542" y="2276"/>
                </a:cubicBezTo>
                <a:lnTo>
                  <a:pt x="145" y="2276"/>
                </a:lnTo>
                <a:cubicBezTo>
                  <a:pt x="136" y="2276"/>
                  <a:pt x="126" y="2275"/>
                  <a:pt x="117" y="2273"/>
                </a:cubicBezTo>
                <a:cubicBezTo>
                  <a:pt x="108" y="2271"/>
                  <a:pt x="99" y="2269"/>
                  <a:pt x="90" y="2265"/>
                </a:cubicBezTo>
                <a:cubicBezTo>
                  <a:pt x="81" y="2261"/>
                  <a:pt x="73" y="2257"/>
                  <a:pt x="65" y="2251"/>
                </a:cubicBezTo>
                <a:cubicBezTo>
                  <a:pt x="57" y="2246"/>
                  <a:pt x="49" y="2240"/>
                  <a:pt x="43" y="2233"/>
                </a:cubicBezTo>
                <a:cubicBezTo>
                  <a:pt x="36" y="2227"/>
                  <a:pt x="30" y="2219"/>
                  <a:pt x="24" y="2211"/>
                </a:cubicBezTo>
                <a:cubicBezTo>
                  <a:pt x="19" y="2203"/>
                  <a:pt x="15" y="2195"/>
                  <a:pt x="11" y="2186"/>
                </a:cubicBezTo>
                <a:cubicBezTo>
                  <a:pt x="7" y="2177"/>
                  <a:pt x="5" y="2168"/>
                  <a:pt x="3" y="2159"/>
                </a:cubicBezTo>
                <a:cubicBezTo>
                  <a:pt x="1" y="2149"/>
                  <a:pt x="0" y="2140"/>
                  <a:pt x="0" y="2130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5" name=""/>
          <p:cNvSpPr/>
          <p:nvPr/>
        </p:nvSpPr>
        <p:spPr>
          <a:xfrm>
            <a:off x="757080" y="6443640"/>
            <a:ext cx="10687320" cy="819360"/>
          </a:xfrm>
          <a:custGeom>
            <a:avLst/>
            <a:gdLst/>
            <a:ahLst/>
            <a:rect l="0" t="0" r="r" b="b"/>
            <a:pathLst>
              <a:path w="29687" h="2276">
                <a:moveTo>
                  <a:pt x="0" y="2130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6" y="0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0"/>
                  <a:pt x="29570" y="2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4"/>
                  <a:pt x="29615" y="19"/>
                  <a:pt x="29623" y="24"/>
                </a:cubicBezTo>
                <a:cubicBezTo>
                  <a:pt x="29630" y="29"/>
                  <a:pt x="29638" y="35"/>
                  <a:pt x="29645" y="42"/>
                </a:cubicBezTo>
                <a:cubicBezTo>
                  <a:pt x="29651" y="49"/>
                  <a:pt x="29657" y="56"/>
                  <a:pt x="29663" y="64"/>
                </a:cubicBezTo>
                <a:cubicBezTo>
                  <a:pt x="29668" y="72"/>
                  <a:pt x="29672" y="81"/>
                  <a:pt x="29676" y="89"/>
                </a:cubicBezTo>
                <a:cubicBezTo>
                  <a:pt x="29680" y="98"/>
                  <a:pt x="29683" y="107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2130"/>
                </a:lnTo>
                <a:cubicBezTo>
                  <a:pt x="29687" y="2140"/>
                  <a:pt x="29686" y="2149"/>
                  <a:pt x="29684" y="2159"/>
                </a:cubicBezTo>
                <a:cubicBezTo>
                  <a:pt x="29683" y="2168"/>
                  <a:pt x="29680" y="2177"/>
                  <a:pt x="29676" y="2186"/>
                </a:cubicBezTo>
                <a:cubicBezTo>
                  <a:pt x="29672" y="2195"/>
                  <a:pt x="29668" y="2203"/>
                  <a:pt x="29663" y="2211"/>
                </a:cubicBezTo>
                <a:cubicBezTo>
                  <a:pt x="29657" y="2219"/>
                  <a:pt x="29651" y="2227"/>
                  <a:pt x="29645" y="2233"/>
                </a:cubicBezTo>
                <a:cubicBezTo>
                  <a:pt x="29638" y="2240"/>
                  <a:pt x="29630" y="2246"/>
                  <a:pt x="29623" y="2251"/>
                </a:cubicBezTo>
                <a:cubicBezTo>
                  <a:pt x="29615" y="2257"/>
                  <a:pt x="29606" y="2261"/>
                  <a:pt x="29597" y="2265"/>
                </a:cubicBezTo>
                <a:cubicBezTo>
                  <a:pt x="29589" y="2269"/>
                  <a:pt x="29579" y="2271"/>
                  <a:pt x="29570" y="2273"/>
                </a:cubicBezTo>
                <a:cubicBezTo>
                  <a:pt x="29561" y="2275"/>
                  <a:pt x="29551" y="2276"/>
                  <a:pt x="29542" y="2276"/>
                </a:cubicBezTo>
                <a:lnTo>
                  <a:pt x="145" y="2276"/>
                </a:lnTo>
                <a:cubicBezTo>
                  <a:pt x="136" y="2276"/>
                  <a:pt x="126" y="2275"/>
                  <a:pt x="117" y="2273"/>
                </a:cubicBezTo>
                <a:cubicBezTo>
                  <a:pt x="108" y="2271"/>
                  <a:pt x="99" y="2269"/>
                  <a:pt x="90" y="2265"/>
                </a:cubicBezTo>
                <a:cubicBezTo>
                  <a:pt x="81" y="2261"/>
                  <a:pt x="73" y="2257"/>
                  <a:pt x="65" y="2251"/>
                </a:cubicBezTo>
                <a:cubicBezTo>
                  <a:pt x="57" y="2246"/>
                  <a:pt x="49" y="2240"/>
                  <a:pt x="43" y="2233"/>
                </a:cubicBezTo>
                <a:cubicBezTo>
                  <a:pt x="36" y="2227"/>
                  <a:pt x="30" y="2219"/>
                  <a:pt x="24" y="2211"/>
                </a:cubicBezTo>
                <a:cubicBezTo>
                  <a:pt x="19" y="2203"/>
                  <a:pt x="15" y="2195"/>
                  <a:pt x="11" y="2186"/>
                </a:cubicBezTo>
                <a:cubicBezTo>
                  <a:pt x="7" y="2177"/>
                  <a:pt x="5" y="2168"/>
                  <a:pt x="3" y="2159"/>
                </a:cubicBezTo>
                <a:cubicBezTo>
                  <a:pt x="1" y="2149"/>
                  <a:pt x="0" y="2140"/>
                  <a:pt x="0" y="2130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596" name="" descr=""/>
          <p:cNvPicPr/>
          <p:nvPr/>
        </p:nvPicPr>
        <p:blipFill>
          <a:blip r:embed="rId1"/>
          <a:stretch/>
        </p:blipFill>
        <p:spPr>
          <a:xfrm>
            <a:off x="752400" y="1457280"/>
            <a:ext cx="8571960" cy="4704840"/>
          </a:xfrm>
          <a:prstGeom prst="rect">
            <a:avLst/>
          </a:prstGeom>
          <a:ln w="0">
            <a:noFill/>
          </a:ln>
        </p:spPr>
      </p:pic>
      <p:sp>
        <p:nvSpPr>
          <p:cNvPr id="1597" name=""/>
          <p:cNvSpPr txBox="1"/>
          <p:nvPr/>
        </p:nvSpPr>
        <p:spPr>
          <a:xfrm>
            <a:off x="747720" y="770400"/>
            <a:ext cx="379692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4 — the concept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8" name=""/>
          <p:cNvSpPr txBox="1"/>
          <p:nvPr/>
        </p:nvSpPr>
        <p:spPr>
          <a:xfrm>
            <a:off x="914400" y="6604920"/>
            <a:ext cx="5493240" cy="24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20" spc="-1" strike="noStrike">
                <a:solidFill>
                  <a:srgbClr val="1f2328"/>
                </a:solidFill>
                <a:latin typeface="Courier New"/>
                <a:ea typeface="Courier New"/>
              </a:rPr>
              <a:t>wp plugin install simply-static --activate</a:t>
            </a:r>
            <a:endParaRPr b="0" lang="en-US" sz="172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0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2" name=""/>
          <p:cNvSpPr/>
          <p:nvPr/>
        </p:nvSpPr>
        <p:spPr>
          <a:xfrm>
            <a:off x="752400" y="1457280"/>
            <a:ext cx="3276720" cy="952560"/>
          </a:xfrm>
          <a:custGeom>
            <a:avLst/>
            <a:gdLst/>
            <a:ahLst/>
            <a:rect l="0" t="0" r="r" b="b"/>
            <a:pathLst>
              <a:path w="9102" h="2646">
                <a:moveTo>
                  <a:pt x="0" y="0"/>
                </a:moveTo>
                <a:lnTo>
                  <a:pt x="9102" y="0"/>
                </a:lnTo>
                <a:lnTo>
                  <a:pt x="9102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3" name=""/>
          <p:cNvSpPr/>
          <p:nvPr/>
        </p:nvSpPr>
        <p:spPr>
          <a:xfrm>
            <a:off x="4028760" y="1457280"/>
            <a:ext cx="1448280" cy="952560"/>
          </a:xfrm>
          <a:custGeom>
            <a:avLst/>
            <a:gdLst/>
            <a:ahLst/>
            <a:rect l="0" t="0" r="r" b="b"/>
            <a:pathLst>
              <a:path w="4023" h="2646">
                <a:moveTo>
                  <a:pt x="0" y="0"/>
                </a:moveTo>
                <a:lnTo>
                  <a:pt x="4023" y="0"/>
                </a:lnTo>
                <a:lnTo>
                  <a:pt x="4023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4" name=""/>
          <p:cNvSpPr/>
          <p:nvPr/>
        </p:nvSpPr>
        <p:spPr>
          <a:xfrm>
            <a:off x="5476680" y="1457280"/>
            <a:ext cx="2467440" cy="952560"/>
          </a:xfrm>
          <a:custGeom>
            <a:avLst/>
            <a:gdLst/>
            <a:ahLst/>
            <a:rect l="0" t="0" r="r" b="b"/>
            <a:pathLst>
              <a:path w="6854" h="2646">
                <a:moveTo>
                  <a:pt x="0" y="0"/>
                </a:moveTo>
                <a:lnTo>
                  <a:pt x="6854" y="0"/>
                </a:lnTo>
                <a:lnTo>
                  <a:pt x="6854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5" name=""/>
          <p:cNvSpPr/>
          <p:nvPr/>
        </p:nvSpPr>
        <p:spPr>
          <a:xfrm>
            <a:off x="7943760" y="1457280"/>
            <a:ext cx="3495960" cy="952560"/>
          </a:xfrm>
          <a:custGeom>
            <a:avLst/>
            <a:gdLst/>
            <a:ahLst/>
            <a:rect l="0" t="0" r="r" b="b"/>
            <a:pathLst>
              <a:path w="9711" h="2646">
                <a:moveTo>
                  <a:pt x="0" y="0"/>
                </a:moveTo>
                <a:lnTo>
                  <a:pt x="9711" y="0"/>
                </a:lnTo>
                <a:lnTo>
                  <a:pt x="9711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6" name=""/>
          <p:cNvSpPr/>
          <p:nvPr/>
        </p:nvSpPr>
        <p:spPr>
          <a:xfrm>
            <a:off x="752400" y="2409480"/>
            <a:ext cx="3276720" cy="952920"/>
          </a:xfrm>
          <a:custGeom>
            <a:avLst/>
            <a:gdLst/>
            <a:ahLst/>
            <a:rect l="0" t="0" r="r" b="b"/>
            <a:pathLst>
              <a:path w="9102" h="2647">
                <a:moveTo>
                  <a:pt x="0" y="0"/>
                </a:moveTo>
                <a:lnTo>
                  <a:pt x="9102" y="0"/>
                </a:lnTo>
                <a:lnTo>
                  <a:pt x="9102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7" name=""/>
          <p:cNvSpPr/>
          <p:nvPr/>
        </p:nvSpPr>
        <p:spPr>
          <a:xfrm>
            <a:off x="4028760" y="2409480"/>
            <a:ext cx="1448280" cy="952920"/>
          </a:xfrm>
          <a:custGeom>
            <a:avLst/>
            <a:gdLst/>
            <a:ahLst/>
            <a:rect l="0" t="0" r="r" b="b"/>
            <a:pathLst>
              <a:path w="4023" h="2647">
                <a:moveTo>
                  <a:pt x="0" y="0"/>
                </a:moveTo>
                <a:lnTo>
                  <a:pt x="4023" y="0"/>
                </a:lnTo>
                <a:lnTo>
                  <a:pt x="402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8" name=""/>
          <p:cNvSpPr/>
          <p:nvPr/>
        </p:nvSpPr>
        <p:spPr>
          <a:xfrm>
            <a:off x="5476680" y="2409480"/>
            <a:ext cx="2467440" cy="952920"/>
          </a:xfrm>
          <a:custGeom>
            <a:avLst/>
            <a:gdLst/>
            <a:ahLst/>
            <a:rect l="0" t="0" r="r" b="b"/>
            <a:pathLst>
              <a:path w="6854" h="2647">
                <a:moveTo>
                  <a:pt x="0" y="0"/>
                </a:moveTo>
                <a:lnTo>
                  <a:pt x="6854" y="0"/>
                </a:lnTo>
                <a:lnTo>
                  <a:pt x="6854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9" name=""/>
          <p:cNvSpPr/>
          <p:nvPr/>
        </p:nvSpPr>
        <p:spPr>
          <a:xfrm>
            <a:off x="7943760" y="2409480"/>
            <a:ext cx="3495960" cy="952920"/>
          </a:xfrm>
          <a:custGeom>
            <a:avLst/>
            <a:gdLst/>
            <a:ahLst/>
            <a:rect l="0" t="0" r="r" b="b"/>
            <a:pathLst>
              <a:path w="9711" h="2647">
                <a:moveTo>
                  <a:pt x="0" y="0"/>
                </a:moveTo>
                <a:lnTo>
                  <a:pt x="9711" y="0"/>
                </a:lnTo>
                <a:lnTo>
                  <a:pt x="9711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0" name=""/>
          <p:cNvSpPr/>
          <p:nvPr/>
        </p:nvSpPr>
        <p:spPr>
          <a:xfrm>
            <a:off x="752400" y="3362040"/>
            <a:ext cx="3276720" cy="952920"/>
          </a:xfrm>
          <a:custGeom>
            <a:avLst/>
            <a:gdLst/>
            <a:ahLst/>
            <a:rect l="0" t="0" r="r" b="b"/>
            <a:pathLst>
              <a:path w="9102" h="2647">
                <a:moveTo>
                  <a:pt x="0" y="0"/>
                </a:moveTo>
                <a:lnTo>
                  <a:pt x="9102" y="0"/>
                </a:lnTo>
                <a:lnTo>
                  <a:pt x="9102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1" name=""/>
          <p:cNvSpPr/>
          <p:nvPr/>
        </p:nvSpPr>
        <p:spPr>
          <a:xfrm>
            <a:off x="4028760" y="3362040"/>
            <a:ext cx="1448280" cy="952920"/>
          </a:xfrm>
          <a:custGeom>
            <a:avLst/>
            <a:gdLst/>
            <a:ahLst/>
            <a:rect l="0" t="0" r="r" b="b"/>
            <a:pathLst>
              <a:path w="4023" h="2647">
                <a:moveTo>
                  <a:pt x="0" y="0"/>
                </a:moveTo>
                <a:lnTo>
                  <a:pt x="4023" y="0"/>
                </a:lnTo>
                <a:lnTo>
                  <a:pt x="402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2" name=""/>
          <p:cNvSpPr/>
          <p:nvPr/>
        </p:nvSpPr>
        <p:spPr>
          <a:xfrm>
            <a:off x="5476680" y="3362040"/>
            <a:ext cx="2467440" cy="952920"/>
          </a:xfrm>
          <a:custGeom>
            <a:avLst/>
            <a:gdLst/>
            <a:ahLst/>
            <a:rect l="0" t="0" r="r" b="b"/>
            <a:pathLst>
              <a:path w="6854" h="2647">
                <a:moveTo>
                  <a:pt x="0" y="0"/>
                </a:moveTo>
                <a:lnTo>
                  <a:pt x="6854" y="0"/>
                </a:lnTo>
                <a:lnTo>
                  <a:pt x="6854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3" name=""/>
          <p:cNvSpPr/>
          <p:nvPr/>
        </p:nvSpPr>
        <p:spPr>
          <a:xfrm>
            <a:off x="7943760" y="3362040"/>
            <a:ext cx="3495960" cy="952920"/>
          </a:xfrm>
          <a:custGeom>
            <a:avLst/>
            <a:gdLst/>
            <a:ahLst/>
            <a:rect l="0" t="0" r="r" b="b"/>
            <a:pathLst>
              <a:path w="9711" h="2647">
                <a:moveTo>
                  <a:pt x="0" y="0"/>
                </a:moveTo>
                <a:lnTo>
                  <a:pt x="9711" y="0"/>
                </a:lnTo>
                <a:lnTo>
                  <a:pt x="9711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4" name=""/>
          <p:cNvSpPr/>
          <p:nvPr/>
        </p:nvSpPr>
        <p:spPr>
          <a:xfrm>
            <a:off x="752400" y="4314600"/>
            <a:ext cx="3276720" cy="543240"/>
          </a:xfrm>
          <a:custGeom>
            <a:avLst/>
            <a:gdLst/>
            <a:ahLst/>
            <a:rect l="0" t="0" r="r" b="b"/>
            <a:pathLst>
              <a:path w="9102" h="1509">
                <a:moveTo>
                  <a:pt x="0" y="0"/>
                </a:moveTo>
                <a:lnTo>
                  <a:pt x="9102" y="0"/>
                </a:lnTo>
                <a:lnTo>
                  <a:pt x="910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5" name=""/>
          <p:cNvSpPr/>
          <p:nvPr/>
        </p:nvSpPr>
        <p:spPr>
          <a:xfrm>
            <a:off x="4028760" y="4314600"/>
            <a:ext cx="1448280" cy="543240"/>
          </a:xfrm>
          <a:custGeom>
            <a:avLst/>
            <a:gdLst/>
            <a:ahLst/>
            <a:rect l="0" t="0" r="r" b="b"/>
            <a:pathLst>
              <a:path w="4023" h="1509">
                <a:moveTo>
                  <a:pt x="0" y="0"/>
                </a:moveTo>
                <a:lnTo>
                  <a:pt x="4023" y="0"/>
                </a:lnTo>
                <a:lnTo>
                  <a:pt x="4023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6" name=""/>
          <p:cNvSpPr/>
          <p:nvPr/>
        </p:nvSpPr>
        <p:spPr>
          <a:xfrm>
            <a:off x="5476680" y="4314600"/>
            <a:ext cx="2467440" cy="543240"/>
          </a:xfrm>
          <a:custGeom>
            <a:avLst/>
            <a:gdLst/>
            <a:ahLst/>
            <a:rect l="0" t="0" r="r" b="b"/>
            <a:pathLst>
              <a:path w="6854" h="1509">
                <a:moveTo>
                  <a:pt x="0" y="0"/>
                </a:moveTo>
                <a:lnTo>
                  <a:pt x="6854" y="0"/>
                </a:lnTo>
                <a:lnTo>
                  <a:pt x="685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7" name=""/>
          <p:cNvSpPr/>
          <p:nvPr/>
        </p:nvSpPr>
        <p:spPr>
          <a:xfrm>
            <a:off x="7943760" y="4314600"/>
            <a:ext cx="3495960" cy="543240"/>
          </a:xfrm>
          <a:custGeom>
            <a:avLst/>
            <a:gdLst/>
            <a:ahLst/>
            <a:rect l="0" t="0" r="r" b="b"/>
            <a:pathLst>
              <a:path w="9711" h="1509">
                <a:moveTo>
                  <a:pt x="0" y="0"/>
                </a:moveTo>
                <a:lnTo>
                  <a:pt x="9711" y="0"/>
                </a:lnTo>
                <a:lnTo>
                  <a:pt x="971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8" name=""/>
          <p:cNvSpPr/>
          <p:nvPr/>
        </p:nvSpPr>
        <p:spPr>
          <a:xfrm>
            <a:off x="752400" y="4857480"/>
            <a:ext cx="3276720" cy="952920"/>
          </a:xfrm>
          <a:custGeom>
            <a:avLst/>
            <a:gdLst/>
            <a:ahLst/>
            <a:rect l="0" t="0" r="r" b="b"/>
            <a:pathLst>
              <a:path w="9102" h="2647">
                <a:moveTo>
                  <a:pt x="0" y="0"/>
                </a:moveTo>
                <a:lnTo>
                  <a:pt x="9102" y="0"/>
                </a:lnTo>
                <a:lnTo>
                  <a:pt x="9102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9" name=""/>
          <p:cNvSpPr/>
          <p:nvPr/>
        </p:nvSpPr>
        <p:spPr>
          <a:xfrm>
            <a:off x="4028760" y="4857480"/>
            <a:ext cx="1448280" cy="952920"/>
          </a:xfrm>
          <a:custGeom>
            <a:avLst/>
            <a:gdLst/>
            <a:ahLst/>
            <a:rect l="0" t="0" r="r" b="b"/>
            <a:pathLst>
              <a:path w="4023" h="2647">
                <a:moveTo>
                  <a:pt x="0" y="0"/>
                </a:moveTo>
                <a:lnTo>
                  <a:pt x="4023" y="0"/>
                </a:lnTo>
                <a:lnTo>
                  <a:pt x="402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0" name=""/>
          <p:cNvSpPr/>
          <p:nvPr/>
        </p:nvSpPr>
        <p:spPr>
          <a:xfrm>
            <a:off x="5476680" y="4857480"/>
            <a:ext cx="2467440" cy="952920"/>
          </a:xfrm>
          <a:custGeom>
            <a:avLst/>
            <a:gdLst/>
            <a:ahLst/>
            <a:rect l="0" t="0" r="r" b="b"/>
            <a:pathLst>
              <a:path w="6854" h="2647">
                <a:moveTo>
                  <a:pt x="0" y="0"/>
                </a:moveTo>
                <a:lnTo>
                  <a:pt x="6854" y="0"/>
                </a:lnTo>
                <a:lnTo>
                  <a:pt x="6854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1" name=""/>
          <p:cNvSpPr/>
          <p:nvPr/>
        </p:nvSpPr>
        <p:spPr>
          <a:xfrm>
            <a:off x="7943760" y="4857480"/>
            <a:ext cx="3495960" cy="952920"/>
          </a:xfrm>
          <a:custGeom>
            <a:avLst/>
            <a:gdLst/>
            <a:ahLst/>
            <a:rect l="0" t="0" r="r" b="b"/>
            <a:pathLst>
              <a:path w="9711" h="2647">
                <a:moveTo>
                  <a:pt x="0" y="0"/>
                </a:moveTo>
                <a:lnTo>
                  <a:pt x="9711" y="0"/>
                </a:lnTo>
                <a:lnTo>
                  <a:pt x="9711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2" name=""/>
          <p:cNvSpPr/>
          <p:nvPr/>
        </p:nvSpPr>
        <p:spPr>
          <a:xfrm>
            <a:off x="752400" y="5810040"/>
            <a:ext cx="3276720" cy="952920"/>
          </a:xfrm>
          <a:custGeom>
            <a:avLst/>
            <a:gdLst/>
            <a:ahLst/>
            <a:rect l="0" t="0" r="r" b="b"/>
            <a:pathLst>
              <a:path w="9102" h="2647">
                <a:moveTo>
                  <a:pt x="0" y="0"/>
                </a:moveTo>
                <a:lnTo>
                  <a:pt x="9102" y="0"/>
                </a:lnTo>
                <a:lnTo>
                  <a:pt x="9102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3" name=""/>
          <p:cNvSpPr/>
          <p:nvPr/>
        </p:nvSpPr>
        <p:spPr>
          <a:xfrm>
            <a:off x="4028760" y="5810040"/>
            <a:ext cx="1448280" cy="952920"/>
          </a:xfrm>
          <a:custGeom>
            <a:avLst/>
            <a:gdLst/>
            <a:ahLst/>
            <a:rect l="0" t="0" r="r" b="b"/>
            <a:pathLst>
              <a:path w="4023" h="2647">
                <a:moveTo>
                  <a:pt x="0" y="0"/>
                </a:moveTo>
                <a:lnTo>
                  <a:pt x="4023" y="0"/>
                </a:lnTo>
                <a:lnTo>
                  <a:pt x="402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4" name=""/>
          <p:cNvSpPr/>
          <p:nvPr/>
        </p:nvSpPr>
        <p:spPr>
          <a:xfrm>
            <a:off x="5476680" y="5810040"/>
            <a:ext cx="2467440" cy="952920"/>
          </a:xfrm>
          <a:custGeom>
            <a:avLst/>
            <a:gdLst/>
            <a:ahLst/>
            <a:rect l="0" t="0" r="r" b="b"/>
            <a:pathLst>
              <a:path w="6854" h="2647">
                <a:moveTo>
                  <a:pt x="0" y="0"/>
                </a:moveTo>
                <a:lnTo>
                  <a:pt x="6854" y="0"/>
                </a:lnTo>
                <a:lnTo>
                  <a:pt x="6854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5" name=""/>
          <p:cNvSpPr/>
          <p:nvPr/>
        </p:nvSpPr>
        <p:spPr>
          <a:xfrm>
            <a:off x="7943760" y="5810040"/>
            <a:ext cx="3495960" cy="952920"/>
          </a:xfrm>
          <a:custGeom>
            <a:avLst/>
            <a:gdLst/>
            <a:ahLst/>
            <a:rect l="0" t="0" r="r" b="b"/>
            <a:pathLst>
              <a:path w="9711" h="2647">
                <a:moveTo>
                  <a:pt x="0" y="0"/>
                </a:moveTo>
                <a:lnTo>
                  <a:pt x="9711" y="0"/>
                </a:lnTo>
                <a:lnTo>
                  <a:pt x="9711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6" name=""/>
          <p:cNvSpPr/>
          <p:nvPr/>
        </p:nvSpPr>
        <p:spPr>
          <a:xfrm>
            <a:off x="752400" y="145728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0"/>
                </a:moveTo>
                <a:lnTo>
                  <a:pt x="27" y="0"/>
                </a:lnTo>
                <a:lnTo>
                  <a:pt x="27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7" name=""/>
          <p:cNvSpPr/>
          <p:nvPr/>
        </p:nvSpPr>
        <p:spPr>
          <a:xfrm>
            <a:off x="752400" y="1457280"/>
            <a:ext cx="3276720" cy="9720"/>
          </a:xfrm>
          <a:custGeom>
            <a:avLst/>
            <a:gdLst/>
            <a:ahLst/>
            <a:rect l="0" t="0" r="r" b="b"/>
            <a:pathLst>
              <a:path w="9102" h="27">
                <a:moveTo>
                  <a:pt x="0" y="0"/>
                </a:moveTo>
                <a:lnTo>
                  <a:pt x="9102" y="0"/>
                </a:lnTo>
                <a:lnTo>
                  <a:pt x="910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8" name=""/>
          <p:cNvSpPr/>
          <p:nvPr/>
        </p:nvSpPr>
        <p:spPr>
          <a:xfrm>
            <a:off x="4019400" y="145728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0"/>
                </a:moveTo>
                <a:lnTo>
                  <a:pt x="27" y="0"/>
                </a:lnTo>
                <a:lnTo>
                  <a:pt x="27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9" name=""/>
          <p:cNvSpPr/>
          <p:nvPr/>
        </p:nvSpPr>
        <p:spPr>
          <a:xfrm>
            <a:off x="4028760" y="1457280"/>
            <a:ext cx="1457640" cy="9720"/>
          </a:xfrm>
          <a:custGeom>
            <a:avLst/>
            <a:gdLst/>
            <a:ahLst/>
            <a:rect l="0" t="0" r="r" b="b"/>
            <a:pathLst>
              <a:path w="4049" h="27">
                <a:moveTo>
                  <a:pt x="0" y="0"/>
                </a:moveTo>
                <a:lnTo>
                  <a:pt x="4049" y="0"/>
                </a:lnTo>
                <a:lnTo>
                  <a:pt x="404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0" name=""/>
          <p:cNvSpPr/>
          <p:nvPr/>
        </p:nvSpPr>
        <p:spPr>
          <a:xfrm>
            <a:off x="5476680" y="145728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0"/>
                </a:moveTo>
                <a:lnTo>
                  <a:pt x="27" y="0"/>
                </a:lnTo>
                <a:lnTo>
                  <a:pt x="27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1" name=""/>
          <p:cNvSpPr/>
          <p:nvPr/>
        </p:nvSpPr>
        <p:spPr>
          <a:xfrm>
            <a:off x="5486040" y="1457280"/>
            <a:ext cx="2467440" cy="9720"/>
          </a:xfrm>
          <a:custGeom>
            <a:avLst/>
            <a:gdLst/>
            <a:ahLst/>
            <a:rect l="0" t="0" r="r" b="b"/>
            <a:pathLst>
              <a:path w="6854" h="27">
                <a:moveTo>
                  <a:pt x="0" y="0"/>
                </a:moveTo>
                <a:lnTo>
                  <a:pt x="6854" y="0"/>
                </a:lnTo>
                <a:lnTo>
                  <a:pt x="685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2" name=""/>
          <p:cNvSpPr/>
          <p:nvPr/>
        </p:nvSpPr>
        <p:spPr>
          <a:xfrm>
            <a:off x="7943760" y="145728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0"/>
                </a:moveTo>
                <a:lnTo>
                  <a:pt x="27" y="0"/>
                </a:lnTo>
                <a:lnTo>
                  <a:pt x="27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3" name=""/>
          <p:cNvSpPr/>
          <p:nvPr/>
        </p:nvSpPr>
        <p:spPr>
          <a:xfrm>
            <a:off x="7953120" y="1457280"/>
            <a:ext cx="3495960" cy="9720"/>
          </a:xfrm>
          <a:custGeom>
            <a:avLst/>
            <a:gdLst/>
            <a:ahLst/>
            <a:rect l="0" t="0" r="r" b="b"/>
            <a:pathLst>
              <a:path w="9711" h="27">
                <a:moveTo>
                  <a:pt x="0" y="0"/>
                </a:moveTo>
                <a:lnTo>
                  <a:pt x="9711" y="0"/>
                </a:lnTo>
                <a:lnTo>
                  <a:pt x="97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4" name=""/>
          <p:cNvSpPr/>
          <p:nvPr/>
        </p:nvSpPr>
        <p:spPr>
          <a:xfrm>
            <a:off x="11439360" y="145728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0"/>
                </a:moveTo>
                <a:lnTo>
                  <a:pt x="27" y="0"/>
                </a:lnTo>
                <a:lnTo>
                  <a:pt x="27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5" name=""/>
          <p:cNvSpPr/>
          <p:nvPr/>
        </p:nvSpPr>
        <p:spPr>
          <a:xfrm>
            <a:off x="752400" y="2409480"/>
            <a:ext cx="3276720" cy="10080"/>
          </a:xfrm>
          <a:custGeom>
            <a:avLst/>
            <a:gdLst/>
            <a:ahLst/>
            <a:rect l="0" t="0" r="r" b="b"/>
            <a:pathLst>
              <a:path w="9102" h="28">
                <a:moveTo>
                  <a:pt x="0" y="0"/>
                </a:moveTo>
                <a:lnTo>
                  <a:pt x="9102" y="0"/>
                </a:lnTo>
                <a:lnTo>
                  <a:pt x="910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6" name=""/>
          <p:cNvSpPr/>
          <p:nvPr/>
        </p:nvSpPr>
        <p:spPr>
          <a:xfrm>
            <a:off x="4028760" y="2409480"/>
            <a:ext cx="1457640" cy="10080"/>
          </a:xfrm>
          <a:custGeom>
            <a:avLst/>
            <a:gdLst/>
            <a:ahLst/>
            <a:rect l="0" t="0" r="r" b="b"/>
            <a:pathLst>
              <a:path w="4049" h="28">
                <a:moveTo>
                  <a:pt x="0" y="0"/>
                </a:moveTo>
                <a:lnTo>
                  <a:pt x="4049" y="0"/>
                </a:lnTo>
                <a:lnTo>
                  <a:pt x="40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7" name=""/>
          <p:cNvSpPr/>
          <p:nvPr/>
        </p:nvSpPr>
        <p:spPr>
          <a:xfrm>
            <a:off x="5486040" y="2409480"/>
            <a:ext cx="2467440" cy="10080"/>
          </a:xfrm>
          <a:custGeom>
            <a:avLst/>
            <a:gdLst/>
            <a:ahLst/>
            <a:rect l="0" t="0" r="r" b="b"/>
            <a:pathLst>
              <a:path w="6854" h="28">
                <a:moveTo>
                  <a:pt x="0" y="0"/>
                </a:moveTo>
                <a:lnTo>
                  <a:pt x="6854" y="0"/>
                </a:lnTo>
                <a:lnTo>
                  <a:pt x="685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8" name=""/>
          <p:cNvSpPr/>
          <p:nvPr/>
        </p:nvSpPr>
        <p:spPr>
          <a:xfrm>
            <a:off x="7953120" y="2409480"/>
            <a:ext cx="3495960" cy="10080"/>
          </a:xfrm>
          <a:custGeom>
            <a:avLst/>
            <a:gdLst/>
            <a:ahLst/>
            <a:rect l="0" t="0" r="r" b="b"/>
            <a:pathLst>
              <a:path w="9711" h="28">
                <a:moveTo>
                  <a:pt x="0" y="0"/>
                </a:moveTo>
                <a:lnTo>
                  <a:pt x="9711" y="0"/>
                </a:lnTo>
                <a:lnTo>
                  <a:pt x="97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9" name=""/>
          <p:cNvSpPr/>
          <p:nvPr/>
        </p:nvSpPr>
        <p:spPr>
          <a:xfrm>
            <a:off x="752400" y="2419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0" name=""/>
          <p:cNvSpPr/>
          <p:nvPr/>
        </p:nvSpPr>
        <p:spPr>
          <a:xfrm>
            <a:off x="4019400" y="2419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1" name=""/>
          <p:cNvSpPr/>
          <p:nvPr/>
        </p:nvSpPr>
        <p:spPr>
          <a:xfrm>
            <a:off x="5476680" y="2419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2" name=""/>
          <p:cNvSpPr/>
          <p:nvPr/>
        </p:nvSpPr>
        <p:spPr>
          <a:xfrm>
            <a:off x="7943760" y="2419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3" name=""/>
          <p:cNvSpPr/>
          <p:nvPr/>
        </p:nvSpPr>
        <p:spPr>
          <a:xfrm>
            <a:off x="11439360" y="2419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4" name=""/>
          <p:cNvSpPr/>
          <p:nvPr/>
        </p:nvSpPr>
        <p:spPr>
          <a:xfrm>
            <a:off x="752400" y="33717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5" name=""/>
          <p:cNvSpPr/>
          <p:nvPr/>
        </p:nvSpPr>
        <p:spPr>
          <a:xfrm>
            <a:off x="752400" y="3362040"/>
            <a:ext cx="3276720" cy="10080"/>
          </a:xfrm>
          <a:custGeom>
            <a:avLst/>
            <a:gdLst/>
            <a:ahLst/>
            <a:rect l="0" t="0" r="r" b="b"/>
            <a:pathLst>
              <a:path w="9102" h="28">
                <a:moveTo>
                  <a:pt x="0" y="0"/>
                </a:moveTo>
                <a:lnTo>
                  <a:pt x="9102" y="0"/>
                </a:lnTo>
                <a:lnTo>
                  <a:pt x="910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6" name=""/>
          <p:cNvSpPr/>
          <p:nvPr/>
        </p:nvSpPr>
        <p:spPr>
          <a:xfrm>
            <a:off x="4019400" y="33717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7" name=""/>
          <p:cNvSpPr/>
          <p:nvPr/>
        </p:nvSpPr>
        <p:spPr>
          <a:xfrm>
            <a:off x="4028760" y="3362040"/>
            <a:ext cx="1457640" cy="10080"/>
          </a:xfrm>
          <a:custGeom>
            <a:avLst/>
            <a:gdLst/>
            <a:ahLst/>
            <a:rect l="0" t="0" r="r" b="b"/>
            <a:pathLst>
              <a:path w="4049" h="28">
                <a:moveTo>
                  <a:pt x="0" y="0"/>
                </a:moveTo>
                <a:lnTo>
                  <a:pt x="4049" y="0"/>
                </a:lnTo>
                <a:lnTo>
                  <a:pt x="40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8" name=""/>
          <p:cNvSpPr/>
          <p:nvPr/>
        </p:nvSpPr>
        <p:spPr>
          <a:xfrm>
            <a:off x="5476680" y="33717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9" name=""/>
          <p:cNvSpPr/>
          <p:nvPr/>
        </p:nvSpPr>
        <p:spPr>
          <a:xfrm>
            <a:off x="5486040" y="3362040"/>
            <a:ext cx="2467440" cy="10080"/>
          </a:xfrm>
          <a:custGeom>
            <a:avLst/>
            <a:gdLst/>
            <a:ahLst/>
            <a:rect l="0" t="0" r="r" b="b"/>
            <a:pathLst>
              <a:path w="6854" h="28">
                <a:moveTo>
                  <a:pt x="0" y="0"/>
                </a:moveTo>
                <a:lnTo>
                  <a:pt x="6854" y="0"/>
                </a:lnTo>
                <a:lnTo>
                  <a:pt x="685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0" name=""/>
          <p:cNvSpPr/>
          <p:nvPr/>
        </p:nvSpPr>
        <p:spPr>
          <a:xfrm>
            <a:off x="7943760" y="33717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1" name=""/>
          <p:cNvSpPr/>
          <p:nvPr/>
        </p:nvSpPr>
        <p:spPr>
          <a:xfrm>
            <a:off x="7953120" y="3362040"/>
            <a:ext cx="3495960" cy="10080"/>
          </a:xfrm>
          <a:custGeom>
            <a:avLst/>
            <a:gdLst/>
            <a:ahLst/>
            <a:rect l="0" t="0" r="r" b="b"/>
            <a:pathLst>
              <a:path w="9711" h="28">
                <a:moveTo>
                  <a:pt x="0" y="0"/>
                </a:moveTo>
                <a:lnTo>
                  <a:pt x="9711" y="0"/>
                </a:lnTo>
                <a:lnTo>
                  <a:pt x="97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2" name=""/>
          <p:cNvSpPr/>
          <p:nvPr/>
        </p:nvSpPr>
        <p:spPr>
          <a:xfrm>
            <a:off x="11439360" y="33717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3" name=""/>
          <p:cNvSpPr/>
          <p:nvPr/>
        </p:nvSpPr>
        <p:spPr>
          <a:xfrm>
            <a:off x="752400" y="432432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4" name=""/>
          <p:cNvSpPr/>
          <p:nvPr/>
        </p:nvSpPr>
        <p:spPr>
          <a:xfrm>
            <a:off x="752400" y="4314600"/>
            <a:ext cx="3276720" cy="10080"/>
          </a:xfrm>
          <a:custGeom>
            <a:avLst/>
            <a:gdLst/>
            <a:ahLst/>
            <a:rect l="0" t="0" r="r" b="b"/>
            <a:pathLst>
              <a:path w="9102" h="28">
                <a:moveTo>
                  <a:pt x="0" y="0"/>
                </a:moveTo>
                <a:lnTo>
                  <a:pt x="9102" y="0"/>
                </a:lnTo>
                <a:lnTo>
                  <a:pt x="910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5" name=""/>
          <p:cNvSpPr/>
          <p:nvPr/>
        </p:nvSpPr>
        <p:spPr>
          <a:xfrm>
            <a:off x="4019400" y="432432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6" name=""/>
          <p:cNvSpPr/>
          <p:nvPr/>
        </p:nvSpPr>
        <p:spPr>
          <a:xfrm>
            <a:off x="4028760" y="4314600"/>
            <a:ext cx="1457640" cy="10080"/>
          </a:xfrm>
          <a:custGeom>
            <a:avLst/>
            <a:gdLst/>
            <a:ahLst/>
            <a:rect l="0" t="0" r="r" b="b"/>
            <a:pathLst>
              <a:path w="4049" h="28">
                <a:moveTo>
                  <a:pt x="0" y="0"/>
                </a:moveTo>
                <a:lnTo>
                  <a:pt x="4049" y="0"/>
                </a:lnTo>
                <a:lnTo>
                  <a:pt x="40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7" name=""/>
          <p:cNvSpPr/>
          <p:nvPr/>
        </p:nvSpPr>
        <p:spPr>
          <a:xfrm>
            <a:off x="5476680" y="432432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8" name=""/>
          <p:cNvSpPr/>
          <p:nvPr/>
        </p:nvSpPr>
        <p:spPr>
          <a:xfrm>
            <a:off x="5486040" y="4314600"/>
            <a:ext cx="2467440" cy="10080"/>
          </a:xfrm>
          <a:custGeom>
            <a:avLst/>
            <a:gdLst/>
            <a:ahLst/>
            <a:rect l="0" t="0" r="r" b="b"/>
            <a:pathLst>
              <a:path w="6854" h="28">
                <a:moveTo>
                  <a:pt x="0" y="0"/>
                </a:moveTo>
                <a:lnTo>
                  <a:pt x="6854" y="0"/>
                </a:lnTo>
                <a:lnTo>
                  <a:pt x="685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9" name=""/>
          <p:cNvSpPr/>
          <p:nvPr/>
        </p:nvSpPr>
        <p:spPr>
          <a:xfrm>
            <a:off x="7943760" y="432432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0" name=""/>
          <p:cNvSpPr/>
          <p:nvPr/>
        </p:nvSpPr>
        <p:spPr>
          <a:xfrm>
            <a:off x="7953120" y="4314600"/>
            <a:ext cx="3495960" cy="10080"/>
          </a:xfrm>
          <a:custGeom>
            <a:avLst/>
            <a:gdLst/>
            <a:ahLst/>
            <a:rect l="0" t="0" r="r" b="b"/>
            <a:pathLst>
              <a:path w="9711" h="28">
                <a:moveTo>
                  <a:pt x="0" y="0"/>
                </a:moveTo>
                <a:lnTo>
                  <a:pt x="9711" y="0"/>
                </a:lnTo>
                <a:lnTo>
                  <a:pt x="97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1" name=""/>
          <p:cNvSpPr/>
          <p:nvPr/>
        </p:nvSpPr>
        <p:spPr>
          <a:xfrm>
            <a:off x="11439360" y="432432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2" name=""/>
          <p:cNvSpPr/>
          <p:nvPr/>
        </p:nvSpPr>
        <p:spPr>
          <a:xfrm>
            <a:off x="752400" y="485748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3" name=""/>
          <p:cNvSpPr/>
          <p:nvPr/>
        </p:nvSpPr>
        <p:spPr>
          <a:xfrm>
            <a:off x="752400" y="4848120"/>
            <a:ext cx="3276720" cy="9720"/>
          </a:xfrm>
          <a:custGeom>
            <a:avLst/>
            <a:gdLst/>
            <a:ahLst/>
            <a:rect l="0" t="0" r="r" b="b"/>
            <a:pathLst>
              <a:path w="9102" h="27">
                <a:moveTo>
                  <a:pt x="0" y="0"/>
                </a:moveTo>
                <a:lnTo>
                  <a:pt x="9102" y="0"/>
                </a:lnTo>
                <a:lnTo>
                  <a:pt x="910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4" name=""/>
          <p:cNvSpPr/>
          <p:nvPr/>
        </p:nvSpPr>
        <p:spPr>
          <a:xfrm>
            <a:off x="4019400" y="485748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5" name=""/>
          <p:cNvSpPr/>
          <p:nvPr/>
        </p:nvSpPr>
        <p:spPr>
          <a:xfrm>
            <a:off x="4028760" y="4848120"/>
            <a:ext cx="1457640" cy="9720"/>
          </a:xfrm>
          <a:custGeom>
            <a:avLst/>
            <a:gdLst/>
            <a:ahLst/>
            <a:rect l="0" t="0" r="r" b="b"/>
            <a:pathLst>
              <a:path w="4049" h="27">
                <a:moveTo>
                  <a:pt x="0" y="0"/>
                </a:moveTo>
                <a:lnTo>
                  <a:pt x="4049" y="0"/>
                </a:lnTo>
                <a:lnTo>
                  <a:pt x="404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6" name=""/>
          <p:cNvSpPr/>
          <p:nvPr/>
        </p:nvSpPr>
        <p:spPr>
          <a:xfrm>
            <a:off x="5476680" y="485748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7" name=""/>
          <p:cNvSpPr/>
          <p:nvPr/>
        </p:nvSpPr>
        <p:spPr>
          <a:xfrm>
            <a:off x="5486040" y="4848120"/>
            <a:ext cx="2467440" cy="9720"/>
          </a:xfrm>
          <a:custGeom>
            <a:avLst/>
            <a:gdLst/>
            <a:ahLst/>
            <a:rect l="0" t="0" r="r" b="b"/>
            <a:pathLst>
              <a:path w="6854" h="27">
                <a:moveTo>
                  <a:pt x="0" y="0"/>
                </a:moveTo>
                <a:lnTo>
                  <a:pt x="6854" y="0"/>
                </a:lnTo>
                <a:lnTo>
                  <a:pt x="685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8" name=""/>
          <p:cNvSpPr/>
          <p:nvPr/>
        </p:nvSpPr>
        <p:spPr>
          <a:xfrm>
            <a:off x="7943760" y="485748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9" name=""/>
          <p:cNvSpPr/>
          <p:nvPr/>
        </p:nvSpPr>
        <p:spPr>
          <a:xfrm>
            <a:off x="7953120" y="4848120"/>
            <a:ext cx="3495960" cy="9720"/>
          </a:xfrm>
          <a:custGeom>
            <a:avLst/>
            <a:gdLst/>
            <a:ahLst/>
            <a:rect l="0" t="0" r="r" b="b"/>
            <a:pathLst>
              <a:path w="9711" h="27">
                <a:moveTo>
                  <a:pt x="0" y="0"/>
                </a:moveTo>
                <a:lnTo>
                  <a:pt x="9711" y="0"/>
                </a:lnTo>
                <a:lnTo>
                  <a:pt x="97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0" name=""/>
          <p:cNvSpPr/>
          <p:nvPr/>
        </p:nvSpPr>
        <p:spPr>
          <a:xfrm>
            <a:off x="11439360" y="485748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1" name=""/>
          <p:cNvSpPr/>
          <p:nvPr/>
        </p:nvSpPr>
        <p:spPr>
          <a:xfrm>
            <a:off x="752400" y="581004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2" name=""/>
          <p:cNvSpPr/>
          <p:nvPr/>
        </p:nvSpPr>
        <p:spPr>
          <a:xfrm>
            <a:off x="752400" y="5800680"/>
            <a:ext cx="3276720" cy="9720"/>
          </a:xfrm>
          <a:custGeom>
            <a:avLst/>
            <a:gdLst/>
            <a:ahLst/>
            <a:rect l="0" t="0" r="r" b="b"/>
            <a:pathLst>
              <a:path w="9102" h="27">
                <a:moveTo>
                  <a:pt x="0" y="0"/>
                </a:moveTo>
                <a:lnTo>
                  <a:pt x="9102" y="0"/>
                </a:lnTo>
                <a:lnTo>
                  <a:pt x="910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3" name=""/>
          <p:cNvSpPr/>
          <p:nvPr/>
        </p:nvSpPr>
        <p:spPr>
          <a:xfrm>
            <a:off x="4019400" y="581004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4" name=""/>
          <p:cNvSpPr/>
          <p:nvPr/>
        </p:nvSpPr>
        <p:spPr>
          <a:xfrm>
            <a:off x="4028760" y="5800680"/>
            <a:ext cx="1457640" cy="9720"/>
          </a:xfrm>
          <a:custGeom>
            <a:avLst/>
            <a:gdLst/>
            <a:ahLst/>
            <a:rect l="0" t="0" r="r" b="b"/>
            <a:pathLst>
              <a:path w="4049" h="27">
                <a:moveTo>
                  <a:pt x="0" y="0"/>
                </a:moveTo>
                <a:lnTo>
                  <a:pt x="4049" y="0"/>
                </a:lnTo>
                <a:lnTo>
                  <a:pt x="404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5" name=""/>
          <p:cNvSpPr/>
          <p:nvPr/>
        </p:nvSpPr>
        <p:spPr>
          <a:xfrm>
            <a:off x="5476680" y="581004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6" name=""/>
          <p:cNvSpPr/>
          <p:nvPr/>
        </p:nvSpPr>
        <p:spPr>
          <a:xfrm>
            <a:off x="5486040" y="5800680"/>
            <a:ext cx="2467440" cy="9720"/>
          </a:xfrm>
          <a:custGeom>
            <a:avLst/>
            <a:gdLst/>
            <a:ahLst/>
            <a:rect l="0" t="0" r="r" b="b"/>
            <a:pathLst>
              <a:path w="6854" h="27">
                <a:moveTo>
                  <a:pt x="0" y="0"/>
                </a:moveTo>
                <a:lnTo>
                  <a:pt x="6854" y="0"/>
                </a:lnTo>
                <a:lnTo>
                  <a:pt x="685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7" name=""/>
          <p:cNvSpPr/>
          <p:nvPr/>
        </p:nvSpPr>
        <p:spPr>
          <a:xfrm>
            <a:off x="7943760" y="581004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8" name=""/>
          <p:cNvSpPr/>
          <p:nvPr/>
        </p:nvSpPr>
        <p:spPr>
          <a:xfrm>
            <a:off x="7953120" y="5800680"/>
            <a:ext cx="3495960" cy="9720"/>
          </a:xfrm>
          <a:custGeom>
            <a:avLst/>
            <a:gdLst/>
            <a:ahLst/>
            <a:rect l="0" t="0" r="r" b="b"/>
            <a:pathLst>
              <a:path w="9711" h="27">
                <a:moveTo>
                  <a:pt x="0" y="0"/>
                </a:moveTo>
                <a:lnTo>
                  <a:pt x="9711" y="0"/>
                </a:lnTo>
                <a:lnTo>
                  <a:pt x="97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9" name=""/>
          <p:cNvSpPr/>
          <p:nvPr/>
        </p:nvSpPr>
        <p:spPr>
          <a:xfrm>
            <a:off x="11439360" y="581004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0" name=""/>
          <p:cNvSpPr/>
          <p:nvPr/>
        </p:nvSpPr>
        <p:spPr>
          <a:xfrm>
            <a:off x="752400" y="6752880"/>
            <a:ext cx="3276720" cy="10440"/>
          </a:xfrm>
          <a:custGeom>
            <a:avLst/>
            <a:gdLst/>
            <a:ahLst/>
            <a:rect l="0" t="0" r="r" b="b"/>
            <a:pathLst>
              <a:path w="9102" h="29">
                <a:moveTo>
                  <a:pt x="0" y="0"/>
                </a:moveTo>
                <a:lnTo>
                  <a:pt x="9102" y="0"/>
                </a:lnTo>
                <a:lnTo>
                  <a:pt x="9102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1" name=""/>
          <p:cNvSpPr/>
          <p:nvPr/>
        </p:nvSpPr>
        <p:spPr>
          <a:xfrm>
            <a:off x="4028760" y="6752880"/>
            <a:ext cx="1457640" cy="10440"/>
          </a:xfrm>
          <a:custGeom>
            <a:avLst/>
            <a:gdLst/>
            <a:ahLst/>
            <a:rect l="0" t="0" r="r" b="b"/>
            <a:pathLst>
              <a:path w="4049" h="29">
                <a:moveTo>
                  <a:pt x="0" y="0"/>
                </a:moveTo>
                <a:lnTo>
                  <a:pt x="4049" y="0"/>
                </a:lnTo>
                <a:lnTo>
                  <a:pt x="4049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2" name=""/>
          <p:cNvSpPr/>
          <p:nvPr/>
        </p:nvSpPr>
        <p:spPr>
          <a:xfrm>
            <a:off x="5486040" y="6752880"/>
            <a:ext cx="2467440" cy="10440"/>
          </a:xfrm>
          <a:custGeom>
            <a:avLst/>
            <a:gdLst/>
            <a:ahLst/>
            <a:rect l="0" t="0" r="r" b="b"/>
            <a:pathLst>
              <a:path w="6854" h="29">
                <a:moveTo>
                  <a:pt x="0" y="0"/>
                </a:moveTo>
                <a:lnTo>
                  <a:pt x="6854" y="0"/>
                </a:lnTo>
                <a:lnTo>
                  <a:pt x="6854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3" name=""/>
          <p:cNvSpPr/>
          <p:nvPr/>
        </p:nvSpPr>
        <p:spPr>
          <a:xfrm>
            <a:off x="7953120" y="6752880"/>
            <a:ext cx="3495960" cy="10440"/>
          </a:xfrm>
          <a:custGeom>
            <a:avLst/>
            <a:gdLst/>
            <a:ahLst/>
            <a:rect l="0" t="0" r="r" b="b"/>
            <a:pathLst>
              <a:path w="9711" h="29">
                <a:moveTo>
                  <a:pt x="0" y="0"/>
                </a:moveTo>
                <a:lnTo>
                  <a:pt x="9711" y="0"/>
                </a:lnTo>
                <a:lnTo>
                  <a:pt x="9711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4" name=""/>
          <p:cNvSpPr txBox="1"/>
          <p:nvPr/>
        </p:nvSpPr>
        <p:spPr>
          <a:xfrm>
            <a:off x="747720" y="770400"/>
            <a:ext cx="743616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4 — Simply Static: expected numbers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5" name=""/>
          <p:cNvSpPr txBox="1"/>
          <p:nvPr/>
        </p:nvSpPr>
        <p:spPr>
          <a:xfrm>
            <a:off x="1982520" y="1778760"/>
            <a:ext cx="812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Metric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6" name=""/>
          <p:cNvSpPr txBox="1"/>
          <p:nvPr/>
        </p:nvSpPr>
        <p:spPr>
          <a:xfrm>
            <a:off x="4284360" y="177876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2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7" name=""/>
          <p:cNvSpPr txBox="1"/>
          <p:nvPr/>
        </p:nvSpPr>
        <p:spPr>
          <a:xfrm>
            <a:off x="6244560" y="156924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4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8" name=""/>
          <p:cNvSpPr txBox="1"/>
          <p:nvPr/>
        </p:nvSpPr>
        <p:spPr>
          <a:xfrm>
            <a:off x="5976000" y="1978920"/>
            <a:ext cx="1471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(estimated)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9" name=""/>
          <p:cNvSpPr txBox="1"/>
          <p:nvPr/>
        </p:nvSpPr>
        <p:spPr>
          <a:xfrm>
            <a:off x="9401760" y="1778760"/>
            <a:ext cx="582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Why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0" name=""/>
          <p:cNvSpPr txBox="1"/>
          <p:nvPr/>
        </p:nvSpPr>
        <p:spPr>
          <a:xfrm>
            <a:off x="880920" y="2521800"/>
            <a:ext cx="2870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requests/s @ 50 Virtual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1" name=""/>
          <p:cNvSpPr txBox="1"/>
          <p:nvPr/>
        </p:nvSpPr>
        <p:spPr>
          <a:xfrm>
            <a:off x="880920" y="2931480"/>
            <a:ext cx="720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Users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2" name=""/>
          <p:cNvSpPr txBox="1"/>
          <p:nvPr/>
        </p:nvSpPr>
        <p:spPr>
          <a:xfrm>
            <a:off x="4155120" y="2731320"/>
            <a:ext cx="928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~70–75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3" name=""/>
          <p:cNvSpPr txBox="1"/>
          <p:nvPr/>
        </p:nvSpPr>
        <p:spPr>
          <a:xfrm>
            <a:off x="5607360" y="2731320"/>
            <a:ext cx="1465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500–1,500+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4" name=""/>
          <p:cNvSpPr txBox="1"/>
          <p:nvPr/>
        </p:nvSpPr>
        <p:spPr>
          <a:xfrm>
            <a:off x="8075880" y="2521800"/>
            <a:ext cx="2192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SSD read vs PHP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5" name=""/>
          <p:cNvSpPr txBox="1"/>
          <p:nvPr/>
        </p:nvSpPr>
        <p:spPr>
          <a:xfrm>
            <a:off x="8075880" y="2931480"/>
            <a:ext cx="1180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execution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6" name=""/>
          <p:cNvSpPr txBox="1"/>
          <p:nvPr/>
        </p:nvSpPr>
        <p:spPr>
          <a:xfrm>
            <a:off x="880920" y="3683880"/>
            <a:ext cx="1503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p95 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7" name=""/>
          <p:cNvSpPr txBox="1"/>
          <p:nvPr/>
        </p:nvSpPr>
        <p:spPr>
          <a:xfrm>
            <a:off x="4155120" y="3474360"/>
            <a:ext cx="928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~70–80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8" name=""/>
          <p:cNvSpPr txBox="1"/>
          <p:nvPr/>
        </p:nvSpPr>
        <p:spPr>
          <a:xfrm>
            <a:off x="4155120" y="3884040"/>
            <a:ext cx="367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9" name=""/>
          <p:cNvSpPr txBox="1"/>
          <p:nvPr/>
        </p:nvSpPr>
        <p:spPr>
          <a:xfrm>
            <a:off x="5607360" y="3683880"/>
            <a:ext cx="1096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~3–5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0" name=""/>
          <p:cNvSpPr txBox="1"/>
          <p:nvPr/>
        </p:nvSpPr>
        <p:spPr>
          <a:xfrm>
            <a:off x="8075880" y="3683880"/>
            <a:ext cx="3080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file serve vs 300 DB calls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1" name=""/>
          <p:cNvSpPr txBox="1"/>
          <p:nvPr/>
        </p:nvSpPr>
        <p:spPr>
          <a:xfrm>
            <a:off x="880920" y="4426920"/>
            <a:ext cx="2978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CPU @ 50 Virtual Users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2" name=""/>
          <p:cNvSpPr txBox="1"/>
          <p:nvPr/>
        </p:nvSpPr>
        <p:spPr>
          <a:xfrm>
            <a:off x="4155120" y="442692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~18%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3" name=""/>
          <p:cNvSpPr txBox="1"/>
          <p:nvPr/>
        </p:nvSpPr>
        <p:spPr>
          <a:xfrm>
            <a:off x="5607360" y="4426920"/>
            <a:ext cx="560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&lt;3%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4" name=""/>
          <p:cNvSpPr txBox="1"/>
          <p:nvPr/>
        </p:nvSpPr>
        <p:spPr>
          <a:xfrm>
            <a:off x="8075880" y="4426920"/>
            <a:ext cx="2406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no PHP, no MySQL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5" name=""/>
          <p:cNvSpPr txBox="1"/>
          <p:nvPr/>
        </p:nvSpPr>
        <p:spPr>
          <a:xfrm>
            <a:off x="880920" y="5169600"/>
            <a:ext cx="1471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DB Threads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6" name=""/>
          <p:cNvSpPr txBox="1"/>
          <p:nvPr/>
        </p:nvSpPr>
        <p:spPr>
          <a:xfrm>
            <a:off x="4155120" y="5169600"/>
            <a:ext cx="314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7" name=""/>
          <p:cNvSpPr txBox="1"/>
          <p:nvPr/>
        </p:nvSpPr>
        <p:spPr>
          <a:xfrm>
            <a:off x="5607360" y="5169600"/>
            <a:ext cx="314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8" name=""/>
          <p:cNvSpPr txBox="1"/>
          <p:nvPr/>
        </p:nvSpPr>
        <p:spPr>
          <a:xfrm>
            <a:off x="8075880" y="4960080"/>
            <a:ext cx="2943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anonymous traffic never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9" name=""/>
          <p:cNvSpPr txBox="1"/>
          <p:nvPr/>
        </p:nvSpPr>
        <p:spPr>
          <a:xfrm>
            <a:off x="8075880" y="5379120"/>
            <a:ext cx="889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hits DB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0" name=""/>
          <p:cNvSpPr txBox="1"/>
          <p:nvPr/>
        </p:nvSpPr>
        <p:spPr>
          <a:xfrm>
            <a:off x="880920" y="6122160"/>
            <a:ext cx="2606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PHP workers needed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1" name=""/>
          <p:cNvSpPr txBox="1"/>
          <p:nvPr/>
        </p:nvSpPr>
        <p:spPr>
          <a:xfrm>
            <a:off x="4155120" y="6122160"/>
            <a:ext cx="468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2" name=""/>
          <p:cNvSpPr txBox="1"/>
          <p:nvPr/>
        </p:nvSpPr>
        <p:spPr>
          <a:xfrm>
            <a:off x="5607360" y="6122160"/>
            <a:ext cx="314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3" name=""/>
          <p:cNvSpPr txBox="1"/>
          <p:nvPr/>
        </p:nvSpPr>
        <p:spPr>
          <a:xfrm>
            <a:off x="8075880" y="5912640"/>
            <a:ext cx="2820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static files bypass FPM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4" name=""/>
          <p:cNvSpPr txBox="1"/>
          <p:nvPr/>
        </p:nvSpPr>
        <p:spPr>
          <a:xfrm>
            <a:off x="8075880" y="6331680"/>
            <a:ext cx="889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entirely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6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8" name=""/>
          <p:cNvSpPr/>
          <p:nvPr/>
        </p:nvSpPr>
        <p:spPr>
          <a:xfrm>
            <a:off x="752400" y="5743440"/>
            <a:ext cx="3143520" cy="533880"/>
          </a:xfrm>
          <a:custGeom>
            <a:avLst/>
            <a:gdLst/>
            <a:ahLst/>
            <a:rect l="0" t="0" r="r" b="b"/>
            <a:pathLst>
              <a:path w="8732" h="1483">
                <a:moveTo>
                  <a:pt x="0" y="0"/>
                </a:moveTo>
                <a:lnTo>
                  <a:pt x="8732" y="0"/>
                </a:lnTo>
                <a:lnTo>
                  <a:pt x="8732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9" name=""/>
          <p:cNvSpPr/>
          <p:nvPr/>
        </p:nvSpPr>
        <p:spPr>
          <a:xfrm>
            <a:off x="3895560" y="5743440"/>
            <a:ext cx="2210040" cy="533880"/>
          </a:xfrm>
          <a:custGeom>
            <a:avLst/>
            <a:gdLst/>
            <a:ahLst/>
            <a:rect l="0" t="0" r="r" b="b"/>
            <a:pathLst>
              <a:path w="6139" h="1483">
                <a:moveTo>
                  <a:pt x="0" y="0"/>
                </a:moveTo>
                <a:lnTo>
                  <a:pt x="6139" y="0"/>
                </a:lnTo>
                <a:lnTo>
                  <a:pt x="613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0" name=""/>
          <p:cNvSpPr/>
          <p:nvPr/>
        </p:nvSpPr>
        <p:spPr>
          <a:xfrm>
            <a:off x="6105240" y="5743440"/>
            <a:ext cx="3057840" cy="533880"/>
          </a:xfrm>
          <a:custGeom>
            <a:avLst/>
            <a:gdLst/>
            <a:ahLst/>
            <a:rect l="0" t="0" r="r" b="b"/>
            <a:pathLst>
              <a:path w="8494" h="1483">
                <a:moveTo>
                  <a:pt x="0" y="0"/>
                </a:moveTo>
                <a:lnTo>
                  <a:pt x="8494" y="0"/>
                </a:lnTo>
                <a:lnTo>
                  <a:pt x="8494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1" name=""/>
          <p:cNvSpPr/>
          <p:nvPr/>
        </p:nvSpPr>
        <p:spPr>
          <a:xfrm>
            <a:off x="9162720" y="5743440"/>
            <a:ext cx="1591200" cy="533880"/>
          </a:xfrm>
          <a:custGeom>
            <a:avLst/>
            <a:gdLst/>
            <a:ahLst/>
            <a:rect l="0" t="0" r="r" b="b"/>
            <a:pathLst>
              <a:path w="4420" h="1483">
                <a:moveTo>
                  <a:pt x="0" y="0"/>
                </a:moveTo>
                <a:lnTo>
                  <a:pt x="4420" y="0"/>
                </a:lnTo>
                <a:lnTo>
                  <a:pt x="4420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2" name=""/>
          <p:cNvSpPr/>
          <p:nvPr/>
        </p:nvSpPr>
        <p:spPr>
          <a:xfrm>
            <a:off x="752400" y="6276960"/>
            <a:ext cx="3143520" cy="543240"/>
          </a:xfrm>
          <a:custGeom>
            <a:avLst/>
            <a:gdLst/>
            <a:ahLst/>
            <a:rect l="0" t="0" r="r" b="b"/>
            <a:pathLst>
              <a:path w="8732" h="1509">
                <a:moveTo>
                  <a:pt x="0" y="0"/>
                </a:moveTo>
                <a:lnTo>
                  <a:pt x="8732" y="0"/>
                </a:lnTo>
                <a:lnTo>
                  <a:pt x="873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3" name=""/>
          <p:cNvSpPr/>
          <p:nvPr/>
        </p:nvSpPr>
        <p:spPr>
          <a:xfrm>
            <a:off x="3895560" y="6276960"/>
            <a:ext cx="2210040" cy="543240"/>
          </a:xfrm>
          <a:custGeom>
            <a:avLst/>
            <a:gdLst/>
            <a:ahLst/>
            <a:rect l="0" t="0" r="r" b="b"/>
            <a:pathLst>
              <a:path w="6139" h="1509">
                <a:moveTo>
                  <a:pt x="0" y="0"/>
                </a:moveTo>
                <a:lnTo>
                  <a:pt x="6139" y="0"/>
                </a:lnTo>
                <a:lnTo>
                  <a:pt x="613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4" name=""/>
          <p:cNvSpPr/>
          <p:nvPr/>
        </p:nvSpPr>
        <p:spPr>
          <a:xfrm>
            <a:off x="6105240" y="6276960"/>
            <a:ext cx="3057840" cy="543240"/>
          </a:xfrm>
          <a:custGeom>
            <a:avLst/>
            <a:gdLst/>
            <a:ahLst/>
            <a:rect l="0" t="0" r="r" b="b"/>
            <a:pathLst>
              <a:path w="8494" h="1509">
                <a:moveTo>
                  <a:pt x="0" y="0"/>
                </a:moveTo>
                <a:lnTo>
                  <a:pt x="8494" y="0"/>
                </a:lnTo>
                <a:lnTo>
                  <a:pt x="849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5" name=""/>
          <p:cNvSpPr/>
          <p:nvPr/>
        </p:nvSpPr>
        <p:spPr>
          <a:xfrm>
            <a:off x="9162720" y="6276960"/>
            <a:ext cx="1591200" cy="543240"/>
          </a:xfrm>
          <a:custGeom>
            <a:avLst/>
            <a:gdLst/>
            <a:ahLst/>
            <a:rect l="0" t="0" r="r" b="b"/>
            <a:pathLst>
              <a:path w="4420" h="1509">
                <a:moveTo>
                  <a:pt x="0" y="0"/>
                </a:moveTo>
                <a:lnTo>
                  <a:pt x="4420" y="0"/>
                </a:lnTo>
                <a:lnTo>
                  <a:pt x="442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6" name=""/>
          <p:cNvSpPr/>
          <p:nvPr/>
        </p:nvSpPr>
        <p:spPr>
          <a:xfrm>
            <a:off x="752400" y="6819840"/>
            <a:ext cx="3143520" cy="533520"/>
          </a:xfrm>
          <a:custGeom>
            <a:avLst/>
            <a:gdLst/>
            <a:ahLst/>
            <a:rect l="0" t="0" r="r" b="b"/>
            <a:pathLst>
              <a:path w="8732" h="1482">
                <a:moveTo>
                  <a:pt x="0" y="0"/>
                </a:moveTo>
                <a:lnTo>
                  <a:pt x="8732" y="0"/>
                </a:lnTo>
                <a:lnTo>
                  <a:pt x="8732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7" name=""/>
          <p:cNvSpPr/>
          <p:nvPr/>
        </p:nvSpPr>
        <p:spPr>
          <a:xfrm>
            <a:off x="3895560" y="6819840"/>
            <a:ext cx="2210040" cy="533520"/>
          </a:xfrm>
          <a:custGeom>
            <a:avLst/>
            <a:gdLst/>
            <a:ahLst/>
            <a:rect l="0" t="0" r="r" b="b"/>
            <a:pathLst>
              <a:path w="6139" h="1482">
                <a:moveTo>
                  <a:pt x="0" y="0"/>
                </a:moveTo>
                <a:lnTo>
                  <a:pt x="6139" y="0"/>
                </a:lnTo>
                <a:lnTo>
                  <a:pt x="6139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8" name=""/>
          <p:cNvSpPr/>
          <p:nvPr/>
        </p:nvSpPr>
        <p:spPr>
          <a:xfrm>
            <a:off x="6105240" y="6819840"/>
            <a:ext cx="3057840" cy="533520"/>
          </a:xfrm>
          <a:custGeom>
            <a:avLst/>
            <a:gdLst/>
            <a:ahLst/>
            <a:rect l="0" t="0" r="r" b="b"/>
            <a:pathLst>
              <a:path w="8494" h="1482">
                <a:moveTo>
                  <a:pt x="0" y="0"/>
                </a:moveTo>
                <a:lnTo>
                  <a:pt x="8494" y="0"/>
                </a:lnTo>
                <a:lnTo>
                  <a:pt x="8494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9" name=""/>
          <p:cNvSpPr/>
          <p:nvPr/>
        </p:nvSpPr>
        <p:spPr>
          <a:xfrm>
            <a:off x="9162720" y="6819840"/>
            <a:ext cx="1591200" cy="533520"/>
          </a:xfrm>
          <a:custGeom>
            <a:avLst/>
            <a:gdLst/>
            <a:ahLst/>
            <a:rect l="0" t="0" r="r" b="b"/>
            <a:pathLst>
              <a:path w="4420" h="1482">
                <a:moveTo>
                  <a:pt x="0" y="0"/>
                </a:moveTo>
                <a:lnTo>
                  <a:pt x="4420" y="0"/>
                </a:lnTo>
                <a:lnTo>
                  <a:pt x="4420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0" name=""/>
          <p:cNvSpPr/>
          <p:nvPr/>
        </p:nvSpPr>
        <p:spPr>
          <a:xfrm>
            <a:off x="752400" y="5733720"/>
            <a:ext cx="9720" cy="552960"/>
          </a:xfrm>
          <a:custGeom>
            <a:avLst/>
            <a:gdLst/>
            <a:ahLst/>
            <a:rect l="0" t="0" r="r" b="b"/>
            <a:pathLst>
              <a:path w="27" h="1536">
                <a:moveTo>
                  <a:pt x="0" y="0"/>
                </a:moveTo>
                <a:lnTo>
                  <a:pt x="27" y="0"/>
                </a:lnTo>
                <a:lnTo>
                  <a:pt x="27" y="1536"/>
                </a:lnTo>
                <a:lnTo>
                  <a:pt x="0" y="153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1" name=""/>
          <p:cNvSpPr/>
          <p:nvPr/>
        </p:nvSpPr>
        <p:spPr>
          <a:xfrm>
            <a:off x="752400" y="5733720"/>
            <a:ext cx="3152880" cy="10080"/>
          </a:xfrm>
          <a:custGeom>
            <a:avLst/>
            <a:gdLst/>
            <a:ahLst/>
            <a:rect l="0" t="0" r="r" b="b"/>
            <a:pathLst>
              <a:path w="8758" h="28">
                <a:moveTo>
                  <a:pt x="0" y="0"/>
                </a:moveTo>
                <a:lnTo>
                  <a:pt x="8758" y="0"/>
                </a:lnTo>
                <a:lnTo>
                  <a:pt x="87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2" name=""/>
          <p:cNvSpPr/>
          <p:nvPr/>
        </p:nvSpPr>
        <p:spPr>
          <a:xfrm>
            <a:off x="3895560" y="5733720"/>
            <a:ext cx="9720" cy="552960"/>
          </a:xfrm>
          <a:custGeom>
            <a:avLst/>
            <a:gdLst/>
            <a:ahLst/>
            <a:rect l="0" t="0" r="r" b="b"/>
            <a:pathLst>
              <a:path w="27" h="1536">
                <a:moveTo>
                  <a:pt x="0" y="0"/>
                </a:moveTo>
                <a:lnTo>
                  <a:pt x="27" y="0"/>
                </a:lnTo>
                <a:lnTo>
                  <a:pt x="27" y="1536"/>
                </a:lnTo>
                <a:lnTo>
                  <a:pt x="0" y="153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3" name=""/>
          <p:cNvSpPr/>
          <p:nvPr/>
        </p:nvSpPr>
        <p:spPr>
          <a:xfrm>
            <a:off x="3904920" y="5733720"/>
            <a:ext cx="2200680" cy="10080"/>
          </a:xfrm>
          <a:custGeom>
            <a:avLst/>
            <a:gdLst/>
            <a:ahLst/>
            <a:rect l="0" t="0" r="r" b="b"/>
            <a:pathLst>
              <a:path w="6113" h="28">
                <a:moveTo>
                  <a:pt x="0" y="0"/>
                </a:moveTo>
                <a:lnTo>
                  <a:pt x="6113" y="0"/>
                </a:lnTo>
                <a:lnTo>
                  <a:pt x="61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4" name=""/>
          <p:cNvSpPr/>
          <p:nvPr/>
        </p:nvSpPr>
        <p:spPr>
          <a:xfrm>
            <a:off x="6095880" y="5733720"/>
            <a:ext cx="9720" cy="552960"/>
          </a:xfrm>
          <a:custGeom>
            <a:avLst/>
            <a:gdLst/>
            <a:ahLst/>
            <a:rect l="0" t="0" r="r" b="b"/>
            <a:pathLst>
              <a:path w="27" h="1536">
                <a:moveTo>
                  <a:pt x="0" y="0"/>
                </a:moveTo>
                <a:lnTo>
                  <a:pt x="27" y="0"/>
                </a:lnTo>
                <a:lnTo>
                  <a:pt x="27" y="1536"/>
                </a:lnTo>
                <a:lnTo>
                  <a:pt x="0" y="153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5" name=""/>
          <p:cNvSpPr/>
          <p:nvPr/>
        </p:nvSpPr>
        <p:spPr>
          <a:xfrm>
            <a:off x="6105240" y="5733720"/>
            <a:ext cx="3057840" cy="10080"/>
          </a:xfrm>
          <a:custGeom>
            <a:avLst/>
            <a:gdLst/>
            <a:ahLst/>
            <a:rect l="0" t="0" r="r" b="b"/>
            <a:pathLst>
              <a:path w="8494" h="28">
                <a:moveTo>
                  <a:pt x="0" y="0"/>
                </a:moveTo>
                <a:lnTo>
                  <a:pt x="8494" y="0"/>
                </a:lnTo>
                <a:lnTo>
                  <a:pt x="84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6" name=""/>
          <p:cNvSpPr/>
          <p:nvPr/>
        </p:nvSpPr>
        <p:spPr>
          <a:xfrm>
            <a:off x="9153360" y="5733720"/>
            <a:ext cx="9720" cy="552960"/>
          </a:xfrm>
          <a:custGeom>
            <a:avLst/>
            <a:gdLst/>
            <a:ahLst/>
            <a:rect l="0" t="0" r="r" b="b"/>
            <a:pathLst>
              <a:path w="27" h="1536">
                <a:moveTo>
                  <a:pt x="0" y="0"/>
                </a:moveTo>
                <a:lnTo>
                  <a:pt x="27" y="0"/>
                </a:lnTo>
                <a:lnTo>
                  <a:pt x="27" y="1536"/>
                </a:lnTo>
                <a:lnTo>
                  <a:pt x="0" y="153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7" name=""/>
          <p:cNvSpPr/>
          <p:nvPr/>
        </p:nvSpPr>
        <p:spPr>
          <a:xfrm>
            <a:off x="9162720" y="5733720"/>
            <a:ext cx="1600560" cy="10080"/>
          </a:xfrm>
          <a:custGeom>
            <a:avLst/>
            <a:gdLst/>
            <a:ahLst/>
            <a:rect l="0" t="0" r="r" b="b"/>
            <a:pathLst>
              <a:path w="4446" h="28">
                <a:moveTo>
                  <a:pt x="0" y="0"/>
                </a:moveTo>
                <a:lnTo>
                  <a:pt x="4446" y="0"/>
                </a:lnTo>
                <a:lnTo>
                  <a:pt x="444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8" name=""/>
          <p:cNvSpPr/>
          <p:nvPr/>
        </p:nvSpPr>
        <p:spPr>
          <a:xfrm>
            <a:off x="10753560" y="5733720"/>
            <a:ext cx="9720" cy="552960"/>
          </a:xfrm>
          <a:custGeom>
            <a:avLst/>
            <a:gdLst/>
            <a:ahLst/>
            <a:rect l="0" t="0" r="r" b="b"/>
            <a:pathLst>
              <a:path w="27" h="1536">
                <a:moveTo>
                  <a:pt x="0" y="0"/>
                </a:moveTo>
                <a:lnTo>
                  <a:pt x="27" y="0"/>
                </a:lnTo>
                <a:lnTo>
                  <a:pt x="27" y="1536"/>
                </a:lnTo>
                <a:lnTo>
                  <a:pt x="0" y="153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9" name=""/>
          <p:cNvSpPr/>
          <p:nvPr/>
        </p:nvSpPr>
        <p:spPr>
          <a:xfrm>
            <a:off x="752400" y="6276960"/>
            <a:ext cx="3152880" cy="9720"/>
          </a:xfrm>
          <a:custGeom>
            <a:avLst/>
            <a:gdLst/>
            <a:ahLst/>
            <a:rect l="0" t="0" r="r" b="b"/>
            <a:pathLst>
              <a:path w="8758" h="27">
                <a:moveTo>
                  <a:pt x="0" y="0"/>
                </a:moveTo>
                <a:lnTo>
                  <a:pt x="8758" y="0"/>
                </a:lnTo>
                <a:lnTo>
                  <a:pt x="87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0" name=""/>
          <p:cNvSpPr/>
          <p:nvPr/>
        </p:nvSpPr>
        <p:spPr>
          <a:xfrm>
            <a:off x="3904920" y="627696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1" name=""/>
          <p:cNvSpPr/>
          <p:nvPr/>
        </p:nvSpPr>
        <p:spPr>
          <a:xfrm>
            <a:off x="6105240" y="6276960"/>
            <a:ext cx="3057840" cy="9720"/>
          </a:xfrm>
          <a:custGeom>
            <a:avLst/>
            <a:gdLst/>
            <a:ahLst/>
            <a:rect l="0" t="0" r="r" b="b"/>
            <a:pathLst>
              <a:path w="8494" h="27">
                <a:moveTo>
                  <a:pt x="0" y="0"/>
                </a:moveTo>
                <a:lnTo>
                  <a:pt x="8494" y="0"/>
                </a:lnTo>
                <a:lnTo>
                  <a:pt x="84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2" name=""/>
          <p:cNvSpPr/>
          <p:nvPr/>
        </p:nvSpPr>
        <p:spPr>
          <a:xfrm>
            <a:off x="9162720" y="6276960"/>
            <a:ext cx="1600560" cy="9720"/>
          </a:xfrm>
          <a:custGeom>
            <a:avLst/>
            <a:gdLst/>
            <a:ahLst/>
            <a:rect l="0" t="0" r="r" b="b"/>
            <a:pathLst>
              <a:path w="4446" h="27">
                <a:moveTo>
                  <a:pt x="0" y="0"/>
                </a:moveTo>
                <a:lnTo>
                  <a:pt x="4446" y="0"/>
                </a:lnTo>
                <a:lnTo>
                  <a:pt x="444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3" name=""/>
          <p:cNvSpPr/>
          <p:nvPr/>
        </p:nvSpPr>
        <p:spPr>
          <a:xfrm>
            <a:off x="752400" y="628632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4" name=""/>
          <p:cNvSpPr/>
          <p:nvPr/>
        </p:nvSpPr>
        <p:spPr>
          <a:xfrm>
            <a:off x="3895560" y="628632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5" name=""/>
          <p:cNvSpPr/>
          <p:nvPr/>
        </p:nvSpPr>
        <p:spPr>
          <a:xfrm>
            <a:off x="6095880" y="628632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6" name=""/>
          <p:cNvSpPr/>
          <p:nvPr/>
        </p:nvSpPr>
        <p:spPr>
          <a:xfrm>
            <a:off x="9153360" y="628632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7" name=""/>
          <p:cNvSpPr/>
          <p:nvPr/>
        </p:nvSpPr>
        <p:spPr>
          <a:xfrm>
            <a:off x="10753560" y="628632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8" name=""/>
          <p:cNvSpPr/>
          <p:nvPr/>
        </p:nvSpPr>
        <p:spPr>
          <a:xfrm>
            <a:off x="752400" y="681984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9" name=""/>
          <p:cNvSpPr/>
          <p:nvPr/>
        </p:nvSpPr>
        <p:spPr>
          <a:xfrm>
            <a:off x="752400" y="6810120"/>
            <a:ext cx="3152880" cy="10080"/>
          </a:xfrm>
          <a:custGeom>
            <a:avLst/>
            <a:gdLst/>
            <a:ahLst/>
            <a:rect l="0" t="0" r="r" b="b"/>
            <a:pathLst>
              <a:path w="8758" h="28">
                <a:moveTo>
                  <a:pt x="0" y="0"/>
                </a:moveTo>
                <a:lnTo>
                  <a:pt x="8758" y="0"/>
                </a:lnTo>
                <a:lnTo>
                  <a:pt x="87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0" name=""/>
          <p:cNvSpPr/>
          <p:nvPr/>
        </p:nvSpPr>
        <p:spPr>
          <a:xfrm>
            <a:off x="3895560" y="681984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1" name=""/>
          <p:cNvSpPr/>
          <p:nvPr/>
        </p:nvSpPr>
        <p:spPr>
          <a:xfrm>
            <a:off x="3904920" y="6810120"/>
            <a:ext cx="2200680" cy="10080"/>
          </a:xfrm>
          <a:custGeom>
            <a:avLst/>
            <a:gdLst/>
            <a:ahLst/>
            <a:rect l="0" t="0" r="r" b="b"/>
            <a:pathLst>
              <a:path w="6113" h="28">
                <a:moveTo>
                  <a:pt x="0" y="0"/>
                </a:moveTo>
                <a:lnTo>
                  <a:pt x="6113" y="0"/>
                </a:lnTo>
                <a:lnTo>
                  <a:pt x="61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2" name=""/>
          <p:cNvSpPr/>
          <p:nvPr/>
        </p:nvSpPr>
        <p:spPr>
          <a:xfrm>
            <a:off x="6095880" y="681984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3" name=""/>
          <p:cNvSpPr/>
          <p:nvPr/>
        </p:nvSpPr>
        <p:spPr>
          <a:xfrm>
            <a:off x="6105240" y="6810120"/>
            <a:ext cx="3057840" cy="10080"/>
          </a:xfrm>
          <a:custGeom>
            <a:avLst/>
            <a:gdLst/>
            <a:ahLst/>
            <a:rect l="0" t="0" r="r" b="b"/>
            <a:pathLst>
              <a:path w="8494" h="28">
                <a:moveTo>
                  <a:pt x="0" y="0"/>
                </a:moveTo>
                <a:lnTo>
                  <a:pt x="8494" y="0"/>
                </a:lnTo>
                <a:lnTo>
                  <a:pt x="84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4" name=""/>
          <p:cNvSpPr/>
          <p:nvPr/>
        </p:nvSpPr>
        <p:spPr>
          <a:xfrm>
            <a:off x="9153360" y="681984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5" name=""/>
          <p:cNvSpPr/>
          <p:nvPr/>
        </p:nvSpPr>
        <p:spPr>
          <a:xfrm>
            <a:off x="9162720" y="6810120"/>
            <a:ext cx="1600560" cy="10080"/>
          </a:xfrm>
          <a:custGeom>
            <a:avLst/>
            <a:gdLst/>
            <a:ahLst/>
            <a:rect l="0" t="0" r="r" b="b"/>
            <a:pathLst>
              <a:path w="4446" h="28">
                <a:moveTo>
                  <a:pt x="0" y="0"/>
                </a:moveTo>
                <a:lnTo>
                  <a:pt x="4446" y="0"/>
                </a:lnTo>
                <a:lnTo>
                  <a:pt x="444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6" name=""/>
          <p:cNvSpPr/>
          <p:nvPr/>
        </p:nvSpPr>
        <p:spPr>
          <a:xfrm>
            <a:off x="10753560" y="681984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757" name="" descr=""/>
          <p:cNvPicPr/>
          <p:nvPr/>
        </p:nvPicPr>
        <p:blipFill>
          <a:blip r:embed="rId1"/>
          <a:stretch/>
        </p:blipFill>
        <p:spPr>
          <a:xfrm>
            <a:off x="752400" y="1457280"/>
            <a:ext cx="8191080" cy="4009680"/>
          </a:xfrm>
          <a:prstGeom prst="rect">
            <a:avLst/>
          </a:prstGeom>
          <a:ln w="0">
            <a:noFill/>
          </a:ln>
        </p:spPr>
      </p:pic>
      <p:sp>
        <p:nvSpPr>
          <p:cNvPr id="1758" name=""/>
          <p:cNvSpPr txBox="1"/>
          <p:nvPr/>
        </p:nvSpPr>
        <p:spPr>
          <a:xfrm>
            <a:off x="747720" y="770400"/>
            <a:ext cx="443700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3 — Cloudflare CDN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9" name=""/>
          <p:cNvSpPr txBox="1"/>
          <p:nvPr/>
        </p:nvSpPr>
        <p:spPr>
          <a:xfrm>
            <a:off x="1917360" y="5846040"/>
            <a:ext cx="812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Metric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0" name=""/>
          <p:cNvSpPr txBox="1"/>
          <p:nvPr/>
        </p:nvSpPr>
        <p:spPr>
          <a:xfrm>
            <a:off x="4024440" y="5846040"/>
            <a:ext cx="1946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2 (direct)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1" name=""/>
          <p:cNvSpPr txBox="1"/>
          <p:nvPr/>
        </p:nvSpPr>
        <p:spPr>
          <a:xfrm>
            <a:off x="6231600" y="5846040"/>
            <a:ext cx="2797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3 (+ Cloudflare)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2" name=""/>
          <p:cNvSpPr txBox="1"/>
          <p:nvPr/>
        </p:nvSpPr>
        <p:spPr>
          <a:xfrm>
            <a:off x="9858960" y="58460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Δ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3" name=""/>
          <p:cNvSpPr txBox="1"/>
          <p:nvPr/>
        </p:nvSpPr>
        <p:spPr>
          <a:xfrm>
            <a:off x="880920" y="6388920"/>
            <a:ext cx="2882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TTFB for cached pages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4" name=""/>
          <p:cNvSpPr txBox="1"/>
          <p:nvPr/>
        </p:nvSpPr>
        <p:spPr>
          <a:xfrm>
            <a:off x="4024440" y="6388920"/>
            <a:ext cx="1372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~70–80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5" name=""/>
          <p:cNvSpPr txBox="1"/>
          <p:nvPr/>
        </p:nvSpPr>
        <p:spPr>
          <a:xfrm>
            <a:off x="6231600" y="6388920"/>
            <a:ext cx="1402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~10–20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6" name=""/>
          <p:cNvSpPr txBox="1"/>
          <p:nvPr/>
        </p:nvSpPr>
        <p:spPr>
          <a:xfrm>
            <a:off x="9290160" y="6388920"/>
            <a:ext cx="1334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~−75–80%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8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0" name=""/>
          <p:cNvSpPr/>
          <p:nvPr/>
        </p:nvSpPr>
        <p:spPr>
          <a:xfrm>
            <a:off x="752400" y="1457280"/>
            <a:ext cx="66960" cy="828720"/>
          </a:xfrm>
          <a:custGeom>
            <a:avLst/>
            <a:gdLst/>
            <a:ahLst/>
            <a:rect l="0" t="0" r="r" b="b"/>
            <a:pathLst>
              <a:path w="186" h="2302">
                <a:moveTo>
                  <a:pt x="0" y="0"/>
                </a:moveTo>
                <a:lnTo>
                  <a:pt x="186" y="0"/>
                </a:lnTo>
                <a:lnTo>
                  <a:pt x="186" y="2302"/>
                </a:lnTo>
                <a:lnTo>
                  <a:pt x="0" y="230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1" name=""/>
          <p:cNvSpPr txBox="1"/>
          <p:nvPr/>
        </p:nvSpPr>
        <p:spPr>
          <a:xfrm>
            <a:off x="747720" y="770400"/>
            <a:ext cx="625536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Cloudflare Free Plan — what you get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2" name=""/>
          <p:cNvSpPr txBox="1"/>
          <p:nvPr/>
        </p:nvSpPr>
        <p:spPr>
          <a:xfrm>
            <a:off x="1090440" y="1502640"/>
            <a:ext cx="9704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PoP = Point of Presence </a:t>
            </a:r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— a physical Cloudflare data center. 300+ worldwide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3" name=""/>
          <p:cNvSpPr txBox="1"/>
          <p:nvPr/>
        </p:nvSpPr>
        <p:spPr>
          <a:xfrm>
            <a:off x="1090440" y="1912320"/>
            <a:ext cx="6124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means a server is always &lt;30ms from your visitor.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4" name=""/>
          <p:cNvSpPr/>
          <p:nvPr/>
        </p:nvSpPr>
        <p:spPr>
          <a:xfrm>
            <a:off x="1076040" y="31716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6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6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4"/>
                </a:cubicBezTo>
                <a:cubicBezTo>
                  <a:pt x="236" y="88"/>
                  <a:pt x="239" y="103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5" name=""/>
          <p:cNvSpPr/>
          <p:nvPr/>
        </p:nvSpPr>
        <p:spPr>
          <a:xfrm>
            <a:off x="1323720" y="3047760"/>
            <a:ext cx="276480" cy="276480"/>
          </a:xfrm>
          <a:custGeom>
            <a:avLst/>
            <a:gdLst/>
            <a:ahLst/>
            <a:rect l="0" t="0" r="r" b="b"/>
            <a:pathLst>
              <a:path w="768" h="768">
                <a:moveTo>
                  <a:pt x="768" y="385"/>
                </a:moveTo>
                <a:cubicBezTo>
                  <a:pt x="768" y="410"/>
                  <a:pt x="766" y="435"/>
                  <a:pt x="761" y="460"/>
                </a:cubicBezTo>
                <a:cubicBezTo>
                  <a:pt x="756" y="484"/>
                  <a:pt x="749" y="508"/>
                  <a:pt x="739" y="532"/>
                </a:cubicBezTo>
                <a:cubicBezTo>
                  <a:pt x="730" y="555"/>
                  <a:pt x="718" y="577"/>
                  <a:pt x="704" y="598"/>
                </a:cubicBezTo>
                <a:cubicBezTo>
                  <a:pt x="690" y="619"/>
                  <a:pt x="674" y="638"/>
                  <a:pt x="656" y="656"/>
                </a:cubicBezTo>
                <a:cubicBezTo>
                  <a:pt x="638" y="674"/>
                  <a:pt x="619" y="690"/>
                  <a:pt x="598" y="704"/>
                </a:cubicBezTo>
                <a:cubicBezTo>
                  <a:pt x="577" y="718"/>
                  <a:pt x="555" y="730"/>
                  <a:pt x="531" y="739"/>
                </a:cubicBezTo>
                <a:cubicBezTo>
                  <a:pt x="507" y="749"/>
                  <a:pt x="483" y="756"/>
                  <a:pt x="459" y="761"/>
                </a:cubicBezTo>
                <a:cubicBezTo>
                  <a:pt x="434" y="766"/>
                  <a:pt x="409" y="768"/>
                  <a:pt x="384" y="768"/>
                </a:cubicBezTo>
                <a:cubicBezTo>
                  <a:pt x="359" y="768"/>
                  <a:pt x="334" y="766"/>
                  <a:pt x="309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4" y="730"/>
                  <a:pt x="192" y="718"/>
                  <a:pt x="171" y="704"/>
                </a:cubicBezTo>
                <a:cubicBezTo>
                  <a:pt x="150" y="690"/>
                  <a:pt x="130" y="674"/>
                  <a:pt x="113" y="656"/>
                </a:cubicBezTo>
                <a:cubicBezTo>
                  <a:pt x="95" y="638"/>
                  <a:pt x="79" y="619"/>
                  <a:pt x="65" y="598"/>
                </a:cubicBezTo>
                <a:cubicBezTo>
                  <a:pt x="51" y="577"/>
                  <a:pt x="39" y="555"/>
                  <a:pt x="29" y="532"/>
                </a:cubicBezTo>
                <a:cubicBezTo>
                  <a:pt x="20" y="508"/>
                  <a:pt x="12" y="484"/>
                  <a:pt x="8" y="460"/>
                </a:cubicBezTo>
                <a:cubicBezTo>
                  <a:pt x="3" y="435"/>
                  <a:pt x="0" y="410"/>
                  <a:pt x="0" y="385"/>
                </a:cubicBezTo>
                <a:cubicBezTo>
                  <a:pt x="0" y="360"/>
                  <a:pt x="3" y="334"/>
                  <a:pt x="8" y="309"/>
                </a:cubicBezTo>
                <a:cubicBezTo>
                  <a:pt x="12" y="284"/>
                  <a:pt x="20" y="260"/>
                  <a:pt x="29" y="237"/>
                </a:cubicBezTo>
                <a:cubicBezTo>
                  <a:pt x="39" y="214"/>
                  <a:pt x="51" y="192"/>
                  <a:pt x="65" y="171"/>
                </a:cubicBezTo>
                <a:cubicBezTo>
                  <a:pt x="79" y="150"/>
                  <a:pt x="95" y="130"/>
                  <a:pt x="113" y="113"/>
                </a:cubicBezTo>
                <a:cubicBezTo>
                  <a:pt x="130" y="95"/>
                  <a:pt x="150" y="79"/>
                  <a:pt x="171" y="65"/>
                </a:cubicBezTo>
                <a:cubicBezTo>
                  <a:pt x="192" y="51"/>
                  <a:pt x="214" y="39"/>
                  <a:pt x="237" y="29"/>
                </a:cubicBezTo>
                <a:cubicBezTo>
                  <a:pt x="260" y="20"/>
                  <a:pt x="284" y="12"/>
                  <a:pt x="309" y="8"/>
                </a:cubicBezTo>
                <a:cubicBezTo>
                  <a:pt x="334" y="3"/>
                  <a:pt x="359" y="0"/>
                  <a:pt x="384" y="0"/>
                </a:cubicBezTo>
                <a:cubicBezTo>
                  <a:pt x="409" y="0"/>
                  <a:pt x="434" y="3"/>
                  <a:pt x="459" y="8"/>
                </a:cubicBezTo>
                <a:cubicBezTo>
                  <a:pt x="483" y="12"/>
                  <a:pt x="507" y="20"/>
                  <a:pt x="531" y="29"/>
                </a:cubicBezTo>
                <a:cubicBezTo>
                  <a:pt x="555" y="39"/>
                  <a:pt x="577" y="51"/>
                  <a:pt x="598" y="65"/>
                </a:cubicBezTo>
                <a:cubicBezTo>
                  <a:pt x="619" y="79"/>
                  <a:pt x="638" y="95"/>
                  <a:pt x="656" y="113"/>
                </a:cubicBezTo>
                <a:cubicBezTo>
                  <a:pt x="674" y="130"/>
                  <a:pt x="690" y="150"/>
                  <a:pt x="704" y="171"/>
                </a:cubicBezTo>
                <a:cubicBezTo>
                  <a:pt x="718" y="192"/>
                  <a:pt x="730" y="214"/>
                  <a:pt x="739" y="237"/>
                </a:cubicBezTo>
                <a:cubicBezTo>
                  <a:pt x="749" y="260"/>
                  <a:pt x="756" y="284"/>
                  <a:pt x="761" y="309"/>
                </a:cubicBezTo>
                <a:cubicBezTo>
                  <a:pt x="766" y="334"/>
                  <a:pt x="768" y="360"/>
                  <a:pt x="768" y="385"/>
                </a:cubicBezTo>
                <a:close/>
              </a:path>
            </a:pathLst>
          </a:custGeom>
          <a:solidFill>
            <a:srgbClr val="88c9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6" name=""/>
          <p:cNvSpPr/>
          <p:nvPr/>
        </p:nvSpPr>
        <p:spPr>
          <a:xfrm>
            <a:off x="1381680" y="3061440"/>
            <a:ext cx="216360" cy="231480"/>
          </a:xfrm>
          <a:custGeom>
            <a:avLst/>
            <a:gdLst/>
            <a:ahLst/>
            <a:rect l="0" t="0" r="r" b="b"/>
            <a:pathLst>
              <a:path w="601" h="643">
                <a:moveTo>
                  <a:pt x="388" y="0"/>
                </a:moveTo>
                <a:cubicBezTo>
                  <a:pt x="367" y="12"/>
                  <a:pt x="348" y="32"/>
                  <a:pt x="324" y="25"/>
                </a:cubicBezTo>
                <a:cubicBezTo>
                  <a:pt x="284" y="13"/>
                  <a:pt x="231" y="-14"/>
                  <a:pt x="196" y="19"/>
                </a:cubicBezTo>
                <a:cubicBezTo>
                  <a:pt x="161" y="53"/>
                  <a:pt x="153" y="83"/>
                  <a:pt x="196" y="82"/>
                </a:cubicBezTo>
                <a:cubicBezTo>
                  <a:pt x="239" y="81"/>
                  <a:pt x="268" y="30"/>
                  <a:pt x="289" y="51"/>
                </a:cubicBezTo>
                <a:cubicBezTo>
                  <a:pt x="310" y="73"/>
                  <a:pt x="305" y="90"/>
                  <a:pt x="255" y="97"/>
                </a:cubicBezTo>
                <a:cubicBezTo>
                  <a:pt x="204" y="103"/>
                  <a:pt x="149" y="111"/>
                  <a:pt x="120" y="111"/>
                </a:cubicBezTo>
                <a:cubicBezTo>
                  <a:pt x="91" y="111"/>
                  <a:pt x="84" y="129"/>
                  <a:pt x="104" y="147"/>
                </a:cubicBezTo>
                <a:cubicBezTo>
                  <a:pt x="124" y="167"/>
                  <a:pt x="92" y="168"/>
                  <a:pt x="58" y="187"/>
                </a:cubicBezTo>
                <a:cubicBezTo>
                  <a:pt x="24" y="206"/>
                  <a:pt x="67" y="214"/>
                  <a:pt x="95" y="230"/>
                </a:cubicBezTo>
                <a:cubicBezTo>
                  <a:pt x="123" y="246"/>
                  <a:pt x="144" y="226"/>
                  <a:pt x="156" y="199"/>
                </a:cubicBezTo>
                <a:cubicBezTo>
                  <a:pt x="168" y="172"/>
                  <a:pt x="219" y="139"/>
                  <a:pt x="241" y="143"/>
                </a:cubicBezTo>
                <a:cubicBezTo>
                  <a:pt x="262" y="147"/>
                  <a:pt x="262" y="158"/>
                  <a:pt x="258" y="178"/>
                </a:cubicBezTo>
                <a:cubicBezTo>
                  <a:pt x="254" y="196"/>
                  <a:pt x="274" y="191"/>
                  <a:pt x="276" y="170"/>
                </a:cubicBezTo>
                <a:cubicBezTo>
                  <a:pt x="277" y="147"/>
                  <a:pt x="301" y="131"/>
                  <a:pt x="320" y="130"/>
                </a:cubicBezTo>
                <a:cubicBezTo>
                  <a:pt x="338" y="129"/>
                  <a:pt x="354" y="155"/>
                  <a:pt x="333" y="170"/>
                </a:cubicBezTo>
                <a:cubicBezTo>
                  <a:pt x="312" y="183"/>
                  <a:pt x="290" y="194"/>
                  <a:pt x="317" y="200"/>
                </a:cubicBezTo>
                <a:cubicBezTo>
                  <a:pt x="344" y="207"/>
                  <a:pt x="362" y="242"/>
                  <a:pt x="332" y="256"/>
                </a:cubicBezTo>
                <a:cubicBezTo>
                  <a:pt x="301" y="271"/>
                  <a:pt x="248" y="280"/>
                  <a:pt x="224" y="268"/>
                </a:cubicBezTo>
                <a:cubicBezTo>
                  <a:pt x="200" y="256"/>
                  <a:pt x="145" y="239"/>
                  <a:pt x="131" y="248"/>
                </a:cubicBezTo>
                <a:cubicBezTo>
                  <a:pt x="116" y="258"/>
                  <a:pt x="108" y="267"/>
                  <a:pt x="91" y="274"/>
                </a:cubicBezTo>
                <a:cubicBezTo>
                  <a:pt x="73" y="280"/>
                  <a:pt x="2" y="312"/>
                  <a:pt x="0" y="353"/>
                </a:cubicBezTo>
                <a:cubicBezTo>
                  <a:pt x="-1" y="395"/>
                  <a:pt x="-2" y="441"/>
                  <a:pt x="26" y="443"/>
                </a:cubicBezTo>
                <a:cubicBezTo>
                  <a:pt x="54" y="444"/>
                  <a:pt x="123" y="425"/>
                  <a:pt x="144" y="408"/>
                </a:cubicBezTo>
                <a:cubicBezTo>
                  <a:pt x="165" y="391"/>
                  <a:pt x="195" y="395"/>
                  <a:pt x="204" y="415"/>
                </a:cubicBezTo>
                <a:cubicBezTo>
                  <a:pt x="213" y="435"/>
                  <a:pt x="207" y="447"/>
                  <a:pt x="197" y="479"/>
                </a:cubicBezTo>
                <a:cubicBezTo>
                  <a:pt x="188" y="511"/>
                  <a:pt x="203" y="527"/>
                  <a:pt x="218" y="555"/>
                </a:cubicBezTo>
                <a:cubicBezTo>
                  <a:pt x="233" y="583"/>
                  <a:pt x="245" y="599"/>
                  <a:pt x="245" y="619"/>
                </a:cubicBezTo>
                <a:cubicBezTo>
                  <a:pt x="245" y="639"/>
                  <a:pt x="266" y="659"/>
                  <a:pt x="298" y="625"/>
                </a:cubicBezTo>
                <a:cubicBezTo>
                  <a:pt x="330" y="592"/>
                  <a:pt x="360" y="527"/>
                  <a:pt x="373" y="503"/>
                </a:cubicBezTo>
                <a:cubicBezTo>
                  <a:pt x="386" y="479"/>
                  <a:pt x="397" y="425"/>
                  <a:pt x="413" y="415"/>
                </a:cubicBezTo>
                <a:cubicBezTo>
                  <a:pt x="429" y="404"/>
                  <a:pt x="454" y="379"/>
                  <a:pt x="436" y="383"/>
                </a:cubicBezTo>
                <a:cubicBezTo>
                  <a:pt x="417" y="387"/>
                  <a:pt x="380" y="381"/>
                  <a:pt x="370" y="355"/>
                </a:cubicBezTo>
                <a:cubicBezTo>
                  <a:pt x="361" y="328"/>
                  <a:pt x="321" y="278"/>
                  <a:pt x="340" y="272"/>
                </a:cubicBezTo>
                <a:cubicBezTo>
                  <a:pt x="358" y="267"/>
                  <a:pt x="380" y="302"/>
                  <a:pt x="388" y="318"/>
                </a:cubicBezTo>
                <a:cubicBezTo>
                  <a:pt x="396" y="335"/>
                  <a:pt x="406" y="355"/>
                  <a:pt x="422" y="360"/>
                </a:cubicBezTo>
                <a:cubicBezTo>
                  <a:pt x="438" y="365"/>
                  <a:pt x="473" y="324"/>
                  <a:pt x="484" y="318"/>
                </a:cubicBezTo>
                <a:cubicBezTo>
                  <a:pt x="494" y="312"/>
                  <a:pt x="486" y="287"/>
                  <a:pt x="465" y="290"/>
                </a:cubicBezTo>
                <a:cubicBezTo>
                  <a:pt x="444" y="292"/>
                  <a:pt x="416" y="290"/>
                  <a:pt x="416" y="276"/>
                </a:cubicBezTo>
                <a:cubicBezTo>
                  <a:pt x="416" y="263"/>
                  <a:pt x="442" y="246"/>
                  <a:pt x="464" y="250"/>
                </a:cubicBezTo>
                <a:cubicBezTo>
                  <a:pt x="485" y="254"/>
                  <a:pt x="501" y="260"/>
                  <a:pt x="514" y="276"/>
                </a:cubicBezTo>
                <a:cubicBezTo>
                  <a:pt x="528" y="292"/>
                  <a:pt x="554" y="322"/>
                  <a:pt x="565" y="340"/>
                </a:cubicBezTo>
                <a:cubicBezTo>
                  <a:pt x="576" y="359"/>
                  <a:pt x="584" y="361"/>
                  <a:pt x="589" y="328"/>
                </a:cubicBezTo>
                <a:cubicBezTo>
                  <a:pt x="592" y="306"/>
                  <a:pt x="597" y="294"/>
                  <a:pt x="601" y="281"/>
                </a:cubicBezTo>
                <a:cubicBezTo>
                  <a:pt x="580" y="156"/>
                  <a:pt x="499" y="52"/>
                  <a:pt x="388" y="0"/>
                </a:cubicBezTo>
                <a:close/>
              </a:path>
            </a:pathLst>
          </a:custGeom>
          <a:solidFill>
            <a:srgbClr val="5c913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7" name=""/>
          <p:cNvSpPr txBox="1"/>
          <p:nvPr/>
        </p:nvSpPr>
        <p:spPr>
          <a:xfrm>
            <a:off x="747720" y="2483640"/>
            <a:ext cx="2452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Performance (free)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8" name=""/>
          <p:cNvSpPr/>
          <p:nvPr/>
        </p:nvSpPr>
        <p:spPr>
          <a:xfrm>
            <a:off x="1076040" y="3657240"/>
            <a:ext cx="86040" cy="86400"/>
          </a:xfrm>
          <a:custGeom>
            <a:avLst/>
            <a:gdLst/>
            <a:ahLst/>
            <a:rect l="0" t="0" r="r" b="b"/>
            <a:pathLst>
              <a:path w="239" h="240">
                <a:moveTo>
                  <a:pt x="239" y="120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3" y="180"/>
                  <a:pt x="215" y="193"/>
                  <a:pt x="204" y="205"/>
                </a:cubicBezTo>
                <a:cubicBezTo>
                  <a:pt x="192" y="216"/>
                  <a:pt x="180" y="225"/>
                  <a:pt x="165" y="231"/>
                </a:cubicBezTo>
                <a:cubicBezTo>
                  <a:pt x="150" y="237"/>
                  <a:pt x="135" y="240"/>
                  <a:pt x="119" y="240"/>
                </a:cubicBezTo>
                <a:cubicBezTo>
                  <a:pt x="104" y="240"/>
                  <a:pt x="88" y="237"/>
                  <a:pt x="74" y="231"/>
                </a:cubicBezTo>
                <a:cubicBezTo>
                  <a:pt x="59" y="225"/>
                  <a:pt x="46" y="216"/>
                  <a:pt x="35" y="205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5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7"/>
                  <a:pt x="35" y="35"/>
                </a:cubicBezTo>
                <a:cubicBezTo>
                  <a:pt x="46" y="24"/>
                  <a:pt x="59" y="16"/>
                  <a:pt x="74" y="10"/>
                </a:cubicBezTo>
                <a:cubicBezTo>
                  <a:pt x="88" y="4"/>
                  <a:pt x="104" y="0"/>
                  <a:pt x="119" y="0"/>
                </a:cubicBezTo>
                <a:cubicBezTo>
                  <a:pt x="135" y="0"/>
                  <a:pt x="150" y="4"/>
                  <a:pt x="165" y="10"/>
                </a:cubicBezTo>
                <a:cubicBezTo>
                  <a:pt x="180" y="16"/>
                  <a:pt x="192" y="24"/>
                  <a:pt x="204" y="35"/>
                </a:cubicBezTo>
                <a:cubicBezTo>
                  <a:pt x="215" y="47"/>
                  <a:pt x="223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9" name=""/>
          <p:cNvSpPr/>
          <p:nvPr/>
        </p:nvSpPr>
        <p:spPr>
          <a:xfrm>
            <a:off x="1346760" y="3533760"/>
            <a:ext cx="230760" cy="276480"/>
          </a:xfrm>
          <a:custGeom>
            <a:avLst/>
            <a:gdLst/>
            <a:ahLst/>
            <a:rect l="0" t="0" r="r" b="b"/>
            <a:pathLst>
              <a:path w="641" h="768">
                <a:moveTo>
                  <a:pt x="639" y="333"/>
                </a:moveTo>
                <a:cubicBezTo>
                  <a:pt x="636" y="325"/>
                  <a:pt x="628" y="319"/>
                  <a:pt x="619" y="319"/>
                </a:cubicBezTo>
                <a:lnTo>
                  <a:pt x="361" y="319"/>
                </a:lnTo>
                <a:lnTo>
                  <a:pt x="510" y="31"/>
                </a:lnTo>
                <a:cubicBezTo>
                  <a:pt x="515" y="22"/>
                  <a:pt x="513" y="10"/>
                  <a:pt x="505" y="4"/>
                </a:cubicBezTo>
                <a:cubicBezTo>
                  <a:pt x="501" y="1"/>
                  <a:pt x="496" y="0"/>
                  <a:pt x="491" y="0"/>
                </a:cubicBezTo>
                <a:cubicBezTo>
                  <a:pt x="486" y="0"/>
                  <a:pt x="481" y="1"/>
                  <a:pt x="477" y="5"/>
                </a:cubicBezTo>
                <a:lnTo>
                  <a:pt x="320" y="140"/>
                </a:lnTo>
                <a:lnTo>
                  <a:pt x="8" y="410"/>
                </a:lnTo>
                <a:cubicBezTo>
                  <a:pt x="1" y="415"/>
                  <a:pt x="-2" y="425"/>
                  <a:pt x="1" y="433"/>
                </a:cubicBezTo>
                <a:cubicBezTo>
                  <a:pt x="5" y="442"/>
                  <a:pt x="13" y="447"/>
                  <a:pt x="21" y="447"/>
                </a:cubicBezTo>
                <a:lnTo>
                  <a:pt x="279" y="447"/>
                </a:lnTo>
                <a:lnTo>
                  <a:pt x="130" y="737"/>
                </a:lnTo>
                <a:cubicBezTo>
                  <a:pt x="126" y="746"/>
                  <a:pt x="128" y="757"/>
                  <a:pt x="136" y="763"/>
                </a:cubicBezTo>
                <a:cubicBezTo>
                  <a:pt x="140" y="766"/>
                  <a:pt x="145" y="768"/>
                  <a:pt x="149" y="768"/>
                </a:cubicBezTo>
                <a:cubicBezTo>
                  <a:pt x="154" y="768"/>
                  <a:pt x="159" y="766"/>
                  <a:pt x="163" y="763"/>
                </a:cubicBezTo>
                <a:lnTo>
                  <a:pt x="320" y="627"/>
                </a:lnTo>
                <a:lnTo>
                  <a:pt x="633" y="357"/>
                </a:lnTo>
                <a:cubicBezTo>
                  <a:pt x="640" y="351"/>
                  <a:pt x="642" y="341"/>
                  <a:pt x="639" y="333"/>
                </a:cubicBez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0" name=""/>
          <p:cNvSpPr txBox="1"/>
          <p:nvPr/>
        </p:nvSpPr>
        <p:spPr>
          <a:xfrm>
            <a:off x="1617480" y="3045600"/>
            <a:ext cx="4696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Global CDN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300+ PoPs worldwide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1" name=""/>
          <p:cNvSpPr/>
          <p:nvPr/>
        </p:nvSpPr>
        <p:spPr>
          <a:xfrm>
            <a:off x="1076040" y="41432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6"/>
                </a:cubicBezTo>
                <a:cubicBezTo>
                  <a:pt x="215" y="47"/>
                  <a:pt x="223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2" name=""/>
          <p:cNvSpPr/>
          <p:nvPr/>
        </p:nvSpPr>
        <p:spPr>
          <a:xfrm>
            <a:off x="1331640" y="4050000"/>
            <a:ext cx="261000" cy="215280"/>
          </a:xfrm>
          <a:custGeom>
            <a:avLst/>
            <a:gdLst/>
            <a:ahLst/>
            <a:rect l="0" t="0" r="r" b="b"/>
            <a:pathLst>
              <a:path w="725" h="598">
                <a:moveTo>
                  <a:pt x="725" y="555"/>
                </a:moveTo>
                <a:cubicBezTo>
                  <a:pt x="725" y="579"/>
                  <a:pt x="706" y="598"/>
                  <a:pt x="683" y="598"/>
                </a:cubicBezTo>
                <a:lnTo>
                  <a:pt x="42" y="598"/>
                </a:lnTo>
                <a:cubicBezTo>
                  <a:pt x="19" y="598"/>
                  <a:pt x="0" y="579"/>
                  <a:pt x="0" y="555"/>
                </a:cubicBezTo>
                <a:lnTo>
                  <a:pt x="0" y="43"/>
                </a:lnTo>
                <a:cubicBezTo>
                  <a:pt x="0" y="19"/>
                  <a:pt x="19" y="0"/>
                  <a:pt x="42" y="0"/>
                </a:cubicBezTo>
                <a:lnTo>
                  <a:pt x="683" y="0"/>
                </a:lnTo>
                <a:cubicBezTo>
                  <a:pt x="706" y="0"/>
                  <a:pt x="725" y="19"/>
                  <a:pt x="725" y="43"/>
                </a:cubicBezTo>
                <a:lnTo>
                  <a:pt x="725" y="555"/>
                </a:lnTo>
                <a:close/>
              </a:path>
            </a:pathLst>
          </a:custGeom>
          <a:solidFill>
            <a:srgbClr val="d79e8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3" name=""/>
          <p:cNvSpPr/>
          <p:nvPr/>
        </p:nvSpPr>
        <p:spPr>
          <a:xfrm>
            <a:off x="1331640" y="4050000"/>
            <a:ext cx="258120" cy="208080"/>
          </a:xfrm>
          <a:custGeom>
            <a:avLst/>
            <a:gdLst/>
            <a:ahLst/>
            <a:rect l="0" t="0" r="r" b="b"/>
            <a:pathLst>
              <a:path w="717" h="578">
                <a:moveTo>
                  <a:pt x="683" y="0"/>
                </a:moveTo>
                <a:lnTo>
                  <a:pt x="42" y="0"/>
                </a:lnTo>
                <a:cubicBezTo>
                  <a:pt x="19" y="0"/>
                  <a:pt x="0" y="19"/>
                  <a:pt x="0" y="43"/>
                </a:cubicBezTo>
                <a:lnTo>
                  <a:pt x="0" y="554"/>
                </a:lnTo>
                <a:cubicBezTo>
                  <a:pt x="0" y="564"/>
                  <a:pt x="2" y="571"/>
                  <a:pt x="6" y="578"/>
                </a:cubicBezTo>
                <a:lnTo>
                  <a:pt x="717" y="18"/>
                </a:lnTo>
                <a:cubicBezTo>
                  <a:pt x="710" y="7"/>
                  <a:pt x="697" y="0"/>
                  <a:pt x="683" y="0"/>
                </a:cubicBezTo>
                <a:close/>
              </a:path>
            </a:pathLst>
          </a:custGeom>
          <a:solidFill>
            <a:srgbClr val="bf695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4" name=""/>
          <p:cNvSpPr/>
          <p:nvPr/>
        </p:nvSpPr>
        <p:spPr>
          <a:xfrm>
            <a:off x="1362240" y="4080600"/>
            <a:ext cx="199800" cy="108000"/>
          </a:xfrm>
          <a:custGeom>
            <a:avLst/>
            <a:gdLst/>
            <a:ahLst/>
            <a:rect l="0" t="0" r="r" b="b"/>
            <a:pathLst>
              <a:path w="555" h="300">
                <a:moveTo>
                  <a:pt x="555" y="300"/>
                </a:moveTo>
                <a:lnTo>
                  <a:pt x="555" y="22"/>
                </a:lnTo>
                <a:cubicBezTo>
                  <a:pt x="555" y="10"/>
                  <a:pt x="545" y="0"/>
                  <a:pt x="534" y="0"/>
                </a:cubicBezTo>
                <a:lnTo>
                  <a:pt x="21" y="0"/>
                </a:lnTo>
                <a:cubicBezTo>
                  <a:pt x="9" y="0"/>
                  <a:pt x="0" y="10"/>
                  <a:pt x="0" y="22"/>
                </a:cubicBezTo>
                <a:lnTo>
                  <a:pt x="0" y="300"/>
                </a:lnTo>
                <a:lnTo>
                  <a:pt x="555" y="300"/>
                </a:lnTo>
                <a:close/>
              </a:path>
            </a:pathLst>
          </a:custGeom>
          <a:solidFill>
            <a:srgbClr val="8cca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5" name=""/>
          <p:cNvSpPr/>
          <p:nvPr/>
        </p:nvSpPr>
        <p:spPr>
          <a:xfrm>
            <a:off x="1362240" y="4180680"/>
            <a:ext cx="107640" cy="54000"/>
          </a:xfrm>
          <a:custGeom>
            <a:avLst/>
            <a:gdLst/>
            <a:ahLst/>
            <a:rect l="0" t="0" r="r" b="b"/>
            <a:pathLst>
              <a:path w="299" h="150">
                <a:moveTo>
                  <a:pt x="21" y="150"/>
                </a:moveTo>
                <a:lnTo>
                  <a:pt x="299" y="150"/>
                </a:lnTo>
                <a:lnTo>
                  <a:pt x="299" y="0"/>
                </a:lnTo>
                <a:lnTo>
                  <a:pt x="0" y="0"/>
                </a:lnTo>
                <a:lnTo>
                  <a:pt x="0" y="128"/>
                </a:lnTo>
                <a:cubicBezTo>
                  <a:pt x="0" y="140"/>
                  <a:pt x="9" y="150"/>
                  <a:pt x="21" y="150"/>
                </a:cubicBezTo>
                <a:close/>
              </a:path>
            </a:pathLst>
          </a:custGeom>
          <a:solidFill>
            <a:srgbClr val="5dad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6" name=""/>
          <p:cNvSpPr/>
          <p:nvPr/>
        </p:nvSpPr>
        <p:spPr>
          <a:xfrm>
            <a:off x="1469520" y="4180680"/>
            <a:ext cx="92520" cy="54000"/>
          </a:xfrm>
          <a:custGeom>
            <a:avLst/>
            <a:gdLst/>
            <a:ahLst/>
            <a:rect l="0" t="0" r="r" b="b"/>
            <a:pathLst>
              <a:path w="257" h="150">
                <a:moveTo>
                  <a:pt x="0" y="0"/>
                </a:moveTo>
                <a:lnTo>
                  <a:pt x="0" y="150"/>
                </a:lnTo>
                <a:lnTo>
                  <a:pt x="236" y="150"/>
                </a:lnTo>
                <a:cubicBezTo>
                  <a:pt x="247" y="150"/>
                  <a:pt x="257" y="140"/>
                  <a:pt x="257" y="128"/>
                </a:cubicBezTo>
                <a:lnTo>
                  <a:pt x="257" y="0"/>
                </a:lnTo>
                <a:lnTo>
                  <a:pt x="0" y="0"/>
                </a:ln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7" name=""/>
          <p:cNvSpPr/>
          <p:nvPr/>
        </p:nvSpPr>
        <p:spPr>
          <a:xfrm>
            <a:off x="1406160" y="4165200"/>
            <a:ext cx="155880" cy="69480"/>
          </a:xfrm>
          <a:custGeom>
            <a:avLst/>
            <a:gdLst/>
            <a:ahLst/>
            <a:rect l="0" t="0" r="r" b="b"/>
            <a:pathLst>
              <a:path w="433" h="193">
                <a:moveTo>
                  <a:pt x="197" y="0"/>
                </a:moveTo>
                <a:cubicBezTo>
                  <a:pt x="184" y="0"/>
                  <a:pt x="179" y="24"/>
                  <a:pt x="168" y="43"/>
                </a:cubicBezTo>
                <a:cubicBezTo>
                  <a:pt x="160" y="54"/>
                  <a:pt x="150" y="64"/>
                  <a:pt x="134" y="64"/>
                </a:cubicBezTo>
                <a:cubicBezTo>
                  <a:pt x="91" y="64"/>
                  <a:pt x="91" y="128"/>
                  <a:pt x="70" y="128"/>
                </a:cubicBezTo>
                <a:cubicBezTo>
                  <a:pt x="43" y="128"/>
                  <a:pt x="16" y="161"/>
                  <a:pt x="0" y="193"/>
                </a:cubicBezTo>
                <a:lnTo>
                  <a:pt x="176" y="193"/>
                </a:lnTo>
                <a:cubicBezTo>
                  <a:pt x="195" y="154"/>
                  <a:pt x="215" y="117"/>
                  <a:pt x="262" y="108"/>
                </a:cubicBezTo>
                <a:cubicBezTo>
                  <a:pt x="269" y="107"/>
                  <a:pt x="276" y="106"/>
                  <a:pt x="284" y="106"/>
                </a:cubicBezTo>
                <a:cubicBezTo>
                  <a:pt x="348" y="106"/>
                  <a:pt x="350" y="73"/>
                  <a:pt x="369" y="64"/>
                </a:cubicBezTo>
                <a:cubicBezTo>
                  <a:pt x="398" y="49"/>
                  <a:pt x="417" y="55"/>
                  <a:pt x="433" y="59"/>
                </a:cubicBezTo>
                <a:lnTo>
                  <a:pt x="433" y="0"/>
                </a:lnTo>
                <a:lnTo>
                  <a:pt x="197" y="0"/>
                </a:lnTo>
                <a:close/>
              </a:path>
            </a:pathLst>
          </a:custGeom>
          <a:solidFill>
            <a:srgbClr val="6775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8" name=""/>
          <p:cNvSpPr/>
          <p:nvPr/>
        </p:nvSpPr>
        <p:spPr>
          <a:xfrm>
            <a:off x="1485000" y="4103640"/>
            <a:ext cx="61560" cy="61920"/>
          </a:xfrm>
          <a:custGeom>
            <a:avLst/>
            <a:gdLst/>
            <a:ahLst/>
            <a:rect l="0" t="0" r="r" b="b"/>
            <a:pathLst>
              <a:path w="171" h="172">
                <a:moveTo>
                  <a:pt x="86" y="0"/>
                </a:moveTo>
                <a:lnTo>
                  <a:pt x="0" y="87"/>
                </a:lnTo>
                <a:lnTo>
                  <a:pt x="0" y="172"/>
                </a:lnTo>
                <a:lnTo>
                  <a:pt x="171" y="172"/>
                </a:lnTo>
                <a:lnTo>
                  <a:pt x="171" y="87"/>
                </a:lnTo>
                <a:lnTo>
                  <a:pt x="86" y="0"/>
                </a:lnTo>
                <a:close/>
              </a:path>
            </a:pathLst>
          </a:custGeom>
          <a:solidFill>
            <a:srgbClr val="e75a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9" name=""/>
          <p:cNvSpPr/>
          <p:nvPr/>
        </p:nvSpPr>
        <p:spPr>
          <a:xfrm>
            <a:off x="1477080" y="4096080"/>
            <a:ext cx="77400" cy="46440"/>
          </a:xfrm>
          <a:custGeom>
            <a:avLst/>
            <a:gdLst/>
            <a:ahLst/>
            <a:rect l="0" t="0" r="r" b="b"/>
            <a:pathLst>
              <a:path w="215" h="129">
                <a:moveTo>
                  <a:pt x="193" y="129"/>
                </a:moveTo>
                <a:cubicBezTo>
                  <a:pt x="188" y="129"/>
                  <a:pt x="182" y="127"/>
                  <a:pt x="178" y="123"/>
                </a:cubicBezTo>
                <a:lnTo>
                  <a:pt x="108" y="52"/>
                </a:lnTo>
                <a:lnTo>
                  <a:pt x="37" y="123"/>
                </a:lnTo>
                <a:cubicBezTo>
                  <a:pt x="29" y="131"/>
                  <a:pt x="15" y="131"/>
                  <a:pt x="7" y="123"/>
                </a:cubicBezTo>
                <a:cubicBezTo>
                  <a:pt x="-2" y="113"/>
                  <a:pt x="-2" y="100"/>
                  <a:pt x="7" y="92"/>
                </a:cubicBezTo>
                <a:lnTo>
                  <a:pt x="93" y="6"/>
                </a:lnTo>
                <a:cubicBezTo>
                  <a:pt x="101" y="-2"/>
                  <a:pt x="115" y="-2"/>
                  <a:pt x="123" y="6"/>
                </a:cubicBezTo>
                <a:lnTo>
                  <a:pt x="208" y="92"/>
                </a:lnTo>
                <a:cubicBezTo>
                  <a:pt x="217" y="100"/>
                  <a:pt x="217" y="113"/>
                  <a:pt x="208" y="123"/>
                </a:cubicBezTo>
                <a:cubicBezTo>
                  <a:pt x="204" y="127"/>
                  <a:pt x="199" y="129"/>
                  <a:pt x="193" y="129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90" name=""/>
          <p:cNvSpPr/>
          <p:nvPr/>
        </p:nvSpPr>
        <p:spPr>
          <a:xfrm>
            <a:off x="1500120" y="4142160"/>
            <a:ext cx="15840" cy="23400"/>
          </a:xfrm>
          <a:custGeom>
            <a:avLst/>
            <a:gdLst/>
            <a:ahLst/>
            <a:rect l="0" t="0" r="r" b="b"/>
            <a:pathLst>
              <a:path w="44" h="65">
                <a:moveTo>
                  <a:pt x="0" y="0"/>
                </a:moveTo>
                <a:lnTo>
                  <a:pt x="44" y="0"/>
                </a:lnTo>
                <a:lnTo>
                  <a:pt x="44" y="65"/>
                </a:lnTo>
                <a:lnTo>
                  <a:pt x="0" y="65"/>
                </a:lnTo>
                <a:lnTo>
                  <a:pt x="0" y="0"/>
                </a:lnTo>
                <a:close/>
              </a:path>
            </a:pathLst>
          </a:custGeom>
          <a:solidFill>
            <a:srgbClr val="bb1a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91" name=""/>
          <p:cNvSpPr/>
          <p:nvPr/>
        </p:nvSpPr>
        <p:spPr>
          <a:xfrm>
            <a:off x="1374480" y="4096080"/>
            <a:ext cx="81720" cy="46440"/>
          </a:xfrm>
          <a:custGeom>
            <a:avLst/>
            <a:gdLst/>
            <a:ahLst/>
            <a:rect l="0" t="0" r="r" b="b"/>
            <a:pathLst>
              <a:path w="227" h="129">
                <a:moveTo>
                  <a:pt x="227" y="88"/>
                </a:moveTo>
                <a:cubicBezTo>
                  <a:pt x="227" y="66"/>
                  <a:pt x="209" y="48"/>
                  <a:pt x="187" y="48"/>
                </a:cubicBezTo>
                <a:cubicBezTo>
                  <a:pt x="186" y="48"/>
                  <a:pt x="184" y="48"/>
                  <a:pt x="182" y="48"/>
                </a:cubicBezTo>
                <a:cubicBezTo>
                  <a:pt x="183" y="46"/>
                  <a:pt x="183" y="43"/>
                  <a:pt x="183" y="40"/>
                </a:cubicBezTo>
                <a:cubicBezTo>
                  <a:pt x="183" y="18"/>
                  <a:pt x="165" y="0"/>
                  <a:pt x="143" y="0"/>
                </a:cubicBezTo>
                <a:cubicBezTo>
                  <a:pt x="129" y="0"/>
                  <a:pt x="116" y="8"/>
                  <a:pt x="109" y="19"/>
                </a:cubicBezTo>
                <a:cubicBezTo>
                  <a:pt x="104" y="17"/>
                  <a:pt x="99" y="16"/>
                  <a:pt x="94" y="16"/>
                </a:cubicBezTo>
                <a:cubicBezTo>
                  <a:pt x="74" y="16"/>
                  <a:pt x="57" y="31"/>
                  <a:pt x="55" y="51"/>
                </a:cubicBezTo>
                <a:cubicBezTo>
                  <a:pt x="50" y="49"/>
                  <a:pt x="46" y="48"/>
                  <a:pt x="40" y="48"/>
                </a:cubicBezTo>
                <a:cubicBezTo>
                  <a:pt x="18" y="48"/>
                  <a:pt x="0" y="66"/>
                  <a:pt x="0" y="88"/>
                </a:cubicBezTo>
                <a:cubicBezTo>
                  <a:pt x="0" y="110"/>
                  <a:pt x="18" y="129"/>
                  <a:pt x="40" y="129"/>
                </a:cubicBezTo>
                <a:cubicBezTo>
                  <a:pt x="41" y="129"/>
                  <a:pt x="42" y="129"/>
                  <a:pt x="43" y="129"/>
                </a:cubicBezTo>
                <a:lnTo>
                  <a:pt x="188" y="129"/>
                </a:lnTo>
                <a:cubicBezTo>
                  <a:pt x="210" y="129"/>
                  <a:pt x="227" y="110"/>
                  <a:pt x="227" y="8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2" name=""/>
          <p:cNvSpPr txBox="1"/>
          <p:nvPr/>
        </p:nvSpPr>
        <p:spPr>
          <a:xfrm>
            <a:off x="1617480" y="3531600"/>
            <a:ext cx="4488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Full page caching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via Cache Rules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3" name=""/>
          <p:cNvSpPr/>
          <p:nvPr/>
        </p:nvSpPr>
        <p:spPr>
          <a:xfrm>
            <a:off x="1076040" y="46288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0"/>
                  <a:pt x="215" y="193"/>
                  <a:pt x="204" y="205"/>
                </a:cubicBezTo>
                <a:cubicBezTo>
                  <a:pt x="192" y="216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4"/>
                </a:cubicBezTo>
                <a:cubicBezTo>
                  <a:pt x="236" y="88"/>
                  <a:pt x="239" y="104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94" name=""/>
          <p:cNvSpPr/>
          <p:nvPr/>
        </p:nvSpPr>
        <p:spPr>
          <a:xfrm>
            <a:off x="1385280" y="4505040"/>
            <a:ext cx="153720" cy="154080"/>
          </a:xfrm>
          <a:custGeom>
            <a:avLst/>
            <a:gdLst/>
            <a:ahLst/>
            <a:rect l="0" t="0" r="r" b="b"/>
            <a:pathLst>
              <a:path w="427" h="428">
                <a:moveTo>
                  <a:pt x="214" y="0"/>
                </a:moveTo>
                <a:cubicBezTo>
                  <a:pt x="95" y="0"/>
                  <a:pt x="0" y="97"/>
                  <a:pt x="0" y="214"/>
                </a:cubicBezTo>
                <a:lnTo>
                  <a:pt x="0" y="428"/>
                </a:lnTo>
                <a:lnTo>
                  <a:pt x="85" y="428"/>
                </a:lnTo>
                <a:lnTo>
                  <a:pt x="85" y="214"/>
                </a:lnTo>
                <a:cubicBezTo>
                  <a:pt x="85" y="197"/>
                  <a:pt x="88" y="181"/>
                  <a:pt x="95" y="165"/>
                </a:cubicBezTo>
                <a:cubicBezTo>
                  <a:pt x="101" y="150"/>
                  <a:pt x="110" y="136"/>
                  <a:pt x="122" y="124"/>
                </a:cubicBezTo>
                <a:cubicBezTo>
                  <a:pt x="134" y="112"/>
                  <a:pt x="148" y="103"/>
                  <a:pt x="164" y="96"/>
                </a:cubicBezTo>
                <a:cubicBezTo>
                  <a:pt x="180" y="90"/>
                  <a:pt x="196" y="87"/>
                  <a:pt x="214" y="87"/>
                </a:cubicBezTo>
                <a:cubicBezTo>
                  <a:pt x="231" y="87"/>
                  <a:pt x="247" y="90"/>
                  <a:pt x="263" y="96"/>
                </a:cubicBezTo>
                <a:cubicBezTo>
                  <a:pt x="278" y="103"/>
                  <a:pt x="292" y="112"/>
                  <a:pt x="304" y="124"/>
                </a:cubicBezTo>
                <a:cubicBezTo>
                  <a:pt x="316" y="136"/>
                  <a:pt x="326" y="150"/>
                  <a:pt x="332" y="165"/>
                </a:cubicBezTo>
                <a:cubicBezTo>
                  <a:pt x="338" y="181"/>
                  <a:pt x="342" y="197"/>
                  <a:pt x="342" y="214"/>
                </a:cubicBezTo>
                <a:lnTo>
                  <a:pt x="342" y="428"/>
                </a:lnTo>
                <a:lnTo>
                  <a:pt x="427" y="428"/>
                </a:lnTo>
                <a:lnTo>
                  <a:pt x="427" y="214"/>
                </a:lnTo>
                <a:cubicBezTo>
                  <a:pt x="427" y="97"/>
                  <a:pt x="332" y="0"/>
                  <a:pt x="214" y="0"/>
                </a:cubicBezTo>
                <a:close/>
              </a:path>
            </a:pathLst>
          </a:custGeom>
          <a:solidFill>
            <a:srgbClr val="aab8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5" name=""/>
          <p:cNvSpPr/>
          <p:nvPr/>
        </p:nvSpPr>
        <p:spPr>
          <a:xfrm>
            <a:off x="1354320" y="4612680"/>
            <a:ext cx="215280" cy="169200"/>
          </a:xfrm>
          <a:custGeom>
            <a:avLst/>
            <a:gdLst/>
            <a:ahLst/>
            <a:rect l="0" t="0" r="r" b="b"/>
            <a:pathLst>
              <a:path w="598" h="470">
                <a:moveTo>
                  <a:pt x="598" y="384"/>
                </a:moveTo>
                <a:cubicBezTo>
                  <a:pt x="598" y="396"/>
                  <a:pt x="596" y="407"/>
                  <a:pt x="592" y="417"/>
                </a:cubicBezTo>
                <a:cubicBezTo>
                  <a:pt x="587" y="427"/>
                  <a:pt x="581" y="437"/>
                  <a:pt x="573" y="445"/>
                </a:cubicBezTo>
                <a:cubicBezTo>
                  <a:pt x="565" y="453"/>
                  <a:pt x="556" y="459"/>
                  <a:pt x="546" y="463"/>
                </a:cubicBezTo>
                <a:cubicBezTo>
                  <a:pt x="535" y="467"/>
                  <a:pt x="524" y="470"/>
                  <a:pt x="513" y="470"/>
                </a:cubicBezTo>
                <a:lnTo>
                  <a:pt x="86" y="470"/>
                </a:lnTo>
                <a:cubicBezTo>
                  <a:pt x="74" y="470"/>
                  <a:pt x="64" y="467"/>
                  <a:pt x="53" y="463"/>
                </a:cubicBezTo>
                <a:cubicBezTo>
                  <a:pt x="43" y="459"/>
                  <a:pt x="33" y="453"/>
                  <a:pt x="25" y="445"/>
                </a:cubicBezTo>
                <a:cubicBezTo>
                  <a:pt x="17" y="437"/>
                  <a:pt x="11" y="427"/>
                  <a:pt x="7" y="417"/>
                </a:cubicBezTo>
                <a:cubicBezTo>
                  <a:pt x="3" y="407"/>
                  <a:pt x="0" y="396"/>
                  <a:pt x="0" y="384"/>
                </a:cubicBezTo>
                <a:lnTo>
                  <a:pt x="0" y="86"/>
                </a:lnTo>
                <a:cubicBezTo>
                  <a:pt x="0" y="75"/>
                  <a:pt x="3" y="64"/>
                  <a:pt x="7" y="52"/>
                </a:cubicBezTo>
                <a:cubicBezTo>
                  <a:pt x="11" y="42"/>
                  <a:pt x="17" y="33"/>
                  <a:pt x="25" y="25"/>
                </a:cubicBezTo>
                <a:cubicBezTo>
                  <a:pt x="33" y="17"/>
                  <a:pt x="43" y="10"/>
                  <a:pt x="53" y="6"/>
                </a:cubicBezTo>
                <a:cubicBezTo>
                  <a:pt x="64" y="2"/>
                  <a:pt x="74" y="0"/>
                  <a:pt x="86" y="0"/>
                </a:cubicBezTo>
                <a:lnTo>
                  <a:pt x="513" y="0"/>
                </a:lnTo>
                <a:cubicBezTo>
                  <a:pt x="524" y="0"/>
                  <a:pt x="535" y="2"/>
                  <a:pt x="546" y="6"/>
                </a:cubicBezTo>
                <a:cubicBezTo>
                  <a:pt x="556" y="10"/>
                  <a:pt x="565" y="17"/>
                  <a:pt x="573" y="25"/>
                </a:cubicBezTo>
                <a:cubicBezTo>
                  <a:pt x="581" y="33"/>
                  <a:pt x="587" y="42"/>
                  <a:pt x="592" y="52"/>
                </a:cubicBezTo>
                <a:cubicBezTo>
                  <a:pt x="596" y="64"/>
                  <a:pt x="598" y="75"/>
                  <a:pt x="598" y="86"/>
                </a:cubicBezTo>
                <a:lnTo>
                  <a:pt x="598" y="384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6" name=""/>
          <p:cNvSpPr txBox="1"/>
          <p:nvPr/>
        </p:nvSpPr>
        <p:spPr>
          <a:xfrm>
            <a:off x="1617480" y="4017240"/>
            <a:ext cx="4996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Polish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automatic image compression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7" name=""/>
          <p:cNvSpPr/>
          <p:nvPr/>
        </p:nvSpPr>
        <p:spPr>
          <a:xfrm>
            <a:off x="1076040" y="51051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3" y="179"/>
                  <a:pt x="215" y="192"/>
                  <a:pt x="204" y="203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3"/>
                </a:cubicBezTo>
                <a:cubicBezTo>
                  <a:pt x="24" y="192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4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98" name=""/>
          <p:cNvSpPr/>
          <p:nvPr/>
        </p:nvSpPr>
        <p:spPr>
          <a:xfrm>
            <a:off x="1349280" y="5146560"/>
            <a:ext cx="114480" cy="105840"/>
          </a:xfrm>
          <a:custGeom>
            <a:avLst/>
            <a:gdLst/>
            <a:ahLst/>
            <a:rect l="0" t="0" r="r" b="b"/>
            <a:pathLst>
              <a:path w="318" h="294">
                <a:moveTo>
                  <a:pt x="158" y="0"/>
                </a:moveTo>
                <a:cubicBezTo>
                  <a:pt x="194" y="0"/>
                  <a:pt x="318" y="93"/>
                  <a:pt x="318" y="208"/>
                </a:cubicBezTo>
                <a:cubicBezTo>
                  <a:pt x="318" y="322"/>
                  <a:pt x="0" y="322"/>
                  <a:pt x="0" y="208"/>
                </a:cubicBezTo>
                <a:cubicBezTo>
                  <a:pt x="0" y="92"/>
                  <a:pt x="123" y="0"/>
                  <a:pt x="158" y="0"/>
                </a:cubicBezTo>
                <a:close/>
              </a:path>
            </a:pathLst>
          </a:custGeom>
          <a:solidFill>
            <a:srgbClr val="99aa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9" name=""/>
          <p:cNvSpPr/>
          <p:nvPr/>
        </p:nvSpPr>
        <p:spPr>
          <a:xfrm>
            <a:off x="1346760" y="5013000"/>
            <a:ext cx="204840" cy="204480"/>
          </a:xfrm>
          <a:custGeom>
            <a:avLst/>
            <a:gdLst/>
            <a:ahLst/>
            <a:rect l="0" t="0" r="r" b="b"/>
            <a:pathLst>
              <a:path w="569" h="568">
                <a:moveTo>
                  <a:pt x="119" y="449"/>
                </a:moveTo>
                <a:cubicBezTo>
                  <a:pt x="308" y="638"/>
                  <a:pt x="489" y="560"/>
                  <a:pt x="547" y="502"/>
                </a:cubicBezTo>
                <a:cubicBezTo>
                  <a:pt x="605" y="444"/>
                  <a:pt x="544" y="290"/>
                  <a:pt x="410" y="158"/>
                </a:cubicBezTo>
                <a:cubicBezTo>
                  <a:pt x="278" y="25"/>
                  <a:pt x="124" y="-36"/>
                  <a:pt x="67" y="22"/>
                </a:cubicBezTo>
                <a:cubicBezTo>
                  <a:pt x="9" y="79"/>
                  <a:pt x="-70" y="261"/>
                  <a:pt x="119" y="449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0" name=""/>
          <p:cNvSpPr/>
          <p:nvPr/>
        </p:nvSpPr>
        <p:spPr>
          <a:xfrm>
            <a:off x="1362600" y="5013000"/>
            <a:ext cx="188640" cy="188640"/>
          </a:xfrm>
          <a:custGeom>
            <a:avLst/>
            <a:gdLst/>
            <a:ahLst/>
            <a:rect l="0" t="0" r="r" b="b"/>
            <a:pathLst>
              <a:path w="524" h="524">
                <a:moveTo>
                  <a:pt x="158" y="366"/>
                </a:moveTo>
                <a:cubicBezTo>
                  <a:pt x="291" y="499"/>
                  <a:pt x="445" y="560"/>
                  <a:pt x="502" y="503"/>
                </a:cubicBezTo>
                <a:cubicBezTo>
                  <a:pt x="560" y="445"/>
                  <a:pt x="499" y="290"/>
                  <a:pt x="366" y="158"/>
                </a:cubicBezTo>
                <a:cubicBezTo>
                  <a:pt x="234" y="25"/>
                  <a:pt x="79" y="-35"/>
                  <a:pt x="22" y="22"/>
                </a:cubicBezTo>
                <a:cubicBezTo>
                  <a:pt x="-36" y="79"/>
                  <a:pt x="25" y="233"/>
                  <a:pt x="158" y="366"/>
                </a:cubicBezTo>
                <a:close/>
              </a:path>
            </a:pathLst>
          </a:custGeom>
          <a:solidFill>
            <a:srgbClr val="6675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01" name=""/>
          <p:cNvSpPr/>
          <p:nvPr/>
        </p:nvSpPr>
        <p:spPr>
          <a:xfrm>
            <a:off x="1423800" y="5067360"/>
            <a:ext cx="73080" cy="73440"/>
          </a:xfrm>
          <a:custGeom>
            <a:avLst/>
            <a:gdLst/>
            <a:ahLst/>
            <a:rect l="0" t="0" r="r" b="b"/>
            <a:pathLst>
              <a:path w="203" h="204">
                <a:moveTo>
                  <a:pt x="196" y="8"/>
                </a:moveTo>
                <a:cubicBezTo>
                  <a:pt x="206" y="17"/>
                  <a:pt x="206" y="33"/>
                  <a:pt x="196" y="42"/>
                </a:cubicBezTo>
                <a:lnTo>
                  <a:pt x="41" y="197"/>
                </a:lnTo>
                <a:cubicBezTo>
                  <a:pt x="32" y="207"/>
                  <a:pt x="16" y="207"/>
                  <a:pt x="7" y="197"/>
                </a:cubicBezTo>
                <a:cubicBezTo>
                  <a:pt x="-2" y="188"/>
                  <a:pt x="-2" y="172"/>
                  <a:pt x="7" y="162"/>
                </a:cubicBezTo>
                <a:lnTo>
                  <a:pt x="161" y="8"/>
                </a:lnTo>
                <a:cubicBezTo>
                  <a:pt x="171" y="-2"/>
                  <a:pt x="187" y="-2"/>
                  <a:pt x="196" y="8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2" name=""/>
          <p:cNvSpPr/>
          <p:nvPr/>
        </p:nvSpPr>
        <p:spPr>
          <a:xfrm>
            <a:off x="1476720" y="5052240"/>
            <a:ext cx="35640" cy="35280"/>
          </a:xfrm>
          <a:custGeom>
            <a:avLst/>
            <a:gdLst/>
            <a:ahLst/>
            <a:rect l="0" t="0" r="r" b="b"/>
            <a:pathLst>
              <a:path w="99" h="98">
                <a:moveTo>
                  <a:pt x="84" y="14"/>
                </a:moveTo>
                <a:cubicBezTo>
                  <a:pt x="103" y="33"/>
                  <a:pt x="103" y="64"/>
                  <a:pt x="84" y="83"/>
                </a:cubicBezTo>
                <a:cubicBezTo>
                  <a:pt x="64" y="102"/>
                  <a:pt x="33" y="102"/>
                  <a:pt x="14" y="83"/>
                </a:cubicBezTo>
                <a:cubicBezTo>
                  <a:pt x="-5" y="64"/>
                  <a:pt x="-5" y="33"/>
                  <a:pt x="14" y="14"/>
                </a:cubicBezTo>
                <a:cubicBezTo>
                  <a:pt x="33" y="-5"/>
                  <a:pt x="64" y="-5"/>
                  <a:pt x="84" y="14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3" name=""/>
          <p:cNvSpPr/>
          <p:nvPr/>
        </p:nvSpPr>
        <p:spPr>
          <a:xfrm>
            <a:off x="1483920" y="5016960"/>
            <a:ext cx="64800" cy="65160"/>
          </a:xfrm>
          <a:custGeom>
            <a:avLst/>
            <a:gdLst/>
            <a:ahLst/>
            <a:rect l="0" t="0" r="r" b="b"/>
            <a:pathLst>
              <a:path w="180" h="181">
                <a:moveTo>
                  <a:pt x="159" y="181"/>
                </a:moveTo>
                <a:lnTo>
                  <a:pt x="158" y="181"/>
                </a:lnTo>
                <a:cubicBezTo>
                  <a:pt x="146" y="180"/>
                  <a:pt x="137" y="170"/>
                  <a:pt x="138" y="159"/>
                </a:cubicBezTo>
                <a:cubicBezTo>
                  <a:pt x="138" y="158"/>
                  <a:pt x="139" y="112"/>
                  <a:pt x="104" y="77"/>
                </a:cubicBezTo>
                <a:cubicBezTo>
                  <a:pt x="68" y="42"/>
                  <a:pt x="23" y="43"/>
                  <a:pt x="22" y="43"/>
                </a:cubicBezTo>
                <a:cubicBezTo>
                  <a:pt x="10" y="44"/>
                  <a:pt x="0" y="34"/>
                  <a:pt x="0" y="23"/>
                </a:cubicBezTo>
                <a:cubicBezTo>
                  <a:pt x="-1" y="11"/>
                  <a:pt x="8" y="1"/>
                  <a:pt x="20" y="0"/>
                </a:cubicBezTo>
                <a:cubicBezTo>
                  <a:pt x="23" y="0"/>
                  <a:pt x="86" y="-2"/>
                  <a:pt x="134" y="46"/>
                </a:cubicBezTo>
                <a:cubicBezTo>
                  <a:pt x="183" y="95"/>
                  <a:pt x="180" y="158"/>
                  <a:pt x="180" y="161"/>
                </a:cubicBezTo>
                <a:cubicBezTo>
                  <a:pt x="180" y="172"/>
                  <a:pt x="170" y="181"/>
                  <a:pt x="159" y="181"/>
                </a:cubicBez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4" name=""/>
          <p:cNvSpPr/>
          <p:nvPr/>
        </p:nvSpPr>
        <p:spPr>
          <a:xfrm>
            <a:off x="1486440" y="4987080"/>
            <a:ext cx="91080" cy="90360"/>
          </a:xfrm>
          <a:custGeom>
            <a:avLst/>
            <a:gdLst/>
            <a:ahLst/>
            <a:rect l="0" t="0" r="r" b="b"/>
            <a:pathLst>
              <a:path w="253" h="251">
                <a:moveTo>
                  <a:pt x="228" y="251"/>
                </a:moveTo>
                <a:cubicBezTo>
                  <a:pt x="226" y="251"/>
                  <a:pt x="223" y="251"/>
                  <a:pt x="221" y="250"/>
                </a:cubicBezTo>
                <a:cubicBezTo>
                  <a:pt x="210" y="246"/>
                  <a:pt x="204" y="234"/>
                  <a:pt x="208" y="223"/>
                </a:cubicBezTo>
                <a:cubicBezTo>
                  <a:pt x="209" y="220"/>
                  <a:pt x="227" y="161"/>
                  <a:pt x="161" y="96"/>
                </a:cubicBezTo>
                <a:cubicBezTo>
                  <a:pt x="94" y="29"/>
                  <a:pt x="31" y="44"/>
                  <a:pt x="28" y="45"/>
                </a:cubicBezTo>
                <a:cubicBezTo>
                  <a:pt x="17" y="48"/>
                  <a:pt x="4" y="41"/>
                  <a:pt x="1" y="30"/>
                </a:cubicBezTo>
                <a:cubicBezTo>
                  <a:pt x="-2" y="17"/>
                  <a:pt x="5" y="6"/>
                  <a:pt x="17" y="3"/>
                </a:cubicBezTo>
                <a:cubicBezTo>
                  <a:pt x="20" y="2"/>
                  <a:pt x="106" y="-20"/>
                  <a:pt x="191" y="66"/>
                </a:cubicBezTo>
                <a:cubicBezTo>
                  <a:pt x="278" y="151"/>
                  <a:pt x="249" y="233"/>
                  <a:pt x="248" y="237"/>
                </a:cubicBezTo>
                <a:cubicBezTo>
                  <a:pt x="245" y="246"/>
                  <a:pt x="237" y="251"/>
                  <a:pt x="228" y="251"/>
                </a:cubicBez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5" name=""/>
          <p:cNvSpPr/>
          <p:nvPr/>
        </p:nvSpPr>
        <p:spPr>
          <a:xfrm>
            <a:off x="1349280" y="5217480"/>
            <a:ext cx="114480" cy="34560"/>
          </a:xfrm>
          <a:custGeom>
            <a:avLst/>
            <a:gdLst/>
            <a:ahLst/>
            <a:rect l="0" t="0" r="r" b="b"/>
            <a:pathLst>
              <a:path w="318" h="96">
                <a:moveTo>
                  <a:pt x="162" y="37"/>
                </a:moveTo>
                <a:cubicBezTo>
                  <a:pt x="100" y="37"/>
                  <a:pt x="44" y="23"/>
                  <a:pt x="1" y="0"/>
                </a:cubicBezTo>
                <a:cubicBezTo>
                  <a:pt x="0" y="3"/>
                  <a:pt x="0" y="7"/>
                  <a:pt x="0" y="10"/>
                </a:cubicBezTo>
                <a:cubicBezTo>
                  <a:pt x="0" y="125"/>
                  <a:pt x="318" y="125"/>
                  <a:pt x="318" y="10"/>
                </a:cubicBezTo>
                <a:cubicBezTo>
                  <a:pt x="318" y="8"/>
                  <a:pt x="317" y="6"/>
                  <a:pt x="317" y="4"/>
                </a:cubicBezTo>
                <a:cubicBezTo>
                  <a:pt x="275" y="25"/>
                  <a:pt x="221" y="37"/>
                  <a:pt x="162" y="37"/>
                </a:cubicBezTo>
                <a:close/>
              </a:path>
            </a:pathLst>
          </a:custGeom>
          <a:solidFill>
            <a:srgbClr val="6675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06" name=""/>
          <p:cNvSpPr txBox="1"/>
          <p:nvPr/>
        </p:nvSpPr>
        <p:spPr>
          <a:xfrm>
            <a:off x="1617480" y="4502880"/>
            <a:ext cx="4475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Free SSL/TLS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automatic HTTPS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7" name=""/>
          <p:cNvSpPr txBox="1"/>
          <p:nvPr/>
        </p:nvSpPr>
        <p:spPr>
          <a:xfrm>
            <a:off x="1617480" y="4979160"/>
            <a:ext cx="4865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HTTP/2 + HTTP/3 (QUIC)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automatic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8" name=""/>
          <p:cNvSpPr/>
          <p:nvPr/>
        </p:nvSpPr>
        <p:spPr>
          <a:xfrm>
            <a:off x="1076040" y="62388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3"/>
                  <a:pt x="204" y="35"/>
                </a:cubicBezTo>
                <a:cubicBezTo>
                  <a:pt x="215" y="46"/>
                  <a:pt x="223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09" name=""/>
          <p:cNvSpPr/>
          <p:nvPr/>
        </p:nvSpPr>
        <p:spPr>
          <a:xfrm>
            <a:off x="1338840" y="6114960"/>
            <a:ext cx="246960" cy="276480"/>
          </a:xfrm>
          <a:custGeom>
            <a:avLst/>
            <a:gdLst/>
            <a:ahLst/>
            <a:rect l="0" t="0" r="r" b="b"/>
            <a:pathLst>
              <a:path w="686" h="768">
                <a:moveTo>
                  <a:pt x="663" y="64"/>
                </a:moveTo>
                <a:cubicBezTo>
                  <a:pt x="513" y="0"/>
                  <a:pt x="343" y="0"/>
                  <a:pt x="343" y="0"/>
                </a:cubicBezTo>
                <a:cubicBezTo>
                  <a:pt x="343" y="0"/>
                  <a:pt x="172" y="0"/>
                  <a:pt x="22" y="64"/>
                </a:cubicBezTo>
                <a:cubicBezTo>
                  <a:pt x="-42" y="384"/>
                  <a:pt x="22" y="661"/>
                  <a:pt x="343" y="768"/>
                </a:cubicBezTo>
                <a:cubicBezTo>
                  <a:pt x="663" y="661"/>
                  <a:pt x="727" y="384"/>
                  <a:pt x="663" y="64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0" name=""/>
          <p:cNvSpPr/>
          <p:nvPr/>
        </p:nvSpPr>
        <p:spPr>
          <a:xfrm>
            <a:off x="1353960" y="6130080"/>
            <a:ext cx="216000" cy="245160"/>
          </a:xfrm>
          <a:custGeom>
            <a:avLst/>
            <a:gdLst/>
            <a:ahLst/>
            <a:rect l="0" t="0" r="r" b="b"/>
            <a:pathLst>
              <a:path w="600" h="681">
                <a:moveTo>
                  <a:pt x="300" y="681"/>
                </a:moveTo>
                <a:cubicBezTo>
                  <a:pt x="52" y="592"/>
                  <a:pt x="-43" y="381"/>
                  <a:pt x="17" y="52"/>
                </a:cubicBezTo>
                <a:cubicBezTo>
                  <a:pt x="152" y="1"/>
                  <a:pt x="298" y="0"/>
                  <a:pt x="300" y="0"/>
                </a:cubicBezTo>
                <a:cubicBezTo>
                  <a:pt x="301" y="0"/>
                  <a:pt x="448" y="1"/>
                  <a:pt x="582" y="52"/>
                </a:cubicBezTo>
                <a:cubicBezTo>
                  <a:pt x="642" y="381"/>
                  <a:pt x="547" y="592"/>
                  <a:pt x="300" y="681"/>
                </a:cubicBezTo>
                <a:close/>
              </a:path>
            </a:pathLst>
          </a:custGeom>
          <a:solidFill>
            <a:srgbClr val="55ac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11" name=""/>
          <p:cNvSpPr/>
          <p:nvPr/>
        </p:nvSpPr>
        <p:spPr>
          <a:xfrm>
            <a:off x="1461960" y="6130080"/>
            <a:ext cx="108000" cy="245160"/>
          </a:xfrm>
          <a:custGeom>
            <a:avLst/>
            <a:gdLst/>
            <a:ahLst/>
            <a:rect l="0" t="0" r="r" b="b"/>
            <a:pathLst>
              <a:path w="300" h="681">
                <a:moveTo>
                  <a:pt x="283" y="52"/>
                </a:moveTo>
                <a:cubicBezTo>
                  <a:pt x="148" y="1"/>
                  <a:pt x="1" y="0"/>
                  <a:pt x="0" y="0"/>
                </a:cubicBezTo>
                <a:lnTo>
                  <a:pt x="0" y="681"/>
                </a:lnTo>
                <a:cubicBezTo>
                  <a:pt x="247" y="592"/>
                  <a:pt x="343" y="381"/>
                  <a:pt x="283" y="52"/>
                </a:cubicBezTo>
                <a:close/>
              </a:path>
            </a:pathLst>
          </a:custGeom>
          <a:solidFill>
            <a:srgbClr val="2266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12" name=""/>
          <p:cNvSpPr txBox="1"/>
          <p:nvPr/>
        </p:nvSpPr>
        <p:spPr>
          <a:xfrm>
            <a:off x="747720" y="5550840"/>
            <a:ext cx="1855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Security (free)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3" name=""/>
          <p:cNvSpPr/>
          <p:nvPr/>
        </p:nvSpPr>
        <p:spPr>
          <a:xfrm>
            <a:off x="1076040" y="67244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5"/>
                  <a:pt x="59" y="16"/>
                  <a:pt x="74" y="10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10"/>
                </a:cubicBezTo>
                <a:cubicBezTo>
                  <a:pt x="180" y="16"/>
                  <a:pt x="192" y="25"/>
                  <a:pt x="204" y="36"/>
                </a:cubicBezTo>
                <a:cubicBezTo>
                  <a:pt x="215" y="47"/>
                  <a:pt x="223" y="60"/>
                  <a:pt x="230" y="75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14" name=""/>
          <p:cNvSpPr/>
          <p:nvPr/>
        </p:nvSpPr>
        <p:spPr>
          <a:xfrm>
            <a:off x="1561680" y="6685200"/>
            <a:ext cx="38520" cy="54000"/>
          </a:xfrm>
          <a:custGeom>
            <a:avLst/>
            <a:gdLst/>
            <a:ahLst/>
            <a:rect l="0" t="0" r="r" b="b"/>
            <a:pathLst>
              <a:path w="107" h="150">
                <a:moveTo>
                  <a:pt x="107" y="74"/>
                </a:moveTo>
                <a:cubicBezTo>
                  <a:pt x="107" y="84"/>
                  <a:pt x="106" y="94"/>
                  <a:pt x="103" y="103"/>
                </a:cubicBezTo>
                <a:cubicBezTo>
                  <a:pt x="101" y="112"/>
                  <a:pt x="97" y="120"/>
                  <a:pt x="92" y="127"/>
                </a:cubicBezTo>
                <a:cubicBezTo>
                  <a:pt x="87" y="135"/>
                  <a:pt x="81" y="140"/>
                  <a:pt x="75" y="144"/>
                </a:cubicBezTo>
                <a:cubicBezTo>
                  <a:pt x="68" y="148"/>
                  <a:pt x="60" y="150"/>
                  <a:pt x="53" y="150"/>
                </a:cubicBezTo>
                <a:cubicBezTo>
                  <a:pt x="46" y="150"/>
                  <a:pt x="39" y="148"/>
                  <a:pt x="33" y="144"/>
                </a:cubicBezTo>
                <a:cubicBezTo>
                  <a:pt x="26" y="140"/>
                  <a:pt x="21" y="135"/>
                  <a:pt x="16" y="127"/>
                </a:cubicBezTo>
                <a:cubicBezTo>
                  <a:pt x="11" y="120"/>
                  <a:pt x="7" y="112"/>
                  <a:pt x="4" y="103"/>
                </a:cubicBezTo>
                <a:cubicBezTo>
                  <a:pt x="1" y="94"/>
                  <a:pt x="0" y="84"/>
                  <a:pt x="0" y="74"/>
                </a:cubicBezTo>
                <a:cubicBezTo>
                  <a:pt x="0" y="64"/>
                  <a:pt x="1" y="55"/>
                  <a:pt x="4" y="46"/>
                </a:cubicBezTo>
                <a:cubicBezTo>
                  <a:pt x="7" y="36"/>
                  <a:pt x="11" y="28"/>
                  <a:pt x="16" y="21"/>
                </a:cubicBezTo>
                <a:cubicBezTo>
                  <a:pt x="21" y="14"/>
                  <a:pt x="26" y="9"/>
                  <a:pt x="33" y="5"/>
                </a:cubicBezTo>
                <a:cubicBezTo>
                  <a:pt x="39" y="1"/>
                  <a:pt x="46" y="0"/>
                  <a:pt x="53" y="0"/>
                </a:cubicBezTo>
                <a:cubicBezTo>
                  <a:pt x="60" y="0"/>
                  <a:pt x="68" y="1"/>
                  <a:pt x="75" y="5"/>
                </a:cubicBezTo>
                <a:cubicBezTo>
                  <a:pt x="81" y="9"/>
                  <a:pt x="87" y="14"/>
                  <a:pt x="92" y="21"/>
                </a:cubicBezTo>
                <a:cubicBezTo>
                  <a:pt x="97" y="28"/>
                  <a:pt x="101" y="36"/>
                  <a:pt x="103" y="46"/>
                </a:cubicBezTo>
                <a:cubicBezTo>
                  <a:pt x="106" y="55"/>
                  <a:pt x="107" y="64"/>
                  <a:pt x="107" y="74"/>
                </a:cubicBezTo>
                <a:close/>
              </a:path>
            </a:pathLst>
          </a:custGeom>
          <a:solidFill>
            <a:srgbClr val="f490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5" name=""/>
          <p:cNvSpPr/>
          <p:nvPr/>
        </p:nvSpPr>
        <p:spPr>
          <a:xfrm>
            <a:off x="1323720" y="6685200"/>
            <a:ext cx="38880" cy="54000"/>
          </a:xfrm>
          <a:custGeom>
            <a:avLst/>
            <a:gdLst/>
            <a:ahLst/>
            <a:rect l="0" t="0" r="r" b="b"/>
            <a:pathLst>
              <a:path w="108" h="150">
                <a:moveTo>
                  <a:pt x="108" y="74"/>
                </a:moveTo>
                <a:cubicBezTo>
                  <a:pt x="108" y="84"/>
                  <a:pt x="106" y="94"/>
                  <a:pt x="104" y="103"/>
                </a:cubicBezTo>
                <a:cubicBezTo>
                  <a:pt x="101" y="112"/>
                  <a:pt x="97" y="120"/>
                  <a:pt x="92" y="127"/>
                </a:cubicBezTo>
                <a:cubicBezTo>
                  <a:pt x="87" y="135"/>
                  <a:pt x="80" y="140"/>
                  <a:pt x="74" y="144"/>
                </a:cubicBezTo>
                <a:cubicBezTo>
                  <a:pt x="67" y="148"/>
                  <a:pt x="61" y="150"/>
                  <a:pt x="53" y="150"/>
                </a:cubicBezTo>
                <a:cubicBezTo>
                  <a:pt x="46" y="150"/>
                  <a:pt x="40" y="148"/>
                  <a:pt x="33" y="144"/>
                </a:cubicBezTo>
                <a:cubicBezTo>
                  <a:pt x="27" y="140"/>
                  <a:pt x="21" y="135"/>
                  <a:pt x="16" y="127"/>
                </a:cubicBezTo>
                <a:cubicBezTo>
                  <a:pt x="11" y="120"/>
                  <a:pt x="7" y="112"/>
                  <a:pt x="4" y="103"/>
                </a:cubicBezTo>
                <a:cubicBezTo>
                  <a:pt x="2" y="94"/>
                  <a:pt x="0" y="84"/>
                  <a:pt x="0" y="74"/>
                </a:cubicBezTo>
                <a:cubicBezTo>
                  <a:pt x="0" y="64"/>
                  <a:pt x="2" y="55"/>
                  <a:pt x="4" y="46"/>
                </a:cubicBezTo>
                <a:cubicBezTo>
                  <a:pt x="7" y="36"/>
                  <a:pt x="11" y="28"/>
                  <a:pt x="16" y="21"/>
                </a:cubicBezTo>
                <a:cubicBezTo>
                  <a:pt x="21" y="14"/>
                  <a:pt x="27" y="9"/>
                  <a:pt x="33" y="5"/>
                </a:cubicBezTo>
                <a:cubicBezTo>
                  <a:pt x="40" y="1"/>
                  <a:pt x="46" y="0"/>
                  <a:pt x="53" y="0"/>
                </a:cubicBezTo>
                <a:cubicBezTo>
                  <a:pt x="61" y="0"/>
                  <a:pt x="67" y="1"/>
                  <a:pt x="74" y="5"/>
                </a:cubicBezTo>
                <a:cubicBezTo>
                  <a:pt x="80" y="9"/>
                  <a:pt x="87" y="14"/>
                  <a:pt x="92" y="21"/>
                </a:cubicBezTo>
                <a:cubicBezTo>
                  <a:pt x="97" y="28"/>
                  <a:pt x="101" y="36"/>
                  <a:pt x="104" y="46"/>
                </a:cubicBezTo>
                <a:cubicBezTo>
                  <a:pt x="106" y="55"/>
                  <a:pt x="108" y="64"/>
                  <a:pt x="108" y="74"/>
                </a:cubicBezTo>
                <a:close/>
              </a:path>
            </a:pathLst>
          </a:custGeom>
          <a:solidFill>
            <a:srgbClr val="f490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6" name=""/>
          <p:cNvSpPr/>
          <p:nvPr/>
        </p:nvSpPr>
        <p:spPr>
          <a:xfrm>
            <a:off x="1339200" y="6669720"/>
            <a:ext cx="245880" cy="84600"/>
          </a:xfrm>
          <a:custGeom>
            <a:avLst/>
            <a:gdLst/>
            <a:ahLst/>
            <a:rect l="0" t="0" r="r" b="b"/>
            <a:pathLst>
              <a:path w="683" h="235">
                <a:moveTo>
                  <a:pt x="683" y="214"/>
                </a:moveTo>
                <a:cubicBezTo>
                  <a:pt x="683" y="226"/>
                  <a:pt x="673" y="235"/>
                  <a:pt x="662" y="235"/>
                </a:cubicBezTo>
                <a:lnTo>
                  <a:pt x="598" y="235"/>
                </a:lnTo>
                <a:cubicBezTo>
                  <a:pt x="586" y="235"/>
                  <a:pt x="576" y="226"/>
                  <a:pt x="576" y="214"/>
                </a:cubicBezTo>
                <a:lnTo>
                  <a:pt x="576" y="21"/>
                </a:lnTo>
                <a:cubicBezTo>
                  <a:pt x="576" y="9"/>
                  <a:pt x="586" y="0"/>
                  <a:pt x="598" y="0"/>
                </a:cubicBezTo>
                <a:lnTo>
                  <a:pt x="662" y="0"/>
                </a:lnTo>
                <a:cubicBezTo>
                  <a:pt x="673" y="0"/>
                  <a:pt x="683" y="9"/>
                  <a:pt x="683" y="21"/>
                </a:cubicBezTo>
                <a:lnTo>
                  <a:pt x="683" y="214"/>
                </a:lnTo>
                <a:moveTo>
                  <a:pt x="107" y="214"/>
                </a:moveTo>
                <a:cubicBezTo>
                  <a:pt x="107" y="226"/>
                  <a:pt x="98" y="235"/>
                  <a:pt x="86" y="235"/>
                </a:cubicBezTo>
                <a:lnTo>
                  <a:pt x="21" y="235"/>
                </a:lnTo>
                <a:cubicBezTo>
                  <a:pt x="9" y="235"/>
                  <a:pt x="0" y="226"/>
                  <a:pt x="0" y="214"/>
                </a:cubicBezTo>
                <a:lnTo>
                  <a:pt x="0" y="21"/>
                </a:lnTo>
                <a:cubicBezTo>
                  <a:pt x="0" y="9"/>
                  <a:pt x="9" y="0"/>
                  <a:pt x="21" y="0"/>
                </a:cubicBezTo>
                <a:lnTo>
                  <a:pt x="86" y="0"/>
                </a:lnTo>
                <a:cubicBezTo>
                  <a:pt x="98" y="0"/>
                  <a:pt x="107" y="9"/>
                  <a:pt x="107" y="21"/>
                </a:cubicBezTo>
                <a:lnTo>
                  <a:pt x="107" y="214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7" name=""/>
          <p:cNvSpPr/>
          <p:nvPr/>
        </p:nvSpPr>
        <p:spPr>
          <a:xfrm>
            <a:off x="1385280" y="6600600"/>
            <a:ext cx="153720" cy="69480"/>
          </a:xfrm>
          <a:custGeom>
            <a:avLst/>
            <a:gdLst/>
            <a:ahLst/>
            <a:rect l="0" t="0" r="r" b="b"/>
            <a:pathLst>
              <a:path w="427" h="193">
                <a:moveTo>
                  <a:pt x="427" y="108"/>
                </a:moveTo>
                <a:cubicBezTo>
                  <a:pt x="427" y="167"/>
                  <a:pt x="332" y="193"/>
                  <a:pt x="214" y="193"/>
                </a:cubicBezTo>
                <a:cubicBezTo>
                  <a:pt x="95" y="193"/>
                  <a:pt x="0" y="167"/>
                  <a:pt x="0" y="108"/>
                </a:cubicBezTo>
                <a:cubicBezTo>
                  <a:pt x="0" y="48"/>
                  <a:pt x="95" y="0"/>
                  <a:pt x="214" y="0"/>
                </a:cubicBezTo>
                <a:cubicBezTo>
                  <a:pt x="332" y="0"/>
                  <a:pt x="427" y="48"/>
                  <a:pt x="427" y="108"/>
                </a:cubicBez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8" name=""/>
          <p:cNvSpPr/>
          <p:nvPr/>
        </p:nvSpPr>
        <p:spPr>
          <a:xfrm>
            <a:off x="1408320" y="6609600"/>
            <a:ext cx="107640" cy="45000"/>
          </a:xfrm>
          <a:custGeom>
            <a:avLst/>
            <a:gdLst/>
            <a:ahLst/>
            <a:rect l="0" t="0" r="r" b="b"/>
            <a:pathLst>
              <a:path w="299" h="125">
                <a:moveTo>
                  <a:pt x="299" y="63"/>
                </a:moveTo>
                <a:cubicBezTo>
                  <a:pt x="299" y="97"/>
                  <a:pt x="232" y="125"/>
                  <a:pt x="150" y="125"/>
                </a:cubicBezTo>
                <a:cubicBezTo>
                  <a:pt x="66" y="125"/>
                  <a:pt x="0" y="97"/>
                  <a:pt x="0" y="63"/>
                </a:cubicBezTo>
                <a:cubicBezTo>
                  <a:pt x="0" y="28"/>
                  <a:pt x="66" y="0"/>
                  <a:pt x="150" y="0"/>
                </a:cubicBezTo>
                <a:cubicBezTo>
                  <a:pt x="232" y="0"/>
                  <a:pt x="299" y="28"/>
                  <a:pt x="299" y="63"/>
                </a:cubicBezTo>
                <a:close/>
              </a:path>
            </a:pathLst>
          </a:custGeom>
          <a:solidFill>
            <a:srgbClr val="f490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9" name=""/>
          <p:cNvSpPr/>
          <p:nvPr/>
        </p:nvSpPr>
        <p:spPr>
          <a:xfrm>
            <a:off x="1369800" y="6623640"/>
            <a:ext cx="184680" cy="30960"/>
          </a:xfrm>
          <a:custGeom>
            <a:avLst/>
            <a:gdLst/>
            <a:ahLst/>
            <a:rect l="0" t="0" r="r" b="b"/>
            <a:pathLst>
              <a:path w="513" h="86">
                <a:moveTo>
                  <a:pt x="513" y="54"/>
                </a:moveTo>
                <a:cubicBezTo>
                  <a:pt x="513" y="84"/>
                  <a:pt x="489" y="86"/>
                  <a:pt x="459" y="86"/>
                </a:cubicBezTo>
                <a:lnTo>
                  <a:pt x="54" y="86"/>
                </a:lnTo>
                <a:cubicBezTo>
                  <a:pt x="24" y="86"/>
                  <a:pt x="0" y="84"/>
                  <a:pt x="0" y="54"/>
                </a:cubicBezTo>
                <a:cubicBezTo>
                  <a:pt x="0" y="25"/>
                  <a:pt x="24" y="0"/>
                  <a:pt x="54" y="0"/>
                </a:cubicBezTo>
                <a:lnTo>
                  <a:pt x="459" y="0"/>
                </a:lnTo>
                <a:cubicBezTo>
                  <a:pt x="489" y="0"/>
                  <a:pt x="513" y="25"/>
                  <a:pt x="513" y="54"/>
                </a:cubicBezTo>
                <a:close/>
              </a:path>
            </a:pathLst>
          </a:custGeom>
          <a:solidFill>
            <a:srgbClr val="2266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20" name=""/>
          <p:cNvSpPr/>
          <p:nvPr/>
        </p:nvSpPr>
        <p:spPr>
          <a:xfrm>
            <a:off x="1354320" y="6646680"/>
            <a:ext cx="215280" cy="215280"/>
          </a:xfrm>
          <a:custGeom>
            <a:avLst/>
            <a:gdLst/>
            <a:ahLst/>
            <a:rect l="0" t="0" r="r" b="b"/>
            <a:pathLst>
              <a:path w="598" h="598">
                <a:moveTo>
                  <a:pt x="556" y="0"/>
                </a:moveTo>
                <a:lnTo>
                  <a:pt x="43" y="0"/>
                </a:lnTo>
                <a:cubicBezTo>
                  <a:pt x="20" y="0"/>
                  <a:pt x="0" y="19"/>
                  <a:pt x="0" y="43"/>
                </a:cubicBezTo>
                <a:lnTo>
                  <a:pt x="0" y="598"/>
                </a:lnTo>
                <a:lnTo>
                  <a:pt x="598" y="598"/>
                </a:lnTo>
                <a:lnTo>
                  <a:pt x="598" y="43"/>
                </a:lnTo>
                <a:cubicBezTo>
                  <a:pt x="598" y="19"/>
                  <a:pt x="579" y="0"/>
                  <a:pt x="556" y="0"/>
                </a:cubicBezTo>
                <a:close/>
              </a:path>
            </a:pathLst>
          </a:custGeom>
          <a:solidFill>
            <a:srgbClr val="55ac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21" name=""/>
          <p:cNvSpPr/>
          <p:nvPr/>
        </p:nvSpPr>
        <p:spPr>
          <a:xfrm>
            <a:off x="1331640" y="6831000"/>
            <a:ext cx="261000" cy="38520"/>
          </a:xfrm>
          <a:custGeom>
            <a:avLst/>
            <a:gdLst/>
            <a:ahLst/>
            <a:rect l="0" t="0" r="r" b="b"/>
            <a:pathLst>
              <a:path w="725" h="107">
                <a:moveTo>
                  <a:pt x="725" y="64"/>
                </a:moveTo>
                <a:lnTo>
                  <a:pt x="725" y="42"/>
                </a:lnTo>
                <a:cubicBezTo>
                  <a:pt x="725" y="19"/>
                  <a:pt x="706" y="0"/>
                  <a:pt x="683" y="0"/>
                </a:cubicBezTo>
                <a:lnTo>
                  <a:pt x="450" y="0"/>
                </a:lnTo>
                <a:lnTo>
                  <a:pt x="378" y="72"/>
                </a:lnTo>
                <a:cubicBezTo>
                  <a:pt x="370" y="81"/>
                  <a:pt x="356" y="81"/>
                  <a:pt x="348" y="72"/>
                </a:cubicBezTo>
                <a:lnTo>
                  <a:pt x="275" y="0"/>
                </a:lnTo>
                <a:lnTo>
                  <a:pt x="42" y="0"/>
                </a:lnTo>
                <a:cubicBezTo>
                  <a:pt x="19" y="0"/>
                  <a:pt x="0" y="19"/>
                  <a:pt x="0" y="42"/>
                </a:cubicBezTo>
                <a:lnTo>
                  <a:pt x="0" y="64"/>
                </a:lnTo>
                <a:cubicBezTo>
                  <a:pt x="0" y="88"/>
                  <a:pt x="-3" y="107"/>
                  <a:pt x="21" y="107"/>
                </a:cubicBezTo>
                <a:lnTo>
                  <a:pt x="704" y="107"/>
                </a:lnTo>
                <a:cubicBezTo>
                  <a:pt x="727" y="107"/>
                  <a:pt x="725" y="88"/>
                  <a:pt x="725" y="64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22" name=""/>
          <p:cNvSpPr/>
          <p:nvPr/>
        </p:nvSpPr>
        <p:spPr>
          <a:xfrm>
            <a:off x="1477080" y="6677280"/>
            <a:ext cx="69480" cy="69480"/>
          </a:xfrm>
          <a:custGeom>
            <a:avLst/>
            <a:gdLst/>
            <a:ahLst/>
            <a:rect l="0" t="0" r="r" b="b"/>
            <a:pathLst>
              <a:path w="193" h="193">
                <a:moveTo>
                  <a:pt x="193" y="97"/>
                </a:moveTo>
                <a:cubicBezTo>
                  <a:pt x="193" y="110"/>
                  <a:pt x="191" y="122"/>
                  <a:pt x="186" y="134"/>
                </a:cubicBezTo>
                <a:cubicBezTo>
                  <a:pt x="181" y="146"/>
                  <a:pt x="174" y="156"/>
                  <a:pt x="165" y="165"/>
                </a:cubicBezTo>
                <a:cubicBezTo>
                  <a:pt x="156" y="174"/>
                  <a:pt x="146" y="181"/>
                  <a:pt x="134" y="186"/>
                </a:cubicBezTo>
                <a:cubicBezTo>
                  <a:pt x="122" y="191"/>
                  <a:pt x="110" y="193"/>
                  <a:pt x="97" y="193"/>
                </a:cubicBezTo>
                <a:cubicBezTo>
                  <a:pt x="85" y="193"/>
                  <a:pt x="72" y="191"/>
                  <a:pt x="61" y="186"/>
                </a:cubicBezTo>
                <a:cubicBezTo>
                  <a:pt x="49" y="181"/>
                  <a:pt x="39" y="174"/>
                  <a:pt x="30" y="165"/>
                </a:cubicBezTo>
                <a:cubicBezTo>
                  <a:pt x="21" y="156"/>
                  <a:pt x="14" y="146"/>
                  <a:pt x="9" y="134"/>
                </a:cubicBezTo>
                <a:cubicBezTo>
                  <a:pt x="3" y="122"/>
                  <a:pt x="0" y="110"/>
                  <a:pt x="0" y="97"/>
                </a:cubicBezTo>
                <a:cubicBezTo>
                  <a:pt x="0" y="84"/>
                  <a:pt x="3" y="71"/>
                  <a:pt x="9" y="59"/>
                </a:cubicBezTo>
                <a:cubicBezTo>
                  <a:pt x="14" y="48"/>
                  <a:pt x="21" y="37"/>
                  <a:pt x="30" y="28"/>
                </a:cubicBezTo>
                <a:cubicBezTo>
                  <a:pt x="39" y="19"/>
                  <a:pt x="49" y="12"/>
                  <a:pt x="61" y="8"/>
                </a:cubicBezTo>
                <a:cubicBezTo>
                  <a:pt x="72" y="3"/>
                  <a:pt x="85" y="0"/>
                  <a:pt x="97" y="0"/>
                </a:cubicBezTo>
                <a:cubicBezTo>
                  <a:pt x="110" y="0"/>
                  <a:pt x="122" y="3"/>
                  <a:pt x="134" y="8"/>
                </a:cubicBezTo>
                <a:cubicBezTo>
                  <a:pt x="146" y="12"/>
                  <a:pt x="156" y="19"/>
                  <a:pt x="165" y="28"/>
                </a:cubicBezTo>
                <a:cubicBezTo>
                  <a:pt x="174" y="37"/>
                  <a:pt x="181" y="48"/>
                  <a:pt x="186" y="59"/>
                </a:cubicBezTo>
                <a:cubicBezTo>
                  <a:pt x="191" y="71"/>
                  <a:pt x="193" y="84"/>
                  <a:pt x="193" y="9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3" name=""/>
          <p:cNvSpPr/>
          <p:nvPr/>
        </p:nvSpPr>
        <p:spPr>
          <a:xfrm>
            <a:off x="1490760" y="6690960"/>
            <a:ext cx="42120" cy="42120"/>
          </a:xfrm>
          <a:custGeom>
            <a:avLst/>
            <a:gdLst/>
            <a:ahLst/>
            <a:rect l="0" t="0" r="r" b="b"/>
            <a:pathLst>
              <a:path w="117" h="117">
                <a:moveTo>
                  <a:pt x="117" y="58"/>
                </a:moveTo>
                <a:cubicBezTo>
                  <a:pt x="117" y="66"/>
                  <a:pt x="116" y="73"/>
                  <a:pt x="113" y="80"/>
                </a:cubicBezTo>
                <a:cubicBezTo>
                  <a:pt x="110" y="87"/>
                  <a:pt x="106" y="94"/>
                  <a:pt x="100" y="99"/>
                </a:cubicBezTo>
                <a:cubicBezTo>
                  <a:pt x="95" y="106"/>
                  <a:pt x="89" y="110"/>
                  <a:pt x="82" y="113"/>
                </a:cubicBezTo>
                <a:cubicBezTo>
                  <a:pt x="74" y="116"/>
                  <a:pt x="67" y="117"/>
                  <a:pt x="59" y="117"/>
                </a:cubicBezTo>
                <a:cubicBezTo>
                  <a:pt x="51" y="117"/>
                  <a:pt x="43" y="116"/>
                  <a:pt x="36" y="113"/>
                </a:cubicBezTo>
                <a:cubicBezTo>
                  <a:pt x="29" y="110"/>
                  <a:pt x="23" y="106"/>
                  <a:pt x="17" y="99"/>
                </a:cubicBezTo>
                <a:cubicBezTo>
                  <a:pt x="12" y="94"/>
                  <a:pt x="8" y="87"/>
                  <a:pt x="5" y="80"/>
                </a:cubicBezTo>
                <a:cubicBezTo>
                  <a:pt x="2" y="73"/>
                  <a:pt x="0" y="66"/>
                  <a:pt x="0" y="58"/>
                </a:cubicBezTo>
                <a:cubicBezTo>
                  <a:pt x="0" y="50"/>
                  <a:pt x="2" y="43"/>
                  <a:pt x="5" y="36"/>
                </a:cubicBezTo>
                <a:cubicBezTo>
                  <a:pt x="8" y="29"/>
                  <a:pt x="12" y="23"/>
                  <a:pt x="17" y="17"/>
                </a:cubicBezTo>
                <a:cubicBezTo>
                  <a:pt x="23" y="12"/>
                  <a:pt x="29" y="8"/>
                  <a:pt x="36" y="5"/>
                </a:cubicBezTo>
                <a:cubicBezTo>
                  <a:pt x="43" y="2"/>
                  <a:pt x="51" y="0"/>
                  <a:pt x="59" y="0"/>
                </a:cubicBezTo>
                <a:cubicBezTo>
                  <a:pt x="67" y="0"/>
                  <a:pt x="74" y="2"/>
                  <a:pt x="82" y="5"/>
                </a:cubicBezTo>
                <a:cubicBezTo>
                  <a:pt x="89" y="8"/>
                  <a:pt x="95" y="12"/>
                  <a:pt x="100" y="17"/>
                </a:cubicBezTo>
                <a:cubicBezTo>
                  <a:pt x="106" y="23"/>
                  <a:pt x="110" y="29"/>
                  <a:pt x="113" y="36"/>
                </a:cubicBezTo>
                <a:cubicBezTo>
                  <a:pt x="116" y="43"/>
                  <a:pt x="117" y="50"/>
                  <a:pt x="117" y="58"/>
                </a:cubicBez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24" name=""/>
          <p:cNvSpPr/>
          <p:nvPr/>
        </p:nvSpPr>
        <p:spPr>
          <a:xfrm>
            <a:off x="1377360" y="6677280"/>
            <a:ext cx="69480" cy="69480"/>
          </a:xfrm>
          <a:custGeom>
            <a:avLst/>
            <a:gdLst/>
            <a:ahLst/>
            <a:rect l="0" t="0" r="r" b="b"/>
            <a:pathLst>
              <a:path w="193" h="193">
                <a:moveTo>
                  <a:pt x="193" y="97"/>
                </a:moveTo>
                <a:cubicBezTo>
                  <a:pt x="193" y="110"/>
                  <a:pt x="191" y="122"/>
                  <a:pt x="186" y="134"/>
                </a:cubicBezTo>
                <a:cubicBezTo>
                  <a:pt x="181" y="146"/>
                  <a:pt x="174" y="156"/>
                  <a:pt x="165" y="165"/>
                </a:cubicBezTo>
                <a:cubicBezTo>
                  <a:pt x="156" y="174"/>
                  <a:pt x="146" y="181"/>
                  <a:pt x="134" y="186"/>
                </a:cubicBezTo>
                <a:cubicBezTo>
                  <a:pt x="122" y="191"/>
                  <a:pt x="110" y="193"/>
                  <a:pt x="97" y="193"/>
                </a:cubicBezTo>
                <a:cubicBezTo>
                  <a:pt x="84" y="193"/>
                  <a:pt x="71" y="191"/>
                  <a:pt x="60" y="186"/>
                </a:cubicBezTo>
                <a:cubicBezTo>
                  <a:pt x="48" y="181"/>
                  <a:pt x="37" y="174"/>
                  <a:pt x="28" y="165"/>
                </a:cubicBezTo>
                <a:cubicBezTo>
                  <a:pt x="20" y="156"/>
                  <a:pt x="13" y="146"/>
                  <a:pt x="8" y="134"/>
                </a:cubicBezTo>
                <a:cubicBezTo>
                  <a:pt x="3" y="122"/>
                  <a:pt x="0" y="110"/>
                  <a:pt x="0" y="97"/>
                </a:cubicBezTo>
                <a:cubicBezTo>
                  <a:pt x="0" y="84"/>
                  <a:pt x="3" y="71"/>
                  <a:pt x="8" y="59"/>
                </a:cubicBezTo>
                <a:cubicBezTo>
                  <a:pt x="13" y="48"/>
                  <a:pt x="20" y="37"/>
                  <a:pt x="28" y="28"/>
                </a:cubicBezTo>
                <a:cubicBezTo>
                  <a:pt x="37" y="19"/>
                  <a:pt x="48" y="12"/>
                  <a:pt x="60" y="8"/>
                </a:cubicBezTo>
                <a:cubicBezTo>
                  <a:pt x="71" y="3"/>
                  <a:pt x="84" y="0"/>
                  <a:pt x="97" y="0"/>
                </a:cubicBezTo>
                <a:cubicBezTo>
                  <a:pt x="110" y="0"/>
                  <a:pt x="122" y="3"/>
                  <a:pt x="134" y="8"/>
                </a:cubicBezTo>
                <a:cubicBezTo>
                  <a:pt x="146" y="12"/>
                  <a:pt x="156" y="19"/>
                  <a:pt x="165" y="28"/>
                </a:cubicBezTo>
                <a:cubicBezTo>
                  <a:pt x="174" y="37"/>
                  <a:pt x="181" y="48"/>
                  <a:pt x="186" y="59"/>
                </a:cubicBezTo>
                <a:cubicBezTo>
                  <a:pt x="191" y="71"/>
                  <a:pt x="193" y="84"/>
                  <a:pt x="193" y="9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5" name=""/>
          <p:cNvSpPr/>
          <p:nvPr/>
        </p:nvSpPr>
        <p:spPr>
          <a:xfrm>
            <a:off x="1377360" y="6777000"/>
            <a:ext cx="169200" cy="38880"/>
          </a:xfrm>
          <a:custGeom>
            <a:avLst/>
            <a:gdLst/>
            <a:ahLst/>
            <a:rect l="0" t="0" r="r" b="b"/>
            <a:pathLst>
              <a:path w="470" h="108">
                <a:moveTo>
                  <a:pt x="470" y="54"/>
                </a:moveTo>
                <a:cubicBezTo>
                  <a:pt x="470" y="83"/>
                  <a:pt x="446" y="108"/>
                  <a:pt x="417" y="108"/>
                </a:cubicBezTo>
                <a:lnTo>
                  <a:pt x="54" y="108"/>
                </a:lnTo>
                <a:cubicBezTo>
                  <a:pt x="24" y="108"/>
                  <a:pt x="0" y="83"/>
                  <a:pt x="0" y="54"/>
                </a:cubicBezTo>
                <a:cubicBezTo>
                  <a:pt x="0" y="24"/>
                  <a:pt x="24" y="0"/>
                  <a:pt x="54" y="0"/>
                </a:cubicBezTo>
                <a:lnTo>
                  <a:pt x="417" y="0"/>
                </a:lnTo>
                <a:cubicBezTo>
                  <a:pt x="446" y="0"/>
                  <a:pt x="470" y="24"/>
                  <a:pt x="470" y="54"/>
                </a:cubicBezTo>
                <a:close/>
              </a:path>
            </a:pathLst>
          </a:custGeom>
          <a:solidFill>
            <a:srgbClr val="f5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6" name=""/>
          <p:cNvSpPr/>
          <p:nvPr/>
        </p:nvSpPr>
        <p:spPr>
          <a:xfrm>
            <a:off x="1377360" y="6777000"/>
            <a:ext cx="169200" cy="38880"/>
          </a:xfrm>
          <a:custGeom>
            <a:avLst/>
            <a:gdLst/>
            <a:ahLst/>
            <a:rect l="0" t="0" r="r" b="b"/>
            <a:pathLst>
              <a:path w="470" h="108">
                <a:moveTo>
                  <a:pt x="215" y="0"/>
                </a:moveTo>
                <a:lnTo>
                  <a:pt x="257" y="0"/>
                </a:lnTo>
                <a:lnTo>
                  <a:pt x="257" y="108"/>
                </a:lnTo>
                <a:lnTo>
                  <a:pt x="215" y="108"/>
                </a:lnTo>
                <a:lnTo>
                  <a:pt x="215" y="0"/>
                </a:lnTo>
                <a:moveTo>
                  <a:pt x="107" y="0"/>
                </a:moveTo>
                <a:lnTo>
                  <a:pt x="150" y="0"/>
                </a:lnTo>
                <a:lnTo>
                  <a:pt x="150" y="108"/>
                </a:lnTo>
                <a:lnTo>
                  <a:pt x="107" y="108"/>
                </a:lnTo>
                <a:lnTo>
                  <a:pt x="107" y="0"/>
                </a:lnTo>
                <a:moveTo>
                  <a:pt x="321" y="0"/>
                </a:moveTo>
                <a:lnTo>
                  <a:pt x="364" y="0"/>
                </a:lnTo>
                <a:lnTo>
                  <a:pt x="364" y="108"/>
                </a:lnTo>
                <a:lnTo>
                  <a:pt x="321" y="108"/>
                </a:lnTo>
                <a:lnTo>
                  <a:pt x="321" y="0"/>
                </a:lnTo>
                <a:moveTo>
                  <a:pt x="0" y="54"/>
                </a:moveTo>
                <a:cubicBezTo>
                  <a:pt x="0" y="79"/>
                  <a:pt x="19" y="102"/>
                  <a:pt x="43" y="107"/>
                </a:cubicBezTo>
                <a:lnTo>
                  <a:pt x="43" y="1"/>
                </a:lnTo>
                <a:cubicBezTo>
                  <a:pt x="19" y="6"/>
                  <a:pt x="0" y="28"/>
                  <a:pt x="0" y="54"/>
                </a:cubicBezTo>
                <a:moveTo>
                  <a:pt x="428" y="1"/>
                </a:moveTo>
                <a:lnTo>
                  <a:pt x="428" y="107"/>
                </a:lnTo>
                <a:cubicBezTo>
                  <a:pt x="452" y="102"/>
                  <a:pt x="470" y="79"/>
                  <a:pt x="470" y="54"/>
                </a:cubicBezTo>
                <a:cubicBezTo>
                  <a:pt x="470" y="28"/>
                  <a:pt x="452" y="6"/>
                  <a:pt x="428" y="1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7" name=""/>
          <p:cNvSpPr/>
          <p:nvPr/>
        </p:nvSpPr>
        <p:spPr>
          <a:xfrm>
            <a:off x="1391040" y="6690960"/>
            <a:ext cx="42120" cy="42120"/>
          </a:xfrm>
          <a:custGeom>
            <a:avLst/>
            <a:gdLst/>
            <a:ahLst/>
            <a:rect l="0" t="0" r="r" b="b"/>
            <a:pathLst>
              <a:path w="117" h="117">
                <a:moveTo>
                  <a:pt x="117" y="58"/>
                </a:moveTo>
                <a:cubicBezTo>
                  <a:pt x="117" y="66"/>
                  <a:pt x="116" y="73"/>
                  <a:pt x="113" y="80"/>
                </a:cubicBezTo>
                <a:cubicBezTo>
                  <a:pt x="110" y="87"/>
                  <a:pt x="106" y="94"/>
                  <a:pt x="99" y="99"/>
                </a:cubicBezTo>
                <a:cubicBezTo>
                  <a:pt x="94" y="106"/>
                  <a:pt x="88" y="110"/>
                  <a:pt x="81" y="113"/>
                </a:cubicBezTo>
                <a:cubicBezTo>
                  <a:pt x="73" y="116"/>
                  <a:pt x="66" y="117"/>
                  <a:pt x="58" y="117"/>
                </a:cubicBezTo>
                <a:cubicBezTo>
                  <a:pt x="51" y="117"/>
                  <a:pt x="43" y="116"/>
                  <a:pt x="36" y="113"/>
                </a:cubicBezTo>
                <a:cubicBezTo>
                  <a:pt x="29" y="110"/>
                  <a:pt x="23" y="106"/>
                  <a:pt x="17" y="99"/>
                </a:cubicBezTo>
                <a:cubicBezTo>
                  <a:pt x="12" y="94"/>
                  <a:pt x="8" y="87"/>
                  <a:pt x="5" y="80"/>
                </a:cubicBezTo>
                <a:cubicBezTo>
                  <a:pt x="2" y="73"/>
                  <a:pt x="0" y="66"/>
                  <a:pt x="0" y="58"/>
                </a:cubicBezTo>
                <a:cubicBezTo>
                  <a:pt x="0" y="50"/>
                  <a:pt x="2" y="43"/>
                  <a:pt x="5" y="36"/>
                </a:cubicBezTo>
                <a:cubicBezTo>
                  <a:pt x="8" y="29"/>
                  <a:pt x="12" y="23"/>
                  <a:pt x="17" y="17"/>
                </a:cubicBezTo>
                <a:cubicBezTo>
                  <a:pt x="23" y="12"/>
                  <a:pt x="29" y="8"/>
                  <a:pt x="36" y="5"/>
                </a:cubicBezTo>
                <a:cubicBezTo>
                  <a:pt x="43" y="2"/>
                  <a:pt x="51" y="0"/>
                  <a:pt x="58" y="0"/>
                </a:cubicBezTo>
                <a:cubicBezTo>
                  <a:pt x="66" y="0"/>
                  <a:pt x="73" y="2"/>
                  <a:pt x="81" y="5"/>
                </a:cubicBezTo>
                <a:cubicBezTo>
                  <a:pt x="88" y="8"/>
                  <a:pt x="94" y="12"/>
                  <a:pt x="99" y="17"/>
                </a:cubicBezTo>
                <a:cubicBezTo>
                  <a:pt x="106" y="23"/>
                  <a:pt x="110" y="29"/>
                  <a:pt x="113" y="36"/>
                </a:cubicBezTo>
                <a:cubicBezTo>
                  <a:pt x="116" y="43"/>
                  <a:pt x="117" y="50"/>
                  <a:pt x="117" y="58"/>
                </a:cubicBez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28" name=""/>
          <p:cNvSpPr txBox="1"/>
          <p:nvPr/>
        </p:nvSpPr>
        <p:spPr>
          <a:xfrm>
            <a:off x="1617480" y="6112800"/>
            <a:ext cx="52250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DDoS mitigation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unlimited, unmetered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9" name=""/>
          <p:cNvSpPr txBox="1"/>
          <p:nvPr/>
        </p:nvSpPr>
        <p:spPr>
          <a:xfrm>
            <a:off x="1617480" y="6598440"/>
            <a:ext cx="4705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Bot Fight Mode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basic bot blocking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1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833" name="" descr=""/>
          <p:cNvPicPr/>
          <p:nvPr/>
        </p:nvPicPr>
        <p:blipFill>
          <a:blip r:embed="rId1"/>
          <a:stretch/>
        </p:blipFill>
        <p:spPr>
          <a:xfrm>
            <a:off x="752400" y="1457280"/>
            <a:ext cx="8571960" cy="5067000"/>
          </a:xfrm>
          <a:prstGeom prst="rect">
            <a:avLst/>
          </a:prstGeom>
          <a:ln w="0">
            <a:noFill/>
          </a:ln>
        </p:spPr>
      </p:pic>
      <p:sp>
        <p:nvSpPr>
          <p:cNvPr id="1834" name=""/>
          <p:cNvSpPr txBox="1"/>
          <p:nvPr/>
        </p:nvSpPr>
        <p:spPr>
          <a:xfrm>
            <a:off x="747720" y="770400"/>
            <a:ext cx="257796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The full picture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6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838" name="" descr=""/>
          <p:cNvPicPr/>
          <p:nvPr/>
        </p:nvPicPr>
        <p:blipFill>
          <a:blip r:embed="rId1"/>
          <a:stretch/>
        </p:blipFill>
        <p:spPr>
          <a:xfrm>
            <a:off x="752400" y="1457280"/>
            <a:ext cx="8571960" cy="5781240"/>
          </a:xfrm>
          <a:prstGeom prst="rect">
            <a:avLst/>
          </a:prstGeom>
          <a:ln w="0">
            <a:noFill/>
          </a:ln>
        </p:spPr>
      </p:pic>
      <p:sp>
        <p:nvSpPr>
          <p:cNvPr id="1839" name=""/>
          <p:cNvSpPr txBox="1"/>
          <p:nvPr/>
        </p:nvSpPr>
        <p:spPr>
          <a:xfrm>
            <a:off x="747720" y="770400"/>
            <a:ext cx="411696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The full cache hierarchy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1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3" name=""/>
          <p:cNvSpPr/>
          <p:nvPr/>
        </p:nvSpPr>
        <p:spPr>
          <a:xfrm>
            <a:off x="757080" y="4967280"/>
            <a:ext cx="10687320" cy="1133640"/>
          </a:xfrm>
          <a:custGeom>
            <a:avLst/>
            <a:gdLst/>
            <a:ahLst/>
            <a:rect l="0" t="0" r="r" b="b"/>
            <a:pathLst>
              <a:path w="29687" h="3149">
                <a:moveTo>
                  <a:pt x="0" y="3004"/>
                </a:moveTo>
                <a:lnTo>
                  <a:pt x="0" y="145"/>
                </a:lnTo>
                <a:cubicBezTo>
                  <a:pt x="0" y="135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6" y="0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0"/>
                  <a:pt x="29570" y="2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4"/>
                  <a:pt x="29615" y="19"/>
                  <a:pt x="29623" y="24"/>
                </a:cubicBezTo>
                <a:cubicBezTo>
                  <a:pt x="29630" y="29"/>
                  <a:pt x="29638" y="35"/>
                  <a:pt x="29645" y="42"/>
                </a:cubicBezTo>
                <a:cubicBezTo>
                  <a:pt x="29651" y="49"/>
                  <a:pt x="29657" y="56"/>
                  <a:pt x="29663" y="64"/>
                </a:cubicBezTo>
                <a:cubicBezTo>
                  <a:pt x="29668" y="72"/>
                  <a:pt x="29672" y="81"/>
                  <a:pt x="29676" y="89"/>
                </a:cubicBezTo>
                <a:cubicBezTo>
                  <a:pt x="29680" y="98"/>
                  <a:pt x="29683" y="107"/>
                  <a:pt x="29684" y="117"/>
                </a:cubicBezTo>
                <a:cubicBezTo>
                  <a:pt x="29686" y="126"/>
                  <a:pt x="29687" y="135"/>
                  <a:pt x="29687" y="145"/>
                </a:cubicBezTo>
                <a:lnTo>
                  <a:pt x="29687" y="3004"/>
                </a:lnTo>
                <a:cubicBezTo>
                  <a:pt x="29687" y="3013"/>
                  <a:pt x="29686" y="3023"/>
                  <a:pt x="29684" y="3032"/>
                </a:cubicBezTo>
                <a:cubicBezTo>
                  <a:pt x="29683" y="3041"/>
                  <a:pt x="29680" y="3050"/>
                  <a:pt x="29676" y="3059"/>
                </a:cubicBezTo>
                <a:cubicBezTo>
                  <a:pt x="29672" y="3068"/>
                  <a:pt x="29668" y="3076"/>
                  <a:pt x="29663" y="3084"/>
                </a:cubicBezTo>
                <a:cubicBezTo>
                  <a:pt x="29657" y="3092"/>
                  <a:pt x="29651" y="3100"/>
                  <a:pt x="29645" y="3106"/>
                </a:cubicBezTo>
                <a:cubicBezTo>
                  <a:pt x="29638" y="3113"/>
                  <a:pt x="29630" y="3119"/>
                  <a:pt x="29623" y="3125"/>
                </a:cubicBezTo>
                <a:cubicBezTo>
                  <a:pt x="29615" y="3130"/>
                  <a:pt x="29606" y="3134"/>
                  <a:pt x="29597" y="3138"/>
                </a:cubicBezTo>
                <a:cubicBezTo>
                  <a:pt x="29589" y="3142"/>
                  <a:pt x="29579" y="3144"/>
                  <a:pt x="29570" y="3146"/>
                </a:cubicBezTo>
                <a:cubicBezTo>
                  <a:pt x="29561" y="3148"/>
                  <a:pt x="29551" y="3149"/>
                  <a:pt x="29542" y="3149"/>
                </a:cubicBezTo>
                <a:lnTo>
                  <a:pt x="145" y="3149"/>
                </a:lnTo>
                <a:cubicBezTo>
                  <a:pt x="136" y="3149"/>
                  <a:pt x="126" y="3148"/>
                  <a:pt x="117" y="3146"/>
                </a:cubicBezTo>
                <a:cubicBezTo>
                  <a:pt x="108" y="3144"/>
                  <a:pt x="99" y="3142"/>
                  <a:pt x="90" y="3138"/>
                </a:cubicBezTo>
                <a:cubicBezTo>
                  <a:pt x="81" y="3134"/>
                  <a:pt x="73" y="3130"/>
                  <a:pt x="65" y="3125"/>
                </a:cubicBezTo>
                <a:cubicBezTo>
                  <a:pt x="57" y="3119"/>
                  <a:pt x="49" y="3113"/>
                  <a:pt x="43" y="3106"/>
                </a:cubicBezTo>
                <a:cubicBezTo>
                  <a:pt x="36" y="3100"/>
                  <a:pt x="30" y="3092"/>
                  <a:pt x="24" y="3084"/>
                </a:cubicBezTo>
                <a:cubicBezTo>
                  <a:pt x="19" y="3076"/>
                  <a:pt x="15" y="3068"/>
                  <a:pt x="11" y="3059"/>
                </a:cubicBezTo>
                <a:cubicBezTo>
                  <a:pt x="7" y="3050"/>
                  <a:pt x="5" y="3041"/>
                  <a:pt x="3" y="3032"/>
                </a:cubicBezTo>
                <a:cubicBezTo>
                  <a:pt x="1" y="3023"/>
                  <a:pt x="0" y="3013"/>
                  <a:pt x="0" y="3004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4" name=""/>
          <p:cNvSpPr/>
          <p:nvPr/>
        </p:nvSpPr>
        <p:spPr>
          <a:xfrm>
            <a:off x="757080" y="4967280"/>
            <a:ext cx="10687320" cy="1133640"/>
          </a:xfrm>
          <a:custGeom>
            <a:avLst/>
            <a:gdLst/>
            <a:ahLst/>
            <a:rect l="0" t="0" r="r" b="b"/>
            <a:pathLst>
              <a:path w="29687" h="3149">
                <a:moveTo>
                  <a:pt x="0" y="3004"/>
                </a:moveTo>
                <a:lnTo>
                  <a:pt x="0" y="145"/>
                </a:lnTo>
                <a:cubicBezTo>
                  <a:pt x="0" y="135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6" y="0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0"/>
                  <a:pt x="29570" y="2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4"/>
                  <a:pt x="29615" y="19"/>
                  <a:pt x="29623" y="24"/>
                </a:cubicBezTo>
                <a:cubicBezTo>
                  <a:pt x="29630" y="29"/>
                  <a:pt x="29638" y="35"/>
                  <a:pt x="29645" y="42"/>
                </a:cubicBezTo>
                <a:cubicBezTo>
                  <a:pt x="29651" y="49"/>
                  <a:pt x="29657" y="56"/>
                  <a:pt x="29663" y="64"/>
                </a:cubicBezTo>
                <a:cubicBezTo>
                  <a:pt x="29668" y="72"/>
                  <a:pt x="29672" y="81"/>
                  <a:pt x="29676" y="89"/>
                </a:cubicBezTo>
                <a:cubicBezTo>
                  <a:pt x="29680" y="98"/>
                  <a:pt x="29683" y="107"/>
                  <a:pt x="29684" y="117"/>
                </a:cubicBezTo>
                <a:cubicBezTo>
                  <a:pt x="29686" y="126"/>
                  <a:pt x="29687" y="135"/>
                  <a:pt x="29687" y="145"/>
                </a:cubicBezTo>
                <a:lnTo>
                  <a:pt x="29687" y="3004"/>
                </a:lnTo>
                <a:cubicBezTo>
                  <a:pt x="29687" y="3013"/>
                  <a:pt x="29686" y="3023"/>
                  <a:pt x="29684" y="3032"/>
                </a:cubicBezTo>
                <a:cubicBezTo>
                  <a:pt x="29683" y="3041"/>
                  <a:pt x="29680" y="3050"/>
                  <a:pt x="29676" y="3059"/>
                </a:cubicBezTo>
                <a:cubicBezTo>
                  <a:pt x="29672" y="3068"/>
                  <a:pt x="29668" y="3076"/>
                  <a:pt x="29663" y="3084"/>
                </a:cubicBezTo>
                <a:cubicBezTo>
                  <a:pt x="29657" y="3092"/>
                  <a:pt x="29651" y="3100"/>
                  <a:pt x="29645" y="3106"/>
                </a:cubicBezTo>
                <a:cubicBezTo>
                  <a:pt x="29638" y="3113"/>
                  <a:pt x="29630" y="3119"/>
                  <a:pt x="29623" y="3125"/>
                </a:cubicBezTo>
                <a:cubicBezTo>
                  <a:pt x="29615" y="3130"/>
                  <a:pt x="29606" y="3134"/>
                  <a:pt x="29597" y="3138"/>
                </a:cubicBezTo>
                <a:cubicBezTo>
                  <a:pt x="29589" y="3142"/>
                  <a:pt x="29579" y="3144"/>
                  <a:pt x="29570" y="3146"/>
                </a:cubicBezTo>
                <a:cubicBezTo>
                  <a:pt x="29561" y="3148"/>
                  <a:pt x="29551" y="3149"/>
                  <a:pt x="29542" y="3149"/>
                </a:cubicBezTo>
                <a:lnTo>
                  <a:pt x="145" y="3149"/>
                </a:lnTo>
                <a:cubicBezTo>
                  <a:pt x="136" y="3149"/>
                  <a:pt x="126" y="3148"/>
                  <a:pt x="117" y="3146"/>
                </a:cubicBezTo>
                <a:cubicBezTo>
                  <a:pt x="108" y="3144"/>
                  <a:pt x="99" y="3142"/>
                  <a:pt x="90" y="3138"/>
                </a:cubicBezTo>
                <a:cubicBezTo>
                  <a:pt x="81" y="3134"/>
                  <a:pt x="73" y="3130"/>
                  <a:pt x="65" y="3125"/>
                </a:cubicBezTo>
                <a:cubicBezTo>
                  <a:pt x="57" y="3119"/>
                  <a:pt x="49" y="3113"/>
                  <a:pt x="43" y="3106"/>
                </a:cubicBezTo>
                <a:cubicBezTo>
                  <a:pt x="36" y="3100"/>
                  <a:pt x="30" y="3092"/>
                  <a:pt x="24" y="3084"/>
                </a:cubicBezTo>
                <a:cubicBezTo>
                  <a:pt x="19" y="3076"/>
                  <a:pt x="15" y="3068"/>
                  <a:pt x="11" y="3059"/>
                </a:cubicBezTo>
                <a:cubicBezTo>
                  <a:pt x="7" y="3050"/>
                  <a:pt x="5" y="3041"/>
                  <a:pt x="3" y="3032"/>
                </a:cubicBezTo>
                <a:cubicBezTo>
                  <a:pt x="1" y="3023"/>
                  <a:pt x="0" y="3013"/>
                  <a:pt x="0" y="3004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5" name=""/>
          <p:cNvSpPr txBox="1"/>
          <p:nvPr/>
        </p:nvSpPr>
        <p:spPr>
          <a:xfrm>
            <a:off x="747720" y="770400"/>
            <a:ext cx="283824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Lessons learned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6" name=""/>
          <p:cNvSpPr txBox="1"/>
          <p:nvPr/>
        </p:nvSpPr>
        <p:spPr>
          <a:xfrm>
            <a:off x="747720" y="1502640"/>
            <a:ext cx="3310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1. Measure before you fix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7" name=""/>
          <p:cNvSpPr txBox="1"/>
          <p:nvPr/>
        </p:nvSpPr>
        <p:spPr>
          <a:xfrm>
            <a:off x="747720" y="2064600"/>
            <a:ext cx="3672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Set up Prometheus + Grafana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8" name=""/>
          <p:cNvSpPr txBox="1"/>
          <p:nvPr/>
        </p:nvSpPr>
        <p:spPr>
          <a:xfrm>
            <a:off x="747720" y="2483640"/>
            <a:ext cx="2344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before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you need it.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9" name=""/>
          <p:cNvSpPr/>
          <p:nvPr/>
        </p:nvSpPr>
        <p:spPr>
          <a:xfrm>
            <a:off x="752400" y="3466800"/>
            <a:ext cx="1733760" cy="362520"/>
          </a:xfrm>
          <a:custGeom>
            <a:avLst/>
            <a:gdLst/>
            <a:ahLst/>
            <a:rect l="0" t="0" r="r" b="b"/>
            <a:pathLst>
              <a:path w="4816" h="1007">
                <a:moveTo>
                  <a:pt x="0" y="847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39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4657" y="0"/>
                </a:lnTo>
                <a:cubicBezTo>
                  <a:pt x="4668" y="0"/>
                  <a:pt x="4678" y="1"/>
                  <a:pt x="4688" y="3"/>
                </a:cubicBezTo>
                <a:cubicBezTo>
                  <a:pt x="4699" y="5"/>
                  <a:pt x="4708" y="8"/>
                  <a:pt x="4718" y="12"/>
                </a:cubicBezTo>
                <a:cubicBezTo>
                  <a:pt x="4728" y="16"/>
                  <a:pt x="4737" y="21"/>
                  <a:pt x="4746" y="27"/>
                </a:cubicBezTo>
                <a:cubicBezTo>
                  <a:pt x="4754" y="33"/>
                  <a:pt x="4762" y="39"/>
                  <a:pt x="4770" y="47"/>
                </a:cubicBezTo>
                <a:cubicBezTo>
                  <a:pt x="4777" y="54"/>
                  <a:pt x="4784" y="62"/>
                  <a:pt x="4789" y="71"/>
                </a:cubicBezTo>
                <a:cubicBezTo>
                  <a:pt x="4795" y="80"/>
                  <a:pt x="4800" y="89"/>
                  <a:pt x="4804" y="98"/>
                </a:cubicBezTo>
                <a:cubicBezTo>
                  <a:pt x="4808" y="108"/>
                  <a:pt x="4811" y="118"/>
                  <a:pt x="4813" y="128"/>
                </a:cubicBezTo>
                <a:cubicBezTo>
                  <a:pt x="4815" y="138"/>
                  <a:pt x="4816" y="149"/>
                  <a:pt x="4816" y="159"/>
                </a:cubicBezTo>
                <a:lnTo>
                  <a:pt x="4816" y="847"/>
                </a:lnTo>
                <a:cubicBezTo>
                  <a:pt x="4816" y="857"/>
                  <a:pt x="4815" y="868"/>
                  <a:pt x="4813" y="878"/>
                </a:cubicBezTo>
                <a:cubicBezTo>
                  <a:pt x="4811" y="888"/>
                  <a:pt x="4808" y="898"/>
                  <a:pt x="4804" y="908"/>
                </a:cubicBezTo>
                <a:cubicBezTo>
                  <a:pt x="4800" y="917"/>
                  <a:pt x="4795" y="928"/>
                  <a:pt x="4789" y="936"/>
                </a:cubicBezTo>
                <a:cubicBezTo>
                  <a:pt x="4784" y="945"/>
                  <a:pt x="4777" y="953"/>
                  <a:pt x="4770" y="960"/>
                </a:cubicBezTo>
                <a:cubicBezTo>
                  <a:pt x="4762" y="968"/>
                  <a:pt x="4754" y="974"/>
                  <a:pt x="4746" y="980"/>
                </a:cubicBezTo>
                <a:cubicBezTo>
                  <a:pt x="4737" y="986"/>
                  <a:pt x="4728" y="991"/>
                  <a:pt x="4718" y="995"/>
                </a:cubicBezTo>
                <a:cubicBezTo>
                  <a:pt x="4708" y="999"/>
                  <a:pt x="4699" y="1002"/>
                  <a:pt x="4688" y="1004"/>
                </a:cubicBezTo>
                <a:cubicBezTo>
                  <a:pt x="4678" y="1006"/>
                  <a:pt x="4668" y="1007"/>
                  <a:pt x="4657" y="1007"/>
                </a:cubicBezTo>
                <a:lnTo>
                  <a:pt x="158" y="1007"/>
                </a:lnTo>
                <a:cubicBezTo>
                  <a:pt x="148" y="1007"/>
                  <a:pt x="138" y="1006"/>
                  <a:pt x="127" y="1004"/>
                </a:cubicBezTo>
                <a:cubicBezTo>
                  <a:pt x="117" y="1002"/>
                  <a:pt x="107" y="999"/>
                  <a:pt x="98" y="995"/>
                </a:cubicBezTo>
                <a:cubicBezTo>
                  <a:pt x="88" y="991"/>
                  <a:pt x="79" y="986"/>
                  <a:pt x="70" y="980"/>
                </a:cubicBezTo>
                <a:cubicBezTo>
                  <a:pt x="62" y="974"/>
                  <a:pt x="54" y="968"/>
                  <a:pt x="46" y="960"/>
                </a:cubicBezTo>
                <a:cubicBezTo>
                  <a:pt x="39" y="953"/>
                  <a:pt x="32" y="945"/>
                  <a:pt x="26" y="936"/>
                </a:cubicBezTo>
                <a:cubicBezTo>
                  <a:pt x="21" y="928"/>
                  <a:pt x="16" y="917"/>
                  <a:pt x="12" y="908"/>
                </a:cubicBezTo>
                <a:cubicBezTo>
                  <a:pt x="8" y="898"/>
                  <a:pt x="5" y="888"/>
                  <a:pt x="3" y="878"/>
                </a:cubicBezTo>
                <a:cubicBezTo>
                  <a:pt x="1" y="868"/>
                  <a:pt x="0" y="857"/>
                  <a:pt x="0" y="847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50" name=""/>
          <p:cNvSpPr txBox="1"/>
          <p:nvPr/>
        </p:nvSpPr>
        <p:spPr>
          <a:xfrm>
            <a:off x="747720" y="2893320"/>
            <a:ext cx="4430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You cannot fix what you cannot see.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1" name=""/>
          <p:cNvSpPr txBox="1"/>
          <p:nvPr/>
        </p:nvSpPr>
        <p:spPr>
          <a:xfrm>
            <a:off x="841680" y="3518280"/>
            <a:ext cx="15490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make obs-up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2" name=""/>
          <p:cNvSpPr txBox="1"/>
          <p:nvPr/>
        </p:nvSpPr>
        <p:spPr>
          <a:xfrm>
            <a:off x="2484720" y="3464640"/>
            <a:ext cx="1916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—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30 seconds.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3" name=""/>
          <p:cNvSpPr txBox="1"/>
          <p:nvPr/>
        </p:nvSpPr>
        <p:spPr>
          <a:xfrm>
            <a:off x="747720" y="4446000"/>
            <a:ext cx="3801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2. The three WP cache layers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4" name=""/>
          <p:cNvSpPr txBox="1"/>
          <p:nvPr/>
        </p:nvSpPr>
        <p:spPr>
          <a:xfrm>
            <a:off x="914400" y="5128920"/>
            <a:ext cx="50695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OPcache  → PHP bytecode  → always on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5" name=""/>
          <p:cNvSpPr txBox="1"/>
          <p:nvPr/>
        </p:nvSpPr>
        <p:spPr>
          <a:xfrm>
            <a:off x="914400" y="5395680"/>
            <a:ext cx="59155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Redis    → DB queries    → wp redis enable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6" name=""/>
          <p:cNvSpPr txBox="1"/>
          <p:nvPr/>
        </p:nvSpPr>
        <p:spPr>
          <a:xfrm>
            <a:off x="914400" y="5671800"/>
            <a:ext cx="52113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FastCGI  → Full pages    → nginx.conf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7" name=""/>
          <p:cNvSpPr txBox="1"/>
          <p:nvPr/>
        </p:nvSpPr>
        <p:spPr>
          <a:xfrm>
            <a:off x="747720" y="6303240"/>
            <a:ext cx="3358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Most sites use 0 of these 3.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8" name=""/>
          <p:cNvSpPr txBox="1"/>
          <p:nvPr/>
        </p:nvSpPr>
        <p:spPr>
          <a:xfrm>
            <a:off x="747720" y="6722280"/>
            <a:ext cx="4676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All three: completely different machine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0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2" name=""/>
          <p:cNvSpPr/>
          <p:nvPr/>
        </p:nvSpPr>
        <p:spPr>
          <a:xfrm>
            <a:off x="752400" y="1457280"/>
            <a:ext cx="2248200" cy="543240"/>
          </a:xfrm>
          <a:custGeom>
            <a:avLst/>
            <a:gdLst/>
            <a:ahLst/>
            <a:rect l="0" t="0" r="r" b="b"/>
            <a:pathLst>
              <a:path w="6245" h="1509">
                <a:moveTo>
                  <a:pt x="0" y="0"/>
                </a:moveTo>
                <a:lnTo>
                  <a:pt x="6245" y="0"/>
                </a:lnTo>
                <a:lnTo>
                  <a:pt x="6245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3" name=""/>
          <p:cNvSpPr/>
          <p:nvPr/>
        </p:nvSpPr>
        <p:spPr>
          <a:xfrm>
            <a:off x="3000240" y="1457280"/>
            <a:ext cx="6991560" cy="543240"/>
          </a:xfrm>
          <a:custGeom>
            <a:avLst/>
            <a:gdLst/>
            <a:ahLst/>
            <a:rect l="0" t="0" r="r" b="b"/>
            <a:pathLst>
              <a:path w="19421" h="1509">
                <a:moveTo>
                  <a:pt x="0" y="0"/>
                </a:moveTo>
                <a:lnTo>
                  <a:pt x="19421" y="0"/>
                </a:lnTo>
                <a:lnTo>
                  <a:pt x="1942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4" name=""/>
          <p:cNvSpPr/>
          <p:nvPr/>
        </p:nvSpPr>
        <p:spPr>
          <a:xfrm>
            <a:off x="752400" y="2000160"/>
            <a:ext cx="2248200" cy="533520"/>
          </a:xfrm>
          <a:custGeom>
            <a:avLst/>
            <a:gdLst/>
            <a:ahLst/>
            <a:rect l="0" t="0" r="r" b="b"/>
            <a:pathLst>
              <a:path w="6245" h="1482">
                <a:moveTo>
                  <a:pt x="0" y="0"/>
                </a:moveTo>
                <a:lnTo>
                  <a:pt x="6245" y="0"/>
                </a:lnTo>
                <a:lnTo>
                  <a:pt x="6245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5" name=""/>
          <p:cNvSpPr/>
          <p:nvPr/>
        </p:nvSpPr>
        <p:spPr>
          <a:xfrm>
            <a:off x="3000240" y="2000160"/>
            <a:ext cx="6991560" cy="533520"/>
          </a:xfrm>
          <a:custGeom>
            <a:avLst/>
            <a:gdLst/>
            <a:ahLst/>
            <a:rect l="0" t="0" r="r" b="b"/>
            <a:pathLst>
              <a:path w="19421" h="1482">
                <a:moveTo>
                  <a:pt x="0" y="0"/>
                </a:moveTo>
                <a:lnTo>
                  <a:pt x="19421" y="0"/>
                </a:lnTo>
                <a:lnTo>
                  <a:pt x="19421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6" name=""/>
          <p:cNvSpPr/>
          <p:nvPr/>
        </p:nvSpPr>
        <p:spPr>
          <a:xfrm>
            <a:off x="752400" y="2533320"/>
            <a:ext cx="2248200" cy="543600"/>
          </a:xfrm>
          <a:custGeom>
            <a:avLst/>
            <a:gdLst/>
            <a:ahLst/>
            <a:rect l="0" t="0" r="r" b="b"/>
            <a:pathLst>
              <a:path w="6245" h="1510">
                <a:moveTo>
                  <a:pt x="0" y="0"/>
                </a:moveTo>
                <a:lnTo>
                  <a:pt x="6245" y="0"/>
                </a:lnTo>
                <a:lnTo>
                  <a:pt x="6245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7" name=""/>
          <p:cNvSpPr/>
          <p:nvPr/>
        </p:nvSpPr>
        <p:spPr>
          <a:xfrm>
            <a:off x="3000240" y="2533320"/>
            <a:ext cx="6991560" cy="543600"/>
          </a:xfrm>
          <a:custGeom>
            <a:avLst/>
            <a:gdLst/>
            <a:ahLst/>
            <a:rect l="0" t="0" r="r" b="b"/>
            <a:pathLst>
              <a:path w="19421" h="1510">
                <a:moveTo>
                  <a:pt x="0" y="0"/>
                </a:moveTo>
                <a:lnTo>
                  <a:pt x="19421" y="0"/>
                </a:lnTo>
                <a:lnTo>
                  <a:pt x="19421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8" name=""/>
          <p:cNvSpPr/>
          <p:nvPr/>
        </p:nvSpPr>
        <p:spPr>
          <a:xfrm>
            <a:off x="752400" y="3076560"/>
            <a:ext cx="2248200" cy="533520"/>
          </a:xfrm>
          <a:custGeom>
            <a:avLst/>
            <a:gdLst/>
            <a:ahLst/>
            <a:rect l="0" t="0" r="r" b="b"/>
            <a:pathLst>
              <a:path w="6245" h="1482">
                <a:moveTo>
                  <a:pt x="0" y="0"/>
                </a:moveTo>
                <a:lnTo>
                  <a:pt x="6245" y="0"/>
                </a:lnTo>
                <a:lnTo>
                  <a:pt x="6245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9" name=""/>
          <p:cNvSpPr/>
          <p:nvPr/>
        </p:nvSpPr>
        <p:spPr>
          <a:xfrm>
            <a:off x="3000240" y="3076560"/>
            <a:ext cx="6991560" cy="533520"/>
          </a:xfrm>
          <a:custGeom>
            <a:avLst/>
            <a:gdLst/>
            <a:ahLst/>
            <a:rect l="0" t="0" r="r" b="b"/>
            <a:pathLst>
              <a:path w="19421" h="1482">
                <a:moveTo>
                  <a:pt x="0" y="0"/>
                </a:moveTo>
                <a:lnTo>
                  <a:pt x="19421" y="0"/>
                </a:lnTo>
                <a:lnTo>
                  <a:pt x="19421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0" name=""/>
          <p:cNvSpPr/>
          <p:nvPr/>
        </p:nvSpPr>
        <p:spPr>
          <a:xfrm>
            <a:off x="752400" y="3609720"/>
            <a:ext cx="2248200" cy="543240"/>
          </a:xfrm>
          <a:custGeom>
            <a:avLst/>
            <a:gdLst/>
            <a:ahLst/>
            <a:rect l="0" t="0" r="r" b="b"/>
            <a:pathLst>
              <a:path w="6245" h="1509">
                <a:moveTo>
                  <a:pt x="0" y="0"/>
                </a:moveTo>
                <a:lnTo>
                  <a:pt x="6245" y="0"/>
                </a:lnTo>
                <a:lnTo>
                  <a:pt x="6245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1" name=""/>
          <p:cNvSpPr/>
          <p:nvPr/>
        </p:nvSpPr>
        <p:spPr>
          <a:xfrm>
            <a:off x="3000240" y="3609720"/>
            <a:ext cx="6991560" cy="543240"/>
          </a:xfrm>
          <a:custGeom>
            <a:avLst/>
            <a:gdLst/>
            <a:ahLst/>
            <a:rect l="0" t="0" r="r" b="b"/>
            <a:pathLst>
              <a:path w="19421" h="1509">
                <a:moveTo>
                  <a:pt x="0" y="0"/>
                </a:moveTo>
                <a:lnTo>
                  <a:pt x="19421" y="0"/>
                </a:lnTo>
                <a:lnTo>
                  <a:pt x="1942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2" name=""/>
          <p:cNvSpPr/>
          <p:nvPr/>
        </p:nvSpPr>
        <p:spPr>
          <a:xfrm>
            <a:off x="75240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3" name=""/>
          <p:cNvSpPr/>
          <p:nvPr/>
        </p:nvSpPr>
        <p:spPr>
          <a:xfrm>
            <a:off x="752400" y="1457280"/>
            <a:ext cx="2248200" cy="9720"/>
          </a:xfrm>
          <a:custGeom>
            <a:avLst/>
            <a:gdLst/>
            <a:ahLst/>
            <a:rect l="0" t="0" r="r" b="b"/>
            <a:pathLst>
              <a:path w="6245" h="27">
                <a:moveTo>
                  <a:pt x="0" y="0"/>
                </a:moveTo>
                <a:lnTo>
                  <a:pt x="6245" y="0"/>
                </a:lnTo>
                <a:lnTo>
                  <a:pt x="624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4" name=""/>
          <p:cNvSpPr/>
          <p:nvPr/>
        </p:nvSpPr>
        <p:spPr>
          <a:xfrm>
            <a:off x="299052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5" name=""/>
          <p:cNvSpPr/>
          <p:nvPr/>
        </p:nvSpPr>
        <p:spPr>
          <a:xfrm>
            <a:off x="3000240" y="1457280"/>
            <a:ext cx="7001280" cy="9720"/>
          </a:xfrm>
          <a:custGeom>
            <a:avLst/>
            <a:gdLst/>
            <a:ahLst/>
            <a:rect l="0" t="0" r="r" b="b"/>
            <a:pathLst>
              <a:path w="19448" h="27">
                <a:moveTo>
                  <a:pt x="0" y="0"/>
                </a:moveTo>
                <a:lnTo>
                  <a:pt x="19448" y="0"/>
                </a:lnTo>
                <a:lnTo>
                  <a:pt x="194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6" name=""/>
          <p:cNvSpPr/>
          <p:nvPr/>
        </p:nvSpPr>
        <p:spPr>
          <a:xfrm>
            <a:off x="9991440" y="1457280"/>
            <a:ext cx="10440" cy="543240"/>
          </a:xfrm>
          <a:custGeom>
            <a:avLst/>
            <a:gdLst/>
            <a:ahLst/>
            <a:rect l="0" t="0" r="r" b="b"/>
            <a:pathLst>
              <a:path w="29" h="1509">
                <a:moveTo>
                  <a:pt x="0" y="0"/>
                </a:moveTo>
                <a:lnTo>
                  <a:pt x="29" y="0"/>
                </a:lnTo>
                <a:lnTo>
                  <a:pt x="2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7" name=""/>
          <p:cNvSpPr/>
          <p:nvPr/>
        </p:nvSpPr>
        <p:spPr>
          <a:xfrm>
            <a:off x="752400" y="1990440"/>
            <a:ext cx="2248200" cy="10080"/>
          </a:xfrm>
          <a:custGeom>
            <a:avLst/>
            <a:gdLst/>
            <a:ahLst/>
            <a:rect l="0" t="0" r="r" b="b"/>
            <a:pathLst>
              <a:path w="6245" h="28">
                <a:moveTo>
                  <a:pt x="0" y="0"/>
                </a:moveTo>
                <a:lnTo>
                  <a:pt x="6245" y="0"/>
                </a:lnTo>
                <a:lnTo>
                  <a:pt x="624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8" name=""/>
          <p:cNvSpPr/>
          <p:nvPr/>
        </p:nvSpPr>
        <p:spPr>
          <a:xfrm>
            <a:off x="3000240" y="1990440"/>
            <a:ext cx="7001280" cy="10080"/>
          </a:xfrm>
          <a:custGeom>
            <a:avLst/>
            <a:gdLst/>
            <a:ahLst/>
            <a:rect l="0" t="0" r="r" b="b"/>
            <a:pathLst>
              <a:path w="19448" h="28">
                <a:moveTo>
                  <a:pt x="0" y="0"/>
                </a:moveTo>
                <a:lnTo>
                  <a:pt x="19448" y="0"/>
                </a:lnTo>
                <a:lnTo>
                  <a:pt x="194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9" name=""/>
          <p:cNvSpPr/>
          <p:nvPr/>
        </p:nvSpPr>
        <p:spPr>
          <a:xfrm>
            <a:off x="75240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0" name=""/>
          <p:cNvSpPr/>
          <p:nvPr/>
        </p:nvSpPr>
        <p:spPr>
          <a:xfrm>
            <a:off x="2990520" y="20001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1" name=""/>
          <p:cNvSpPr/>
          <p:nvPr/>
        </p:nvSpPr>
        <p:spPr>
          <a:xfrm>
            <a:off x="9991440" y="2000160"/>
            <a:ext cx="10440" cy="543240"/>
          </a:xfrm>
          <a:custGeom>
            <a:avLst/>
            <a:gdLst/>
            <a:ahLst/>
            <a:rect l="0" t="0" r="r" b="b"/>
            <a:pathLst>
              <a:path w="29" h="1509">
                <a:moveTo>
                  <a:pt x="0" y="0"/>
                </a:moveTo>
                <a:lnTo>
                  <a:pt x="29" y="0"/>
                </a:lnTo>
                <a:lnTo>
                  <a:pt x="2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2" name=""/>
          <p:cNvSpPr/>
          <p:nvPr/>
        </p:nvSpPr>
        <p:spPr>
          <a:xfrm>
            <a:off x="75240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3" name=""/>
          <p:cNvSpPr/>
          <p:nvPr/>
        </p:nvSpPr>
        <p:spPr>
          <a:xfrm>
            <a:off x="752400" y="2533320"/>
            <a:ext cx="2248200" cy="10080"/>
          </a:xfrm>
          <a:custGeom>
            <a:avLst/>
            <a:gdLst/>
            <a:ahLst/>
            <a:rect l="0" t="0" r="r" b="b"/>
            <a:pathLst>
              <a:path w="6245" h="28">
                <a:moveTo>
                  <a:pt x="0" y="0"/>
                </a:moveTo>
                <a:lnTo>
                  <a:pt x="6245" y="0"/>
                </a:lnTo>
                <a:lnTo>
                  <a:pt x="624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4" name=""/>
          <p:cNvSpPr/>
          <p:nvPr/>
        </p:nvSpPr>
        <p:spPr>
          <a:xfrm>
            <a:off x="2990520" y="254304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5" name=""/>
          <p:cNvSpPr/>
          <p:nvPr/>
        </p:nvSpPr>
        <p:spPr>
          <a:xfrm>
            <a:off x="3000240" y="2533320"/>
            <a:ext cx="7001280" cy="10080"/>
          </a:xfrm>
          <a:custGeom>
            <a:avLst/>
            <a:gdLst/>
            <a:ahLst/>
            <a:rect l="0" t="0" r="r" b="b"/>
            <a:pathLst>
              <a:path w="19448" h="28">
                <a:moveTo>
                  <a:pt x="0" y="0"/>
                </a:moveTo>
                <a:lnTo>
                  <a:pt x="19448" y="0"/>
                </a:lnTo>
                <a:lnTo>
                  <a:pt x="194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6" name=""/>
          <p:cNvSpPr/>
          <p:nvPr/>
        </p:nvSpPr>
        <p:spPr>
          <a:xfrm>
            <a:off x="9991440" y="2543040"/>
            <a:ext cx="10440" cy="533880"/>
          </a:xfrm>
          <a:custGeom>
            <a:avLst/>
            <a:gdLst/>
            <a:ahLst/>
            <a:rect l="0" t="0" r="r" b="b"/>
            <a:pathLst>
              <a:path w="29" h="1483">
                <a:moveTo>
                  <a:pt x="0" y="0"/>
                </a:moveTo>
                <a:lnTo>
                  <a:pt x="29" y="0"/>
                </a:lnTo>
                <a:lnTo>
                  <a:pt x="2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7" name=""/>
          <p:cNvSpPr/>
          <p:nvPr/>
        </p:nvSpPr>
        <p:spPr>
          <a:xfrm>
            <a:off x="75240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8" name=""/>
          <p:cNvSpPr/>
          <p:nvPr/>
        </p:nvSpPr>
        <p:spPr>
          <a:xfrm>
            <a:off x="752400" y="3066840"/>
            <a:ext cx="2248200" cy="10080"/>
          </a:xfrm>
          <a:custGeom>
            <a:avLst/>
            <a:gdLst/>
            <a:ahLst/>
            <a:rect l="0" t="0" r="r" b="b"/>
            <a:pathLst>
              <a:path w="6245" h="28">
                <a:moveTo>
                  <a:pt x="0" y="0"/>
                </a:moveTo>
                <a:lnTo>
                  <a:pt x="6245" y="0"/>
                </a:lnTo>
                <a:lnTo>
                  <a:pt x="624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9" name=""/>
          <p:cNvSpPr/>
          <p:nvPr/>
        </p:nvSpPr>
        <p:spPr>
          <a:xfrm>
            <a:off x="2990520" y="30765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0" name=""/>
          <p:cNvSpPr/>
          <p:nvPr/>
        </p:nvSpPr>
        <p:spPr>
          <a:xfrm>
            <a:off x="3000240" y="3066840"/>
            <a:ext cx="7001280" cy="10080"/>
          </a:xfrm>
          <a:custGeom>
            <a:avLst/>
            <a:gdLst/>
            <a:ahLst/>
            <a:rect l="0" t="0" r="r" b="b"/>
            <a:pathLst>
              <a:path w="19448" h="28">
                <a:moveTo>
                  <a:pt x="0" y="0"/>
                </a:moveTo>
                <a:lnTo>
                  <a:pt x="19448" y="0"/>
                </a:lnTo>
                <a:lnTo>
                  <a:pt x="194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1" name=""/>
          <p:cNvSpPr/>
          <p:nvPr/>
        </p:nvSpPr>
        <p:spPr>
          <a:xfrm>
            <a:off x="9991440" y="3076560"/>
            <a:ext cx="10440" cy="543240"/>
          </a:xfrm>
          <a:custGeom>
            <a:avLst/>
            <a:gdLst/>
            <a:ahLst/>
            <a:rect l="0" t="0" r="r" b="b"/>
            <a:pathLst>
              <a:path w="29" h="1509">
                <a:moveTo>
                  <a:pt x="0" y="0"/>
                </a:moveTo>
                <a:lnTo>
                  <a:pt x="29" y="0"/>
                </a:lnTo>
                <a:lnTo>
                  <a:pt x="2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2" name=""/>
          <p:cNvSpPr/>
          <p:nvPr/>
        </p:nvSpPr>
        <p:spPr>
          <a:xfrm>
            <a:off x="75240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3" name=""/>
          <p:cNvSpPr/>
          <p:nvPr/>
        </p:nvSpPr>
        <p:spPr>
          <a:xfrm>
            <a:off x="752400" y="3609720"/>
            <a:ext cx="2248200" cy="10080"/>
          </a:xfrm>
          <a:custGeom>
            <a:avLst/>
            <a:gdLst/>
            <a:ahLst/>
            <a:rect l="0" t="0" r="r" b="b"/>
            <a:pathLst>
              <a:path w="6245" h="28">
                <a:moveTo>
                  <a:pt x="0" y="0"/>
                </a:moveTo>
                <a:lnTo>
                  <a:pt x="6245" y="0"/>
                </a:lnTo>
                <a:lnTo>
                  <a:pt x="624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4" name=""/>
          <p:cNvSpPr/>
          <p:nvPr/>
        </p:nvSpPr>
        <p:spPr>
          <a:xfrm>
            <a:off x="2990520" y="361944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5" name=""/>
          <p:cNvSpPr/>
          <p:nvPr/>
        </p:nvSpPr>
        <p:spPr>
          <a:xfrm>
            <a:off x="3000240" y="3609720"/>
            <a:ext cx="7001280" cy="10080"/>
          </a:xfrm>
          <a:custGeom>
            <a:avLst/>
            <a:gdLst/>
            <a:ahLst/>
            <a:rect l="0" t="0" r="r" b="b"/>
            <a:pathLst>
              <a:path w="19448" h="28">
                <a:moveTo>
                  <a:pt x="0" y="0"/>
                </a:moveTo>
                <a:lnTo>
                  <a:pt x="19448" y="0"/>
                </a:lnTo>
                <a:lnTo>
                  <a:pt x="194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6" name=""/>
          <p:cNvSpPr/>
          <p:nvPr/>
        </p:nvSpPr>
        <p:spPr>
          <a:xfrm>
            <a:off x="9991440" y="3619440"/>
            <a:ext cx="10440" cy="533520"/>
          </a:xfrm>
          <a:custGeom>
            <a:avLst/>
            <a:gdLst/>
            <a:ahLst/>
            <a:rect l="0" t="0" r="r" b="b"/>
            <a:pathLst>
              <a:path w="29" h="1482">
                <a:moveTo>
                  <a:pt x="0" y="0"/>
                </a:moveTo>
                <a:lnTo>
                  <a:pt x="29" y="0"/>
                </a:lnTo>
                <a:lnTo>
                  <a:pt x="29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7" name=""/>
          <p:cNvSpPr/>
          <p:nvPr/>
        </p:nvSpPr>
        <p:spPr>
          <a:xfrm>
            <a:off x="752400" y="4143240"/>
            <a:ext cx="2248200" cy="9720"/>
          </a:xfrm>
          <a:custGeom>
            <a:avLst/>
            <a:gdLst/>
            <a:ahLst/>
            <a:rect l="0" t="0" r="r" b="b"/>
            <a:pathLst>
              <a:path w="6245" h="27">
                <a:moveTo>
                  <a:pt x="0" y="0"/>
                </a:moveTo>
                <a:lnTo>
                  <a:pt x="6245" y="0"/>
                </a:lnTo>
                <a:lnTo>
                  <a:pt x="624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8" name=""/>
          <p:cNvSpPr/>
          <p:nvPr/>
        </p:nvSpPr>
        <p:spPr>
          <a:xfrm>
            <a:off x="3000240" y="4143240"/>
            <a:ext cx="7001280" cy="9720"/>
          </a:xfrm>
          <a:custGeom>
            <a:avLst/>
            <a:gdLst/>
            <a:ahLst/>
            <a:rect l="0" t="0" r="r" b="b"/>
            <a:pathLst>
              <a:path w="19448" h="27">
                <a:moveTo>
                  <a:pt x="0" y="0"/>
                </a:moveTo>
                <a:lnTo>
                  <a:pt x="19448" y="0"/>
                </a:lnTo>
                <a:lnTo>
                  <a:pt x="194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9" name=""/>
          <p:cNvSpPr/>
          <p:nvPr/>
        </p:nvSpPr>
        <p:spPr>
          <a:xfrm>
            <a:off x="752400" y="4314600"/>
            <a:ext cx="2534040" cy="533880"/>
          </a:xfrm>
          <a:custGeom>
            <a:avLst/>
            <a:gdLst/>
            <a:ahLst/>
            <a:rect l="0" t="0" r="r" b="b"/>
            <a:pathLst>
              <a:path w="7039" h="1483">
                <a:moveTo>
                  <a:pt x="0" y="0"/>
                </a:moveTo>
                <a:lnTo>
                  <a:pt x="7039" y="0"/>
                </a:lnTo>
                <a:lnTo>
                  <a:pt x="703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0" name=""/>
          <p:cNvSpPr/>
          <p:nvPr/>
        </p:nvSpPr>
        <p:spPr>
          <a:xfrm>
            <a:off x="3286080" y="4314600"/>
            <a:ext cx="3972240" cy="533880"/>
          </a:xfrm>
          <a:custGeom>
            <a:avLst/>
            <a:gdLst/>
            <a:ahLst/>
            <a:rect l="0" t="0" r="r" b="b"/>
            <a:pathLst>
              <a:path w="11034" h="1483">
                <a:moveTo>
                  <a:pt x="0" y="0"/>
                </a:moveTo>
                <a:lnTo>
                  <a:pt x="11034" y="0"/>
                </a:lnTo>
                <a:lnTo>
                  <a:pt x="11034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1" name=""/>
          <p:cNvSpPr/>
          <p:nvPr/>
        </p:nvSpPr>
        <p:spPr>
          <a:xfrm>
            <a:off x="752400" y="4848120"/>
            <a:ext cx="2534040" cy="543240"/>
          </a:xfrm>
          <a:custGeom>
            <a:avLst/>
            <a:gdLst/>
            <a:ahLst/>
            <a:rect l="0" t="0" r="r" b="b"/>
            <a:pathLst>
              <a:path w="7039" h="1509">
                <a:moveTo>
                  <a:pt x="0" y="0"/>
                </a:moveTo>
                <a:lnTo>
                  <a:pt x="7039" y="0"/>
                </a:lnTo>
                <a:lnTo>
                  <a:pt x="703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2" name=""/>
          <p:cNvSpPr/>
          <p:nvPr/>
        </p:nvSpPr>
        <p:spPr>
          <a:xfrm>
            <a:off x="3286080" y="4848120"/>
            <a:ext cx="3972240" cy="543240"/>
          </a:xfrm>
          <a:custGeom>
            <a:avLst/>
            <a:gdLst/>
            <a:ahLst/>
            <a:rect l="0" t="0" r="r" b="b"/>
            <a:pathLst>
              <a:path w="11034" h="1509">
                <a:moveTo>
                  <a:pt x="0" y="0"/>
                </a:moveTo>
                <a:lnTo>
                  <a:pt x="11034" y="0"/>
                </a:lnTo>
                <a:lnTo>
                  <a:pt x="1103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3" name=""/>
          <p:cNvSpPr/>
          <p:nvPr/>
        </p:nvSpPr>
        <p:spPr>
          <a:xfrm>
            <a:off x="752400" y="5391000"/>
            <a:ext cx="2534040" cy="533880"/>
          </a:xfrm>
          <a:custGeom>
            <a:avLst/>
            <a:gdLst/>
            <a:ahLst/>
            <a:rect l="0" t="0" r="r" b="b"/>
            <a:pathLst>
              <a:path w="7039" h="1483">
                <a:moveTo>
                  <a:pt x="0" y="0"/>
                </a:moveTo>
                <a:lnTo>
                  <a:pt x="7039" y="0"/>
                </a:lnTo>
                <a:lnTo>
                  <a:pt x="703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4" name=""/>
          <p:cNvSpPr/>
          <p:nvPr/>
        </p:nvSpPr>
        <p:spPr>
          <a:xfrm>
            <a:off x="3286080" y="5391000"/>
            <a:ext cx="3972240" cy="533880"/>
          </a:xfrm>
          <a:custGeom>
            <a:avLst/>
            <a:gdLst/>
            <a:ahLst/>
            <a:rect l="0" t="0" r="r" b="b"/>
            <a:pathLst>
              <a:path w="11034" h="1483">
                <a:moveTo>
                  <a:pt x="0" y="0"/>
                </a:moveTo>
                <a:lnTo>
                  <a:pt x="11034" y="0"/>
                </a:lnTo>
                <a:lnTo>
                  <a:pt x="11034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5" name=""/>
          <p:cNvSpPr/>
          <p:nvPr/>
        </p:nvSpPr>
        <p:spPr>
          <a:xfrm>
            <a:off x="752400" y="5924520"/>
            <a:ext cx="2534040" cy="543240"/>
          </a:xfrm>
          <a:custGeom>
            <a:avLst/>
            <a:gdLst/>
            <a:ahLst/>
            <a:rect l="0" t="0" r="r" b="b"/>
            <a:pathLst>
              <a:path w="7039" h="1509">
                <a:moveTo>
                  <a:pt x="0" y="0"/>
                </a:moveTo>
                <a:lnTo>
                  <a:pt x="7039" y="0"/>
                </a:lnTo>
                <a:lnTo>
                  <a:pt x="703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6" name=""/>
          <p:cNvSpPr/>
          <p:nvPr/>
        </p:nvSpPr>
        <p:spPr>
          <a:xfrm>
            <a:off x="3286080" y="5924520"/>
            <a:ext cx="3972240" cy="543240"/>
          </a:xfrm>
          <a:custGeom>
            <a:avLst/>
            <a:gdLst/>
            <a:ahLst/>
            <a:rect l="0" t="0" r="r" b="b"/>
            <a:pathLst>
              <a:path w="11034" h="1509">
                <a:moveTo>
                  <a:pt x="0" y="0"/>
                </a:moveTo>
                <a:lnTo>
                  <a:pt x="11034" y="0"/>
                </a:lnTo>
                <a:lnTo>
                  <a:pt x="1103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7" name=""/>
          <p:cNvSpPr/>
          <p:nvPr/>
        </p:nvSpPr>
        <p:spPr>
          <a:xfrm>
            <a:off x="752400" y="6467400"/>
            <a:ext cx="2534040" cy="533520"/>
          </a:xfrm>
          <a:custGeom>
            <a:avLst/>
            <a:gdLst/>
            <a:ahLst/>
            <a:rect l="0" t="0" r="r" b="b"/>
            <a:pathLst>
              <a:path w="7039" h="1482">
                <a:moveTo>
                  <a:pt x="0" y="0"/>
                </a:moveTo>
                <a:lnTo>
                  <a:pt x="7039" y="0"/>
                </a:lnTo>
                <a:lnTo>
                  <a:pt x="7039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8" name=""/>
          <p:cNvSpPr/>
          <p:nvPr/>
        </p:nvSpPr>
        <p:spPr>
          <a:xfrm>
            <a:off x="3286080" y="6467400"/>
            <a:ext cx="3972240" cy="533520"/>
          </a:xfrm>
          <a:custGeom>
            <a:avLst/>
            <a:gdLst/>
            <a:ahLst/>
            <a:rect l="0" t="0" r="r" b="b"/>
            <a:pathLst>
              <a:path w="11034" h="1482">
                <a:moveTo>
                  <a:pt x="0" y="0"/>
                </a:moveTo>
                <a:lnTo>
                  <a:pt x="11034" y="0"/>
                </a:lnTo>
                <a:lnTo>
                  <a:pt x="11034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9" name=""/>
          <p:cNvSpPr/>
          <p:nvPr/>
        </p:nvSpPr>
        <p:spPr>
          <a:xfrm>
            <a:off x="752400" y="4305240"/>
            <a:ext cx="9720" cy="552600"/>
          </a:xfrm>
          <a:custGeom>
            <a:avLst/>
            <a:gdLst/>
            <a:ahLst/>
            <a:rect l="0" t="0" r="r" b="b"/>
            <a:pathLst>
              <a:path w="27" h="1535">
                <a:moveTo>
                  <a:pt x="0" y="0"/>
                </a:moveTo>
                <a:lnTo>
                  <a:pt x="27" y="0"/>
                </a:lnTo>
                <a:lnTo>
                  <a:pt x="27" y="1535"/>
                </a:lnTo>
                <a:lnTo>
                  <a:pt x="0" y="153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0" name=""/>
          <p:cNvSpPr/>
          <p:nvPr/>
        </p:nvSpPr>
        <p:spPr>
          <a:xfrm>
            <a:off x="752400" y="430524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1" name=""/>
          <p:cNvSpPr/>
          <p:nvPr/>
        </p:nvSpPr>
        <p:spPr>
          <a:xfrm>
            <a:off x="3276360" y="4305240"/>
            <a:ext cx="10080" cy="552600"/>
          </a:xfrm>
          <a:custGeom>
            <a:avLst/>
            <a:gdLst/>
            <a:ahLst/>
            <a:rect l="0" t="0" r="r" b="b"/>
            <a:pathLst>
              <a:path w="28" h="1535">
                <a:moveTo>
                  <a:pt x="0" y="0"/>
                </a:moveTo>
                <a:lnTo>
                  <a:pt x="28" y="0"/>
                </a:lnTo>
                <a:lnTo>
                  <a:pt x="28" y="1535"/>
                </a:lnTo>
                <a:lnTo>
                  <a:pt x="0" y="153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2" name=""/>
          <p:cNvSpPr/>
          <p:nvPr/>
        </p:nvSpPr>
        <p:spPr>
          <a:xfrm>
            <a:off x="3286080" y="4305240"/>
            <a:ext cx="3972240" cy="9720"/>
          </a:xfrm>
          <a:custGeom>
            <a:avLst/>
            <a:gdLst/>
            <a:ahLst/>
            <a:rect l="0" t="0" r="r" b="b"/>
            <a:pathLst>
              <a:path w="11034" h="27">
                <a:moveTo>
                  <a:pt x="0" y="0"/>
                </a:moveTo>
                <a:lnTo>
                  <a:pt x="11034" y="0"/>
                </a:lnTo>
                <a:lnTo>
                  <a:pt x="110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3" name=""/>
          <p:cNvSpPr/>
          <p:nvPr/>
        </p:nvSpPr>
        <p:spPr>
          <a:xfrm>
            <a:off x="7248240" y="4305240"/>
            <a:ext cx="10080" cy="552600"/>
          </a:xfrm>
          <a:custGeom>
            <a:avLst/>
            <a:gdLst/>
            <a:ahLst/>
            <a:rect l="0" t="0" r="r" b="b"/>
            <a:pathLst>
              <a:path w="28" h="1535">
                <a:moveTo>
                  <a:pt x="0" y="0"/>
                </a:moveTo>
                <a:lnTo>
                  <a:pt x="28" y="0"/>
                </a:lnTo>
                <a:lnTo>
                  <a:pt x="28" y="1535"/>
                </a:lnTo>
                <a:lnTo>
                  <a:pt x="0" y="153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4" name=""/>
          <p:cNvSpPr/>
          <p:nvPr/>
        </p:nvSpPr>
        <p:spPr>
          <a:xfrm>
            <a:off x="752400" y="484812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5" name=""/>
          <p:cNvSpPr/>
          <p:nvPr/>
        </p:nvSpPr>
        <p:spPr>
          <a:xfrm>
            <a:off x="3286080" y="4848120"/>
            <a:ext cx="3972240" cy="9720"/>
          </a:xfrm>
          <a:custGeom>
            <a:avLst/>
            <a:gdLst/>
            <a:ahLst/>
            <a:rect l="0" t="0" r="r" b="b"/>
            <a:pathLst>
              <a:path w="11034" h="27">
                <a:moveTo>
                  <a:pt x="0" y="0"/>
                </a:moveTo>
                <a:lnTo>
                  <a:pt x="11034" y="0"/>
                </a:lnTo>
                <a:lnTo>
                  <a:pt x="110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6" name=""/>
          <p:cNvSpPr/>
          <p:nvPr/>
        </p:nvSpPr>
        <p:spPr>
          <a:xfrm>
            <a:off x="752400" y="48574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7" name=""/>
          <p:cNvSpPr/>
          <p:nvPr/>
        </p:nvSpPr>
        <p:spPr>
          <a:xfrm>
            <a:off x="3276360" y="48574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8" name=""/>
          <p:cNvSpPr/>
          <p:nvPr/>
        </p:nvSpPr>
        <p:spPr>
          <a:xfrm>
            <a:off x="7248240" y="48574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9" name=""/>
          <p:cNvSpPr/>
          <p:nvPr/>
        </p:nvSpPr>
        <p:spPr>
          <a:xfrm>
            <a:off x="752400" y="53910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0" name=""/>
          <p:cNvSpPr/>
          <p:nvPr/>
        </p:nvSpPr>
        <p:spPr>
          <a:xfrm>
            <a:off x="752400" y="53812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1" name=""/>
          <p:cNvSpPr/>
          <p:nvPr/>
        </p:nvSpPr>
        <p:spPr>
          <a:xfrm>
            <a:off x="3276360" y="53910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2" name=""/>
          <p:cNvSpPr/>
          <p:nvPr/>
        </p:nvSpPr>
        <p:spPr>
          <a:xfrm>
            <a:off x="3286080" y="5381280"/>
            <a:ext cx="3972240" cy="10080"/>
          </a:xfrm>
          <a:custGeom>
            <a:avLst/>
            <a:gdLst/>
            <a:ahLst/>
            <a:rect l="0" t="0" r="r" b="b"/>
            <a:pathLst>
              <a:path w="11034" h="28">
                <a:moveTo>
                  <a:pt x="0" y="0"/>
                </a:moveTo>
                <a:lnTo>
                  <a:pt x="11034" y="0"/>
                </a:lnTo>
                <a:lnTo>
                  <a:pt x="110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3" name=""/>
          <p:cNvSpPr/>
          <p:nvPr/>
        </p:nvSpPr>
        <p:spPr>
          <a:xfrm>
            <a:off x="7248240" y="53910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4" name=""/>
          <p:cNvSpPr/>
          <p:nvPr/>
        </p:nvSpPr>
        <p:spPr>
          <a:xfrm>
            <a:off x="752400" y="59338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5" name=""/>
          <p:cNvSpPr/>
          <p:nvPr/>
        </p:nvSpPr>
        <p:spPr>
          <a:xfrm>
            <a:off x="752400" y="592452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6" name=""/>
          <p:cNvSpPr/>
          <p:nvPr/>
        </p:nvSpPr>
        <p:spPr>
          <a:xfrm>
            <a:off x="3276360" y="59338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7" name=""/>
          <p:cNvSpPr/>
          <p:nvPr/>
        </p:nvSpPr>
        <p:spPr>
          <a:xfrm>
            <a:off x="3286080" y="5924520"/>
            <a:ext cx="3972240" cy="9720"/>
          </a:xfrm>
          <a:custGeom>
            <a:avLst/>
            <a:gdLst/>
            <a:ahLst/>
            <a:rect l="0" t="0" r="r" b="b"/>
            <a:pathLst>
              <a:path w="11034" h="27">
                <a:moveTo>
                  <a:pt x="0" y="0"/>
                </a:moveTo>
                <a:lnTo>
                  <a:pt x="11034" y="0"/>
                </a:lnTo>
                <a:lnTo>
                  <a:pt x="110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8" name=""/>
          <p:cNvSpPr/>
          <p:nvPr/>
        </p:nvSpPr>
        <p:spPr>
          <a:xfrm>
            <a:off x="7248240" y="59338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9" name=""/>
          <p:cNvSpPr/>
          <p:nvPr/>
        </p:nvSpPr>
        <p:spPr>
          <a:xfrm>
            <a:off x="752400" y="64674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0" name=""/>
          <p:cNvSpPr/>
          <p:nvPr/>
        </p:nvSpPr>
        <p:spPr>
          <a:xfrm>
            <a:off x="752400" y="64576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1" name=""/>
          <p:cNvSpPr/>
          <p:nvPr/>
        </p:nvSpPr>
        <p:spPr>
          <a:xfrm>
            <a:off x="3276360" y="64674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2" name=""/>
          <p:cNvSpPr/>
          <p:nvPr/>
        </p:nvSpPr>
        <p:spPr>
          <a:xfrm>
            <a:off x="3286080" y="6457680"/>
            <a:ext cx="3972240" cy="10080"/>
          </a:xfrm>
          <a:custGeom>
            <a:avLst/>
            <a:gdLst/>
            <a:ahLst/>
            <a:rect l="0" t="0" r="r" b="b"/>
            <a:pathLst>
              <a:path w="11034" h="28">
                <a:moveTo>
                  <a:pt x="0" y="0"/>
                </a:moveTo>
                <a:lnTo>
                  <a:pt x="11034" y="0"/>
                </a:lnTo>
                <a:lnTo>
                  <a:pt x="110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3" name=""/>
          <p:cNvSpPr/>
          <p:nvPr/>
        </p:nvSpPr>
        <p:spPr>
          <a:xfrm>
            <a:off x="7248240" y="64674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4" name=""/>
          <p:cNvSpPr txBox="1"/>
          <p:nvPr/>
        </p:nvSpPr>
        <p:spPr>
          <a:xfrm>
            <a:off x="747720" y="770400"/>
            <a:ext cx="615600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The tools — all free, all open source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5" name=""/>
          <p:cNvSpPr txBox="1"/>
          <p:nvPr/>
        </p:nvSpPr>
        <p:spPr>
          <a:xfrm>
            <a:off x="1593720" y="1569240"/>
            <a:ext cx="581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Tool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6" name=""/>
          <p:cNvSpPr txBox="1"/>
          <p:nvPr/>
        </p:nvSpPr>
        <p:spPr>
          <a:xfrm>
            <a:off x="6197040" y="156924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Role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7" name=""/>
          <p:cNvSpPr txBox="1"/>
          <p:nvPr/>
        </p:nvSpPr>
        <p:spPr>
          <a:xfrm>
            <a:off x="880920" y="210276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k6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8" name=""/>
          <p:cNvSpPr txBox="1"/>
          <p:nvPr/>
        </p:nvSpPr>
        <p:spPr>
          <a:xfrm>
            <a:off x="3126240" y="2102760"/>
            <a:ext cx="6730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Load generator — scriptable, Prometheus remote-write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9" name=""/>
          <p:cNvSpPr txBox="1"/>
          <p:nvPr/>
        </p:nvSpPr>
        <p:spPr>
          <a:xfrm>
            <a:off x="880920" y="2645640"/>
            <a:ext cx="1594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Prometheus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0" name=""/>
          <p:cNvSpPr txBox="1"/>
          <p:nvPr/>
        </p:nvSpPr>
        <p:spPr>
          <a:xfrm>
            <a:off x="3126240" y="2645640"/>
            <a:ext cx="3350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Metrics collection + storage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1" name=""/>
          <p:cNvSpPr txBox="1"/>
          <p:nvPr/>
        </p:nvSpPr>
        <p:spPr>
          <a:xfrm>
            <a:off x="880920" y="3179160"/>
            <a:ext cx="1043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Grafana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2" name=""/>
          <p:cNvSpPr txBox="1"/>
          <p:nvPr/>
        </p:nvSpPr>
        <p:spPr>
          <a:xfrm>
            <a:off x="3126240" y="3179160"/>
            <a:ext cx="3864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 dashboards, auto-provisioned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3" name=""/>
          <p:cNvSpPr txBox="1"/>
          <p:nvPr/>
        </p:nvSpPr>
        <p:spPr>
          <a:xfrm>
            <a:off x="880920" y="3722040"/>
            <a:ext cx="19850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Loki + Promtail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4" name=""/>
          <p:cNvSpPr txBox="1"/>
          <p:nvPr/>
        </p:nvSpPr>
        <p:spPr>
          <a:xfrm>
            <a:off x="3126240" y="3722040"/>
            <a:ext cx="3175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Container log aggregation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5" name=""/>
          <p:cNvSpPr txBox="1"/>
          <p:nvPr/>
        </p:nvSpPr>
        <p:spPr>
          <a:xfrm>
            <a:off x="1735560" y="4417200"/>
            <a:ext cx="581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Tool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6" name=""/>
          <p:cNvSpPr txBox="1"/>
          <p:nvPr/>
        </p:nvSpPr>
        <p:spPr>
          <a:xfrm>
            <a:off x="4968720" y="441720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Role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7" name=""/>
          <p:cNvSpPr txBox="1"/>
          <p:nvPr/>
        </p:nvSpPr>
        <p:spPr>
          <a:xfrm>
            <a:off x="880920" y="4960080"/>
            <a:ext cx="1901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Nginx FastCGI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8" name=""/>
          <p:cNvSpPr txBox="1"/>
          <p:nvPr/>
        </p:nvSpPr>
        <p:spPr>
          <a:xfrm>
            <a:off x="3409920" y="4960080"/>
            <a:ext cx="3035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Full-page cache (built-in)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9" name=""/>
          <p:cNvSpPr txBox="1"/>
          <p:nvPr/>
        </p:nvSpPr>
        <p:spPr>
          <a:xfrm>
            <a:off x="880920" y="5493600"/>
            <a:ext cx="1824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PHP OPcache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0" name=""/>
          <p:cNvSpPr txBox="1"/>
          <p:nvPr/>
        </p:nvSpPr>
        <p:spPr>
          <a:xfrm>
            <a:off x="3409920" y="5493600"/>
            <a:ext cx="3035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Bytecode cache (built-in)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1" name=""/>
          <p:cNvSpPr txBox="1"/>
          <p:nvPr/>
        </p:nvSpPr>
        <p:spPr>
          <a:xfrm>
            <a:off x="880920" y="6036480"/>
            <a:ext cx="750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Redis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2" name=""/>
          <p:cNvSpPr txBox="1"/>
          <p:nvPr/>
        </p:nvSpPr>
        <p:spPr>
          <a:xfrm>
            <a:off x="3409920" y="6036480"/>
            <a:ext cx="1609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Object cache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3" name=""/>
          <p:cNvSpPr txBox="1"/>
          <p:nvPr/>
        </p:nvSpPr>
        <p:spPr>
          <a:xfrm>
            <a:off x="880920" y="6570000"/>
            <a:ext cx="1501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MariaDB 11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4" name=""/>
          <p:cNvSpPr txBox="1"/>
          <p:nvPr/>
        </p:nvSpPr>
        <p:spPr>
          <a:xfrm>
            <a:off x="3409920" y="6570000"/>
            <a:ext cx="2055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Tuned DB config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6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8" name=""/>
          <p:cNvSpPr/>
          <p:nvPr/>
        </p:nvSpPr>
        <p:spPr>
          <a:xfrm>
            <a:off x="752400" y="5553000"/>
            <a:ext cx="66960" cy="829080"/>
          </a:xfrm>
          <a:custGeom>
            <a:avLst/>
            <a:gdLst/>
            <a:ahLst/>
            <a:rect l="0" t="0" r="r" b="b"/>
            <a:pathLst>
              <a:path w="186" h="2303">
                <a:moveTo>
                  <a:pt x="0" y="0"/>
                </a:moveTo>
                <a:lnTo>
                  <a:pt x="186" y="0"/>
                </a:lnTo>
                <a:lnTo>
                  <a:pt x="186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9" name=""/>
          <p:cNvSpPr txBox="1"/>
          <p:nvPr/>
        </p:nvSpPr>
        <p:spPr>
          <a:xfrm>
            <a:off x="747720" y="781200"/>
            <a:ext cx="2356920" cy="494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480" spc="-1" strike="noStrike">
                <a:solidFill>
                  <a:srgbClr val="224466"/>
                </a:solidFill>
                <a:latin typeface="Arial"/>
                <a:ea typeface="Arial"/>
              </a:rPr>
              <a:t>Thank you!</a:t>
            </a:r>
            <a:endParaRPr b="0" lang="en-US" sz="34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0" name=""/>
          <p:cNvSpPr txBox="1"/>
          <p:nvPr/>
        </p:nvSpPr>
        <p:spPr>
          <a:xfrm>
            <a:off x="747720" y="2045520"/>
            <a:ext cx="1870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Nedko Hristov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1" name=""/>
          <p:cNvSpPr/>
          <p:nvPr/>
        </p:nvSpPr>
        <p:spPr>
          <a:xfrm>
            <a:off x="803520" y="3120840"/>
            <a:ext cx="129240" cy="100080"/>
          </a:xfrm>
          <a:custGeom>
            <a:avLst/>
            <a:gdLst/>
            <a:ahLst/>
            <a:rect l="0" t="0" r="r" b="b"/>
            <a:pathLst>
              <a:path w="359" h="278">
                <a:moveTo>
                  <a:pt x="125" y="0"/>
                </a:moveTo>
                <a:cubicBezTo>
                  <a:pt x="189" y="108"/>
                  <a:pt x="125" y="229"/>
                  <a:pt x="60" y="208"/>
                </a:cubicBezTo>
                <a:cubicBezTo>
                  <a:pt x="-4" y="186"/>
                  <a:pt x="-25" y="250"/>
                  <a:pt x="39" y="272"/>
                </a:cubicBezTo>
                <a:cubicBezTo>
                  <a:pt x="103" y="293"/>
                  <a:pt x="241" y="262"/>
                  <a:pt x="317" y="186"/>
                </a:cubicBezTo>
                <a:cubicBezTo>
                  <a:pt x="338" y="165"/>
                  <a:pt x="359" y="165"/>
                  <a:pt x="359" y="165"/>
                </a:cubicBezTo>
                <a:lnTo>
                  <a:pt x="125" y="0"/>
                </a:lnTo>
                <a:close/>
              </a:path>
            </a:pathLst>
          </a:custGeom>
          <a:solidFill>
            <a:srgbClr val="55378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62" name=""/>
          <p:cNvSpPr/>
          <p:nvPr/>
        </p:nvSpPr>
        <p:spPr>
          <a:xfrm>
            <a:off x="886320" y="3120840"/>
            <a:ext cx="129600" cy="100080"/>
          </a:xfrm>
          <a:custGeom>
            <a:avLst/>
            <a:gdLst/>
            <a:ahLst/>
            <a:rect l="0" t="0" r="r" b="b"/>
            <a:pathLst>
              <a:path w="360" h="278">
                <a:moveTo>
                  <a:pt x="236" y="0"/>
                </a:moveTo>
                <a:cubicBezTo>
                  <a:pt x="171" y="108"/>
                  <a:pt x="236" y="229"/>
                  <a:pt x="300" y="208"/>
                </a:cubicBezTo>
                <a:cubicBezTo>
                  <a:pt x="364" y="186"/>
                  <a:pt x="385" y="250"/>
                  <a:pt x="321" y="272"/>
                </a:cubicBezTo>
                <a:cubicBezTo>
                  <a:pt x="257" y="293"/>
                  <a:pt x="118" y="262"/>
                  <a:pt x="43" y="186"/>
                </a:cubicBezTo>
                <a:cubicBezTo>
                  <a:pt x="22" y="165"/>
                  <a:pt x="0" y="165"/>
                  <a:pt x="0" y="165"/>
                </a:cubicBezTo>
                <a:lnTo>
                  <a:pt x="236" y="0"/>
                </a:lnTo>
                <a:close/>
              </a:path>
            </a:pathLst>
          </a:custGeom>
          <a:solidFill>
            <a:srgbClr val="55378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63" name=""/>
          <p:cNvSpPr/>
          <p:nvPr/>
        </p:nvSpPr>
        <p:spPr>
          <a:xfrm>
            <a:off x="771480" y="3151440"/>
            <a:ext cx="276480" cy="100080"/>
          </a:xfrm>
          <a:custGeom>
            <a:avLst/>
            <a:gdLst/>
            <a:ahLst/>
            <a:rect l="0" t="0" r="r" b="b"/>
            <a:pathLst>
              <a:path w="768" h="278">
                <a:moveTo>
                  <a:pt x="644" y="0"/>
                </a:moveTo>
                <a:cubicBezTo>
                  <a:pt x="580" y="107"/>
                  <a:pt x="644" y="228"/>
                  <a:pt x="708" y="207"/>
                </a:cubicBezTo>
                <a:cubicBezTo>
                  <a:pt x="772" y="186"/>
                  <a:pt x="793" y="250"/>
                  <a:pt x="729" y="272"/>
                </a:cubicBezTo>
                <a:cubicBezTo>
                  <a:pt x="665" y="293"/>
                  <a:pt x="527" y="262"/>
                  <a:pt x="451" y="186"/>
                </a:cubicBezTo>
                <a:cubicBezTo>
                  <a:pt x="430" y="164"/>
                  <a:pt x="409" y="164"/>
                  <a:pt x="409" y="164"/>
                </a:cubicBezTo>
                <a:lnTo>
                  <a:pt x="644" y="0"/>
                </a:lnTo>
                <a:moveTo>
                  <a:pt x="123" y="0"/>
                </a:moveTo>
                <a:cubicBezTo>
                  <a:pt x="187" y="107"/>
                  <a:pt x="123" y="228"/>
                  <a:pt x="60" y="207"/>
                </a:cubicBezTo>
                <a:cubicBezTo>
                  <a:pt x="-4" y="186"/>
                  <a:pt x="-26" y="250"/>
                  <a:pt x="38" y="272"/>
                </a:cubicBezTo>
                <a:cubicBezTo>
                  <a:pt x="102" y="293"/>
                  <a:pt x="240" y="262"/>
                  <a:pt x="315" y="186"/>
                </a:cubicBezTo>
                <a:cubicBezTo>
                  <a:pt x="337" y="164"/>
                  <a:pt x="358" y="164"/>
                  <a:pt x="358" y="164"/>
                </a:cubicBezTo>
                <a:lnTo>
                  <a:pt x="123" y="0"/>
                </a:lnTo>
                <a:close/>
              </a:path>
            </a:pathLst>
          </a:custGeom>
          <a:solidFill>
            <a:srgbClr val="744ea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64" name=""/>
          <p:cNvSpPr/>
          <p:nvPr/>
        </p:nvSpPr>
        <p:spPr>
          <a:xfrm>
            <a:off x="771480" y="3028680"/>
            <a:ext cx="276480" cy="274320"/>
          </a:xfrm>
          <a:custGeom>
            <a:avLst/>
            <a:gdLst/>
            <a:ahLst/>
            <a:rect l="0" t="0" r="r" b="b"/>
            <a:pathLst>
              <a:path w="768" h="762">
                <a:moveTo>
                  <a:pt x="708" y="670"/>
                </a:moveTo>
                <a:cubicBezTo>
                  <a:pt x="650" y="689"/>
                  <a:pt x="571" y="550"/>
                  <a:pt x="605" y="445"/>
                </a:cubicBezTo>
                <a:cubicBezTo>
                  <a:pt x="641" y="375"/>
                  <a:pt x="661" y="297"/>
                  <a:pt x="661" y="235"/>
                </a:cubicBezTo>
                <a:cubicBezTo>
                  <a:pt x="661" y="82"/>
                  <a:pt x="536" y="0"/>
                  <a:pt x="383" y="0"/>
                </a:cubicBezTo>
                <a:cubicBezTo>
                  <a:pt x="230" y="0"/>
                  <a:pt x="106" y="82"/>
                  <a:pt x="106" y="235"/>
                </a:cubicBezTo>
                <a:cubicBezTo>
                  <a:pt x="106" y="297"/>
                  <a:pt x="127" y="375"/>
                  <a:pt x="162" y="445"/>
                </a:cubicBezTo>
                <a:cubicBezTo>
                  <a:pt x="196" y="550"/>
                  <a:pt x="118" y="689"/>
                  <a:pt x="60" y="670"/>
                </a:cubicBezTo>
                <a:cubicBezTo>
                  <a:pt x="-4" y="649"/>
                  <a:pt x="-26" y="734"/>
                  <a:pt x="38" y="755"/>
                </a:cubicBezTo>
                <a:cubicBezTo>
                  <a:pt x="102" y="777"/>
                  <a:pt x="215" y="742"/>
                  <a:pt x="294" y="670"/>
                </a:cubicBezTo>
                <a:cubicBezTo>
                  <a:pt x="341" y="627"/>
                  <a:pt x="383" y="627"/>
                  <a:pt x="383" y="627"/>
                </a:cubicBezTo>
                <a:cubicBezTo>
                  <a:pt x="383" y="627"/>
                  <a:pt x="426" y="627"/>
                  <a:pt x="473" y="670"/>
                </a:cubicBezTo>
                <a:cubicBezTo>
                  <a:pt x="552" y="742"/>
                  <a:pt x="665" y="777"/>
                  <a:pt x="729" y="755"/>
                </a:cubicBezTo>
                <a:cubicBezTo>
                  <a:pt x="793" y="734"/>
                  <a:pt x="772" y="649"/>
                  <a:pt x="708" y="670"/>
                </a:cubicBezTo>
                <a:close/>
              </a:path>
            </a:pathLst>
          </a:custGeom>
          <a:solidFill>
            <a:srgbClr val="9266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65" name=""/>
          <p:cNvSpPr/>
          <p:nvPr/>
        </p:nvSpPr>
        <p:spPr>
          <a:xfrm>
            <a:off x="863280" y="3174480"/>
            <a:ext cx="31320" cy="30960"/>
          </a:xfrm>
          <a:custGeom>
            <a:avLst/>
            <a:gdLst/>
            <a:ahLst/>
            <a:rect l="0" t="0" r="r" b="b"/>
            <a:pathLst>
              <a:path w="87" h="86">
                <a:moveTo>
                  <a:pt x="87" y="43"/>
                </a:moveTo>
                <a:cubicBezTo>
                  <a:pt x="87" y="48"/>
                  <a:pt x="86" y="54"/>
                  <a:pt x="83" y="59"/>
                </a:cubicBezTo>
                <a:cubicBezTo>
                  <a:pt x="81" y="64"/>
                  <a:pt x="78" y="70"/>
                  <a:pt x="74" y="74"/>
                </a:cubicBezTo>
                <a:cubicBezTo>
                  <a:pt x="70" y="78"/>
                  <a:pt x="66" y="81"/>
                  <a:pt x="60" y="83"/>
                </a:cubicBezTo>
                <a:cubicBezTo>
                  <a:pt x="55" y="85"/>
                  <a:pt x="50" y="86"/>
                  <a:pt x="44" y="86"/>
                </a:cubicBezTo>
                <a:cubicBezTo>
                  <a:pt x="38" y="86"/>
                  <a:pt x="33" y="85"/>
                  <a:pt x="28" y="83"/>
                </a:cubicBezTo>
                <a:cubicBezTo>
                  <a:pt x="21" y="81"/>
                  <a:pt x="17" y="78"/>
                  <a:pt x="13" y="74"/>
                </a:cubicBezTo>
                <a:cubicBezTo>
                  <a:pt x="9" y="70"/>
                  <a:pt x="6" y="64"/>
                  <a:pt x="4" y="59"/>
                </a:cubicBezTo>
                <a:cubicBezTo>
                  <a:pt x="1" y="54"/>
                  <a:pt x="0" y="48"/>
                  <a:pt x="0" y="43"/>
                </a:cubicBezTo>
                <a:cubicBezTo>
                  <a:pt x="0" y="37"/>
                  <a:pt x="1" y="32"/>
                  <a:pt x="4" y="27"/>
                </a:cubicBezTo>
                <a:cubicBezTo>
                  <a:pt x="6" y="21"/>
                  <a:pt x="9" y="17"/>
                  <a:pt x="13" y="13"/>
                </a:cubicBezTo>
                <a:cubicBezTo>
                  <a:pt x="17" y="9"/>
                  <a:pt x="21" y="6"/>
                  <a:pt x="28" y="3"/>
                </a:cubicBezTo>
                <a:cubicBezTo>
                  <a:pt x="33" y="1"/>
                  <a:pt x="38" y="0"/>
                  <a:pt x="44" y="0"/>
                </a:cubicBezTo>
                <a:cubicBezTo>
                  <a:pt x="50" y="0"/>
                  <a:pt x="55" y="1"/>
                  <a:pt x="60" y="3"/>
                </a:cubicBezTo>
                <a:cubicBezTo>
                  <a:pt x="66" y="6"/>
                  <a:pt x="70" y="9"/>
                  <a:pt x="74" y="13"/>
                </a:cubicBezTo>
                <a:cubicBezTo>
                  <a:pt x="78" y="17"/>
                  <a:pt x="81" y="21"/>
                  <a:pt x="83" y="27"/>
                </a:cubicBezTo>
                <a:cubicBezTo>
                  <a:pt x="86" y="32"/>
                  <a:pt x="87" y="37"/>
                  <a:pt x="87" y="43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66" name=""/>
          <p:cNvSpPr/>
          <p:nvPr/>
        </p:nvSpPr>
        <p:spPr>
          <a:xfrm>
            <a:off x="924840" y="3174480"/>
            <a:ext cx="30960" cy="30960"/>
          </a:xfrm>
          <a:custGeom>
            <a:avLst/>
            <a:gdLst/>
            <a:ahLst/>
            <a:rect l="0" t="0" r="r" b="b"/>
            <a:pathLst>
              <a:path w="86" h="86">
                <a:moveTo>
                  <a:pt x="86" y="43"/>
                </a:moveTo>
                <a:cubicBezTo>
                  <a:pt x="86" y="48"/>
                  <a:pt x="85" y="54"/>
                  <a:pt x="83" y="59"/>
                </a:cubicBezTo>
                <a:cubicBezTo>
                  <a:pt x="81" y="64"/>
                  <a:pt x="78" y="70"/>
                  <a:pt x="74" y="74"/>
                </a:cubicBezTo>
                <a:cubicBezTo>
                  <a:pt x="70" y="78"/>
                  <a:pt x="65" y="81"/>
                  <a:pt x="60" y="83"/>
                </a:cubicBezTo>
                <a:cubicBezTo>
                  <a:pt x="55" y="85"/>
                  <a:pt x="49" y="86"/>
                  <a:pt x="44" y="86"/>
                </a:cubicBezTo>
                <a:cubicBezTo>
                  <a:pt x="38" y="86"/>
                  <a:pt x="32" y="85"/>
                  <a:pt x="27" y="83"/>
                </a:cubicBezTo>
                <a:cubicBezTo>
                  <a:pt x="21" y="81"/>
                  <a:pt x="16" y="78"/>
                  <a:pt x="12" y="74"/>
                </a:cubicBezTo>
                <a:cubicBezTo>
                  <a:pt x="8" y="70"/>
                  <a:pt x="5" y="64"/>
                  <a:pt x="3" y="59"/>
                </a:cubicBezTo>
                <a:cubicBezTo>
                  <a:pt x="1" y="54"/>
                  <a:pt x="0" y="48"/>
                  <a:pt x="0" y="43"/>
                </a:cubicBezTo>
                <a:cubicBezTo>
                  <a:pt x="0" y="37"/>
                  <a:pt x="1" y="32"/>
                  <a:pt x="3" y="27"/>
                </a:cubicBezTo>
                <a:cubicBezTo>
                  <a:pt x="5" y="21"/>
                  <a:pt x="8" y="17"/>
                  <a:pt x="12" y="13"/>
                </a:cubicBezTo>
                <a:cubicBezTo>
                  <a:pt x="16" y="9"/>
                  <a:pt x="21" y="6"/>
                  <a:pt x="27" y="3"/>
                </a:cubicBezTo>
                <a:cubicBezTo>
                  <a:pt x="32" y="1"/>
                  <a:pt x="38" y="0"/>
                  <a:pt x="44" y="0"/>
                </a:cubicBezTo>
                <a:cubicBezTo>
                  <a:pt x="49" y="0"/>
                  <a:pt x="55" y="1"/>
                  <a:pt x="60" y="3"/>
                </a:cubicBezTo>
                <a:cubicBezTo>
                  <a:pt x="65" y="6"/>
                  <a:pt x="70" y="9"/>
                  <a:pt x="74" y="13"/>
                </a:cubicBezTo>
                <a:cubicBezTo>
                  <a:pt x="78" y="17"/>
                  <a:pt x="81" y="21"/>
                  <a:pt x="83" y="27"/>
                </a:cubicBezTo>
                <a:cubicBezTo>
                  <a:pt x="85" y="32"/>
                  <a:pt x="86" y="37"/>
                  <a:pt x="86" y="43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67" name=""/>
          <p:cNvSpPr txBox="1"/>
          <p:nvPr/>
        </p:nvSpPr>
        <p:spPr>
          <a:xfrm>
            <a:off x="747720" y="2455200"/>
            <a:ext cx="6105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Senior DevOps Engineer @ Nemetschek Bulgaria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8" name=""/>
          <p:cNvSpPr/>
          <p:nvPr/>
        </p:nvSpPr>
        <p:spPr>
          <a:xfrm>
            <a:off x="1142640" y="3028680"/>
            <a:ext cx="6525000" cy="362520"/>
          </a:xfrm>
          <a:custGeom>
            <a:avLst/>
            <a:gdLst/>
            <a:ahLst/>
            <a:rect l="0" t="0" r="r" b="b"/>
            <a:pathLst>
              <a:path w="18125" h="1007">
                <a:moveTo>
                  <a:pt x="0" y="848"/>
                </a:moveTo>
                <a:lnTo>
                  <a:pt x="0" y="160"/>
                </a:lnTo>
                <a:cubicBezTo>
                  <a:pt x="0" y="150"/>
                  <a:pt x="2" y="139"/>
                  <a:pt x="4" y="128"/>
                </a:cubicBezTo>
                <a:cubicBezTo>
                  <a:pt x="6" y="118"/>
                  <a:pt x="9" y="108"/>
                  <a:pt x="13" y="98"/>
                </a:cubicBezTo>
                <a:cubicBezTo>
                  <a:pt x="17" y="89"/>
                  <a:pt x="21" y="79"/>
                  <a:pt x="27" y="71"/>
                </a:cubicBezTo>
                <a:cubicBezTo>
                  <a:pt x="33" y="62"/>
                  <a:pt x="40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9" y="1"/>
                  <a:pt x="149" y="0"/>
                  <a:pt x="159" y="0"/>
                </a:cubicBezTo>
                <a:lnTo>
                  <a:pt x="17967" y="0"/>
                </a:lnTo>
                <a:cubicBezTo>
                  <a:pt x="17977" y="0"/>
                  <a:pt x="17987" y="1"/>
                  <a:pt x="17998" y="3"/>
                </a:cubicBezTo>
                <a:cubicBezTo>
                  <a:pt x="18008" y="5"/>
                  <a:pt x="18018" y="8"/>
                  <a:pt x="18027" y="12"/>
                </a:cubicBezTo>
                <a:cubicBezTo>
                  <a:pt x="18037" y="16"/>
                  <a:pt x="18046" y="21"/>
                  <a:pt x="18055" y="27"/>
                </a:cubicBezTo>
                <a:cubicBezTo>
                  <a:pt x="18064" y="33"/>
                  <a:pt x="18072" y="39"/>
                  <a:pt x="18079" y="47"/>
                </a:cubicBezTo>
                <a:cubicBezTo>
                  <a:pt x="18086" y="54"/>
                  <a:pt x="18093" y="62"/>
                  <a:pt x="18099" y="71"/>
                </a:cubicBezTo>
                <a:cubicBezTo>
                  <a:pt x="18104" y="79"/>
                  <a:pt x="18109" y="89"/>
                  <a:pt x="18113" y="98"/>
                </a:cubicBezTo>
                <a:cubicBezTo>
                  <a:pt x="18117" y="108"/>
                  <a:pt x="18120" y="118"/>
                  <a:pt x="18122" y="128"/>
                </a:cubicBezTo>
                <a:cubicBezTo>
                  <a:pt x="18124" y="139"/>
                  <a:pt x="18125" y="150"/>
                  <a:pt x="18125" y="160"/>
                </a:cubicBezTo>
                <a:lnTo>
                  <a:pt x="18125" y="848"/>
                </a:lnTo>
                <a:cubicBezTo>
                  <a:pt x="18125" y="858"/>
                  <a:pt x="18124" y="869"/>
                  <a:pt x="18122" y="879"/>
                </a:cubicBezTo>
                <a:cubicBezTo>
                  <a:pt x="18120" y="889"/>
                  <a:pt x="18117" y="899"/>
                  <a:pt x="18113" y="909"/>
                </a:cubicBezTo>
                <a:cubicBezTo>
                  <a:pt x="18109" y="918"/>
                  <a:pt x="18104" y="927"/>
                  <a:pt x="18099" y="936"/>
                </a:cubicBezTo>
                <a:cubicBezTo>
                  <a:pt x="18093" y="945"/>
                  <a:pt x="18086" y="953"/>
                  <a:pt x="18079" y="960"/>
                </a:cubicBezTo>
                <a:cubicBezTo>
                  <a:pt x="18072" y="968"/>
                  <a:pt x="18064" y="974"/>
                  <a:pt x="18055" y="980"/>
                </a:cubicBezTo>
                <a:cubicBezTo>
                  <a:pt x="18046" y="986"/>
                  <a:pt x="18037" y="991"/>
                  <a:pt x="18027" y="995"/>
                </a:cubicBezTo>
                <a:cubicBezTo>
                  <a:pt x="18018" y="999"/>
                  <a:pt x="18008" y="1002"/>
                  <a:pt x="17998" y="1004"/>
                </a:cubicBezTo>
                <a:cubicBezTo>
                  <a:pt x="17987" y="1006"/>
                  <a:pt x="17977" y="1007"/>
                  <a:pt x="17967" y="1007"/>
                </a:cubicBezTo>
                <a:lnTo>
                  <a:pt x="159" y="1007"/>
                </a:lnTo>
                <a:cubicBezTo>
                  <a:pt x="149" y="1007"/>
                  <a:pt x="139" y="1006"/>
                  <a:pt x="128" y="1004"/>
                </a:cubicBezTo>
                <a:cubicBezTo>
                  <a:pt x="118" y="1002"/>
                  <a:pt x="108" y="999"/>
                  <a:pt x="98" y="995"/>
                </a:cubicBezTo>
                <a:cubicBezTo>
                  <a:pt x="89" y="991"/>
                  <a:pt x="80" y="986"/>
                  <a:pt x="71" y="980"/>
                </a:cubicBezTo>
                <a:cubicBezTo>
                  <a:pt x="62" y="974"/>
                  <a:pt x="54" y="968"/>
                  <a:pt x="47" y="960"/>
                </a:cubicBezTo>
                <a:cubicBezTo>
                  <a:pt x="40" y="953"/>
                  <a:pt x="33" y="945"/>
                  <a:pt x="27" y="936"/>
                </a:cubicBezTo>
                <a:cubicBezTo>
                  <a:pt x="21" y="927"/>
                  <a:pt x="17" y="918"/>
                  <a:pt x="13" y="909"/>
                </a:cubicBezTo>
                <a:cubicBezTo>
                  <a:pt x="9" y="899"/>
                  <a:pt x="6" y="889"/>
                  <a:pt x="4" y="879"/>
                </a:cubicBezTo>
                <a:cubicBezTo>
                  <a:pt x="2" y="869"/>
                  <a:pt x="0" y="858"/>
                  <a:pt x="0" y="848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69" name=""/>
          <p:cNvSpPr txBox="1"/>
          <p:nvPr/>
        </p:nvSpPr>
        <p:spPr>
          <a:xfrm>
            <a:off x="1065240" y="30265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0" name=""/>
          <p:cNvSpPr txBox="1"/>
          <p:nvPr/>
        </p:nvSpPr>
        <p:spPr>
          <a:xfrm>
            <a:off x="1235880" y="3080160"/>
            <a:ext cx="63374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github.com/NedkoHristov/WordPress-Europe-2026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1" name=""/>
          <p:cNvSpPr txBox="1"/>
          <p:nvPr/>
        </p:nvSpPr>
        <p:spPr>
          <a:xfrm>
            <a:off x="747720" y="4611240"/>
            <a:ext cx="1667880" cy="33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Arial"/>
                <a:ea typeface="Arial"/>
              </a:rPr>
              <a:t>Questions?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2" name=""/>
          <p:cNvSpPr txBox="1"/>
          <p:nvPr/>
        </p:nvSpPr>
        <p:spPr>
          <a:xfrm>
            <a:off x="1090440" y="5598360"/>
            <a:ext cx="6690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"The best time to add monitoring was before the crash.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3" name=""/>
          <p:cNvSpPr txBox="1"/>
          <p:nvPr/>
        </p:nvSpPr>
        <p:spPr>
          <a:xfrm>
            <a:off x="1090440" y="6008040"/>
            <a:ext cx="4283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The second best time is right now."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